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  <p:sldMasterId id="2147483843" r:id="rId5"/>
  </p:sldMasterIdLst>
  <p:notesMasterIdLst>
    <p:notesMasterId r:id="rId39"/>
  </p:notesMasterIdLst>
  <p:sldIdLst>
    <p:sldId id="256" r:id="rId6"/>
    <p:sldId id="426" r:id="rId7"/>
    <p:sldId id="338" r:id="rId8"/>
    <p:sldId id="339" r:id="rId9"/>
    <p:sldId id="471" r:id="rId10"/>
    <p:sldId id="416" r:id="rId11"/>
    <p:sldId id="478" r:id="rId12"/>
    <p:sldId id="345" r:id="rId13"/>
    <p:sldId id="340" r:id="rId14"/>
    <p:sldId id="344" r:id="rId15"/>
    <p:sldId id="317" r:id="rId16"/>
    <p:sldId id="342" r:id="rId17"/>
    <p:sldId id="488" r:id="rId18"/>
    <p:sldId id="480" r:id="rId19"/>
    <p:sldId id="479" r:id="rId20"/>
    <p:sldId id="482" r:id="rId21"/>
    <p:sldId id="483" r:id="rId22"/>
    <p:sldId id="499" r:id="rId23"/>
    <p:sldId id="449" r:id="rId24"/>
    <p:sldId id="486" r:id="rId25"/>
    <p:sldId id="487" r:id="rId26"/>
    <p:sldId id="485" r:id="rId27"/>
    <p:sldId id="496" r:id="rId28"/>
    <p:sldId id="498" r:id="rId29"/>
    <p:sldId id="493" r:id="rId30"/>
    <p:sldId id="491" r:id="rId31"/>
    <p:sldId id="492" r:id="rId32"/>
    <p:sldId id="472" r:id="rId33"/>
    <p:sldId id="477" r:id="rId34"/>
    <p:sldId id="473" r:id="rId35"/>
    <p:sldId id="474" r:id="rId36"/>
    <p:sldId id="476" r:id="rId37"/>
    <p:sldId id="475" r:id="rId3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+mn-ea"/>
        <a:cs typeface="Angsana New" charset="-34"/>
      </a:defRPr>
    </a:lvl1pPr>
    <a:lvl2pPr marL="4572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+mn-ea"/>
        <a:cs typeface="Angsana New" charset="-34"/>
      </a:defRPr>
    </a:lvl2pPr>
    <a:lvl3pPr marL="9144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+mn-ea"/>
        <a:cs typeface="Angsana New" charset="-34"/>
      </a:defRPr>
    </a:lvl3pPr>
    <a:lvl4pPr marL="13716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+mn-ea"/>
        <a:cs typeface="Angsana New" charset="-34"/>
      </a:defRPr>
    </a:lvl4pPr>
    <a:lvl5pPr marL="18288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+mn-ea"/>
        <a:cs typeface="Angsana New" charset="-34"/>
      </a:defRPr>
    </a:lvl5pPr>
    <a:lvl6pPr marL="2286000" algn="l" defTabSz="914400" rtl="0" eaLnBrk="1" latinLnBrk="0" hangingPunct="1">
      <a:defRPr sz="1600" b="1" kern="1200">
        <a:solidFill>
          <a:schemeClr val="tx1"/>
        </a:solidFill>
        <a:latin typeface="Arial" charset="0"/>
        <a:ea typeface="+mn-ea"/>
        <a:cs typeface="Angsana New" charset="-34"/>
      </a:defRPr>
    </a:lvl6pPr>
    <a:lvl7pPr marL="2743200" algn="l" defTabSz="914400" rtl="0" eaLnBrk="1" latinLnBrk="0" hangingPunct="1">
      <a:defRPr sz="1600" b="1" kern="1200">
        <a:solidFill>
          <a:schemeClr val="tx1"/>
        </a:solidFill>
        <a:latin typeface="Arial" charset="0"/>
        <a:ea typeface="+mn-ea"/>
        <a:cs typeface="Angsana New" charset="-34"/>
      </a:defRPr>
    </a:lvl7pPr>
    <a:lvl8pPr marL="3200400" algn="l" defTabSz="914400" rtl="0" eaLnBrk="1" latinLnBrk="0" hangingPunct="1">
      <a:defRPr sz="1600" b="1" kern="1200">
        <a:solidFill>
          <a:schemeClr val="tx1"/>
        </a:solidFill>
        <a:latin typeface="Arial" charset="0"/>
        <a:ea typeface="+mn-ea"/>
        <a:cs typeface="Angsana New" charset="-34"/>
      </a:defRPr>
    </a:lvl8pPr>
    <a:lvl9pPr marL="3657600" algn="l" defTabSz="914400" rtl="0" eaLnBrk="1" latinLnBrk="0" hangingPunct="1">
      <a:defRPr sz="1600" b="1" kern="1200">
        <a:solidFill>
          <a:schemeClr val="tx1"/>
        </a:solidFill>
        <a:latin typeface="Arial" charset="0"/>
        <a:ea typeface="+mn-ea"/>
        <a:cs typeface="Angsana New" charset="-34"/>
      </a:defRPr>
    </a:lvl9pPr>
  </p:defaultTextStyle>
  <p:extLst>
    <p:ext uri="{521415D9-36F7-43E2-AB2F-B90AF26B5E84}">
      <p14:sectionLst xmlns:p14="http://schemas.microsoft.com/office/powerpoint/2010/main">
        <p14:section name="Default Section" id="{FBC95B8D-1D74-4064-A782-4538C3437EE4}">
          <p14:sldIdLst>
            <p14:sldId id="256"/>
            <p14:sldId id="426"/>
            <p14:sldId id="338"/>
            <p14:sldId id="339"/>
            <p14:sldId id="471"/>
            <p14:sldId id="416"/>
            <p14:sldId id="478"/>
            <p14:sldId id="345"/>
            <p14:sldId id="340"/>
            <p14:sldId id="344"/>
            <p14:sldId id="317"/>
          </p14:sldIdLst>
        </p14:section>
        <p14:section name="As-Is" id="{57A5EB8A-0A53-4F48-AE37-BEBAFE3920BB}">
          <p14:sldIdLst>
            <p14:sldId id="342"/>
            <p14:sldId id="488"/>
            <p14:sldId id="480"/>
            <p14:sldId id="479"/>
            <p14:sldId id="482"/>
            <p14:sldId id="483"/>
            <p14:sldId id="499"/>
          </p14:sldIdLst>
        </p14:section>
        <p14:section name="To-Be" id="{E7D37EA9-5D62-470D-8F0D-94A58F3387A0}">
          <p14:sldIdLst>
            <p14:sldId id="449"/>
            <p14:sldId id="486"/>
            <p14:sldId id="487"/>
            <p14:sldId id="485"/>
            <p14:sldId id="496"/>
            <p14:sldId id="498"/>
            <p14:sldId id="493"/>
            <p14:sldId id="491"/>
            <p14:sldId id="492"/>
            <p14:sldId id="472"/>
            <p14:sldId id="477"/>
            <p14:sldId id="473"/>
            <p14:sldId id="474"/>
            <p14:sldId id="476"/>
            <p14:sldId id="475"/>
          </p14:sldIdLst>
        </p14:section>
        <p14:section name="Solution" id="{E5DDC1BE-BC9C-4350-A1DB-5F6A8FDE2C42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sraporntav" initials="p" lastIdx="5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4472C4"/>
    <a:srgbClr val="52A72F"/>
    <a:srgbClr val="B9FEFF"/>
    <a:srgbClr val="FFD700"/>
    <a:srgbClr val="FD7166"/>
    <a:srgbClr val="FF4015"/>
    <a:srgbClr val="BDD7EE"/>
    <a:srgbClr val="FFECEB"/>
    <a:srgbClr val="A8D3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ไม่มีสไตล์, เส้นตาราง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ไม่มีสไตล์ ไม่มีเส้นตาราง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20" d="100"/>
          <a:sy n="120" d="100"/>
        </p:scale>
        <p:origin x="256" y="-2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viewProps" Target="view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commentAuthors" Target="commentAuthors.xml"/><Relationship Id="rId45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theme" Target="theme/theme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dtida &lt;Dai&gt; Jaykam" userId="f2f8c6ce-b205-44a0-bbcc-b8869d3a7e95" providerId="ADAL" clId="{10A78FE5-8035-5039-A25A-0E227458B932}"/>
    <pc:docChg chg="modSld">
      <pc:chgData name="Sudtida &lt;Dai&gt; Jaykam" userId="f2f8c6ce-b205-44a0-bbcc-b8869d3a7e95" providerId="ADAL" clId="{10A78FE5-8035-5039-A25A-0E227458B932}" dt="2026-06-09T09:19:35.326" v="0" actId="1076"/>
      <pc:docMkLst>
        <pc:docMk/>
      </pc:docMkLst>
      <pc:sldChg chg="modSp mod">
        <pc:chgData name="Sudtida &lt;Dai&gt; Jaykam" userId="f2f8c6ce-b205-44a0-bbcc-b8869d3a7e95" providerId="ADAL" clId="{10A78FE5-8035-5039-A25A-0E227458B932}" dt="2026-06-09T09:19:35.326" v="0" actId="1076"/>
        <pc:sldMkLst>
          <pc:docMk/>
          <pc:sldMk cId="1125079184" sldId="449"/>
        </pc:sldMkLst>
        <pc:picChg chg="mod">
          <ac:chgData name="Sudtida &lt;Dai&gt; Jaykam" userId="f2f8c6ce-b205-44a0-bbcc-b8869d3a7e95" providerId="ADAL" clId="{10A78FE5-8035-5039-A25A-0E227458B932}" dt="2026-06-09T09:19:35.326" v="0" actId="1076"/>
          <ac:picMkLst>
            <pc:docMk/>
            <pc:sldMk cId="1125079184" sldId="449"/>
            <ac:picMk id="2" creationId="{5B8F645D-5CAC-CC19-035F-56386975BC1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itchFamily="34" charset="0"/>
                <a:cs typeface="Angsana New" pitchFamily="18" charset="-34"/>
              </a:defRPr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>
                <a:latin typeface="Arial" pitchFamily="34" charset="0"/>
                <a:cs typeface="Angsana New" pitchFamily="18" charset="-34"/>
              </a:defRPr>
            </a:lvl1pPr>
          </a:lstStyle>
          <a:p>
            <a:pPr>
              <a:defRPr/>
            </a:pPr>
            <a:fld id="{3ED93569-3034-44BE-AE3D-B005DA67C1A0}" type="datetimeFigureOut">
              <a:rPr lang="th-TH"/>
              <a:pPr>
                <a:defRPr/>
              </a:pPr>
              <a:t>09/06/69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th-TH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th-TH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itchFamily="34" charset="0"/>
                <a:cs typeface="Angsana New" pitchFamily="18" charset="-34"/>
              </a:defRPr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>
                <a:latin typeface="Arial" pitchFamily="34" charset="0"/>
                <a:cs typeface="Angsana New" pitchFamily="18" charset="-34"/>
              </a:defRPr>
            </a:lvl1pPr>
          </a:lstStyle>
          <a:p>
            <a:pPr>
              <a:defRPr/>
            </a:pPr>
            <a:fld id="{24434DB5-92B0-44DB-A371-F4B5C1F59CFB}" type="slidenum">
              <a:rPr lang="th-TH"/>
              <a:pPr>
                <a:defRPr/>
              </a:pPr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333778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4434DB5-92B0-44DB-A371-F4B5C1F59CFB}" type="slidenum">
              <a:rPr lang="th-TH" smtClean="0"/>
              <a:pPr>
                <a:defRPr/>
              </a:pPr>
              <a:t>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857092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th-TH" altLang="th-TH"/>
              <a:t>จัดทำโดย </a:t>
            </a:r>
            <a:r>
              <a:rPr lang="en-US" altLang="th-TH"/>
              <a:t>ISS</a:t>
            </a:r>
            <a:endParaRPr lang="th-TH" altLang="th-TH"/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D0904265-0575-48E2-822F-E3A887EE7215}" type="slidenum">
              <a:rPr lang="en-US" altLang="th-TH" sz="1200"/>
              <a:pPr eaLnBrk="1" hangingPunct="1"/>
              <a:t>3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24591281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th-TH" altLang="th-TH"/>
              <a:t>จัดทำโดย</a:t>
            </a:r>
            <a:r>
              <a:rPr lang="en-US" altLang="th-TH"/>
              <a:t>: ISS  </a:t>
            </a:r>
            <a:r>
              <a:rPr lang="th-TH" altLang="th-TH"/>
              <a:t>โดยใช้ข้อมูลจาก </a:t>
            </a:r>
            <a:r>
              <a:rPr lang="en-US" altLang="th-TH"/>
              <a:t>UR </a:t>
            </a:r>
            <a:r>
              <a:rPr lang="th-TH" altLang="th-TH"/>
              <a:t>และเพิ่มเติมรายละเอียดให้ชัดเจน มากขึ้น </a:t>
            </a:r>
          </a:p>
          <a:p>
            <a:r>
              <a:rPr lang="th-TH" altLang="th-TH"/>
              <a:t>กระบวนการเดิมทำงานกันอย่างไร ถ้าทำแล้วจะมีผลอย่างไร หรือถ้าไม่ทำจะมีผลอย่างไร</a:t>
            </a:r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A602A804-172B-4AFA-B3CA-00AA0905A555}" type="slidenum">
              <a:rPr lang="en-US" altLang="th-TH" sz="1200"/>
              <a:pPr eaLnBrk="1" hangingPunct="1"/>
              <a:t>4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29142928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th-TH" altLang="th-TH"/>
              <a:t>จัดทำโดย</a:t>
            </a:r>
            <a:r>
              <a:rPr lang="en-US" altLang="th-TH"/>
              <a:t>: ISS  </a:t>
            </a:r>
            <a:r>
              <a:rPr lang="th-TH" altLang="th-TH"/>
              <a:t>โดยใช้ข้อมูลจาก </a:t>
            </a:r>
            <a:r>
              <a:rPr lang="en-US" altLang="th-TH"/>
              <a:t>UR </a:t>
            </a:r>
            <a:r>
              <a:rPr lang="th-TH" altLang="th-TH"/>
              <a:t>และเพิ่มเติมรายละเอียดให้ชัดเจน มากขึ้น วัดผลอย่างไร</a:t>
            </a:r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A602A804-172B-4AFA-B3CA-00AA0905A555}" type="slidenum">
              <a:rPr lang="en-US" altLang="th-TH" sz="1200"/>
              <a:pPr eaLnBrk="1" hangingPunct="1"/>
              <a:t>5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18996612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th-TH" altLang="th-TH"/>
              <a:t>จัดทำโดย</a:t>
            </a:r>
            <a:r>
              <a:rPr lang="en-US" altLang="th-TH"/>
              <a:t>: ISS  </a:t>
            </a:r>
            <a:r>
              <a:rPr lang="th-TH" altLang="th-TH"/>
              <a:t>โดยใช้ข้อมูลจาก </a:t>
            </a:r>
            <a:r>
              <a:rPr lang="en-US" altLang="th-TH"/>
              <a:t>UR </a:t>
            </a:r>
            <a:r>
              <a:rPr lang="th-TH" altLang="th-TH"/>
              <a:t>และเพิ่มเติมรายละเอียดให้ชัดเจน มากขึ้น วัดผลอย่างไร</a:t>
            </a:r>
          </a:p>
          <a:p>
            <a:endParaRPr lang="th-TH" altLang="th-TH"/>
          </a:p>
          <a:p>
            <a:endParaRPr lang="th-TH" altLang="th-TH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A602A804-172B-4AFA-B3CA-00AA0905A555}" type="slidenum">
              <a:rPr lang="en-US" altLang="th-TH" sz="1200"/>
              <a:pPr eaLnBrk="1" hangingPunct="1"/>
              <a:t>6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2275022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</a:pPr>
            <a:r>
              <a:rPr lang="th-TH"/>
              <a:t>จัดทำโดย</a:t>
            </a:r>
            <a:r>
              <a:rPr lang="en-US"/>
              <a:t>: ISS </a:t>
            </a:r>
          </a:p>
          <a:p>
            <a:pPr>
              <a:spcBef>
                <a:spcPct val="0"/>
              </a:spcBef>
            </a:pPr>
            <a:r>
              <a:rPr lang="th-TH" u="sng" err="1"/>
              <a:t>Guideline</a:t>
            </a:r>
            <a:endParaRPr lang="en-US" u="sng">
              <a:cs typeface="Calibri"/>
            </a:endParaRPr>
          </a:p>
          <a:p>
            <a:pPr marL="342900" indent="-342900">
              <a:spcBef>
                <a:spcPct val="0"/>
              </a:spcBef>
              <a:buFont typeface="Arial,Sans-Serif"/>
              <a:buChar char="•"/>
            </a:pPr>
            <a:r>
              <a:rPr lang="th-TH" u="sng"/>
              <a:t>QSSC</a:t>
            </a:r>
            <a:r>
              <a:rPr lang="th-TH"/>
              <a:t>: กระทบกระบวนการทำงานร้าน</a:t>
            </a:r>
            <a:endParaRPr lang="en-US">
              <a:cs typeface="Calibri"/>
            </a:endParaRPr>
          </a:p>
          <a:p>
            <a:pPr marL="342900" indent="-342900">
              <a:spcBef>
                <a:spcPct val="0"/>
              </a:spcBef>
              <a:buFont typeface="Arial,Sans-Serif"/>
              <a:buChar char="•"/>
            </a:pPr>
            <a:r>
              <a:rPr lang="th-TH"/>
              <a:t>เถ้าแก่: กระทบโครงการของเถ้าแก่ต่างๆ เข้าประชุมเพื่อให้เถ้าแก่รับทราบให้ดำเนินการ</a:t>
            </a:r>
            <a:endParaRPr lang="en-US"/>
          </a:p>
          <a:p>
            <a:pPr marL="342900" indent="-342900">
              <a:spcBef>
                <a:spcPct val="0"/>
              </a:spcBef>
              <a:buFont typeface="Arial,Sans-Serif"/>
              <a:buChar char="•"/>
            </a:pPr>
            <a:r>
              <a:rPr lang="th-TH"/>
              <a:t>PDPA: ข้อมูลส่วนบุคคลของลูกค้าหรือพนักงานในบริษัท</a:t>
            </a:r>
            <a:endParaRPr lang="en-US"/>
          </a:p>
          <a:p>
            <a:pPr marL="342900" indent="-342900">
              <a:spcBef>
                <a:spcPct val="0"/>
              </a:spcBef>
              <a:buFont typeface="Arial,Sans-Serif"/>
              <a:buChar char="•"/>
            </a:pPr>
            <a:r>
              <a:rPr lang="th-TH"/>
              <a:t>Data </a:t>
            </a:r>
            <a:r>
              <a:rPr lang="th-TH" err="1"/>
              <a:t>Governance</a:t>
            </a:r>
            <a:r>
              <a:rPr lang="th-TH"/>
              <a:t>: กำกับดูแลมาตรฐานความปลอดภัยของข้อมูลและสิทธิในการเข้าถึงข้อมูลของบริษัท</a:t>
            </a:r>
            <a:endParaRPr lang="en-US">
              <a:cs typeface="Calibri"/>
            </a:endParaRPr>
          </a:p>
          <a:p>
            <a:pPr marL="342900" indent="-342900">
              <a:spcBef>
                <a:spcPct val="0"/>
              </a:spcBef>
              <a:buFont typeface="Arial,Sans-Serif"/>
              <a:buChar char="•"/>
            </a:pPr>
            <a:r>
              <a:rPr lang="th-TH"/>
              <a:t>กฎหมาย : กระทบกฎหมายข้อบังคับที่ต้องปฏิบัติตาม</a:t>
            </a:r>
          </a:p>
          <a:p>
            <a:pPr marL="342900" indent="-342900">
              <a:spcBef>
                <a:spcPct val="0"/>
              </a:spcBef>
              <a:buFont typeface="Arial,Sans-Serif"/>
              <a:buChar char="•"/>
            </a:pPr>
            <a:r>
              <a:rPr lang="th-TH"/>
              <a:t>อื่นๆ : วงประชุมอื่นๆ นอกเหนือจากด้านบน หากเป็นวงประชุมที่มีความสำคัญต่อ</a:t>
            </a:r>
            <a:r>
              <a:rPr lang="th-TH" err="1"/>
              <a:t>การทำ</a:t>
            </a:r>
            <a:r>
              <a:rPr lang="th-TH"/>
              <a:t> </a:t>
            </a:r>
            <a:r>
              <a:rPr lang="th-TH" err="1"/>
              <a:t>Requirement</a:t>
            </a:r>
            <a:r>
              <a:rPr lang="th-TH"/>
              <a:t> ให้ระบุด้วย</a:t>
            </a:r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4434DB5-92B0-44DB-A371-F4B5C1F59CFB}" type="slidenum">
              <a:rPr lang="th-TH"/>
              <a:pPr>
                <a:defRPr/>
              </a:pPr>
              <a:t>7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81163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th-TH" altLang="th-TH"/>
              <a:t>จัดทำโดย</a:t>
            </a:r>
            <a:r>
              <a:rPr lang="en-US" altLang="th-TH"/>
              <a:t>: ISS </a:t>
            </a:r>
            <a:endParaRPr lang="th-TH" altLang="th-TH"/>
          </a:p>
          <a:p>
            <a:endParaRPr lang="th-TH" altLang="th-TH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515063A-A0B4-4306-A692-4E719E547175}" type="slidenum">
              <a:rPr lang="en-US" altLang="th-TH" sz="1200"/>
              <a:pPr eaLnBrk="1" hangingPunct="1"/>
              <a:t>8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2986568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th-TH" altLang="th-TH"/>
              <a:t>จัดทำโดย</a:t>
            </a:r>
            <a:r>
              <a:rPr lang="en-US" altLang="th-TH"/>
              <a:t>: ISS</a:t>
            </a:r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22DA3CFB-AB73-4D9A-A1DA-9CE086C6B219}" type="slidenum">
              <a:rPr lang="en-US" altLang="th-TH" sz="1200"/>
              <a:pPr eaLnBrk="1" hangingPunct="1"/>
              <a:t>9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21831611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th-TH"/>
              <a:t>Critical Level Definition :</a:t>
            </a:r>
          </a:p>
          <a:p>
            <a:r>
              <a:rPr lang="en-US" altLang="th-TH"/>
              <a:t>- Critical: Function </a:t>
            </a:r>
            <a:r>
              <a:rPr lang="th-TH" altLang="th-TH"/>
              <a:t>ที่มีกระทบกับการขาย สั่ง, ส่ง และกระทบโดยตรงรายได้ของบริษัทฯ</a:t>
            </a:r>
          </a:p>
          <a:p>
            <a:pPr>
              <a:buFontTx/>
              <a:buChar char="-"/>
            </a:pPr>
            <a:r>
              <a:rPr lang="en-US" altLang="th-TH"/>
              <a:t> Major: Function </a:t>
            </a:r>
            <a:r>
              <a:rPr lang="th-TH" altLang="th-TH"/>
              <a:t>ที่สนับสนุนการขาย สั่ง, ส่ง และกระทบทางอ้อมรายได้ของบริษัทฯ</a:t>
            </a:r>
          </a:p>
          <a:p>
            <a:pPr>
              <a:buFontTx/>
              <a:buChar char="-"/>
            </a:pPr>
            <a:r>
              <a:rPr lang="th-TH" altLang="th-TH"/>
              <a:t> </a:t>
            </a:r>
            <a:r>
              <a:rPr lang="en-US" altLang="th-TH"/>
              <a:t>Minor: Function </a:t>
            </a:r>
            <a:r>
              <a:rPr lang="th-TH" altLang="th-TH"/>
              <a:t>ที่ไม่กระทบกับการขาย สั่ง, ส่ง และรายได้ของบริษัทฯ</a:t>
            </a:r>
          </a:p>
          <a:p>
            <a:pPr>
              <a:buFontTx/>
              <a:buChar char="-"/>
            </a:pPr>
            <a:r>
              <a:rPr lang="th-TH" altLang="th-TH"/>
              <a:t> </a:t>
            </a:r>
            <a:r>
              <a:rPr lang="en-US" altLang="th-TH"/>
              <a:t>General : Function </a:t>
            </a:r>
            <a:r>
              <a:rPr lang="th-TH" altLang="th-TH"/>
              <a:t>ที่กระทบกับการทำงานเพียงเล็กน้อย และสามารถใช้ </a:t>
            </a:r>
            <a:r>
              <a:rPr lang="en-US" altLang="th-TH"/>
              <a:t>Function </a:t>
            </a:r>
            <a:r>
              <a:rPr lang="th-TH" altLang="th-TH"/>
              <a:t>อื่นทดแทนได้</a:t>
            </a:r>
            <a:endParaRPr lang="en-US" altLang="th-TH"/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F577B1B4-3461-4563-B373-CDD6F5D7BD48}" type="slidenum">
              <a:rPr lang="en-US" altLang="th-TH" sz="1200"/>
              <a:pPr eaLnBrk="1" hangingPunct="1"/>
              <a:t>10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16511311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th-TH" altLang="th-TH"/>
              <a:t>จัดทำโดย</a:t>
            </a:r>
            <a:r>
              <a:rPr lang="en-US" altLang="th-TH"/>
              <a:t>: ISS  </a:t>
            </a:r>
            <a:r>
              <a:rPr lang="th-TH" altLang="th-TH"/>
              <a:t>โดยนำ </a:t>
            </a:r>
            <a:r>
              <a:rPr lang="en-US" altLang="en-US">
                <a:cs typeface="Cordia New" panose="020B0304020202020204" pitchFamily="34" charset="-34"/>
              </a:rPr>
              <a:t>Work System/Process/Sub-Process</a:t>
            </a:r>
            <a:r>
              <a:rPr lang="th-TH" altLang="en-US"/>
              <a:t> โดย ส่วนที่ได้รับผลกระทบหรือกำลังจะเปลี่ยนแปลง จาก </a:t>
            </a:r>
            <a:r>
              <a:rPr lang="en-US" altLang="en-US">
                <a:cs typeface="Cordia New" panose="020B0304020202020204" pitchFamily="34" charset="-34"/>
              </a:rPr>
              <a:t>1.3 </a:t>
            </a:r>
            <a:r>
              <a:rPr lang="th-TH" altLang="en-US"/>
              <a:t>มาขยายเพื่อให้ได้ </a:t>
            </a:r>
            <a:r>
              <a:rPr lang="en-US" altLang="en-US">
                <a:cs typeface="Cordia New" panose="020B0304020202020204" pitchFamily="34" charset="-34"/>
              </a:rPr>
              <a:t>As-Is Process</a:t>
            </a:r>
            <a:endParaRPr lang="en-US" altLang="th-TH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75BD0C3-471C-48F2-957C-FD7DB38F73C2}" type="slidenum">
              <a:rPr lang="en-US" altLang="th-TH" sz="1200"/>
              <a:pPr eaLnBrk="1" hangingPunct="1"/>
              <a:t>11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2761734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th-TH" altLang="th-TH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75BD0C3-471C-48F2-957C-FD7DB38F73C2}" type="slidenum">
              <a:rPr lang="en-US" altLang="th-TH" sz="1200"/>
              <a:pPr eaLnBrk="1" hangingPunct="1"/>
              <a:t>12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20347251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A808C-D782-4737-0806-47ACF2A23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46C8384E-DA23-D2C0-FA63-FF24FCF495C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70406FD3-8FEF-D3B5-6DF5-63BC8A407C5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th-TH" altLang="th-TH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89B1ED82-4019-6B9E-5CC4-3E6A8E5D0E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75BD0C3-471C-48F2-957C-FD7DB38F73C2}" type="slidenum">
              <a:rPr lang="en-US" altLang="th-TH" sz="1200"/>
              <a:pPr eaLnBrk="1" hangingPunct="1"/>
              <a:t>13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25530963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C832D-1ED6-F69F-C8AA-54664E611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DECACF8F-B5E5-A26F-0AC2-22D2E14A5F0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3A1AD369-361B-B507-0093-C3D47624C49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th-TH" altLang="th-TH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37DE29F4-2DF9-B1B4-63FB-D0CCF29217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75BD0C3-471C-48F2-957C-FD7DB38F73C2}" type="slidenum">
              <a:rPr lang="en-US" altLang="th-TH" sz="1200"/>
              <a:pPr eaLnBrk="1" hangingPunct="1"/>
              <a:t>14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1899890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9CE7B-8602-FD84-5D07-7B94A5005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54607EF7-908F-E7C9-3FF7-9A71357EE99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438ACA23-A2A6-6D01-875B-CFB737F9767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th-TH" altLang="th-TH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F1FB8192-690F-63EB-A487-DEC209ACFD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75BD0C3-471C-48F2-957C-FD7DB38F73C2}" type="slidenum">
              <a:rPr lang="en-US" altLang="th-TH" sz="1200"/>
              <a:pPr eaLnBrk="1" hangingPunct="1"/>
              <a:t>15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28094793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2AEA0-2C3C-51D1-D93D-FD2FEA0C9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8B2FC283-CFB2-6896-2E5F-A4483B94104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BD14CCF3-1556-BB15-9941-79BABE5463B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th-TH" altLang="th-TH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FB634F37-6536-47F4-A2D2-234FED9ED5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75BD0C3-471C-48F2-957C-FD7DB38F73C2}" type="slidenum">
              <a:rPr lang="en-US" altLang="th-TH" sz="1200"/>
              <a:pPr eaLnBrk="1" hangingPunct="1"/>
              <a:t>16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3663716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8F6AB-E22F-1F67-74FC-DBF93FA07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89E52685-BE7E-18FA-4ABD-089F12A0C4D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330C8DA1-AA8A-EE72-ABBF-EE9E55E9912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th-TH" altLang="th-TH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4E9A00CF-B9E2-151F-044C-8B54BAD3D1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75BD0C3-471C-48F2-957C-FD7DB38F73C2}" type="slidenum">
              <a:rPr lang="en-US" altLang="th-TH" sz="1200"/>
              <a:pPr eaLnBrk="1" hangingPunct="1"/>
              <a:t>17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4324502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FAC1E-56D7-5077-636B-97DED1FA7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3B3533E6-5225-4EE7-3C58-475C62DBC0E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4392799E-95D0-779F-A5CC-4C91D4DA703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th-TH" altLang="th-TH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0F077A6F-F9E0-6F44-CE04-D358668C8B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75BD0C3-471C-48F2-957C-FD7DB38F73C2}" type="slidenum">
              <a:rPr lang="en-US" altLang="th-TH" sz="1200"/>
              <a:pPr eaLnBrk="1" hangingPunct="1"/>
              <a:t>18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33791308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th-TH" altLang="th-TH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75BD0C3-471C-48F2-957C-FD7DB38F73C2}" type="slidenum">
              <a:rPr lang="en-US" altLang="th-TH" sz="1200"/>
              <a:pPr eaLnBrk="1" hangingPunct="1"/>
              <a:t>19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130729979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0FDE1-E493-469D-7D7C-685418DF0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8F8A4C13-3B53-5F3E-5809-96E452683CC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5E75AEE3-3646-8D25-C525-AE82F095549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th-TH" altLang="th-TH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883D3483-2214-8286-851E-E3C36A7308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75BD0C3-471C-48F2-957C-FD7DB38F73C2}" type="slidenum">
              <a:rPr lang="en-US" altLang="th-TH" sz="1200"/>
              <a:pPr eaLnBrk="1" hangingPunct="1"/>
              <a:t>20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37567670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22FD6-9870-35A9-F986-E66908620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7E79FEA5-9BC8-0A34-775E-51B34A77FD9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4F4743B7-6972-E319-6497-87E5A4099D0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th-TH" altLang="th-TH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913FE86A-5A11-23DF-5146-89BE719423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75BD0C3-471C-48F2-957C-FD7DB38F73C2}" type="slidenum">
              <a:rPr lang="en-US" altLang="th-TH" sz="1200"/>
              <a:pPr eaLnBrk="1" hangingPunct="1"/>
              <a:t>21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28626069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B18D1-030B-63D8-B851-C16A7A68D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9EC09D30-F1A0-A84D-7F67-4F04B80EE28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75D900FA-630B-19BF-49BD-A567C642D37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th-TH" altLang="th-TH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542D6567-6EBE-C84E-A63F-6F557EA1E2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75BD0C3-471C-48F2-957C-FD7DB38F73C2}" type="slidenum">
              <a:rPr lang="en-US" altLang="th-TH" sz="1200"/>
              <a:pPr eaLnBrk="1" hangingPunct="1"/>
              <a:t>22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31349658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74063-63B2-99CC-C0D5-D5E11F54B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E2F19908-CEB8-DD1A-38CE-AAA1C9ED920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626901FB-F1F5-7474-BE07-077F0B27582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th-TH" altLang="th-TH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D7F42051-247E-CEB3-0238-99EC5BD8D1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75BD0C3-471C-48F2-957C-FD7DB38F73C2}" type="slidenum">
              <a:rPr lang="en-US" altLang="th-TH" sz="1200"/>
              <a:pPr eaLnBrk="1" hangingPunct="1"/>
              <a:t>23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2580208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E07B6-3F03-748F-827F-C7A67F8E6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209F3DF4-660C-7E3B-F167-4F4E4EE559D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4293D192-D1F6-C9F9-8696-2373F40ED75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th-TH" altLang="th-TH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4B7A4B7F-2094-20F3-BFB1-B4BE047CA2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75BD0C3-471C-48F2-957C-FD7DB38F73C2}" type="slidenum">
              <a:rPr lang="en-US" altLang="th-TH" sz="1200"/>
              <a:pPr eaLnBrk="1" hangingPunct="1"/>
              <a:t>24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10801726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40F65-32AB-4937-EC17-584AC5EE3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D3FFFC0F-9371-B265-39AE-0BDFBB25504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F51CAF49-ECEB-F3C4-1A21-1CFADA3C4B6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th-TH" altLang="th-TH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45EF7D49-D9D8-04C3-5E92-5A9ECC40F6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75BD0C3-471C-48F2-957C-FD7DB38F73C2}" type="slidenum">
              <a:rPr lang="en-US" altLang="th-TH" sz="1200"/>
              <a:pPr eaLnBrk="1" hangingPunct="1"/>
              <a:t>25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40110461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57BD2-2C03-DE0D-D71A-89B6F0776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95743A6A-2D3C-0AF7-3BBA-1C96A7A8C1F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84B48054-2719-E607-53CA-6E5AD046551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th-TH" altLang="th-TH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649B2D65-1277-29B8-BBE3-802D2AFE0D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75BD0C3-471C-48F2-957C-FD7DB38F73C2}" type="slidenum">
              <a:rPr lang="en-US" altLang="th-TH" sz="1200"/>
              <a:pPr eaLnBrk="1" hangingPunct="1"/>
              <a:t>26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268615076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F7ED4-0477-AF23-3D3C-263DFA973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3FE56650-EF4E-2365-3362-A0690093356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849C3F10-421A-407B-DDB1-D89E763D2CA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th-TH" altLang="th-TH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62769535-1F06-81F9-BA95-8C6E1AC829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75BD0C3-471C-48F2-957C-FD7DB38F73C2}" type="slidenum">
              <a:rPr lang="en-US" altLang="th-TH" sz="1200"/>
              <a:pPr eaLnBrk="1" hangingPunct="1"/>
              <a:t>27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17595775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th-TH"/>
              <a:t>Critical Level Definition :</a:t>
            </a:r>
          </a:p>
          <a:p>
            <a:r>
              <a:rPr lang="en-US" altLang="th-TH"/>
              <a:t>- Critical: Function </a:t>
            </a:r>
            <a:r>
              <a:rPr lang="th-TH" altLang="th-TH"/>
              <a:t>ที่มีกระทบกับการขาย สั่ง, ส่ง และกระทบโดยตรงรายได้ของบริษัทฯ</a:t>
            </a:r>
          </a:p>
          <a:p>
            <a:pPr>
              <a:buFontTx/>
              <a:buChar char="-"/>
            </a:pPr>
            <a:r>
              <a:rPr lang="en-US" altLang="th-TH"/>
              <a:t> Major: Function </a:t>
            </a:r>
            <a:r>
              <a:rPr lang="th-TH" altLang="th-TH"/>
              <a:t>ที่สนับสนุนการขาย สั่ง, ส่ง และกระทบทางอ้อมรายได้ของบริษัทฯ</a:t>
            </a:r>
          </a:p>
          <a:p>
            <a:pPr>
              <a:buFontTx/>
              <a:buChar char="-"/>
            </a:pPr>
            <a:r>
              <a:rPr lang="th-TH" altLang="th-TH"/>
              <a:t> </a:t>
            </a:r>
            <a:r>
              <a:rPr lang="en-US" altLang="th-TH"/>
              <a:t>Minor: Function </a:t>
            </a:r>
            <a:r>
              <a:rPr lang="th-TH" altLang="th-TH"/>
              <a:t>ที่ไม่กระทบกับการขาย สั่ง, ส่ง และรายได้ของบริษัทฯ</a:t>
            </a:r>
          </a:p>
          <a:p>
            <a:pPr>
              <a:buFontTx/>
              <a:buChar char="-"/>
            </a:pPr>
            <a:r>
              <a:rPr lang="th-TH" altLang="th-TH"/>
              <a:t> </a:t>
            </a:r>
            <a:r>
              <a:rPr lang="en-US" altLang="th-TH"/>
              <a:t>General : Function </a:t>
            </a:r>
            <a:r>
              <a:rPr lang="th-TH" altLang="th-TH"/>
              <a:t>ที่กระทบกับการทำงานเพียงเล็กน้อย และสามารถใช้ </a:t>
            </a:r>
            <a:r>
              <a:rPr lang="en-US" altLang="th-TH"/>
              <a:t>Function </a:t>
            </a:r>
            <a:r>
              <a:rPr lang="th-TH" altLang="th-TH"/>
              <a:t>อื่นทดแทนได้</a:t>
            </a:r>
            <a:endParaRPr lang="en-US" altLang="th-TH"/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F577B1B4-3461-4563-B373-CDD6F5D7BD48}" type="slidenum">
              <a:rPr lang="en-US" altLang="th-TH" sz="1200"/>
              <a:pPr eaLnBrk="1" hangingPunct="1"/>
              <a:t>28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4854360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th-TH" altLang="th-TH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75BD0C3-471C-48F2-957C-FD7DB38F73C2}" type="slidenum">
              <a:rPr lang="en-US" altLang="th-TH" sz="1200"/>
              <a:pPr eaLnBrk="1" hangingPunct="1"/>
              <a:t>29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68922098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th-TH" sz="3200"/>
              <a:t>จัดทำโดย </a:t>
            </a:r>
            <a:r>
              <a:rPr lang="en-US" sz="3200"/>
              <a:t>ISS </a:t>
            </a:r>
            <a:r>
              <a:rPr lang="th-TH" sz="3200"/>
              <a:t>โดยระบุ </a:t>
            </a:r>
            <a:r>
              <a:rPr lang="en-US" sz="3200"/>
              <a:t>Business Scenario </a:t>
            </a:r>
            <a:r>
              <a:rPr lang="th-TH" sz="3200"/>
              <a:t>สำคัญๆ ที่ต้องการให้ </a:t>
            </a:r>
            <a:r>
              <a:rPr lang="en-US" sz="3200"/>
              <a:t>Focus </a:t>
            </a:r>
            <a:r>
              <a:rPr lang="th-TH" sz="3200"/>
              <a:t>เรื่อง </a:t>
            </a:r>
            <a:r>
              <a:rPr lang="en-US" sz="3200"/>
              <a:t>Performance</a:t>
            </a:r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4BCAC202-AC7A-4ABC-A557-7AA019EA8FC0}" type="slidenum">
              <a:rPr lang="en-US" altLang="th-TH" sz="1200"/>
              <a:pPr eaLnBrk="1" hangingPunct="1"/>
              <a:t>30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185768561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th-TH" sz="3200"/>
              <a:t>จัดทำโดย </a:t>
            </a:r>
            <a:r>
              <a:rPr lang="en-US" sz="3200"/>
              <a:t>ISS </a:t>
            </a:r>
            <a:r>
              <a:rPr lang="th-TH" sz="3200"/>
              <a:t>โดยระบุ </a:t>
            </a:r>
            <a:r>
              <a:rPr lang="en-US" sz="3200"/>
              <a:t>Business Scenario </a:t>
            </a:r>
            <a:r>
              <a:rPr lang="th-TH" sz="3200"/>
              <a:t>สำคัญๆ ที่ต้องการให้ </a:t>
            </a:r>
            <a:r>
              <a:rPr lang="en-US" sz="3200"/>
              <a:t>Focus </a:t>
            </a:r>
            <a:r>
              <a:rPr lang="th-TH" sz="3200"/>
              <a:t>เรื่อง </a:t>
            </a:r>
            <a:r>
              <a:rPr lang="en-US" sz="3200"/>
              <a:t>Performance</a:t>
            </a:r>
            <a:endParaRPr lang="th-TH" sz="3200"/>
          </a:p>
          <a:p>
            <a:pPr>
              <a:defRPr/>
            </a:pPr>
            <a:r>
              <a:rPr lang="en-US" sz="3200"/>
              <a:t>Acceptance Criteria</a:t>
            </a:r>
            <a:r>
              <a:rPr lang="th-TH" sz="3200"/>
              <a:t> เพื่อเตรียมทดสอบ</a:t>
            </a:r>
            <a:r>
              <a:rPr lang="en-US" sz="3200"/>
              <a:t> Performance (Non-Functional) </a:t>
            </a:r>
            <a:r>
              <a:rPr lang="th-TH" sz="3200"/>
              <a:t>เช่น </a:t>
            </a:r>
            <a:endParaRPr lang="en-US" sz="3200"/>
          </a:p>
          <a:p>
            <a:pPr>
              <a:defRPr/>
            </a:pPr>
            <a:endParaRPr lang="en-US" sz="3200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4BCAC202-AC7A-4ABC-A557-7AA019EA8FC0}" type="slidenum">
              <a:rPr lang="en-US" altLang="th-TH" sz="1200"/>
              <a:pPr eaLnBrk="1" hangingPunct="1"/>
              <a:t>31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96508936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>
              <a:defRPr/>
            </a:pPr>
            <a:r>
              <a:rPr lang="th-TH" sz="3200"/>
              <a:t>จัดทำโดย </a:t>
            </a:r>
            <a:r>
              <a:rPr lang="en-US" sz="3200"/>
              <a:t>ISS </a:t>
            </a:r>
            <a:r>
              <a:rPr lang="th-TH" sz="3200"/>
              <a:t>โดยระบุ </a:t>
            </a:r>
            <a:r>
              <a:rPr lang="en-US" sz="3200"/>
              <a:t>Business Scenario </a:t>
            </a:r>
            <a:r>
              <a:rPr lang="th-TH" sz="3200"/>
              <a:t>สำคัญๆ ที่ต้องการให้ </a:t>
            </a:r>
            <a:r>
              <a:rPr lang="en-US" sz="3200"/>
              <a:t>Focus </a:t>
            </a:r>
            <a:r>
              <a:rPr lang="th-TH" sz="3200"/>
              <a:t>เรื่อง </a:t>
            </a:r>
            <a:r>
              <a:rPr lang="en-US" sz="3200"/>
              <a:t>Performance</a:t>
            </a:r>
            <a:br>
              <a:rPr lang="th-TH" sz="3200"/>
            </a:br>
            <a:r>
              <a:rPr lang="en-US" sz="3200" err="1"/>
              <a:t>Authen</a:t>
            </a:r>
            <a:r>
              <a:rPr lang="en-US" sz="3200"/>
              <a:t> – </a:t>
            </a:r>
            <a:r>
              <a:rPr lang="th-TH" sz="3200"/>
              <a:t>เข้าระบบได้</a:t>
            </a:r>
          </a:p>
          <a:p>
            <a:pPr>
              <a:defRPr/>
            </a:pPr>
            <a:r>
              <a:rPr lang="en-US" sz="3200"/>
              <a:t>Authorize – </a:t>
            </a:r>
            <a:r>
              <a:rPr lang="th-TH" sz="3200"/>
              <a:t>ได้รับ</a:t>
            </a:r>
            <a:r>
              <a:rPr lang="en-US" sz="3200"/>
              <a:t> role</a:t>
            </a:r>
            <a:r>
              <a:rPr lang="th-TH" sz="3200"/>
              <a:t> อะไรบ้าง</a:t>
            </a:r>
            <a:endParaRPr lang="en-US" sz="3200"/>
          </a:p>
          <a:p>
            <a:pPr>
              <a:defRPr/>
            </a:pPr>
            <a:r>
              <a:rPr lang="en-US" sz="3200"/>
              <a:t>Backup – </a:t>
            </a:r>
            <a:r>
              <a:rPr lang="th-TH" sz="3200"/>
              <a:t>เปลี่ยนแปลงระบบแล้ว จะ</a:t>
            </a:r>
            <a:r>
              <a:rPr lang="en-US" sz="3200"/>
              <a:t>backup</a:t>
            </a:r>
            <a:r>
              <a:rPr lang="th-TH" sz="3200"/>
              <a:t>ข้อมูลเก่าไว้ และเก็บไว้นานแค่ไหน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th-TH" sz="3200">
                <a:latin typeface="CordiaUPC"/>
                <a:ea typeface="Tahoma"/>
                <a:cs typeface="CordiaUPC"/>
              </a:rPr>
              <a:t>Service Level </a:t>
            </a:r>
            <a:r>
              <a:rPr lang="th-TH" altLang="th-TH" sz="3200">
                <a:latin typeface="CordiaUPC"/>
                <a:ea typeface="Tahoma"/>
                <a:cs typeface="CordiaUPC"/>
              </a:rPr>
              <a:t> </a:t>
            </a:r>
            <a:r>
              <a:rPr lang="en-US" altLang="th-TH" sz="3200">
                <a:latin typeface="CordiaUPC"/>
                <a:ea typeface="Tahoma"/>
                <a:cs typeface="CordiaUPC"/>
              </a:rPr>
              <a:t>- impact level </a:t>
            </a:r>
            <a:r>
              <a:rPr lang="th-TH" altLang="th-TH" sz="3200">
                <a:latin typeface="CordiaUPC"/>
                <a:ea typeface="Tahoma"/>
                <a:cs typeface="CordiaUPC"/>
              </a:rPr>
              <a:t>ถ้าทำไม่ได้เกิดอะไรขึ้น</a:t>
            </a:r>
            <a:endParaRPr lang="en-US" altLang="th-TH" sz="3200">
              <a:latin typeface="CordiaUPC"/>
              <a:ea typeface="Tahoma"/>
              <a:cs typeface="CordiaUPC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200">
                <a:latin typeface="CordiaUPC"/>
                <a:ea typeface="Tahoma"/>
                <a:cs typeface="CordiaUPC"/>
              </a:rPr>
              <a:t>Penetration - </a:t>
            </a:r>
            <a:r>
              <a:rPr lang="th-TH" sz="3200">
                <a:latin typeface="CordiaUPC"/>
                <a:ea typeface="Tahoma"/>
                <a:cs typeface="CordiaUPC"/>
              </a:rPr>
              <a:t>ทดสอบช่องโหว่ของระหว่าง</a:t>
            </a:r>
            <a:endParaRPr lang="en-US" altLang="th-TH" sz="3200">
              <a:latin typeface="CordiaUPC"/>
              <a:ea typeface="Tahoma"/>
              <a:cs typeface="CordiaUPC"/>
            </a:endParaRPr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4BCAC202-AC7A-4ABC-A557-7AA019EA8FC0}" type="slidenum">
              <a:rPr lang="en-US" altLang="th-TH" sz="1200"/>
              <a:pPr eaLnBrk="1" hangingPunct="1"/>
              <a:t>32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259203571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th-TH" altLang="th-TH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3CFC7DA-DDFF-4650-9F06-698D70F6683F}" type="slidenum">
              <a:rPr lang="en-US" altLang="th-TH" sz="1200"/>
              <a:pPr eaLnBrk="1" hangingPunct="1"/>
              <a:t>33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3284058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6" descr="Picture1.jpg">
            <a:extLst>
              <a:ext uri="{FF2B5EF4-FFF2-40B4-BE49-F238E27FC236}">
                <a16:creationId xmlns:a16="http://schemas.microsoft.com/office/drawing/2014/main" id="{495325D3-0417-498A-A76F-A53762D42E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/>
          <a:srcRect t="14723" b="10363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B9C79B0-3B07-4C84-A5DF-0E6F9F3414BB}"/>
              </a:ext>
            </a:extLst>
          </p:cNvPr>
          <p:cNvSpPr/>
          <p:nvPr userDrawn="1"/>
        </p:nvSpPr>
        <p:spPr>
          <a:xfrm>
            <a:off x="9433560" y="6172200"/>
            <a:ext cx="25450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u="sng"/>
          </a:p>
        </p:txBody>
      </p:sp>
      <p:pic>
        <p:nvPicPr>
          <p:cNvPr id="13" name="Picture 2" descr="ซีพี ออลล์ - วิกิพีเดีย">
            <a:extLst>
              <a:ext uri="{FF2B5EF4-FFF2-40B4-BE49-F238E27FC236}">
                <a16:creationId xmlns:a16="http://schemas.microsoft.com/office/drawing/2014/main" id="{3538DEE9-2BF1-49AE-83EC-990B7D334CA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1054" y="5921379"/>
            <a:ext cx="1030711" cy="685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34BA20-A386-4AF0-8E36-FD80B0E7BB9F}" type="datetimeFigureOut">
              <a:rPr lang="th-TH"/>
              <a:pPr>
                <a:defRPr/>
              </a:pPr>
              <a:t>09/06/69</a:t>
            </a:fld>
            <a:endParaRPr lang="th-TH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C40B8B-A2C4-4789-B1AE-E5BC7CA20DF6}" type="slidenum">
              <a:rPr lang="th-TH"/>
              <a:pPr>
                <a:defRPr/>
              </a:pPr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5;p11">
            <a:extLst>
              <a:ext uri="{FF2B5EF4-FFF2-40B4-BE49-F238E27FC236}">
                <a16:creationId xmlns:a16="http://schemas.microsoft.com/office/drawing/2014/main" id="{CD8F4AC5-502A-462A-9307-ACD281B77890}"/>
              </a:ext>
            </a:extLst>
          </p:cNvPr>
          <p:cNvSpPr/>
          <p:nvPr userDrawn="1"/>
        </p:nvSpPr>
        <p:spPr>
          <a:xfrm>
            <a:off x="0" y="383150"/>
            <a:ext cx="12192000" cy="925975"/>
          </a:xfrm>
          <a:prstGeom prst="rect">
            <a:avLst/>
          </a:prstGeom>
          <a:solidFill>
            <a:srgbClr val="14459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33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A8BF67-3092-4595-AF3E-D5BC96F30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279D2C-0F54-4A51-AF5D-589951B43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FBBBEE0-2FBF-4969-814A-68D91B28CE1B}" type="datetime1">
              <a:rPr lang="th-TH" smtClean="0"/>
              <a:pPr>
                <a:defRPr/>
              </a:pPr>
              <a:t>09/06/69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3742A5-FE5F-4E6F-8A64-6831D1A4D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3CFA31-83D8-4FA4-92DF-1892B7547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DA49FB-517C-4413-996D-64EE5079F14D}" type="slidenum">
              <a:rPr lang="en-US" smtClean="0"/>
              <a:pPr>
                <a:defRPr/>
              </a:pPr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95717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8BF67-3092-4595-AF3E-D5BC96F30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279D2C-0F54-4A51-AF5D-589951B43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FBBBEE0-2FBF-4969-814A-68D91B28CE1B}" type="datetime1">
              <a:rPr lang="th-TH" smtClean="0"/>
              <a:pPr>
                <a:defRPr/>
              </a:pPr>
              <a:t>09/06/69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3742A5-FE5F-4E6F-8A64-6831D1A4D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3CFA31-83D8-4FA4-92DF-1892B7547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DA49FB-517C-4413-996D-64EE5079F14D}" type="slidenum">
              <a:rPr lang="en-US" smtClean="0"/>
              <a:pPr>
                <a:defRPr/>
              </a:pPr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74196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8BF67-3092-4595-AF3E-D5BC96F30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279D2C-0F54-4A51-AF5D-589951B43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FBBBEE0-2FBF-4969-814A-68D91B28CE1B}" type="datetime1">
              <a:rPr lang="th-TH" smtClean="0"/>
              <a:pPr>
                <a:defRPr/>
              </a:pPr>
              <a:t>09/06/69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3742A5-FE5F-4E6F-8A64-6831D1A4D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3CFA31-83D8-4FA4-92DF-1892B7547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DA49FB-517C-4413-996D-64EE5079F14D}" type="slidenum">
              <a:rPr lang="en-US" smtClean="0"/>
              <a:pPr>
                <a:defRPr/>
              </a:pPr>
              <a:t>‹#›</a:t>
            </a:fld>
            <a:endParaRPr lang="th-TH"/>
          </a:p>
        </p:txBody>
      </p:sp>
      <p:sp>
        <p:nvSpPr>
          <p:cNvPr id="8" name="Google Shape;50;p8">
            <a:extLst>
              <a:ext uri="{FF2B5EF4-FFF2-40B4-BE49-F238E27FC236}">
                <a16:creationId xmlns:a16="http://schemas.microsoft.com/office/drawing/2014/main" id="{28E9F5FB-41B0-493A-80DB-D8A82034FFD6}"/>
              </a:ext>
            </a:extLst>
          </p:cNvPr>
          <p:cNvSpPr/>
          <p:nvPr userDrawn="1"/>
        </p:nvSpPr>
        <p:spPr>
          <a:xfrm>
            <a:off x="0" y="0"/>
            <a:ext cx="713100" cy="7236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1;p8">
            <a:extLst>
              <a:ext uri="{FF2B5EF4-FFF2-40B4-BE49-F238E27FC236}">
                <a16:creationId xmlns:a16="http://schemas.microsoft.com/office/drawing/2014/main" id="{42DEC7DF-8F7A-40D2-BDF8-A27F3BCC4139}"/>
              </a:ext>
            </a:extLst>
          </p:cNvPr>
          <p:cNvSpPr/>
          <p:nvPr userDrawn="1"/>
        </p:nvSpPr>
        <p:spPr>
          <a:xfrm>
            <a:off x="9901800" y="5458977"/>
            <a:ext cx="2290200" cy="723600"/>
          </a:xfrm>
          <a:prstGeom prst="rect">
            <a:avLst/>
          </a:prstGeom>
          <a:solidFill>
            <a:srgbClr val="1445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7292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000" smtClean="0"/>
            </a:lvl1pPr>
          </a:lstStyle>
          <a:p>
            <a:pPr>
              <a:defRPr/>
            </a:pPr>
            <a:fld id="{B62268E6-18B8-435A-B313-C1A4B886093F}" type="datetime1">
              <a:rPr lang="th-TH"/>
              <a:pPr>
                <a:defRPr/>
              </a:pPr>
              <a:t>09/06/69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 smtClean="0"/>
            </a:lvl1pPr>
          </a:lstStyle>
          <a:p>
            <a:pPr>
              <a:defRPr/>
            </a:pPr>
            <a:fld id="{4C49C46D-26FA-4EDD-8516-CE6B1BB74FD3}" type="slidenum">
              <a:rPr lang="en-US"/>
              <a:pPr>
                <a:defRPr/>
              </a:pPr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B95DFE-708D-4992-A6C7-45436F84471C}" type="datetime1">
              <a:rPr lang="th-TH"/>
              <a:pPr>
                <a:defRPr/>
              </a:pPr>
              <a:t>09/06/69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142205-433A-4032-8224-A1C7FF0814A0}" type="slidenum">
              <a:rPr lang="en-US"/>
              <a:pPr>
                <a:defRPr/>
              </a:pPr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000" smtClean="0"/>
            </a:lvl1pPr>
          </a:lstStyle>
          <a:p>
            <a:pPr>
              <a:defRPr/>
            </a:pPr>
            <a:fld id="{C2E571DF-AAE6-418B-B3FA-148B240B9ADC}" type="datetime1">
              <a:rPr lang="th-TH"/>
              <a:pPr>
                <a:defRPr/>
              </a:pPr>
              <a:t>09/06/69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 smtClean="0"/>
            </a:lvl1pPr>
          </a:lstStyle>
          <a:p>
            <a:pPr>
              <a:defRPr/>
            </a:pPr>
            <a:fld id="{17DD9A60-56B0-4B39-AC7E-E21E0B950136}" type="slidenum">
              <a:rPr lang="en-US"/>
              <a:pPr>
                <a:defRPr/>
              </a:pPr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41C2C6-5533-40AE-A98E-9589C856FB0F}" type="datetime1">
              <a:rPr lang="th-TH"/>
              <a:pPr>
                <a:defRPr/>
              </a:pPr>
              <a:t>09/06/69</a:t>
            </a:fld>
            <a:endParaRPr lang="th-TH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F0AFC-753E-453B-8B09-98000279D36F}" type="slidenum">
              <a:rPr lang="en-US"/>
              <a:pPr>
                <a:defRPr/>
              </a:pPr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71FB32-5E86-4432-8449-FDF890EBD7DE}" type="datetime1">
              <a:rPr lang="th-TH"/>
              <a:pPr>
                <a:defRPr/>
              </a:pPr>
              <a:t>09/06/69</a:t>
            </a:fld>
            <a:endParaRPr lang="th-TH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1919DE-C063-484F-A1A8-02BEDC1BCB94}" type="slidenum">
              <a:rPr lang="en-US"/>
              <a:pPr>
                <a:defRPr/>
              </a:pPr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5B4DC6-6492-469F-9352-C8B63E75F6A8}" type="datetime1">
              <a:rPr lang="th-TH"/>
              <a:pPr>
                <a:defRPr/>
              </a:pPr>
              <a:t>09/06/69</a:t>
            </a:fld>
            <a:endParaRPr lang="th-TH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C40ADC-6D8B-4DD4-B7C2-397B44D9609D}" type="slidenum">
              <a:rPr lang="en-US"/>
              <a:pPr>
                <a:defRPr/>
              </a:pPr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th-TH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5ECDAA-1C4F-43CC-9799-632B576E481A}" type="datetime1">
              <a:rPr lang="th-TH"/>
              <a:pPr>
                <a:defRPr/>
              </a:pPr>
              <a:t>09/06/69</a:t>
            </a:fld>
            <a:endParaRPr lang="th-TH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57E2B0-E65F-42BF-B2C6-FA613F71A5B2}" type="slidenum">
              <a:rPr lang="en-US"/>
              <a:pPr>
                <a:defRPr/>
              </a:pPr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 descr="Picture1.jpg">
            <a:extLst>
              <a:ext uri="{FF2B5EF4-FFF2-40B4-BE49-F238E27FC236}">
                <a16:creationId xmlns:a16="http://schemas.microsoft.com/office/drawing/2014/main" id="{5E036375-160F-491E-B9B7-35E7D4E363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/>
          <a:srcRect t="14723" b="10363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AFEEFCB-33F3-4D6D-A6C0-8D9FCC04A64A}"/>
              </a:ext>
            </a:extLst>
          </p:cNvPr>
          <p:cNvSpPr/>
          <p:nvPr userDrawn="1"/>
        </p:nvSpPr>
        <p:spPr>
          <a:xfrm>
            <a:off x="9433560" y="6172200"/>
            <a:ext cx="25450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u="sng"/>
          </a:p>
        </p:txBody>
      </p:sp>
      <p:pic>
        <p:nvPicPr>
          <p:cNvPr id="10" name="Picture 2" descr="ซีพี ออลล์ - วิกิพีเดีย">
            <a:extLst>
              <a:ext uri="{FF2B5EF4-FFF2-40B4-BE49-F238E27FC236}">
                <a16:creationId xmlns:a16="http://schemas.microsoft.com/office/drawing/2014/main" id="{4F83A320-8CF8-496A-A62F-BF17010E83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1054" y="5921379"/>
            <a:ext cx="1030711" cy="685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34BA20-A386-4AF0-8E36-FD80B0E7BB9F}" type="datetimeFigureOut">
              <a:rPr lang="th-TH"/>
              <a:pPr>
                <a:defRPr/>
              </a:pPr>
              <a:t>09/06/69</a:t>
            </a:fld>
            <a:endParaRPr lang="th-TH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A34C50-D526-4893-9A5A-DC7B61164A7A}" type="slidenum">
              <a:rPr lang="th-TH"/>
              <a:pPr>
                <a:defRPr/>
              </a:pPr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TEXT">
  <p:cSld name="TITLE +TEX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 flipH="1">
            <a:off x="1185800" y="1373400"/>
            <a:ext cx="9878800" cy="384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Josefin Slab"/>
              <a:buAutoNum type="arabicPeriod"/>
              <a:defRPr sz="14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lab SemiBold"/>
              <a:buAutoNum type="alphaLcPeriod"/>
              <a:defRPr sz="1867">
                <a:latin typeface="Josefin Slab"/>
                <a:ea typeface="Josefin Slab"/>
                <a:cs typeface="Josefin Slab"/>
                <a:sym typeface="Josefin Slab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lab SemiBold"/>
              <a:buAutoNum type="romanLcPeriod"/>
              <a:defRPr sz="1867">
                <a:latin typeface="Josefin Slab"/>
                <a:ea typeface="Josefin Slab"/>
                <a:cs typeface="Josefin Slab"/>
                <a:sym typeface="Josefin Slab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lab SemiBold"/>
              <a:buAutoNum type="arabicPeriod"/>
              <a:defRPr sz="1867">
                <a:latin typeface="Josefin Slab"/>
                <a:ea typeface="Josefin Slab"/>
                <a:cs typeface="Josefin Slab"/>
                <a:sym typeface="Josefin Slab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lab SemiBold"/>
              <a:buAutoNum type="alphaLcPeriod"/>
              <a:defRPr sz="1867">
                <a:latin typeface="Josefin Slab"/>
                <a:ea typeface="Josefin Slab"/>
                <a:cs typeface="Josefin Slab"/>
                <a:sym typeface="Josefin Slab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lab SemiBold"/>
              <a:buAutoNum type="romanLcPeriod"/>
              <a:defRPr sz="1867">
                <a:latin typeface="Josefin Slab"/>
                <a:ea typeface="Josefin Slab"/>
                <a:cs typeface="Josefin Slab"/>
                <a:sym typeface="Josefin Slab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lab SemiBold"/>
              <a:buAutoNum type="arabicPeriod"/>
              <a:defRPr sz="1867">
                <a:latin typeface="Josefin Slab"/>
                <a:ea typeface="Josefin Slab"/>
                <a:cs typeface="Josefin Slab"/>
                <a:sym typeface="Josefin Slab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lab SemiBold"/>
              <a:buAutoNum type="alphaLcPeriod"/>
              <a:defRPr sz="1867">
                <a:latin typeface="Josefin Slab"/>
                <a:ea typeface="Josefin Slab"/>
                <a:cs typeface="Josefin Slab"/>
                <a:sym typeface="Josefin Slab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lab SemiBold"/>
              <a:buAutoNum type="romanLcPeriod"/>
              <a:defRPr sz="1867"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ctrTitle"/>
          </p:nvPr>
        </p:nvSpPr>
        <p:spPr>
          <a:xfrm>
            <a:off x="6907533" y="609733"/>
            <a:ext cx="4259600" cy="64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995403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A8BB025-190C-4AFB-A154-9A98D5A861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1625" y="6140450"/>
            <a:ext cx="1668463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C40040-3BA7-488A-99B6-D07272008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ngsana New" panose="02020603050405020304" pitchFamily="18" charset="-34"/>
              </a:defRPr>
            </a:lvl1pPr>
          </a:lstStyle>
          <a:p>
            <a:pPr>
              <a:defRPr/>
            </a:pPr>
            <a:fld id="{1CF35914-B23A-4EC7-80F7-28F7B0913157}" type="datetime1">
              <a:rPr lang="th-TH" smtClean="0"/>
              <a:t>09/06/69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5D062-9464-4430-914B-7F0FCE2E6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ngsana New" panose="02020603050405020304" pitchFamily="18" charset="-34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C6838-BF89-4D5B-8175-BE21FD104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4C49C46D-26FA-4EDD-8516-CE6B1BB74FD3}" type="slidenum">
              <a:rPr lang="en-US" smtClean="0"/>
              <a:pPr>
                <a:defRPr/>
              </a:pPr>
              <a:t>‹#›</a:t>
            </a:fld>
            <a:endParaRPr lang="th-T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CBDA5A-43F0-47C5-9155-BACC896B6F13}"/>
              </a:ext>
            </a:extLst>
          </p:cNvPr>
          <p:cNvSpPr/>
          <p:nvPr userDrawn="1"/>
        </p:nvSpPr>
        <p:spPr>
          <a:xfrm>
            <a:off x="0" y="6619875"/>
            <a:ext cx="10512425" cy="2333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th-TH" sz="2800">
              <a:solidFill>
                <a:prstClr val="white"/>
              </a:solidFill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CBDBD3FC-203A-4DDB-A32E-62631D6A4B26}"/>
              </a:ext>
            </a:extLst>
          </p:cNvPr>
          <p:cNvSpPr/>
          <p:nvPr userDrawn="1"/>
        </p:nvSpPr>
        <p:spPr>
          <a:xfrm>
            <a:off x="14288" y="31750"/>
            <a:ext cx="12168187" cy="78422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th-TH" sz="2800">
              <a:solidFill>
                <a:prstClr val="white"/>
              </a:solidFill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7509493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>
            <a:extLst>
              <a:ext uri="{FF2B5EF4-FFF2-40B4-BE49-F238E27FC236}">
                <a16:creationId xmlns:a16="http://schemas.microsoft.com/office/drawing/2014/main" id="{74C5BE9B-2811-4E78-A8A7-49B51354B5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1625" y="6140450"/>
            <a:ext cx="1668463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B473E147-A1F2-4FE4-A11E-6DCEEE4D7BBB}"/>
              </a:ext>
            </a:extLst>
          </p:cNvPr>
          <p:cNvSpPr/>
          <p:nvPr/>
        </p:nvSpPr>
        <p:spPr>
          <a:xfrm>
            <a:off x="0" y="6619875"/>
            <a:ext cx="10512425" cy="2333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th-TH" sz="2800">
              <a:solidFill>
                <a:prstClr val="white"/>
              </a:solidFill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AB947E31-00A0-405D-A932-B6EA29258F02}"/>
              </a:ext>
            </a:extLst>
          </p:cNvPr>
          <p:cNvSpPr/>
          <p:nvPr/>
        </p:nvSpPr>
        <p:spPr>
          <a:xfrm>
            <a:off x="14288" y="31750"/>
            <a:ext cx="12168187" cy="78422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th-TH" sz="2800">
              <a:solidFill>
                <a:prstClr val="white"/>
              </a:solidFill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83908"/>
            <a:ext cx="10972800" cy="4942256"/>
          </a:xfrm>
        </p:spPr>
        <p:txBody>
          <a:bodyPr/>
          <a:lstStyle>
            <a:lvl1pPr>
              <a:defRPr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  <a:lvl2pPr>
              <a:defRPr>
                <a:latin typeface="Browallia New" panose="020B0604020202020204" pitchFamily="34" charset="-34"/>
                <a:cs typeface="Browallia New" panose="020B0604020202020204" pitchFamily="34" charset="-34"/>
              </a:defRPr>
            </a:lvl2pPr>
            <a:lvl3pPr>
              <a:defRPr>
                <a:latin typeface="Browallia New" panose="020B0604020202020204" pitchFamily="34" charset="-34"/>
                <a:cs typeface="Browallia New" panose="020B0604020202020204" pitchFamily="34" charset="-34"/>
              </a:defRPr>
            </a:lvl3pPr>
            <a:lvl4pPr>
              <a:defRPr>
                <a:latin typeface="Browallia New" panose="020B0604020202020204" pitchFamily="34" charset="-34"/>
                <a:cs typeface="Browallia New" panose="020B0604020202020204" pitchFamily="34" charset="-34"/>
              </a:defRPr>
            </a:lvl4pPr>
            <a:lvl5pPr>
              <a:defRPr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A178EFED-7CBF-4C5F-B891-CE303B388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6" name="Date Placeholder 25">
            <a:extLst>
              <a:ext uri="{FF2B5EF4-FFF2-40B4-BE49-F238E27FC236}">
                <a16:creationId xmlns:a16="http://schemas.microsoft.com/office/drawing/2014/main" id="{176637FD-4F3D-4AD0-A6B9-C703B4D3C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D70C82E-C552-4BCB-8367-AA3DD05EB683}" type="datetime1">
              <a:rPr lang="th-TH" smtClean="0"/>
              <a:t>09/06/69</a:t>
            </a:fld>
            <a:endParaRPr lang="th-TH"/>
          </a:p>
        </p:txBody>
      </p:sp>
      <p:sp>
        <p:nvSpPr>
          <p:cNvPr id="27" name="Footer Placeholder 26">
            <a:extLst>
              <a:ext uri="{FF2B5EF4-FFF2-40B4-BE49-F238E27FC236}">
                <a16:creationId xmlns:a16="http://schemas.microsoft.com/office/drawing/2014/main" id="{A99BF10D-966C-4F20-BDF8-5C98A705E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8EE49916-3200-4865-9FBB-DE6C21B45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DA49FB-517C-4413-996D-64EE5079F14D}" type="slidenum">
              <a:rPr lang="en-US" smtClean="0"/>
              <a:pPr>
                <a:defRPr/>
              </a:pPr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70922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DC15BB7-4F79-4434-8686-A1590CF578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1625" y="6140450"/>
            <a:ext cx="1668463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6"/>
          </a:xfrm>
        </p:spPr>
        <p:txBody>
          <a:bodyPr anchor="t"/>
          <a:lstStyle>
            <a:lvl1pPr algn="l">
              <a:defRPr sz="4000" b="1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85A758-19AD-4425-A48A-2373868EF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ngsana New" panose="02020603050405020304" pitchFamily="18" charset="-34"/>
              </a:defRPr>
            </a:lvl1pPr>
          </a:lstStyle>
          <a:p>
            <a:pPr>
              <a:defRPr/>
            </a:pPr>
            <a:fld id="{62564EAE-AB76-4340-B479-DE77B4F4A8B6}" type="datetime1">
              <a:rPr lang="th-TH" smtClean="0"/>
              <a:t>09/06/69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44A63-E1E6-4C31-A293-4EDA21DDA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ngsana New" panose="02020603050405020304" pitchFamily="18" charset="-34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E7F20-D960-4880-B061-A2D7A613A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17DD9A60-56B0-4B39-AC7E-E21E0B950136}" type="slidenum">
              <a:rPr lang="en-US" smtClean="0"/>
              <a:pPr>
                <a:defRPr/>
              </a:pPr>
              <a:t>‹#›</a:t>
            </a:fld>
            <a:endParaRPr lang="th-T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D7A2C2-ADBB-459D-A4E0-911DDBFC2313}"/>
              </a:ext>
            </a:extLst>
          </p:cNvPr>
          <p:cNvSpPr/>
          <p:nvPr userDrawn="1"/>
        </p:nvSpPr>
        <p:spPr>
          <a:xfrm>
            <a:off x="0" y="6619875"/>
            <a:ext cx="10512425" cy="2333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th-TH" sz="2800">
              <a:solidFill>
                <a:prstClr val="white"/>
              </a:solidFill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F2D10A-CECD-4FB5-BCB6-F4785CC9406A}"/>
              </a:ext>
            </a:extLst>
          </p:cNvPr>
          <p:cNvSpPr/>
          <p:nvPr userDrawn="1"/>
        </p:nvSpPr>
        <p:spPr>
          <a:xfrm>
            <a:off x="14288" y="31750"/>
            <a:ext cx="12168187" cy="78422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th-TH" sz="2800">
              <a:solidFill>
                <a:schemeClr val="bg1"/>
              </a:solidFill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8668835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8">
            <a:extLst>
              <a:ext uri="{FF2B5EF4-FFF2-40B4-BE49-F238E27FC236}">
                <a16:creationId xmlns:a16="http://schemas.microsoft.com/office/drawing/2014/main" id="{BFE5ABA4-7ED0-4A4F-8E55-2DC433677589}"/>
              </a:ext>
            </a:extLst>
          </p:cNvPr>
          <p:cNvSpPr/>
          <p:nvPr userDrawn="1"/>
        </p:nvSpPr>
        <p:spPr>
          <a:xfrm>
            <a:off x="14288" y="31750"/>
            <a:ext cx="12168187" cy="78422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th-TH" sz="2800">
              <a:solidFill>
                <a:prstClr val="white"/>
              </a:solidFill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274CC508-89A4-4F13-926C-B82C56C7A98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1625" y="6140450"/>
            <a:ext cx="1668463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333500"/>
            <a:ext cx="5384800" cy="473201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333501"/>
            <a:ext cx="5384800" cy="473201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1017F3-22AC-44CC-A1D8-EB382B418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ngsana New" panose="02020603050405020304" pitchFamily="18" charset="-34"/>
              </a:defRPr>
            </a:lvl1pPr>
          </a:lstStyle>
          <a:p>
            <a:pPr>
              <a:defRPr/>
            </a:pPr>
            <a:fld id="{37E7BC2A-F2E2-41E2-A27C-F1AE5DA6F05C}" type="datetime1">
              <a:rPr lang="th-TH" smtClean="0"/>
              <a:t>09/06/69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D00CE2-DD8F-423C-857E-6E7AEA6C3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ngsana New" panose="02020603050405020304" pitchFamily="18" charset="-34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EEB233-2C3E-4D04-B2B2-421309E9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1B4F0AFC-753E-453B-8B09-98000279D36F}" type="slidenum">
              <a:rPr lang="en-US" smtClean="0"/>
              <a:pPr>
                <a:defRPr/>
              </a:pPr>
              <a:t>‹#›</a:t>
            </a:fld>
            <a:endParaRPr lang="th-TH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38C2E28D-0E1D-492A-A470-DB93B4F59198}"/>
              </a:ext>
            </a:extLst>
          </p:cNvPr>
          <p:cNvSpPr/>
          <p:nvPr userDrawn="1"/>
        </p:nvSpPr>
        <p:spPr>
          <a:xfrm>
            <a:off x="0" y="6619875"/>
            <a:ext cx="10512425" cy="2333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th-TH" sz="2800">
              <a:solidFill>
                <a:prstClr val="white"/>
              </a:solidFill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15029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8">
            <a:extLst>
              <a:ext uri="{FF2B5EF4-FFF2-40B4-BE49-F238E27FC236}">
                <a16:creationId xmlns:a16="http://schemas.microsoft.com/office/drawing/2014/main" id="{A57C1AA5-1942-40CA-ACE1-947B01489D40}"/>
              </a:ext>
            </a:extLst>
          </p:cNvPr>
          <p:cNvSpPr/>
          <p:nvPr userDrawn="1"/>
        </p:nvSpPr>
        <p:spPr>
          <a:xfrm>
            <a:off x="14288" y="31750"/>
            <a:ext cx="12168187" cy="78422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th-TH" sz="2800">
              <a:solidFill>
                <a:prstClr val="white"/>
              </a:solidFill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pic>
        <p:nvPicPr>
          <p:cNvPr id="10" name="Picture 6">
            <a:extLst>
              <a:ext uri="{FF2B5EF4-FFF2-40B4-BE49-F238E27FC236}">
                <a16:creationId xmlns:a16="http://schemas.microsoft.com/office/drawing/2014/main" id="{890A51F6-11A9-4AC0-B073-82F4D3162D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1625" y="6140450"/>
            <a:ext cx="1668463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7464"/>
            <a:ext cx="10972800" cy="79851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027114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666874"/>
            <a:ext cx="5386917" cy="44735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2" y="1027114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1666874"/>
            <a:ext cx="5389033" cy="4486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CD8118-A353-4E69-8184-3F7D0143B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ngsana New" panose="02020603050405020304" pitchFamily="18" charset="-34"/>
              </a:defRPr>
            </a:lvl1pPr>
          </a:lstStyle>
          <a:p>
            <a:pPr>
              <a:defRPr/>
            </a:pPr>
            <a:fld id="{8058D9BB-95C5-4165-9A59-0E89EF31E0F7}" type="datetime1">
              <a:rPr lang="th-TH" smtClean="0"/>
              <a:t>09/06/69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AC2E13-6A11-4289-B753-7A763127F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ngsana New" panose="02020603050405020304" pitchFamily="18" charset="-34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6336E2-9DB2-428C-8A11-991E96BB1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D81919DE-C063-484F-A1A8-02BEDC1BCB94}" type="slidenum">
              <a:rPr lang="en-US" smtClean="0"/>
              <a:pPr>
                <a:defRPr/>
              </a:pPr>
              <a:t>‹#›</a:t>
            </a:fld>
            <a:endParaRPr lang="th-TH"/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DF83A70B-2ABB-4E3C-91A5-35432A2EA999}"/>
              </a:ext>
            </a:extLst>
          </p:cNvPr>
          <p:cNvSpPr/>
          <p:nvPr userDrawn="1"/>
        </p:nvSpPr>
        <p:spPr>
          <a:xfrm>
            <a:off x="0" y="6619875"/>
            <a:ext cx="10512425" cy="2333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th-TH" sz="2800">
              <a:solidFill>
                <a:prstClr val="white"/>
              </a:solidFill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1424691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8E87AB4-DE47-4D13-A4A7-65572E532C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1625" y="6140450"/>
            <a:ext cx="1668463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20AD6D8-F2BA-4782-ABDB-32E8CF0471DA}"/>
              </a:ext>
            </a:extLst>
          </p:cNvPr>
          <p:cNvSpPr/>
          <p:nvPr userDrawn="1"/>
        </p:nvSpPr>
        <p:spPr>
          <a:xfrm>
            <a:off x="0" y="6619875"/>
            <a:ext cx="10512425" cy="2333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th-TH" sz="2800">
              <a:solidFill>
                <a:prstClr val="white"/>
              </a:solidFill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7DD721-96F6-44D1-87CB-877150AC9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ngsana New" panose="02020603050405020304" pitchFamily="18" charset="-34"/>
              </a:defRPr>
            </a:lvl1pPr>
          </a:lstStyle>
          <a:p>
            <a:pPr>
              <a:defRPr/>
            </a:pPr>
            <a:fld id="{C40B709E-5CBE-40BB-A5CB-E2D64B95F0BA}" type="datetime1">
              <a:rPr lang="th-TH" smtClean="0"/>
              <a:t>09/06/69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E352C4-7B80-4D43-B0DE-4DF3F4BCA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ngsana New" panose="02020603050405020304" pitchFamily="18" charset="-34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5C6492-9C39-44E2-9594-66D659E30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9BDA49FB-517C-4413-996D-64EE5079F14D}" type="slidenum">
              <a:rPr lang="en-US" smtClean="0"/>
              <a:pPr>
                <a:defRPr/>
              </a:pPr>
              <a:t>‹#›</a:t>
            </a:fld>
            <a:endParaRPr lang="th-TH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6FBB92DD-6B6F-4530-867C-0DA12A98E7FA}"/>
              </a:ext>
            </a:extLst>
          </p:cNvPr>
          <p:cNvSpPr/>
          <p:nvPr userDrawn="1"/>
        </p:nvSpPr>
        <p:spPr>
          <a:xfrm>
            <a:off x="14288" y="31750"/>
            <a:ext cx="12168187" cy="78422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th-TH" sz="2800">
              <a:solidFill>
                <a:prstClr val="white"/>
              </a:solidFill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1750"/>
            <a:ext cx="10972800" cy="7842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682252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8A0487-E562-4AFE-961E-826B6E438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ngsana New" panose="02020603050405020304" pitchFamily="18" charset="-34"/>
              </a:defRPr>
            </a:lvl1pPr>
          </a:lstStyle>
          <a:p>
            <a:pPr>
              <a:defRPr/>
            </a:pPr>
            <a:fld id="{D639C660-A67D-43D3-B0D9-98CBEF882BDF}" type="datetime1">
              <a:rPr lang="th-TH" smtClean="0"/>
              <a:t>09/06/69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BADDF4-7EB8-4AED-B491-DBE3B6142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ngsana New" panose="02020603050405020304" pitchFamily="18" charset="-34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8D8395-C30D-4148-957F-D7845765F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9BDA49FB-517C-4413-996D-64EE5079F14D}" type="slidenum">
              <a:rPr lang="en-US" smtClean="0"/>
              <a:pPr>
                <a:defRPr/>
              </a:pPr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33682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5" y="273052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5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42E31E-C812-4D0D-83C6-5CF64CE93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ngsana New" panose="02020603050405020304" pitchFamily="18" charset="-34"/>
              </a:defRPr>
            </a:lvl1pPr>
          </a:lstStyle>
          <a:p>
            <a:pPr>
              <a:defRPr/>
            </a:pPr>
            <a:fld id="{90AC013A-DD80-4F2C-917F-7786246276CD}" type="datetime1">
              <a:rPr lang="th-TH" smtClean="0"/>
              <a:t>09/06/69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A25F3F-2648-4AD0-93ED-E32842B9B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ngsana New" panose="02020603050405020304" pitchFamily="18" charset="-34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495B75-B761-4D96-8303-06178C333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84C40ADC-6D8B-4DD4-B7C2-397B44D9609D}" type="slidenum">
              <a:rPr lang="en-US" smtClean="0"/>
              <a:pPr>
                <a:defRPr/>
              </a:pPr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5598850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th-TH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40"/>
            <a:ext cx="7315200" cy="80486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C729C3-61C8-420C-A721-BB2FCAA69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ngsana New" panose="02020603050405020304" pitchFamily="18" charset="-34"/>
              </a:defRPr>
            </a:lvl1pPr>
          </a:lstStyle>
          <a:p>
            <a:pPr>
              <a:defRPr/>
            </a:pPr>
            <a:fld id="{90D14F53-4509-4700-A606-9E4561EBE8E7}" type="datetime1">
              <a:rPr lang="th-TH" smtClean="0"/>
              <a:t>09/06/69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A4497C-0641-4F70-8D5A-587001636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ngsana New" panose="02020603050405020304" pitchFamily="18" charset="-34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D651FC-7537-4A02-A327-B0E59E73A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0157E2B0-E65F-42BF-B2C6-FA613F71A5B2}" type="slidenum">
              <a:rPr lang="en-US" smtClean="0"/>
              <a:pPr>
                <a:defRPr/>
              </a:pPr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5488825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E4A3E-9005-48C7-9F93-4DCFC9CD0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ngsana New" panose="02020603050405020304" pitchFamily="18" charset="-34"/>
              </a:defRPr>
            </a:lvl1pPr>
          </a:lstStyle>
          <a:p>
            <a:pPr>
              <a:defRPr/>
            </a:pPr>
            <a:fld id="{7AC04E24-05B1-4AA6-9583-1B6CCE78A8D3}" type="datetime1">
              <a:rPr lang="th-TH" smtClean="0"/>
              <a:t>09/06/69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B064AD-CEE0-49F1-96F6-5F96E9113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ngsana New" panose="02020603050405020304" pitchFamily="18" charset="-34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89E82-878B-4A22-8AC7-D7E081A6E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9BDA49FB-517C-4413-996D-64EE5079F14D}" type="slidenum">
              <a:rPr lang="en-US" smtClean="0"/>
              <a:pPr>
                <a:defRPr/>
              </a:pPr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1127908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28600"/>
            <a:ext cx="2743200" cy="4876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28600"/>
            <a:ext cx="8026400" cy="4876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802A9-4C67-4946-9E10-55A9398BB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ngsana New" panose="02020603050405020304" pitchFamily="18" charset="-34"/>
              </a:defRPr>
            </a:lvl1pPr>
          </a:lstStyle>
          <a:p>
            <a:pPr>
              <a:defRPr/>
            </a:pPr>
            <a:fld id="{45FFFFD9-CCEF-4495-B073-C610D90DC446}" type="datetime1">
              <a:rPr lang="th-TH" smtClean="0"/>
              <a:t>09/06/69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53EE51-BC62-4DFC-8FB5-DAAE70856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ngsana New" panose="02020603050405020304" pitchFamily="18" charset="-34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87ABB-D3E0-41BB-A1D4-2B2615525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9BDA49FB-517C-4413-996D-64EE5079F14D}" type="slidenum">
              <a:rPr lang="en-US" smtClean="0"/>
              <a:pPr>
                <a:defRPr/>
              </a:pPr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222627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91EF8B9-4A69-48CA-B53B-4ABA88CE2ABD}"/>
              </a:ext>
            </a:extLst>
          </p:cNvPr>
          <p:cNvGrpSpPr/>
          <p:nvPr userDrawn="1"/>
        </p:nvGrpSpPr>
        <p:grpSpPr>
          <a:xfrm>
            <a:off x="827654" y="5969478"/>
            <a:ext cx="1492852" cy="613884"/>
            <a:chOff x="827654" y="5969478"/>
            <a:chExt cx="1492852" cy="61388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823F72F-8C92-4D6A-B4E5-DB518187849B}"/>
                </a:ext>
              </a:extLst>
            </p:cNvPr>
            <p:cNvSpPr/>
            <p:nvPr userDrawn="1"/>
          </p:nvSpPr>
          <p:spPr>
            <a:xfrm>
              <a:off x="1170940" y="5969478"/>
              <a:ext cx="1149566" cy="61388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2" descr="ซีพี ออลล์ - วิกิพีเดีย">
              <a:extLst>
                <a:ext uri="{FF2B5EF4-FFF2-40B4-BE49-F238E27FC236}">
                  <a16:creationId xmlns:a16="http://schemas.microsoft.com/office/drawing/2014/main" id="{EC385FF0-8F03-436D-84BB-B8E44C07F36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654" y="6082093"/>
              <a:ext cx="686571" cy="45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050" smtClean="0">
                <a:solidFill>
                  <a:srgbClr val="898989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>
              <a:defRPr/>
            </a:pPr>
            <a:fld id="{0FBBBEE0-2FBF-4969-814A-68D91B28CE1B}" type="datetime1">
              <a:rPr lang="th-TH"/>
              <a:pPr>
                <a:defRPr/>
              </a:pPr>
              <a:t>09/06/69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050">
                <a:solidFill>
                  <a:srgbClr val="898989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50" smtClean="0">
                <a:solidFill>
                  <a:srgbClr val="898989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>
              <a:defRPr/>
            </a:pPr>
            <a:fld id="{9BDA49FB-517C-4413-996D-64EE5079F14D}" type="slidenum">
              <a:rPr lang="en-US"/>
              <a:pPr>
                <a:defRPr/>
              </a:pPr>
              <a:t>‹#›</a:t>
            </a:fld>
            <a:endParaRPr lang="th-T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7" r:id="rId2"/>
    <p:sldLayoutId id="2147483830" r:id="rId3"/>
    <p:sldLayoutId id="2147483829" r:id="rId4"/>
    <p:sldLayoutId id="2147483824" r:id="rId5"/>
    <p:sldLayoutId id="2147483813" r:id="rId6"/>
    <p:sldLayoutId id="2147483825" r:id="rId7"/>
    <p:sldLayoutId id="2147483814" r:id="rId8"/>
    <p:sldLayoutId id="2147483815" r:id="rId9"/>
    <p:sldLayoutId id="2147483818" r:id="rId10"/>
    <p:sldLayoutId id="2147483819" r:id="rId11"/>
    <p:sldLayoutId id="2147483826" r:id="rId12"/>
    <p:sldLayoutId id="2147483855" r:id="rId13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 b="1" kern="1200">
          <a:solidFill>
            <a:schemeClr val="tx1"/>
          </a:solidFill>
          <a:latin typeface="Browallia New" panose="020B0604020202020204" pitchFamily="34" charset="-34"/>
          <a:ea typeface="Tahoma" pitchFamily="34" charset="0"/>
          <a:cs typeface="Browallia New" panose="020B0604020202020204" pitchFamily="34" charset="-34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ahoma" pitchFamily="34" charset="0"/>
          <a:ea typeface="MS PGothic" pitchFamily="34" charset="-128"/>
          <a:cs typeface="Tahom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ahoma" pitchFamily="34" charset="0"/>
          <a:ea typeface="MS PGothic" pitchFamily="34" charset="-128"/>
          <a:cs typeface="Tahom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ahoma" pitchFamily="34" charset="0"/>
          <a:ea typeface="MS PGothic" pitchFamily="34" charset="-128"/>
          <a:cs typeface="Tahom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ahoma" pitchFamily="34" charset="0"/>
          <a:ea typeface="MS PGothic" pitchFamily="34" charset="-128"/>
          <a:cs typeface="Tahoma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ngsana New" pitchFamily="-60" charset="0"/>
          <a:ea typeface="ＭＳ Ｐゴシック" pitchFamily="-60" charset="-128"/>
          <a:cs typeface="ＭＳ Ｐゴシック" pitchFamily="-6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ngsana New" pitchFamily="-60" charset="0"/>
          <a:ea typeface="ＭＳ Ｐゴシック" pitchFamily="-60" charset="-128"/>
          <a:cs typeface="ＭＳ Ｐゴシック" pitchFamily="-6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ngsana New" pitchFamily="-60" charset="0"/>
          <a:ea typeface="ＭＳ Ｐゴシック" pitchFamily="-60" charset="-128"/>
          <a:cs typeface="ＭＳ Ｐゴシック" pitchFamily="-6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ngsana New" pitchFamily="-60" charset="0"/>
          <a:ea typeface="ＭＳ Ｐゴシック" pitchFamily="-60" charset="-128"/>
          <a:cs typeface="ＭＳ Ｐゴシック" pitchFamily="-6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Browallia New" panose="020B0604020202020204" pitchFamily="34" charset="-34"/>
          <a:ea typeface="Tahoma" pitchFamily="34" charset="0"/>
          <a:cs typeface="Browallia New" panose="020B0604020202020204" pitchFamily="34" charset="-34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Browallia New" panose="020B0604020202020204" pitchFamily="34" charset="-34"/>
          <a:ea typeface="Tahoma" pitchFamily="34" charset="0"/>
          <a:cs typeface="Browallia New" panose="020B0604020202020204" pitchFamily="34" charset="-34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Browallia New" panose="020B0604020202020204" pitchFamily="34" charset="-34"/>
          <a:ea typeface="Tahoma" pitchFamily="34" charset="0"/>
          <a:cs typeface="Browallia New" panose="020B0604020202020204" pitchFamily="34" charset="-34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600" kern="1200">
          <a:solidFill>
            <a:schemeClr val="tx1"/>
          </a:solidFill>
          <a:latin typeface="Browallia New" panose="020B0604020202020204" pitchFamily="34" charset="-34"/>
          <a:ea typeface="Tahoma" pitchFamily="34" charset="0"/>
          <a:cs typeface="Browallia New" panose="020B0604020202020204" pitchFamily="34" charset="-34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600" kern="1200">
          <a:solidFill>
            <a:schemeClr val="tx1"/>
          </a:solidFill>
          <a:latin typeface="Browallia New" panose="020B0604020202020204" pitchFamily="34" charset="-34"/>
          <a:ea typeface="Tahoma" pitchFamily="34" charset="0"/>
          <a:cs typeface="Browallia New" panose="020B0604020202020204" pitchFamily="34" charset="-34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 Placeholder 2">
            <a:extLst>
              <a:ext uri="{FF2B5EF4-FFF2-40B4-BE49-F238E27FC236}">
                <a16:creationId xmlns:a16="http://schemas.microsoft.com/office/drawing/2014/main" id="{02081FA1-255C-4621-9046-3DE1D04D74F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1193533"/>
            <a:ext cx="10972800" cy="4932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h-TH"/>
              <a:t>Click to edit Master text styles</a:t>
            </a:r>
          </a:p>
          <a:p>
            <a:pPr lvl="1"/>
            <a:r>
              <a:rPr lang="en-US" altLang="th-TH"/>
              <a:t>Second level</a:t>
            </a:r>
          </a:p>
          <a:p>
            <a:pPr lvl="2"/>
            <a:r>
              <a:rPr lang="en-US" altLang="th-TH"/>
              <a:t>Third level</a:t>
            </a:r>
          </a:p>
          <a:p>
            <a:pPr lvl="3"/>
            <a:r>
              <a:rPr lang="en-US" altLang="th-TH"/>
              <a:t>Fourth level</a:t>
            </a:r>
          </a:p>
          <a:p>
            <a:pPr lvl="4"/>
            <a:r>
              <a:rPr lang="en-US" altLang="th-TH"/>
              <a:t>Fifth level</a:t>
            </a:r>
            <a:endParaRPr lang="th-TH" alt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51398-A9D3-4965-839D-02BA1710CC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7DC79980-AB99-40C1-BE51-3F476AB7DFD5}" type="datetime1">
              <a:rPr lang="th-TH" smtClean="0"/>
              <a:t>09/06/69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825EC-2603-4B97-AB98-9C961118DD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FF9EF0-513A-4CF7-9C92-9C43CE27BE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203950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solidFill>
                  <a:schemeClr val="tx1"/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9BDA49FB-517C-4413-996D-64EE5079F14D}" type="slidenum">
              <a:rPr lang="en-US" smtClean="0"/>
              <a:pPr>
                <a:defRPr/>
              </a:pPr>
              <a:t>‹#›</a:t>
            </a:fld>
            <a:endParaRPr lang="th-TH"/>
          </a:p>
        </p:txBody>
      </p:sp>
      <p:sp>
        <p:nvSpPr>
          <p:cNvPr id="2050" name="Title Placeholder 1">
            <a:extLst>
              <a:ext uri="{FF2B5EF4-FFF2-40B4-BE49-F238E27FC236}">
                <a16:creationId xmlns:a16="http://schemas.microsoft.com/office/drawing/2014/main" id="{627D420E-AED0-4779-B925-43863FC0130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09600" y="31750"/>
            <a:ext cx="10972800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h-TH"/>
              <a:t>Click to edit Master title style</a:t>
            </a:r>
            <a:endParaRPr lang="th-TH" altLang="th-TH"/>
          </a:p>
        </p:txBody>
      </p:sp>
    </p:spTree>
    <p:extLst>
      <p:ext uri="{BB962C8B-B14F-4D97-AF65-F5344CB8AC3E}">
        <p14:creationId xmlns:p14="http://schemas.microsoft.com/office/powerpoint/2010/main" val="3351083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 b="1" kern="1200">
          <a:solidFill>
            <a:schemeClr val="tx1"/>
          </a:solidFill>
          <a:latin typeface="Browallia New" panose="020B0604020202020204" pitchFamily="34" charset="-34"/>
          <a:ea typeface="+mj-ea"/>
          <a:cs typeface="Browallia New" panose="020B0604020202020204" pitchFamily="34" charset="-34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cs typeface="Angsana New" panose="02020603050405020304" pitchFamily="18" charset="-34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cs typeface="Angsana New" panose="02020603050405020304" pitchFamily="18" charset="-34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cs typeface="Angsana New" panose="02020603050405020304" pitchFamily="18" charset="-34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cs typeface="Angsana New" panose="02020603050405020304" pitchFamily="18" charset="-34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cs typeface="Angsana New" panose="02020603050405020304" pitchFamily="18" charset="-34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cs typeface="Angsana New" panose="02020603050405020304" pitchFamily="18" charset="-34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cs typeface="Angsana New" panose="02020603050405020304" pitchFamily="18" charset="-34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cs typeface="Angsana New" panose="02020603050405020304" pitchFamily="18" charset="-34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Browallia New" panose="020B0604020202020204" pitchFamily="34" charset="-34"/>
          <a:ea typeface="+mn-ea"/>
          <a:cs typeface="Browallia New" panose="020B0604020202020204" pitchFamily="34" charset="-34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Browallia New" panose="020B0604020202020204" pitchFamily="34" charset="-34"/>
          <a:ea typeface="+mn-ea"/>
          <a:cs typeface="Browallia New" panose="020B0604020202020204" pitchFamily="34" charset="-34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Browallia New" panose="020B0604020202020204" pitchFamily="34" charset="-34"/>
          <a:ea typeface="+mn-ea"/>
          <a:cs typeface="Browallia New" panose="020B0604020202020204" pitchFamily="34" charset="-34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Browallia New" panose="020B0604020202020204" pitchFamily="34" charset="-34"/>
          <a:ea typeface="+mn-ea"/>
          <a:cs typeface="Browallia New" panose="020B0604020202020204" pitchFamily="34" charset="-34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Browallia New" panose="020B0604020202020204" pitchFamily="34" charset="-34"/>
          <a:ea typeface="+mn-ea"/>
          <a:cs typeface="Browallia New" panose="020B0604020202020204" pitchFamily="34" charset="-34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pallgroup.sharepoint.com/:u:/s/BizSolTeam/ESzGN2FmGYBPpYtiwflzUUgBjkZi9ZeStMEg-q6q3X3E1A?e=v2ay0a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cpallgroup.sharepoint.com/:p:/s/BizSolTeam/ER5WGeUib6xPlO9WfM3oSpYBJUSCJrIt_yGAEVBddzH1yA?e=4hAgUb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cpallgroup.sharepoint.com/:x:/s/BizSolTeam/ERzhmLJrdl5Ll_VP5W1vybkBnl-BVHGp4L7u9_YqSzSLBg?e=ryUsr3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cpallgroup.sharepoint.com/:u:/s/BizSolTeam/ESatZHa5bspJge0tmzbhIjYBLzRaC8nLMkO61CaR3zNpbA?e=Pi1fvY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cpallgroup.sharepoint.com/:x:/s/BizSolTeam/Ef4jQntsYJRCvOonKiLqMgcBIZ2xE1ZxwQuEuOty42LpVA?e=rDT3K5" TargetMode="External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cpallgroup.sharepoint.com/:x:/s/BizSolTeam/Ef4jQntsYJRCvOonKiLqMgcBIZ2xE1ZxwQuEuOty42LpVA?e=rDT3K5" TargetMode="Externa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teams.microsoft.com/l/file/B9D95BAA-C266-415B-8A0E-58AEAEAF68F6?tenantId=0e837ccb-289e-45c4-8f1e-e283bb7f6289&amp;fileType=xlsx&amp;objectUrl=https://cpallgroup.sharepoint.com/sites/BizSolTeam/Shared%20Documents/Biz%20Sol%20Document/BA%20Template%20Document/PDPA%20Requirement%20(%E0%B8%95%E0%B8%B1%E0%B9%89%E0%B8%87%E0%B8%8A%E0%B8%B7%E0%B9%88%E0%B8%AD%20Project).xlsx&amp;baseUrl=https://cpallgroup.sharepoint.com/sites/BizSolTeam&amp;serviceName=teams&amp;threadId=19:4c843124954f41c4b9875245faf71914@thread.tacv2&amp;groupId=abdea486-0d0c-47ce-8f73-95033c2b238b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4"/>
          <p:cNvSpPr txBox="1">
            <a:spLocks/>
          </p:cNvSpPr>
          <p:nvPr/>
        </p:nvSpPr>
        <p:spPr bwMode="auto">
          <a:xfrm>
            <a:off x="4150360" y="4287520"/>
            <a:ext cx="69342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>
                    <a:tint val="7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th-TH" sz="2000" b="0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ISS: </a:t>
            </a:r>
            <a:r>
              <a:rPr lang="en-US" altLang="th-TH" sz="2000" b="0" dirty="0" err="1">
                <a:solidFill>
                  <a:schemeClr val="bg1"/>
                </a:solidFill>
                <a:latin typeface="Tahoma"/>
                <a:ea typeface="Tahoma"/>
                <a:cs typeface="Tahoma"/>
              </a:rPr>
              <a:t>Kanyarat</a:t>
            </a:r>
            <a:r>
              <a:rPr lang="en-US" altLang="th-TH" sz="2000" b="0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 Si.</a:t>
            </a:r>
            <a:endParaRPr lang="en-US" altLang="th-TH" sz="2000" b="0" dirty="0">
              <a:solidFill>
                <a:schemeClr val="bg1"/>
              </a:solidFill>
            </a:endParaRPr>
          </a:p>
          <a:p>
            <a:pPr algn="r"/>
            <a:r>
              <a:rPr lang="en-US" sz="2000" b="0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Arthit S.</a:t>
            </a:r>
            <a:endParaRPr lang="en-US" dirty="0">
              <a:solidFill>
                <a:schemeClr val="bg1"/>
              </a:solidFill>
            </a:endParaRPr>
          </a:p>
          <a:p>
            <a:pPr algn="r"/>
            <a:r>
              <a:rPr lang="en-US" altLang="th-TH" sz="2000" b="0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Update: 15/10/2025</a:t>
            </a:r>
            <a:endParaRPr lang="en-US" altLang="th-TH" sz="2000" b="0" dirty="0">
              <a:solidFill>
                <a:schemeClr val="bg1"/>
              </a:solidFill>
            </a:endParaRPr>
          </a:p>
          <a:p>
            <a:pPr algn="r"/>
            <a:endParaRPr lang="en-US" altLang="th-TH" sz="2000" b="0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321827" y="6448406"/>
            <a:ext cx="253522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u="sng">
                <a:latin typeface="CordiaUPC"/>
                <a:cs typeface="CordiaUPC"/>
              </a:rPr>
              <a:t>Document Version 7.5</a:t>
            </a:r>
            <a:endParaRPr lang="th-TH" sz="2400" u="sng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777C76-0BA6-A741-33FD-4C12917861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>
                <a:solidFill>
                  <a:schemeClr val="bg1"/>
                </a:solidFill>
                <a:latin typeface="CordiaUPC"/>
                <a:ea typeface="Tahoma"/>
                <a:cs typeface="CordiaUPC"/>
              </a:rPr>
              <a:t>Solution Document</a:t>
            </a:r>
            <a:br>
              <a:rPr lang="en-US" sz="6000">
                <a:solidFill>
                  <a:schemeClr val="bg1"/>
                </a:solidFill>
                <a:latin typeface="CordiaUPC"/>
                <a:ea typeface="Tahoma"/>
                <a:cs typeface="CordiaUPC"/>
              </a:rPr>
            </a:br>
            <a:r>
              <a:rPr lang="en-US" sz="4400" err="1">
                <a:solidFill>
                  <a:schemeClr val="bg1"/>
                </a:solidFill>
                <a:latin typeface="CordiaUPC"/>
                <a:ea typeface="Tahoma"/>
                <a:cs typeface="CordiaUPC"/>
              </a:rPr>
              <a:t>ปรับกระบวนการบัญชีประกันรายได้</a:t>
            </a:r>
            <a:r>
              <a:rPr lang="en-US" sz="4400">
                <a:solidFill>
                  <a:schemeClr val="bg1"/>
                </a:solidFill>
                <a:latin typeface="CordiaUPC"/>
                <a:ea typeface="Tahoma"/>
                <a:cs typeface="CordiaUPC"/>
              </a:rPr>
              <a:t> </a:t>
            </a:r>
            <a:r>
              <a:rPr lang="en-US" sz="4400" err="1">
                <a:solidFill>
                  <a:schemeClr val="bg1"/>
                </a:solidFill>
                <a:latin typeface="CordiaUPC"/>
                <a:ea typeface="Tahoma"/>
                <a:cs typeface="CordiaUPC"/>
              </a:rPr>
              <a:t>สามารถเข้ามาดึงข้อมูลตัวเลขจากระบบ</a:t>
            </a:r>
            <a:r>
              <a:rPr lang="en-US" sz="4400">
                <a:solidFill>
                  <a:schemeClr val="bg1"/>
                </a:solidFill>
                <a:latin typeface="CordiaUPC"/>
                <a:ea typeface="Tahoma"/>
                <a:cs typeface="CordiaUPC"/>
              </a:rPr>
              <a:t> SBP </a:t>
            </a:r>
            <a:r>
              <a:rPr lang="en-US" sz="4400" err="1">
                <a:solidFill>
                  <a:schemeClr val="bg1"/>
                </a:solidFill>
                <a:latin typeface="CordiaUPC"/>
                <a:ea typeface="Tahoma"/>
                <a:cs typeface="CordiaUPC"/>
              </a:rPr>
              <a:t>เพื่อตรวจสอบ</a:t>
            </a:r>
            <a:endParaRPr lang="th-TH" sz="4400" err="1">
              <a:solidFill>
                <a:schemeClr val="bg1"/>
              </a:solidFill>
              <a:ea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3E8B93C9-D715-4818-A824-2E239DBCC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z="4000" err="1">
                <a:latin typeface="Cordia New" panose="020B0304020202020204" pitchFamily="34" charset="-34"/>
                <a:ea typeface="Tahoma"/>
                <a:cs typeface="Cordia New" panose="020B0304020202020204" pitchFamily="34" charset="-34"/>
              </a:rPr>
              <a:t>Activity</a:t>
            </a:r>
            <a:r>
              <a:rPr lang="th-TH" sz="4000">
                <a:latin typeface="Cordia New" panose="020B0304020202020204" pitchFamily="34" charset="-34"/>
                <a:ea typeface="Tahoma"/>
                <a:cs typeface="Cordia New" panose="020B0304020202020204" pitchFamily="34" charset="-34"/>
              </a:rPr>
              <a:t> </a:t>
            </a:r>
            <a:r>
              <a:rPr lang="th-TH" sz="4000" err="1">
                <a:latin typeface="Cordia New" panose="020B0304020202020204" pitchFamily="34" charset="-34"/>
                <a:ea typeface="Tahoma"/>
                <a:cs typeface="Cordia New" panose="020B0304020202020204" pitchFamily="34" charset="-34"/>
              </a:rPr>
              <a:t>Log</a:t>
            </a:r>
            <a:endParaRPr lang="th-TH" sz="4000" err="1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graphicFrame>
        <p:nvGraphicFramePr>
          <p:cNvPr id="4" name="ตาราง 4">
            <a:extLst>
              <a:ext uri="{FF2B5EF4-FFF2-40B4-BE49-F238E27FC236}">
                <a16:creationId xmlns:a16="http://schemas.microsoft.com/office/drawing/2014/main" id="{69E21062-072A-4D53-B5D5-BD64BB6248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3795725"/>
              </p:ext>
            </p:extLst>
          </p:nvPr>
        </p:nvGraphicFramePr>
        <p:xfrm>
          <a:off x="1981200" y="1600200"/>
          <a:ext cx="8229596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4833">
                  <a:extLst>
                    <a:ext uri="{9D8B030D-6E8A-4147-A177-3AD203B41FA5}">
                      <a16:colId xmlns:a16="http://schemas.microsoft.com/office/drawing/2014/main" val="2379173364"/>
                    </a:ext>
                  </a:extLst>
                </a:gridCol>
                <a:gridCol w="1680939">
                  <a:extLst>
                    <a:ext uri="{9D8B030D-6E8A-4147-A177-3AD203B41FA5}">
                      <a16:colId xmlns:a16="http://schemas.microsoft.com/office/drawing/2014/main" val="9422921"/>
                    </a:ext>
                  </a:extLst>
                </a:gridCol>
                <a:gridCol w="1806424">
                  <a:extLst>
                    <a:ext uri="{9D8B030D-6E8A-4147-A177-3AD203B41FA5}">
                      <a16:colId xmlns:a16="http://schemas.microsoft.com/office/drawing/2014/main" val="114619874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30147627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h-TH" sz="2400" b="1" err="1">
                          <a:latin typeface="CordiaUPC"/>
                          <a:cs typeface="CordiaUPC"/>
                        </a:rPr>
                        <a:t>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400" b="1" err="1">
                          <a:latin typeface="CordiaUPC"/>
                          <a:cs typeface="CordiaUPC"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400" b="1" err="1">
                          <a:latin typeface="CordiaUPC"/>
                          <a:cs typeface="CordiaUPC"/>
                        </a:rPr>
                        <a:t>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400" b="1" err="1">
                          <a:latin typeface="CordiaUPC"/>
                          <a:cs typeface="CordiaUPC"/>
                        </a:rPr>
                        <a:t>Remark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292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h-TH" sz="2400" err="1">
                          <a:latin typeface="CordiaUPC"/>
                          <a:cs typeface="CordiaUPC"/>
                        </a:rPr>
                        <a:t>Initial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2400">
                          <a:latin typeface="CordiaUPC"/>
                          <a:cs typeface="CordiaUPC"/>
                        </a:rPr>
                        <a:t>25/9/2025</a:t>
                      </a:r>
                      <a:endParaRPr lang="th-TH" sz="2400"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2400">
                          <a:latin typeface="CordiaUPC"/>
                          <a:cs typeface="CordiaUPC"/>
                        </a:rPr>
                        <a:t>Kanyarat S.</a:t>
                      </a:r>
                      <a:endParaRPr lang="th-TH" sz="2400"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h-TH" sz="2400"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613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h-TH" sz="2400" err="1">
                          <a:latin typeface="CordiaUPC"/>
                          <a:cs typeface="CordiaUPC"/>
                        </a:rPr>
                        <a:t>Update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2400">
                          <a:latin typeface="CordiaUPC"/>
                          <a:cs typeface="CordiaUPC"/>
                        </a:rPr>
                        <a:t>8/10/2025</a:t>
                      </a:r>
                      <a:endParaRPr lang="th-TH" sz="2400"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2400">
                          <a:latin typeface="CordiaUPC"/>
                          <a:cs typeface="CordiaUPC"/>
                        </a:rPr>
                        <a:t>Kanyarat S.</a:t>
                      </a:r>
                      <a:endParaRPr lang="th-TH" sz="2400"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h-TH" sz="2400"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5260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h-TH" sz="2400" err="1">
                          <a:latin typeface="CordiaUPC"/>
                          <a:cs typeface="CordiaUPC"/>
                        </a:rPr>
                        <a:t>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h-TH" sz="2400"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h-TH" sz="2400"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h-TH" sz="2400"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419804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th-TH" sz="2400" err="1">
                          <a:latin typeface="CordiaUPC"/>
                          <a:cs typeface="CordiaUPC"/>
                        </a:rPr>
                        <a:t>Submit</a:t>
                      </a:r>
                      <a:r>
                        <a:rPr lang="th-TH" sz="2400">
                          <a:latin typeface="CordiaUPC"/>
                          <a:cs typeface="CordiaUPC"/>
                        </a:rPr>
                        <a:t> </a:t>
                      </a:r>
                      <a:r>
                        <a:rPr lang="th-TH" sz="2400" err="1">
                          <a:latin typeface="CordiaUPC"/>
                          <a:cs typeface="CordiaUPC"/>
                        </a:rPr>
                        <a:t>to</a:t>
                      </a:r>
                      <a:r>
                        <a:rPr lang="th-TH" sz="2400">
                          <a:latin typeface="CordiaUPC"/>
                          <a:cs typeface="CordiaUPC"/>
                        </a:rPr>
                        <a:t> </a:t>
                      </a:r>
                      <a:r>
                        <a:rPr lang="th-TH" sz="2400" err="1">
                          <a:latin typeface="CordiaUPC"/>
                          <a:cs typeface="CordiaUPC"/>
                        </a:rPr>
                        <a:t>Solution</a:t>
                      </a:r>
                      <a:r>
                        <a:rPr lang="th-TH" sz="2400">
                          <a:latin typeface="CordiaUPC"/>
                          <a:cs typeface="CordiaUPC"/>
                        </a:rPr>
                        <a:t> </a:t>
                      </a:r>
                      <a:r>
                        <a:rPr lang="th-TH" sz="2400" err="1">
                          <a:latin typeface="CordiaUPC"/>
                          <a:cs typeface="CordiaUPC"/>
                        </a:rPr>
                        <a:t>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th-TH" sz="2400"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th-TH" sz="2400"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th-TH" sz="2400"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44599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8546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3"/>
          <p:cNvSpPr>
            <a:spLocks noGrp="1"/>
          </p:cNvSpPr>
          <p:nvPr>
            <p:ph type="ctrTitle" sz="quarter"/>
          </p:nvPr>
        </p:nvSpPr>
        <p:spPr>
          <a:xfrm>
            <a:off x="914400" y="1958975"/>
            <a:ext cx="10363200" cy="1470025"/>
          </a:xfrm>
        </p:spPr>
        <p:txBody>
          <a:bodyPr/>
          <a:lstStyle/>
          <a:p>
            <a:r>
              <a:rPr lang="en-US" altLang="th-TH" sz="6000" b="1" u="sng">
                <a:latin typeface="CordiaUPC" panose="020B0304020202020204" pitchFamily="34" charset="-34"/>
                <a:cs typeface="CordiaUPC" panose="020B0304020202020204" pitchFamily="34" charset="-34"/>
              </a:rPr>
              <a:t>1. Business Requirement</a:t>
            </a:r>
          </a:p>
        </p:txBody>
      </p:sp>
    </p:spTree>
    <p:extLst>
      <p:ext uri="{BB962C8B-B14F-4D97-AF65-F5344CB8AC3E}">
        <p14:creationId xmlns:p14="http://schemas.microsoft.com/office/powerpoint/2010/main" val="3926961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 txBox="1">
            <a:spLocks/>
          </p:cNvSpPr>
          <p:nvPr/>
        </p:nvSpPr>
        <p:spPr bwMode="auto">
          <a:xfrm>
            <a:off x="621254" y="1103032"/>
            <a:ext cx="10914563" cy="31417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45720" rIns="91440" bIns="45720" anchor="t"/>
          <a:lstStyle/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rgbClr val="003300"/>
              </a:buClr>
              <a:defRPr/>
            </a:pPr>
            <a:r>
              <a:rPr lang="th-TH" altLang="en-US" sz="2800" kern="0">
                <a:solidFill>
                  <a:srgbClr val="09357A"/>
                </a:solidFill>
                <a:latin typeface="CordiaUPC"/>
                <a:cs typeface="CordiaUPC"/>
              </a:rPr>
              <a:t>ที่มา</a:t>
            </a:r>
            <a:r>
              <a:rPr lang="en-US" altLang="en-US" sz="2800" kern="0">
                <a:solidFill>
                  <a:srgbClr val="09357A"/>
                </a:solidFill>
                <a:latin typeface="CordiaUPC"/>
                <a:cs typeface="CordiaUPC"/>
              </a:rPr>
              <a:t> </a:t>
            </a:r>
            <a:endParaRPr lang="th-TH" altLang="en-US" sz="2800" b="0" kern="0">
              <a:solidFill>
                <a:srgbClr val="09357A"/>
              </a:solidFill>
              <a:latin typeface="CordiaUPC"/>
              <a:cs typeface="CordiaUPC"/>
            </a:endParaRPr>
          </a:p>
          <a:p>
            <a:pPr marL="457200" indent="-457200" eaLnBrk="0" hangingPunct="0">
              <a:lnSpc>
                <a:spcPct val="80000"/>
              </a:lnSpc>
              <a:spcBef>
                <a:spcPct val="20000"/>
              </a:spcBef>
              <a:buClr>
                <a:srgbClr val="003300"/>
              </a:buClr>
              <a:buFont typeface="Arial" panose="020B0604020202020204" pitchFamily="34" charset="0"/>
              <a:buChar char="•"/>
              <a:defRPr/>
            </a:pPr>
            <a:r>
              <a:rPr lang="th-TH" altLang="en-US" sz="2800" b="0" kern="0">
                <a:solidFill>
                  <a:schemeClr val="tx2"/>
                </a:solidFill>
                <a:latin typeface="CordiaUPC"/>
                <a:cs typeface="CordiaUPC"/>
              </a:rPr>
              <a:t>เนื่องจากปัจจุบันมีการเปิดร้าน 7-11 สาขาใหม่ทุกๆเดือน ซึ่งบางสาขาที่เปิดขึ้นใหม่จะส่งผลกระทบในด้านยอดขายกับร้านเดิมที่เปิดอยู่ก่อนหน้า ทำให้ต้องมีการคำนวนผลกระทบและจ่ายเงินชดเชยให้กับ SBP ของรายที่สาขาถูกเปิดกระทบ</a:t>
            </a:r>
            <a:endParaRPr lang="th-TH" altLang="en-US" sz="2800" b="0" kern="0">
              <a:solidFill>
                <a:schemeClr val="tx2"/>
              </a:solidFill>
              <a:latin typeface="CordiaUPC" panose="020B0304020202020204" pitchFamily="34" charset="-34"/>
              <a:cs typeface="CordiaUPC" panose="020B0304020202020204" pitchFamily="34" charset="-34"/>
            </a:endParaRPr>
          </a:p>
          <a:p>
            <a:pPr indent="-457200">
              <a:lnSpc>
                <a:spcPct val="80000"/>
              </a:lnSpc>
              <a:spcBef>
                <a:spcPct val="20000"/>
              </a:spcBef>
              <a:buClr>
                <a:srgbClr val="003300"/>
              </a:buClr>
              <a:buFont typeface="Arial" panose="020B0604020202020204" pitchFamily="34" charset="0"/>
              <a:buChar char="•"/>
              <a:defRPr/>
            </a:pPr>
            <a:r>
              <a:rPr lang="th-TH" altLang="en-US" sz="2800" b="0" kern="0">
                <a:solidFill>
                  <a:schemeClr val="tx2"/>
                </a:solidFill>
                <a:latin typeface="CordiaUPC"/>
                <a:cs typeface="CordiaUPC"/>
              </a:rPr>
              <a:t>ปัจจุบันในโครงการ </a:t>
            </a:r>
            <a:r>
              <a:rPr lang="th-TH" altLang="en-US" sz="2800" b="0" kern="0" err="1">
                <a:solidFill>
                  <a:schemeClr val="tx2"/>
                </a:solidFill>
                <a:latin typeface="CordiaUPC"/>
                <a:cs typeface="CordiaUPC"/>
              </a:rPr>
              <a:t>Replacement</a:t>
            </a:r>
            <a:r>
              <a:rPr lang="th-TH" altLang="en-US" sz="2800" b="0" kern="0">
                <a:solidFill>
                  <a:schemeClr val="tx2"/>
                </a:solidFill>
                <a:latin typeface="CordiaUPC"/>
                <a:cs typeface="CordiaUPC"/>
              </a:rPr>
              <a:t> SBP มีแผนพัฒนาระบบชดเชยประกันรายได้ จึงมีแผนปรับลดกระบวนการทำงานของทีมบัญชีบริหาร เพื่อเพิ่มความสะดวกในการทำงาน</a:t>
            </a:r>
            <a:endParaRPr lang="th-TH" altLang="en-US" sz="2800" b="0" kern="0">
              <a:solidFill>
                <a:schemeClr val="tx2"/>
              </a:solidFill>
              <a:latin typeface="CordiaUPC" panose="020B0304020202020204" pitchFamily="34" charset="-34"/>
              <a:cs typeface="CordiaUPC" panose="020B0304020202020204" pitchFamily="34" charset="-34"/>
            </a:endParaRPr>
          </a:p>
          <a:p>
            <a:pPr marL="457200" lvl="1" eaLnBrk="0" hangingPunct="0">
              <a:lnSpc>
                <a:spcPct val="80000"/>
              </a:lnSpc>
              <a:spcBef>
                <a:spcPct val="20000"/>
              </a:spcBef>
              <a:buClr>
                <a:srgbClr val="003300"/>
              </a:buClr>
              <a:defRPr/>
            </a:pPr>
            <a:endParaRPr lang="en-US" altLang="en-US" sz="2800" b="0" kern="0">
              <a:solidFill>
                <a:srgbClr val="09357A"/>
              </a:solidFill>
              <a:latin typeface="CordiaUPC" panose="020B0304020202020204" pitchFamily="34" charset="-34"/>
              <a:cs typeface="CordiaUPC" panose="020B0304020202020204" pitchFamily="34" charset="-34"/>
            </a:endParaRPr>
          </a:p>
          <a:p>
            <a:pPr marL="457200" indent="-457200" eaLnBrk="0" hangingPunct="0">
              <a:lnSpc>
                <a:spcPct val="80000"/>
              </a:lnSpc>
              <a:spcBef>
                <a:spcPct val="20000"/>
              </a:spcBef>
              <a:buClr>
                <a:srgbClr val="003300"/>
              </a:buClr>
              <a:buFont typeface="Arial" panose="020B0604020202020204" pitchFamily="34" charset="0"/>
              <a:buChar char="•"/>
              <a:defRPr/>
            </a:pPr>
            <a:endParaRPr lang="en-US" altLang="en-US" sz="2800" b="0" kern="0">
              <a:solidFill>
                <a:srgbClr val="09357A"/>
              </a:solidFill>
              <a:latin typeface="CordiaUPC" panose="020B0304020202020204" pitchFamily="34" charset="-34"/>
              <a:cs typeface="CordiaUPC" panose="020B0304020202020204" pitchFamily="34" charset="-34"/>
            </a:endParaRP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rgbClr val="003300"/>
              </a:buClr>
              <a:defRPr/>
            </a:pPr>
            <a:endParaRPr lang="en-US" altLang="en-US" sz="2800" b="0" kern="0">
              <a:solidFill>
                <a:srgbClr val="09357A"/>
              </a:solidFill>
              <a:latin typeface="CordiaUPC" panose="020B0304020202020204" pitchFamily="34" charset="-34"/>
              <a:cs typeface="CordiaUPC" panose="020B0304020202020204" pitchFamily="34" charset="-34"/>
            </a:endParaRP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rgbClr val="003300"/>
              </a:buClr>
              <a:defRPr/>
            </a:pPr>
            <a:endParaRPr lang="en-US" altLang="en-US" sz="2800" b="0" kern="0">
              <a:solidFill>
                <a:srgbClr val="09357A"/>
              </a:solidFill>
              <a:latin typeface="CordiaUPC" panose="020B0304020202020204" pitchFamily="34" charset="-34"/>
              <a:cs typeface="CordiaUPC" panose="020B0304020202020204" pitchFamily="34" charset="-34"/>
            </a:endParaRPr>
          </a:p>
          <a:p>
            <a:pPr lvl="1" eaLnBrk="0" hangingPunct="0">
              <a:lnSpc>
                <a:spcPct val="80000"/>
              </a:lnSpc>
              <a:spcBef>
                <a:spcPct val="20000"/>
              </a:spcBef>
              <a:buClr>
                <a:srgbClr val="008000"/>
              </a:buClr>
              <a:defRPr/>
            </a:pPr>
            <a:endParaRPr lang="en-US" altLang="en-US" sz="2800" b="0" kern="0">
              <a:latin typeface="CordiaUPC" panose="020B0304020202020204" pitchFamily="34" charset="-34"/>
              <a:cs typeface="CordiaUPC" panose="020B0304020202020204" pitchFamily="34" charset="-34"/>
            </a:endParaRPr>
          </a:p>
          <a:p>
            <a:pPr lvl="1" eaLnBrk="0" hangingPunct="0">
              <a:lnSpc>
                <a:spcPct val="80000"/>
              </a:lnSpc>
              <a:spcBef>
                <a:spcPct val="20000"/>
              </a:spcBef>
              <a:buClr>
                <a:srgbClr val="008000"/>
              </a:buClr>
              <a:defRPr/>
            </a:pPr>
            <a:endParaRPr lang="th-TH" altLang="en-US" sz="2800" b="0" kern="0">
              <a:latin typeface="CordiaUPC" panose="020B0304020202020204" pitchFamily="34" charset="-34"/>
              <a:cs typeface="CordiaUPC" panose="020B0304020202020204" pitchFamily="34" charset="-34"/>
            </a:endParaRPr>
          </a:p>
          <a:p>
            <a:pPr marL="742950" lvl="1" indent="-285750" eaLnBrk="0" hangingPunct="0">
              <a:lnSpc>
                <a:spcPct val="80000"/>
              </a:lnSpc>
              <a:spcBef>
                <a:spcPct val="20000"/>
              </a:spcBef>
              <a:buClr>
                <a:srgbClr val="008000"/>
              </a:buClr>
              <a:buFont typeface="Wingdings" pitchFamily="2" charset="2"/>
              <a:buChar char="§"/>
              <a:defRPr/>
            </a:pPr>
            <a:endParaRPr lang="en-US" altLang="en-US" sz="2800" b="0" kern="0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  <p:sp>
        <p:nvSpPr>
          <p:cNvPr id="14339" name="Title 1"/>
          <p:cNvSpPr>
            <a:spLocks noGrp="1"/>
          </p:cNvSpPr>
          <p:nvPr>
            <p:ph type="title"/>
          </p:nvPr>
        </p:nvSpPr>
        <p:spPr>
          <a:xfrm>
            <a:off x="621254" y="325158"/>
            <a:ext cx="10910220" cy="777875"/>
          </a:xfrm>
        </p:spPr>
        <p:txBody>
          <a:bodyPr/>
          <a:lstStyle/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b="1" u="sng">
                <a:latin typeface="CordiaUPC" panose="020B0304020202020204" pitchFamily="34" charset="-34"/>
                <a:cs typeface="CordiaUPC" panose="020B0304020202020204" pitchFamily="34" charset="-34"/>
              </a:rPr>
              <a:t>1.1 Current Situation Analysis</a:t>
            </a:r>
            <a:r>
              <a:rPr lang="th-TH" altLang="en-US" b="1" u="sng">
                <a:latin typeface="CordiaUPC" panose="020B0304020202020204" pitchFamily="34" charset="-34"/>
                <a:cs typeface="CordiaUPC" panose="020B0304020202020204" pitchFamily="34" charset="-34"/>
              </a:rPr>
              <a:t> </a:t>
            </a:r>
            <a:r>
              <a:rPr lang="en-US" altLang="en-US" b="1" u="sng">
                <a:latin typeface="CordiaUPC" panose="020B0304020202020204" pitchFamily="34" charset="-34"/>
                <a:cs typeface="CordiaUPC" panose="020B0304020202020204" pitchFamily="34" charset="-34"/>
              </a:rPr>
              <a:t>/ Problem Statement</a:t>
            </a:r>
            <a:endParaRPr lang="th-TH" altLang="en-US" b="1" u="sng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974772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3389" y="1009570"/>
            <a:ext cx="9770623" cy="156966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lvl="1"/>
            <a:r>
              <a:rPr lang="th-TH" altLang="en-US" sz="2800" kern="0">
                <a:solidFill>
                  <a:srgbClr val="09357A"/>
                </a:solidFill>
                <a:latin typeface="CordiaUPC"/>
                <a:cs typeface="CordiaUPC"/>
              </a:rPr>
              <a:t>วัตถุประสงค์ </a:t>
            </a:r>
            <a:r>
              <a:rPr lang="en-US" altLang="en-US" sz="2800" b="0" kern="0">
                <a:solidFill>
                  <a:srgbClr val="09357A"/>
                </a:solidFill>
                <a:latin typeface="CordiaUPC"/>
                <a:cs typeface="CordiaUPC"/>
              </a:rPr>
              <a:t>(</a:t>
            </a:r>
            <a:r>
              <a:rPr lang="th-TH" altLang="en-US" sz="2800" b="0" kern="0">
                <a:solidFill>
                  <a:schemeClr val="tx2"/>
                </a:solidFill>
                <a:latin typeface="CordiaUPC"/>
                <a:cs typeface="CordiaUPC"/>
              </a:rPr>
              <a:t>บอกวัตถุประสงค์ โดยนำหลัก </a:t>
            </a:r>
            <a:r>
              <a:rPr lang="en-US" altLang="en-US" sz="2800" b="0" kern="0">
                <a:solidFill>
                  <a:schemeClr val="tx2"/>
                </a:solidFill>
                <a:latin typeface="CordiaUPC"/>
                <a:cs typeface="CordiaUPC"/>
              </a:rPr>
              <a:t>SMART </a:t>
            </a:r>
            <a:r>
              <a:rPr lang="th-TH" altLang="en-US" sz="2800" b="0" kern="0">
                <a:solidFill>
                  <a:schemeClr val="tx2"/>
                </a:solidFill>
                <a:latin typeface="CordiaUPC"/>
                <a:cs typeface="CordiaUPC"/>
              </a:rPr>
              <a:t>มาใช้</a:t>
            </a:r>
            <a:r>
              <a:rPr lang="en-US" altLang="en-US" sz="2800" b="0" kern="0">
                <a:solidFill>
                  <a:schemeClr val="tx2"/>
                </a:solidFill>
                <a:latin typeface="CordiaUPC"/>
                <a:cs typeface="CordiaUPC"/>
              </a:rPr>
              <a:t>, </a:t>
            </a:r>
            <a:r>
              <a:rPr lang="th-TH" altLang="en-US" sz="2800" b="0" kern="0">
                <a:solidFill>
                  <a:schemeClr val="tx2"/>
                </a:solidFill>
                <a:latin typeface="CordiaUPC"/>
                <a:cs typeface="CordiaUPC"/>
              </a:rPr>
              <a:t>ทำไปเพื่ออะไร</a:t>
            </a:r>
            <a:r>
              <a:rPr lang="en-US" altLang="en-US" sz="2800" b="0" kern="0">
                <a:solidFill>
                  <a:srgbClr val="09357A"/>
                </a:solidFill>
                <a:latin typeface="CordiaUPC"/>
                <a:cs typeface="CordiaUPC"/>
              </a:rPr>
              <a:t>)</a:t>
            </a:r>
            <a:endParaRPr lang="th-TH" altLang="en-US" sz="2800" kern="0">
              <a:solidFill>
                <a:srgbClr val="09357A"/>
              </a:solidFill>
              <a:latin typeface="CordiaUPC"/>
              <a:cs typeface="CordiaUPC"/>
            </a:endParaRPr>
          </a:p>
          <a:p>
            <a:r>
              <a:rPr lang="en-US" sz="2400" b="0" kern="0" err="1">
                <a:solidFill>
                  <a:srgbClr val="000000"/>
                </a:solidFill>
                <a:latin typeface="Browallia New"/>
                <a:ea typeface="Tahoma"/>
                <a:cs typeface="Browallia New"/>
              </a:rPr>
              <a:t>เพื่อปรับปรุงกระบวนการทำงานให้กระชับ</a:t>
            </a:r>
            <a:r>
              <a:rPr lang="en-US" sz="2400" b="0" kern="0">
                <a:solidFill>
                  <a:srgbClr val="000000"/>
                </a:solidFill>
                <a:latin typeface="Browallia New"/>
                <a:ea typeface="Tahoma"/>
                <a:cs typeface="Browallia New"/>
              </a:rPr>
              <a:t> </a:t>
            </a:r>
            <a:r>
              <a:rPr lang="en-US" sz="2400" b="0" kern="0" err="1">
                <a:solidFill>
                  <a:srgbClr val="000000"/>
                </a:solidFill>
                <a:latin typeface="Browallia New"/>
                <a:ea typeface="Tahoma"/>
                <a:cs typeface="Browallia New"/>
              </a:rPr>
              <a:t>ลดขั้นตอนที่ไม่จำเป็น</a:t>
            </a:r>
            <a:r>
              <a:rPr lang="en-US" sz="2400" b="0" kern="0">
                <a:solidFill>
                  <a:srgbClr val="000000"/>
                </a:solidFill>
                <a:latin typeface="Browallia New"/>
                <a:ea typeface="Tahoma"/>
                <a:cs typeface="Browallia New"/>
              </a:rPr>
              <a:t> </a:t>
            </a:r>
            <a:r>
              <a:rPr lang="en-US" sz="2400" b="0" kern="0" err="1">
                <a:solidFill>
                  <a:srgbClr val="000000"/>
                </a:solidFill>
                <a:latin typeface="Browallia New"/>
                <a:ea typeface="Tahoma"/>
                <a:cs typeface="Browallia New"/>
              </a:rPr>
              <a:t>เพิ่มประสิทธิภาพ</a:t>
            </a:r>
            <a:r>
              <a:rPr lang="en-US" sz="2400" b="0" kern="0">
                <a:solidFill>
                  <a:srgbClr val="000000"/>
                </a:solidFill>
                <a:latin typeface="Browallia New"/>
                <a:ea typeface="Tahoma"/>
                <a:cs typeface="Browallia New"/>
              </a:rPr>
              <a:t> และลดระยะเวลาในการทำงาน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2400" b="0" kern="0">
              <a:solidFill>
                <a:srgbClr val="000000"/>
              </a:solidFill>
              <a:latin typeface="Browallia New"/>
              <a:ea typeface="Tahoma"/>
              <a:cs typeface="Tahoma"/>
            </a:endParaRPr>
          </a:p>
          <a:p>
            <a:endParaRPr lang="th-TH" sz="200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9C73B47-CB3E-4A35-8C14-CE2EC75E2BEB}"/>
              </a:ext>
            </a:extLst>
          </p:cNvPr>
          <p:cNvSpPr txBox="1">
            <a:spLocks/>
          </p:cNvSpPr>
          <p:nvPr/>
        </p:nvSpPr>
        <p:spPr bwMode="auto">
          <a:xfrm>
            <a:off x="621254" y="325158"/>
            <a:ext cx="10910220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 panose="020B0304020202020204" pitchFamily="34" charset="-34"/>
                <a:cs typeface="CordiaUPC" panose="020B0304020202020204" pitchFamily="34" charset="-34"/>
              </a:rPr>
              <a:t>1.2.</a:t>
            </a:r>
            <a:r>
              <a:rPr lang="en-US" altLang="en-US" b="1" u="sng">
                <a:latin typeface="CordiaUPC" panose="020B0304020202020204" pitchFamily="34" charset="-34"/>
                <a:cs typeface="CordiaUPC" panose="020B0304020202020204" pitchFamily="34" charset="-34"/>
              </a:rPr>
              <a:t> Objective</a:t>
            </a:r>
            <a:endParaRPr lang="th-TH" altLang="en-US" b="1" u="sng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413245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 txBox="1">
            <a:spLocks/>
          </p:cNvSpPr>
          <p:nvPr/>
        </p:nvSpPr>
        <p:spPr bwMode="auto">
          <a:xfrm>
            <a:off x="1836868" y="1062691"/>
            <a:ext cx="82296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rgbClr val="003300"/>
              </a:buClr>
              <a:defRPr/>
            </a:pPr>
            <a:endParaRPr lang="en-US" altLang="en-US" sz="2400" b="0" kern="0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2031208"/>
              </p:ext>
            </p:extLst>
          </p:nvPr>
        </p:nvGraphicFramePr>
        <p:xfrm>
          <a:off x="663389" y="1610891"/>
          <a:ext cx="10980737" cy="4073238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2096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6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599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78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1756">
                <a:tc>
                  <a:txBody>
                    <a:bodyPr/>
                    <a:lstStyle/>
                    <a:p>
                      <a:pPr algn="ctr"/>
                      <a:r>
                        <a:rPr lang="th-TH" sz="2000" b="0">
                          <a:latin typeface="Browallia New"/>
                          <a:cs typeface="Browallia New"/>
                        </a:rPr>
                        <a:t>ตัวชี้วัด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2000" b="0" i="1">
                        <a:solidFill>
                          <a:srgbClr val="FF0000"/>
                        </a:solidFill>
                        <a:latin typeface="Browallia New"/>
                        <a:ea typeface="Tahoma"/>
                        <a:cs typeface="Browallia New"/>
                      </a:endParaRPr>
                    </a:p>
                  </a:txBody>
                  <a:tcPr marL="120351" marR="120351" marT="60176" marB="6017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b="0">
                          <a:latin typeface="Browallia New"/>
                          <a:cs typeface="Browallia New"/>
                        </a:rPr>
                        <a:t>ประโยชน์ (เพิ่ม</a:t>
                      </a:r>
                      <a:r>
                        <a:rPr lang="en-US" sz="2000" b="0">
                          <a:latin typeface="Browallia New"/>
                          <a:cs typeface="CordiaUPC"/>
                        </a:rPr>
                        <a:t>/</a:t>
                      </a:r>
                      <a:r>
                        <a:rPr lang="th-TH" sz="2000" b="0">
                          <a:latin typeface="Browallia New"/>
                          <a:cs typeface="Browallia New"/>
                        </a:rPr>
                        <a:t>ลด)</a:t>
                      </a:r>
                      <a:endParaRPr lang="th-TH" sz="2000" b="0">
                        <a:solidFill>
                          <a:schemeClr val="tx1"/>
                        </a:solidFill>
                        <a:latin typeface="Browallia New"/>
                        <a:ea typeface="Tahoma"/>
                        <a:cs typeface="Browallia New"/>
                      </a:endParaRPr>
                    </a:p>
                  </a:txBody>
                  <a:tcPr marL="120351" marR="120351" marT="60176" marB="6017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b="0">
                          <a:latin typeface="Browallia New"/>
                          <a:cs typeface="Browallia New"/>
                        </a:rPr>
                        <a:t>ปัจจุบัน</a:t>
                      </a:r>
                      <a:endParaRPr lang="th-TH" sz="2000" b="0">
                        <a:solidFill>
                          <a:schemeClr val="tx1"/>
                        </a:solidFill>
                        <a:latin typeface="Browallia New"/>
                        <a:ea typeface="Tahoma"/>
                        <a:cs typeface="Browallia New"/>
                      </a:endParaRPr>
                    </a:p>
                  </a:txBody>
                  <a:tcPr marL="120351" marR="120351" marT="60176" marB="6017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b="0">
                          <a:latin typeface="Browallia New"/>
                          <a:cs typeface="Browallia New"/>
                        </a:rPr>
                        <a:t>เป้าหมาย</a:t>
                      </a:r>
                    </a:p>
                    <a:p>
                      <a:pPr algn="ctr"/>
                      <a:endParaRPr lang="th-TH" sz="2000" b="0" i="1">
                        <a:solidFill>
                          <a:srgbClr val="FF0000"/>
                        </a:solidFill>
                        <a:latin typeface="Browallia New"/>
                        <a:ea typeface="Tahoma"/>
                        <a:cs typeface="Browallia New"/>
                      </a:endParaRPr>
                    </a:p>
                  </a:txBody>
                  <a:tcPr marL="120351" marR="120351" marT="60176" marB="6017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089">
                <a:tc>
                  <a:txBody>
                    <a:bodyPr/>
                    <a:lstStyle/>
                    <a:p>
                      <a:pPr algn="ctr" fontAlgn="t"/>
                      <a:r>
                        <a:rPr lang="th-TH" sz="2000" b="0" i="0" u="none" strike="noStrike">
                          <a:solidFill>
                            <a:srgbClr val="000000"/>
                          </a:solidFill>
                          <a:latin typeface="Browallia New"/>
                          <a:ea typeface="Tahoma"/>
                          <a:cs typeface="Browallia New"/>
                        </a:rPr>
                        <a:t>ระเบียบ/</a:t>
                      </a:r>
                      <a:r>
                        <a:rPr lang="th-TH" sz="2000" b="0" i="0" u="none" strike="noStrike" err="1">
                          <a:solidFill>
                            <a:srgbClr val="000000"/>
                          </a:solidFill>
                          <a:latin typeface="Browallia New"/>
                          <a:ea typeface="Tahoma"/>
                          <a:cs typeface="Browallia New"/>
                        </a:rPr>
                        <a:t>กฏหมาย</a:t>
                      </a:r>
                      <a:r>
                        <a:rPr lang="th-TH" sz="2000" b="0" i="0" u="none" strike="noStrike" baseline="0">
                          <a:solidFill>
                            <a:srgbClr val="000000"/>
                          </a:solidFill>
                          <a:latin typeface="Browallia New"/>
                          <a:ea typeface="Tahoma"/>
                          <a:cs typeface="Browallia New"/>
                        </a:rPr>
                        <a:t> </a:t>
                      </a:r>
                    </a:p>
                    <a:p>
                      <a:pPr algn="ctr" fontAlgn="t"/>
                      <a:r>
                        <a:rPr lang="th-TH" sz="2000" b="0" i="0" u="none" strike="noStrike" baseline="0">
                          <a:solidFill>
                            <a:srgbClr val="000000"/>
                          </a:solidFill>
                          <a:latin typeface="Browallia New"/>
                          <a:ea typeface="Tahoma"/>
                          <a:cs typeface="Browallia New"/>
                        </a:rPr>
                        <a:t>(มีข้อบังคับหรือไม่)</a:t>
                      </a:r>
                      <a:endParaRPr lang="th-TH" sz="2000" b="0" i="0" u="none" strike="noStrike">
                        <a:solidFill>
                          <a:srgbClr val="000000"/>
                        </a:solidFill>
                        <a:latin typeface="Browallia New"/>
                        <a:ea typeface="Tahoma"/>
                        <a:cs typeface="Browallia New"/>
                      </a:endParaRPr>
                    </a:p>
                  </a:txBody>
                  <a:tcPr marL="12537" marR="12537" marT="12537" marB="0"/>
                </a:tc>
                <a:tc>
                  <a:txBody>
                    <a:bodyPr/>
                    <a:lstStyle/>
                    <a:p>
                      <a:endParaRPr lang="th-TH" sz="2000" b="0">
                        <a:latin typeface="Browallia New"/>
                        <a:ea typeface="Tahoma"/>
                        <a:cs typeface="Browallia New"/>
                      </a:endParaRPr>
                    </a:p>
                  </a:txBody>
                  <a:tcPr marL="120351" marR="120351" marT="60176" marB="60176"/>
                </a:tc>
                <a:tc>
                  <a:txBody>
                    <a:bodyPr/>
                    <a:lstStyle/>
                    <a:p>
                      <a:endParaRPr lang="th-TH" sz="2000" b="0">
                        <a:latin typeface="Browallia New"/>
                        <a:ea typeface="Tahoma"/>
                        <a:cs typeface="Browallia New"/>
                      </a:endParaRPr>
                    </a:p>
                  </a:txBody>
                  <a:tcPr marL="120351" marR="120351" marT="60176" marB="60176"/>
                </a:tc>
                <a:tc>
                  <a:txBody>
                    <a:bodyPr/>
                    <a:lstStyle/>
                    <a:p>
                      <a:endParaRPr lang="th-TH" sz="2000" b="0">
                        <a:latin typeface="Browallia New"/>
                        <a:ea typeface="Tahoma"/>
                        <a:cs typeface="Browallia New"/>
                      </a:endParaRPr>
                    </a:p>
                  </a:txBody>
                  <a:tcPr marL="120351" marR="120351" marT="60176" marB="6017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5717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u="none" strike="noStrike" err="1">
                          <a:latin typeface="Browallia New"/>
                          <a:cs typeface="CordiaUPC"/>
                        </a:rPr>
                        <a:t>ยอดขาย</a:t>
                      </a:r>
                      <a:r>
                        <a:rPr lang="th-TH" sz="2000" b="0" u="none" strike="noStrike">
                          <a:latin typeface="Browallia New"/>
                          <a:cs typeface="Browallia New"/>
                        </a:rPr>
                        <a:t> </a:t>
                      </a:r>
                    </a:p>
                    <a:p>
                      <a:pPr algn="ctr" fontAlgn="t"/>
                      <a:r>
                        <a:rPr lang="th-TH" sz="2000" b="0" u="none" strike="noStrike">
                          <a:latin typeface="Browallia New"/>
                          <a:cs typeface="Browallia New"/>
                        </a:rPr>
                        <a:t>(เพิ่มขึ้นหรือไม่)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latin typeface="Browallia New"/>
                        <a:ea typeface="Tahoma"/>
                        <a:cs typeface="Browallia New"/>
                      </a:endParaRPr>
                    </a:p>
                  </a:txBody>
                  <a:tcPr marL="12537" marR="12537" marT="12537" marB="0"/>
                </a:tc>
                <a:tc>
                  <a:txBody>
                    <a:bodyPr/>
                    <a:lstStyle/>
                    <a:p>
                      <a:endParaRPr lang="th-TH" sz="2000" b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Browallia New"/>
                        <a:ea typeface="Tahoma"/>
                        <a:cs typeface="Browallia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h-TH" sz="2000" b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Browallia New"/>
                        <a:ea typeface="Tahoma"/>
                        <a:cs typeface="Browallia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b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Browallia New"/>
                        <a:ea typeface="Tahoma"/>
                        <a:cs typeface="CordiaUPC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2420">
                <a:tc>
                  <a:txBody>
                    <a:bodyPr/>
                    <a:lstStyle/>
                    <a:p>
                      <a:pPr algn="ctr" fontAlgn="t"/>
                      <a:r>
                        <a:rPr lang="th-TH" sz="2000" b="0" u="none" strike="noStrike">
                          <a:latin typeface="Browallia New"/>
                          <a:cs typeface="Browallia New"/>
                        </a:rPr>
                        <a:t>ต้นทุนใน</a:t>
                      </a:r>
                      <a:r>
                        <a:rPr lang="th-TH" sz="2000" b="0" u="none" strike="noStrike" err="1">
                          <a:latin typeface="Browallia New"/>
                          <a:cs typeface="Browallia New"/>
                        </a:rPr>
                        <a:t>การทำ</a:t>
                      </a:r>
                      <a:r>
                        <a:rPr lang="th-TH" sz="2000" b="0" u="none" strike="noStrike">
                          <a:latin typeface="Browallia New"/>
                          <a:cs typeface="Browallia New"/>
                        </a:rPr>
                        <a:t>ธุรกิจ</a:t>
                      </a:r>
                      <a:br>
                        <a:rPr lang="th-TH" sz="2000" b="0" u="none" strike="noStrike">
                          <a:latin typeface="Browallia New"/>
                          <a:cs typeface="Browallia New"/>
                        </a:rPr>
                      </a:br>
                      <a:r>
                        <a:rPr lang="th-TH" sz="2000" b="0" u="none" strike="noStrike">
                          <a:latin typeface="Browallia New"/>
                          <a:cs typeface="Browallia New"/>
                        </a:rPr>
                        <a:t>(ลดลงหรือไม่)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latin typeface="Browallia New"/>
                        <a:ea typeface="Tahoma"/>
                        <a:cs typeface="Browallia New"/>
                      </a:endParaRPr>
                    </a:p>
                  </a:txBody>
                  <a:tcPr marL="12537" marR="12537" marT="12537" marB="0"/>
                </a:tc>
                <a:tc>
                  <a:txBody>
                    <a:bodyPr/>
                    <a:lstStyle/>
                    <a:p>
                      <a:endParaRPr lang="en-US" sz="2000" b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Browallia New"/>
                        <a:ea typeface="Tahoma"/>
                        <a:cs typeface="CordiaUP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h-TH" sz="2000" b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Browallia New"/>
                        <a:ea typeface="Tahoma"/>
                        <a:cs typeface="Browallia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h-TH" sz="2000" b="0" baseline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Browallia New"/>
                        <a:ea typeface="Tahoma"/>
                        <a:cs typeface="Browallia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1756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u="none" strike="noStrike" err="1">
                          <a:solidFill>
                            <a:schemeClr val="tx1"/>
                          </a:solidFill>
                          <a:latin typeface="Browallia New"/>
                          <a:cs typeface="CordiaUPC"/>
                        </a:rPr>
                        <a:t>อื่นๆ</a:t>
                      </a:r>
                      <a:r>
                        <a:rPr lang="en-US" sz="2000" b="0" u="none" strike="noStrike">
                          <a:solidFill>
                            <a:schemeClr val="tx1"/>
                          </a:solidFill>
                          <a:latin typeface="Browallia New"/>
                          <a:cs typeface="CordiaUPC"/>
                        </a:rPr>
                        <a:t> </a:t>
                      </a:r>
                      <a:endParaRPr lang="en-US" sz="2000" b="0" i="0" u="none" strike="noStrike">
                        <a:solidFill>
                          <a:schemeClr val="tx1"/>
                        </a:solidFill>
                        <a:latin typeface="Browallia New"/>
                        <a:ea typeface="Tahoma"/>
                        <a:cs typeface="CordiaUPC"/>
                      </a:endParaRPr>
                    </a:p>
                  </a:txBody>
                  <a:tcPr marL="12537" marR="12537" marT="12537" marB="0"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th-TH" sz="2000" b="0">
                          <a:solidFill>
                            <a:schemeClr val="tx1"/>
                          </a:solidFill>
                          <a:latin typeface="Browallia New"/>
                          <a:ea typeface="Tahoma"/>
                          <a:cs typeface="Browallia New"/>
                        </a:rPr>
                        <a:t>ระยะเวลาทำการอนุมัติ 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Browallia New"/>
                        </a:rPr>
                        <a:t>Flow </a:t>
                      </a:r>
                      <a:r>
                        <a:rPr lang="th-TH" sz="2000" b="0" i="0" u="none" strike="noStrike" noProof="0">
                          <a:solidFill>
                            <a:schemeClr val="tx1"/>
                          </a:solidFill>
                          <a:latin typeface="Browallia New"/>
                          <a:cs typeface="Browallia New"/>
                        </a:rPr>
                        <a:t>จากระบบ </a:t>
                      </a: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Browallia New"/>
                        </a:rPr>
                        <a:t>K2 </a:t>
                      </a:r>
                      <a:r>
                        <a:rPr lang="th-TH" sz="2000" b="0" i="0" u="none" strike="noStrike" noProof="0">
                          <a:solidFill>
                            <a:schemeClr val="tx1"/>
                          </a:solidFill>
                          <a:latin typeface="Browallia New"/>
                          <a:cs typeface="Browallia New"/>
                        </a:rPr>
                        <a:t>ต่อเดือน 150-170 ฉบับ</a:t>
                      </a:r>
                      <a:endParaRPr lang="th-TH" sz="2000" b="0">
                        <a:solidFill>
                          <a:schemeClr val="tx1"/>
                        </a:solidFill>
                        <a:latin typeface="Browallia New"/>
                        <a:ea typeface="Tahoma"/>
                        <a:cs typeface="Browallia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th-TH" sz="2000" b="0" i="0" u="none" strike="noStrike" noProof="0">
                          <a:solidFill>
                            <a:schemeClr val="tx1"/>
                          </a:solidFill>
                          <a:latin typeface="Browallia New"/>
                          <a:cs typeface="Browallia New"/>
                        </a:rPr>
                        <a:t>การอนุมัติ </a:t>
                      </a: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Browallia New"/>
                          <a:cs typeface="Browallia New"/>
                        </a:rPr>
                        <a:t>Flow </a:t>
                      </a:r>
                      <a:r>
                        <a:rPr lang="th-TH" sz="2000" b="0" i="0" u="none" strike="noStrike" noProof="0">
                          <a:solidFill>
                            <a:schemeClr val="tx1"/>
                          </a:solidFill>
                          <a:latin typeface="Browallia New"/>
                          <a:cs typeface="Browallia New"/>
                        </a:rPr>
                        <a:t>ประมาณ 4 นาที /ฉบับ(150 ฉบับ/เดือน = 600 นาที / 10 ชม.)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latin typeface="Browallia New"/>
                          <a:ea typeface="Tahoma"/>
                          <a:cs typeface="Browallia New"/>
                        </a:rPr>
                        <a:t>User </a:t>
                      </a:r>
                      <a:r>
                        <a:rPr lang="th-TH" sz="2000" b="0">
                          <a:solidFill>
                            <a:schemeClr val="tx1"/>
                          </a:solidFill>
                          <a:latin typeface="Browallia New"/>
                          <a:ea typeface="Tahoma"/>
                          <a:cs typeface="Browallia New"/>
                        </a:rPr>
                        <a:t> ทำการอนุมัติรายสาขา150-170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latin typeface="Browallia New"/>
                          <a:ea typeface="Tahoma"/>
                          <a:cs typeface="Browallia New"/>
                        </a:rPr>
                        <a:t> Flow</a:t>
                      </a:r>
                      <a:endParaRPr lang="th-TH" sz="2000" b="0">
                        <a:solidFill>
                          <a:schemeClr val="tx1"/>
                        </a:solidFill>
                        <a:latin typeface="Browallia New"/>
                        <a:ea typeface="Tahoma"/>
                        <a:cs typeface="Browallia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th-TH" sz="2000" b="0">
                          <a:solidFill>
                            <a:schemeClr val="tx1"/>
                          </a:solidFill>
                          <a:latin typeface="Browallia New"/>
                          <a:ea typeface="Tahoma"/>
                          <a:cs typeface="Browallia New"/>
                        </a:rPr>
                        <a:t>ให้ลดลง 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latin typeface="Browallia New"/>
                          <a:ea typeface="Tahoma"/>
                          <a:cs typeface="CordiaUPC"/>
                        </a:rPr>
                        <a:t>50%</a:t>
                      </a:r>
                    </a:p>
                    <a:p>
                      <a:pPr marL="342900" marR="0" lvl="0" indent="-3429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endParaRPr lang="en-US" sz="2000" b="0">
                        <a:solidFill>
                          <a:schemeClr val="tx1"/>
                        </a:solidFill>
                        <a:latin typeface="Browallia New"/>
                        <a:ea typeface="Tahoma"/>
                        <a:cs typeface="CordiaUPC"/>
                      </a:endParaRPr>
                    </a:p>
                    <a:p>
                      <a:pPr marL="342900" marR="0" lvl="0" indent="-3429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endParaRPr lang="en-US" sz="2000" b="0">
                        <a:solidFill>
                          <a:schemeClr val="tx1"/>
                        </a:solidFill>
                        <a:latin typeface="Browallia New"/>
                        <a:ea typeface="Tahoma"/>
                        <a:cs typeface="CordiaUPC"/>
                      </a:endParaRPr>
                    </a:p>
                    <a:p>
                      <a:pPr marL="342900" marR="0" lvl="0" indent="-3429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latin typeface="Browallia New"/>
                          <a:ea typeface="Tahoma"/>
                          <a:cs typeface="CordiaUPC"/>
                        </a:rPr>
                        <a:t>0  </a:t>
                      </a:r>
                      <a:r>
                        <a:rPr lang="en-US" sz="2000" b="0" err="1">
                          <a:solidFill>
                            <a:schemeClr val="tx1"/>
                          </a:solidFill>
                          <a:latin typeface="Browallia New"/>
                          <a:ea typeface="Tahoma"/>
                          <a:cs typeface="CordiaUPC"/>
                        </a:rPr>
                        <a:t>ฉบับ</a:t>
                      </a:r>
                      <a:endParaRPr lang="en-US" sz="2000" b="0">
                        <a:solidFill>
                          <a:schemeClr val="tx1"/>
                        </a:solidFill>
                        <a:latin typeface="Browallia New"/>
                        <a:ea typeface="Tahoma"/>
                        <a:cs typeface="CordiaUPC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663389" y="1009570"/>
            <a:ext cx="824135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/>
            <a:r>
              <a:rPr lang="th-TH" altLang="en-US" sz="2800" kern="0">
                <a:solidFill>
                  <a:srgbClr val="09357A"/>
                </a:solidFill>
                <a:latin typeface="CordiaUPC" panose="020B0304020202020204" pitchFamily="34" charset="-34"/>
                <a:cs typeface="CordiaUPC" panose="020B0304020202020204" pitchFamily="34" charset="-34"/>
              </a:rPr>
              <a:t>ผลประโยชน์ทางธุรกิจ </a:t>
            </a:r>
            <a:r>
              <a:rPr lang="en-US" altLang="en-US" sz="2800" b="0" kern="0">
                <a:solidFill>
                  <a:srgbClr val="09357A"/>
                </a:solidFill>
                <a:latin typeface="CordiaUPC" panose="020B0304020202020204" pitchFamily="34" charset="-34"/>
                <a:cs typeface="CordiaUPC" panose="020B0304020202020204" pitchFamily="34" charset="-34"/>
              </a:rPr>
              <a:t>(</a:t>
            </a:r>
            <a:r>
              <a:rPr lang="th-TH" altLang="en-US" sz="2800" b="0" kern="0">
                <a:solidFill>
                  <a:schemeClr val="tx2"/>
                </a:solidFill>
                <a:latin typeface="CordiaUPC" panose="020B0304020202020204" pitchFamily="34" charset="-34"/>
                <a:cs typeface="CordiaUPC" panose="020B0304020202020204" pitchFamily="34" charset="-34"/>
              </a:rPr>
              <a:t>บอกตัวชี้วัด</a:t>
            </a:r>
            <a:r>
              <a:rPr lang="en-US" altLang="en-US" sz="2800" b="0" kern="0">
                <a:solidFill>
                  <a:schemeClr val="tx2"/>
                </a:solidFill>
                <a:latin typeface="CordiaUPC" panose="020B0304020202020204" pitchFamily="34" charset="-34"/>
                <a:cs typeface="CordiaUPC" panose="020B0304020202020204" pitchFamily="34" charset="-34"/>
              </a:rPr>
              <a:t>, </a:t>
            </a:r>
            <a:r>
              <a:rPr lang="th-TH" altLang="en-US" sz="2800" b="0" kern="0">
                <a:solidFill>
                  <a:schemeClr val="tx2"/>
                </a:solidFill>
                <a:latin typeface="CordiaUPC" panose="020B0304020202020204" pitchFamily="34" charset="-34"/>
                <a:cs typeface="CordiaUPC" panose="020B0304020202020204" pitchFamily="34" charset="-34"/>
              </a:rPr>
              <a:t>ประโยชน์</a:t>
            </a:r>
            <a:r>
              <a:rPr lang="en-US" altLang="en-US" sz="2800" b="0" kern="0">
                <a:solidFill>
                  <a:schemeClr val="tx2"/>
                </a:solidFill>
                <a:latin typeface="CordiaUPC" panose="020B0304020202020204" pitchFamily="34" charset="-34"/>
                <a:cs typeface="CordiaUPC" panose="020B0304020202020204" pitchFamily="34" charset="-34"/>
              </a:rPr>
              <a:t>, </a:t>
            </a:r>
            <a:r>
              <a:rPr lang="th-TH" altLang="en-US" sz="2800" b="0" kern="0">
                <a:solidFill>
                  <a:schemeClr val="tx2"/>
                </a:solidFill>
                <a:latin typeface="CordiaUPC" panose="020B0304020202020204" pitchFamily="34" charset="-34"/>
                <a:cs typeface="CordiaUPC" panose="020B0304020202020204" pitchFamily="34" charset="-34"/>
              </a:rPr>
              <a:t>เป้าหมาย โดยนำ</a:t>
            </a:r>
            <a:r>
              <a:rPr lang="en-US" altLang="en-US" sz="2800" b="0" kern="0">
                <a:solidFill>
                  <a:schemeClr val="tx2"/>
                </a:solidFill>
                <a:latin typeface="CordiaUPC" panose="020B0304020202020204" pitchFamily="34" charset="-34"/>
                <a:cs typeface="CordiaUPC" panose="020B0304020202020204" pitchFamily="34" charset="-34"/>
              </a:rPr>
              <a:t> SMART </a:t>
            </a:r>
            <a:r>
              <a:rPr lang="th-TH" altLang="en-US" sz="2800" b="0" kern="0">
                <a:solidFill>
                  <a:schemeClr val="tx2"/>
                </a:solidFill>
                <a:latin typeface="CordiaUPC" panose="020B0304020202020204" pitchFamily="34" charset="-34"/>
                <a:cs typeface="CordiaUPC" panose="020B0304020202020204" pitchFamily="34" charset="-34"/>
              </a:rPr>
              <a:t>มาใช้</a:t>
            </a:r>
            <a:r>
              <a:rPr lang="en-US" altLang="en-US" sz="2800" b="0" kern="0">
                <a:solidFill>
                  <a:srgbClr val="FF0000"/>
                </a:solidFill>
                <a:latin typeface="CordiaUPC" panose="020B0304020202020204" pitchFamily="34" charset="-34"/>
                <a:cs typeface="CordiaUPC" panose="020B0304020202020204" pitchFamily="34" charset="-34"/>
              </a:rPr>
              <a:t> </a:t>
            </a:r>
            <a:r>
              <a:rPr lang="en-US" altLang="en-US" sz="2800" b="0" kern="0">
                <a:solidFill>
                  <a:srgbClr val="09357A"/>
                </a:solidFill>
                <a:latin typeface="CordiaUPC" panose="020B0304020202020204" pitchFamily="34" charset="-34"/>
                <a:cs typeface="CordiaUPC" panose="020B0304020202020204" pitchFamily="34" charset="-34"/>
              </a:rPr>
              <a:t>)</a:t>
            </a:r>
            <a:endParaRPr lang="th-TH" altLang="en-US" sz="2800" kern="0">
              <a:solidFill>
                <a:srgbClr val="09357A"/>
              </a:solidFill>
              <a:latin typeface="CordiaUPC" panose="020B0304020202020204" pitchFamily="34" charset="-34"/>
              <a:cs typeface="CordiaUPC" panose="020B0304020202020204" pitchFamily="34" charset="-34"/>
            </a:endParaRPr>
          </a:p>
          <a:p>
            <a:endParaRPr lang="th-TH" sz="200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9C73B47-CB3E-4A35-8C14-CE2EC75E2BEB}"/>
              </a:ext>
            </a:extLst>
          </p:cNvPr>
          <p:cNvSpPr txBox="1">
            <a:spLocks/>
          </p:cNvSpPr>
          <p:nvPr/>
        </p:nvSpPr>
        <p:spPr bwMode="auto">
          <a:xfrm>
            <a:off x="621254" y="325158"/>
            <a:ext cx="10910220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b="1" u="sng">
                <a:latin typeface="CordiaUPC" panose="020B0304020202020204" pitchFamily="34" charset="-34"/>
                <a:cs typeface="CordiaUPC" panose="020B0304020202020204" pitchFamily="34" charset="-34"/>
              </a:rPr>
              <a:t>1.3 Business Benefit &amp; Goal</a:t>
            </a:r>
            <a:endParaRPr lang="th-TH" altLang="en-US" b="1" u="sng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164739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048449B-ED72-6FE7-427C-249F8B9F8DB8}"/>
              </a:ext>
            </a:extLst>
          </p:cNvPr>
          <p:cNvSpPr txBox="1">
            <a:spLocks/>
          </p:cNvSpPr>
          <p:nvPr/>
        </p:nvSpPr>
        <p:spPr bwMode="auto">
          <a:xfrm>
            <a:off x="105108" y="-2100"/>
            <a:ext cx="9305750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th-TH" u="sng">
                <a:latin typeface="CordiaUPC"/>
                <a:ea typeface="Tahoma"/>
                <a:cs typeface="CordiaUPC"/>
              </a:rPr>
              <a:t>1.4</a:t>
            </a:r>
            <a:r>
              <a:rPr lang="en-US" altLang="th-TH" b="1" u="sng">
                <a:latin typeface="CordiaUPC"/>
                <a:ea typeface="Tahoma"/>
                <a:cs typeface="CordiaUPC"/>
              </a:rPr>
              <a:t> </a:t>
            </a:r>
            <a:r>
              <a:rPr lang="en-US" altLang="th-TH" u="sng">
                <a:latin typeface="CordiaUPC"/>
                <a:ea typeface="Tahoma"/>
                <a:cs typeface="CordiaUPC"/>
              </a:rPr>
              <a:t>Pre-Requirement Check List</a:t>
            </a:r>
            <a:endParaRPr lang="th-TH" altLang="en-US" b="1" u="sng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0FD235F-087C-0B54-49E4-5C2E7FB2EB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8334731"/>
              </p:ext>
            </p:extLst>
          </p:nvPr>
        </p:nvGraphicFramePr>
        <p:xfrm>
          <a:off x="-3908" y="513861"/>
          <a:ext cx="12047056" cy="5374108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0550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3769">
                  <a:extLst>
                    <a:ext uri="{9D8B030D-6E8A-4147-A177-3AD203B41FA5}">
                      <a16:colId xmlns:a16="http://schemas.microsoft.com/office/drawing/2014/main" val="230152084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0018">
                  <a:extLst>
                    <a:ext uri="{9D8B030D-6E8A-4147-A177-3AD203B41FA5}">
                      <a16:colId xmlns:a16="http://schemas.microsoft.com/office/drawing/2014/main" val="1016625219"/>
                    </a:ext>
                  </a:extLst>
                </a:gridCol>
                <a:gridCol w="1436076">
                  <a:extLst>
                    <a:ext uri="{9D8B030D-6E8A-4147-A177-3AD203B41FA5}">
                      <a16:colId xmlns:a16="http://schemas.microsoft.com/office/drawing/2014/main" val="3466688737"/>
                    </a:ext>
                  </a:extLst>
                </a:gridCol>
                <a:gridCol w="1623059">
                  <a:extLst>
                    <a:ext uri="{9D8B030D-6E8A-4147-A177-3AD203B41FA5}">
                      <a16:colId xmlns:a16="http://schemas.microsoft.com/office/drawing/2014/main" val="2325759028"/>
                    </a:ext>
                  </a:extLst>
                </a:gridCol>
                <a:gridCol w="28117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9384">
                <a:tc>
                  <a:txBody>
                    <a:bodyPr/>
                    <a:lstStyle/>
                    <a:p>
                      <a:pPr algn="ctr"/>
                      <a:r>
                        <a:rPr lang="en-US" sz="2400" b="0" kern="1200" err="1">
                          <a:solidFill>
                            <a:schemeClr val="tx1"/>
                          </a:solidFill>
                          <a:latin typeface="CordiaUPC"/>
                          <a:ea typeface="+mn-ea"/>
                          <a:cs typeface="CordiaUPC"/>
                        </a:rPr>
                        <a:t>ประชุม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2400" b="0" kern="1200" err="1">
                          <a:solidFill>
                            <a:schemeClr val="tx1"/>
                          </a:solidFill>
                          <a:latin typeface="CordiaUPC"/>
                          <a:ea typeface="+mn-ea"/>
                          <a:cs typeface="CordiaUPC"/>
                        </a:rPr>
                        <a:t>รายละเอียด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2400" b="0" kern="1200" err="1">
                          <a:solidFill>
                            <a:schemeClr val="tx1"/>
                          </a:solidFill>
                          <a:latin typeface="CordiaUPC"/>
                          <a:ea typeface="+mn-ea"/>
                          <a:cs typeface="CordiaUPC"/>
                        </a:rPr>
                        <a:t>ผู้นำเสนอ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2400" b="0" kern="1200" err="1">
                          <a:solidFill>
                            <a:schemeClr val="tx1"/>
                          </a:solidFill>
                          <a:latin typeface="CordiaUPC"/>
                          <a:ea typeface="+mn-ea"/>
                          <a:cs typeface="CordiaUPC"/>
                        </a:rPr>
                        <a:t>หน่วยงาน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2400" b="0" kern="1200" err="1">
                          <a:solidFill>
                            <a:schemeClr val="tx1"/>
                          </a:solidFill>
                          <a:latin typeface="CordiaUPC"/>
                          <a:ea typeface="+mn-ea"/>
                          <a:cs typeface="CordiaUPC"/>
                        </a:rPr>
                        <a:t>วันเข้าประชุม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2400" b="0" kern="1200" err="1">
                          <a:solidFill>
                            <a:schemeClr val="tx1"/>
                          </a:solidFill>
                          <a:latin typeface="CordiaUPC"/>
                          <a:ea typeface="+mn-ea"/>
                          <a:cs typeface="CordiaUPC"/>
                        </a:rPr>
                        <a:t>สถานะ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 err="1">
                          <a:solidFill>
                            <a:schemeClr val="tx1"/>
                          </a:solidFill>
                          <a:latin typeface="CordiaUPC"/>
                          <a:ea typeface="+mn-ea"/>
                          <a:cs typeface="CordiaUPC"/>
                        </a:rPr>
                        <a:t>หมายเหตุ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1710"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th-TH" sz="2000" b="0" i="0" u="none" strike="noStrike" kern="1200">
                          <a:solidFill>
                            <a:srgbClr val="000000"/>
                          </a:solidFill>
                          <a:latin typeface="CordiaUPC"/>
                          <a:ea typeface="Tahoma"/>
                          <a:cs typeface="CordiaUPC"/>
                        </a:rPr>
                        <a:t>QSSC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th-TH" sz="2000" b="0" i="0" u="none" strike="noStrike" kern="1200" noProof="0">
                        <a:solidFill>
                          <a:srgbClr val="000000"/>
                        </a:solidFill>
                        <a:latin typeface="CordiaUPC"/>
                        <a:ea typeface="Tahoma"/>
                        <a:cs typeface="CordiaUP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2000" b="0" i="0" u="none" strike="noStrike" kern="1200" noProof="0" err="1">
                        <a:solidFill>
                          <a:srgbClr val="000000"/>
                        </a:solidFill>
                        <a:latin typeface="CordiaUPC"/>
                        <a:ea typeface="Tahoma"/>
                        <a:cs typeface="CordiaUP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th-TH" sz="2000" b="0" i="0" u="none" strike="noStrike" kern="1200">
                        <a:solidFill>
                          <a:srgbClr val="000000"/>
                        </a:solidFill>
                        <a:latin typeface="CordiaUPC"/>
                        <a:ea typeface="Tahoma"/>
                        <a:cs typeface="CordiaUP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th-TH" sz="2000" b="0" i="0" u="none" strike="noStrike" kern="1200">
                        <a:solidFill>
                          <a:srgbClr val="000000"/>
                        </a:solidFill>
                        <a:latin typeface="CordiaUPC"/>
                        <a:ea typeface="Tahoma"/>
                        <a:cs typeface="CordiaUP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th-TH" sz="2000" b="0" i="0" u="none" strike="noStrike" kern="1200" noProof="0">
                        <a:solidFill>
                          <a:srgbClr val="000000"/>
                        </a:solidFill>
                        <a:latin typeface="CordiaUPC"/>
                        <a:ea typeface="Tahoma"/>
                        <a:cs typeface="CordiaUP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 algn="l">
                        <a:buFont typeface="Calibri"/>
                        <a:buChar char="-"/>
                      </a:pPr>
                      <a:endParaRPr lang="en-US" sz="2000" b="0" i="0" u="none" strike="noStrike" kern="1200" noProof="0">
                        <a:solidFill>
                          <a:srgbClr val="000000"/>
                        </a:solidFill>
                        <a:latin typeface="CordiaUPC"/>
                        <a:ea typeface="Tahoma"/>
                        <a:cs typeface="CordiaUPC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207">
                <a:tc>
                  <a:txBody>
                    <a:bodyPr/>
                    <a:lstStyle/>
                    <a:p>
                      <a:pPr marL="0" lvl="0" algn="ctr" defTabSz="914400" rtl="0" eaLnBrk="1" fontAlgn="t" latinLnBrk="0" hangingPunct="1">
                        <a:buNone/>
                      </a:pPr>
                      <a:r>
                        <a:rPr lang="th-TH" sz="2000" b="0" i="0" u="none" strike="noStrike" kern="1200" noProof="0">
                          <a:solidFill>
                            <a:srgbClr val="000000"/>
                          </a:solidFill>
                          <a:latin typeface="CordiaUPC"/>
                          <a:ea typeface="Tahoma"/>
                          <a:cs typeface="CordiaUPC"/>
                        </a:rPr>
                        <a:t>เถ้าแก่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th-TH" sz="2000" b="0" i="0" u="none" strike="noStrike" kern="1200" noProof="0">
                        <a:solidFill>
                          <a:srgbClr val="000000"/>
                        </a:solidFill>
                        <a:latin typeface="CordiaUPC"/>
                        <a:ea typeface="Tahoma"/>
                        <a:cs typeface="CordiaUP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2000" b="0" i="0" u="none" strike="noStrike" kern="1200" noProof="0">
                        <a:solidFill>
                          <a:srgbClr val="000000"/>
                        </a:solidFill>
                        <a:latin typeface="CordiaUPC"/>
                        <a:ea typeface="Tahoma"/>
                        <a:cs typeface="CordiaUP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lang="th-TH" sz="2000" b="0" i="0" u="none" strike="noStrike" kern="1200">
                        <a:solidFill>
                          <a:srgbClr val="000000"/>
                        </a:solidFill>
                        <a:latin typeface="CordiaUPC"/>
                        <a:ea typeface="Tahoma"/>
                        <a:cs typeface="CordiaUP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lang="th-TH" sz="2000" b="0" i="0" u="none" strike="noStrike" kern="1200">
                        <a:solidFill>
                          <a:srgbClr val="000000"/>
                        </a:solidFill>
                        <a:latin typeface="CordiaUPC"/>
                        <a:ea typeface="Tahoma"/>
                        <a:cs typeface="CordiaUP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th-TH" sz="2000" b="0" i="0" u="none" strike="noStrike" kern="1200" noProof="0">
                        <a:solidFill>
                          <a:srgbClr val="000000"/>
                        </a:solidFill>
                        <a:latin typeface="CordiaUPC"/>
                        <a:ea typeface="Tahoma"/>
                        <a:cs typeface="CordiaUP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th-TH" sz="2000" b="0" i="0" u="none" strike="noStrike" kern="1200">
                        <a:solidFill>
                          <a:srgbClr val="000000"/>
                        </a:solidFill>
                        <a:latin typeface="CordiaUPC"/>
                        <a:ea typeface="Tahoma"/>
                        <a:cs typeface="CordiaUPC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7914904"/>
                  </a:ext>
                </a:extLst>
              </a:tr>
              <a:tr h="400538">
                <a:tc>
                  <a:txBody>
                    <a:bodyPr/>
                    <a:lstStyle/>
                    <a:p>
                      <a:pPr marL="0" lvl="0" algn="ctr" defTabSz="914400" rtl="0" eaLnBrk="1" fontAlgn="t" latinLnBrk="0" hangingPunct="1">
                        <a:buNone/>
                      </a:pPr>
                      <a:r>
                        <a:rPr lang="th-TH" sz="2000" b="0" i="0" u="none" strike="noStrike" kern="1200">
                          <a:solidFill>
                            <a:srgbClr val="000000"/>
                          </a:solidFill>
                          <a:latin typeface="CordiaUPC"/>
                          <a:ea typeface="Tahoma"/>
                          <a:cs typeface="CordiaUPC"/>
                        </a:rPr>
                        <a:t>PDPA</a:t>
                      </a:r>
                      <a:endParaRPr lang="en-US" sz="2000" b="0" i="0" u="none" strike="noStrike" kern="1200">
                        <a:solidFill>
                          <a:srgbClr val="000000"/>
                        </a:solidFill>
                        <a:latin typeface="CordiaUPC"/>
                        <a:ea typeface="Tahoma"/>
                        <a:cs typeface="CordiaUP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th-TH" sz="2000" b="0" i="0" u="none" strike="noStrike" kern="1200" noProof="0">
                        <a:solidFill>
                          <a:srgbClr val="000000"/>
                        </a:solidFill>
                        <a:latin typeface="CordiaUPC"/>
                        <a:ea typeface="Tahoma"/>
                        <a:cs typeface="CordiaUP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th-TH" sz="2000" b="0" i="0" u="none" strike="noStrike" kern="1200" noProof="0">
                        <a:solidFill>
                          <a:srgbClr val="000000"/>
                        </a:solidFill>
                        <a:latin typeface="CordiaUPC"/>
                        <a:ea typeface="Tahoma"/>
                        <a:cs typeface="CordiaUP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lang="th-TH" sz="2000" b="0" i="0" u="none" strike="noStrike" kern="1200">
                        <a:solidFill>
                          <a:srgbClr val="000000"/>
                        </a:solidFill>
                        <a:latin typeface="CordiaUPC"/>
                        <a:ea typeface="Tahoma"/>
                        <a:cs typeface="CordiaUP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lang="th-TH" sz="2000" b="0" i="0" u="none" strike="noStrike" kern="1200">
                        <a:solidFill>
                          <a:srgbClr val="000000"/>
                        </a:solidFill>
                        <a:latin typeface="CordiaUPC"/>
                        <a:ea typeface="Tahoma"/>
                        <a:cs typeface="CordiaUP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th-TH" sz="2000" b="0" i="0" u="none" strike="noStrike" kern="1200" noProof="0">
                        <a:solidFill>
                          <a:srgbClr val="000000"/>
                        </a:solidFill>
                        <a:latin typeface="CordiaUPC"/>
                        <a:ea typeface="Tahoma"/>
                        <a:cs typeface="CordiaUP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th-TH" sz="2000" b="0" i="0" u="none" strike="noStrike" kern="1200">
                        <a:solidFill>
                          <a:srgbClr val="000000"/>
                        </a:solidFill>
                        <a:latin typeface="CordiaUPC"/>
                        <a:ea typeface="Tahoma"/>
                        <a:cs typeface="CordiaUPC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1671817"/>
                  </a:ext>
                </a:extLst>
              </a:tr>
              <a:tr h="439615"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th-TH" sz="2000" b="0" i="0" u="none" strike="noStrike" kern="1200">
                          <a:solidFill>
                            <a:srgbClr val="000000"/>
                          </a:solidFill>
                          <a:latin typeface="CordiaUPC"/>
                          <a:ea typeface="Tahoma"/>
                          <a:cs typeface="CordiaUPC"/>
                        </a:rPr>
                        <a:t>Data </a:t>
                      </a:r>
                      <a:r>
                        <a:rPr lang="th-TH" sz="2000" b="0" i="0" u="none" strike="noStrike" kern="1200" err="1">
                          <a:solidFill>
                            <a:srgbClr val="000000"/>
                          </a:solidFill>
                          <a:latin typeface="CordiaUPC"/>
                          <a:ea typeface="Tahoma"/>
                          <a:cs typeface="CordiaUPC"/>
                        </a:rPr>
                        <a:t>Governace</a:t>
                      </a:r>
                      <a:endParaRPr lang="th-TH" sz="2000" b="0" i="0" u="none" strike="noStrike" kern="1200">
                        <a:solidFill>
                          <a:srgbClr val="000000"/>
                        </a:solidFill>
                        <a:latin typeface="CordiaUPC"/>
                        <a:ea typeface="Tahoma"/>
                        <a:cs typeface="CordiaUP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0" i="0" u="none" strike="noStrike" kern="1200" noProof="0">
                          <a:solidFill>
                            <a:srgbClr val="000000"/>
                          </a:solidFill>
                          <a:latin typeface="CordiaUPC"/>
                          <a:ea typeface="Tahoma"/>
                          <a:cs typeface="CordiaUPC"/>
                        </a:rP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th-TH" sz="2000" b="0" i="0" u="none" strike="noStrike" kern="1200">
                        <a:solidFill>
                          <a:srgbClr val="000000"/>
                        </a:solidFill>
                        <a:latin typeface="CordiaUPC"/>
                        <a:ea typeface="Tahoma"/>
                        <a:cs typeface="CordiaUP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lang="th-TH" sz="2000" b="0" i="0" u="none" strike="noStrike" kern="1200">
                        <a:solidFill>
                          <a:srgbClr val="000000"/>
                        </a:solidFill>
                        <a:latin typeface="CordiaUPC"/>
                        <a:ea typeface="Tahoma"/>
                        <a:cs typeface="CordiaUP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lang="th-TH" sz="2000" b="0" i="0" u="none" strike="noStrike" kern="1200">
                        <a:solidFill>
                          <a:srgbClr val="000000"/>
                        </a:solidFill>
                        <a:latin typeface="CordiaUPC"/>
                        <a:ea typeface="Tahoma"/>
                        <a:cs typeface="CordiaUP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th-TH" sz="2000" b="0" i="0" u="none" strike="noStrike" kern="1200" noProof="0">
                        <a:solidFill>
                          <a:srgbClr val="000000"/>
                        </a:solidFill>
                        <a:latin typeface="CordiaUPC"/>
                        <a:ea typeface="Tahoma"/>
                        <a:cs typeface="CordiaUP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h-TH" sz="2000" b="0" i="0" u="none" strike="noStrike" kern="1200">
                        <a:solidFill>
                          <a:srgbClr val="000000"/>
                        </a:solidFill>
                        <a:latin typeface="CordiaUPC"/>
                        <a:ea typeface="Tahoma"/>
                        <a:cs typeface="CordiaUPC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207">
                <a:tc>
                  <a:txBody>
                    <a:bodyPr/>
                    <a:lstStyle/>
                    <a:p>
                      <a:pPr marL="0" lvl="0" algn="ctr" defTabSz="914400" rtl="0" eaLnBrk="1" fontAlgn="t" latinLnBrk="0" hangingPunct="1">
                        <a:buNone/>
                      </a:pPr>
                      <a:r>
                        <a:rPr lang="th-TH" sz="2400" b="0" i="0" u="none" strike="noStrike" kern="1200">
                          <a:solidFill>
                            <a:srgbClr val="000000"/>
                          </a:solidFill>
                          <a:latin typeface="CordiaUPC"/>
                          <a:ea typeface="Tahoma"/>
                          <a:cs typeface="CordiaUPC"/>
                        </a:rPr>
                        <a:t>กฎหมาย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th-TH" sz="2400" b="0" i="0" u="none" strike="noStrike" kern="1200">
                          <a:solidFill>
                            <a:srgbClr val="000000"/>
                          </a:solidFill>
                          <a:latin typeface="CordiaUPC"/>
                          <a:ea typeface="Tahoma"/>
                          <a:cs typeface="CordiaUPC"/>
                        </a:rP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lang="th-TH" sz="2400" b="0" i="0" u="none" strike="noStrike" kern="1200">
                        <a:solidFill>
                          <a:srgbClr val="000000"/>
                        </a:solidFill>
                        <a:latin typeface="CordiaUPC" panose="020B0304020202020204" pitchFamily="34" charset="-34"/>
                        <a:ea typeface="Tahoma" pitchFamily="34" charset="0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lang="th-TH" sz="2400" b="0" i="0" u="none" strike="noStrike" kern="1200">
                        <a:solidFill>
                          <a:srgbClr val="000000"/>
                        </a:solidFill>
                        <a:latin typeface="CordiaUPC" panose="020B0304020202020204" pitchFamily="34" charset="-34"/>
                        <a:ea typeface="Tahoma" pitchFamily="34" charset="0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lang="th-TH" sz="2400" b="0" i="0" u="none" strike="noStrike" kern="1200">
                        <a:solidFill>
                          <a:srgbClr val="000000"/>
                        </a:solidFill>
                        <a:latin typeface="CordiaUPC" panose="020B0304020202020204" pitchFamily="34" charset="-34"/>
                        <a:ea typeface="Tahoma" pitchFamily="34" charset="0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lang="th-TH" sz="2400" b="0" i="0" u="none" strike="noStrike" kern="1200">
                        <a:solidFill>
                          <a:srgbClr val="000000"/>
                        </a:solidFill>
                        <a:latin typeface="CordiaUPC" panose="020B0304020202020204" pitchFamily="34" charset="-34"/>
                        <a:ea typeface="Tahoma" pitchFamily="34" charset="0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th-TH" sz="2400" b="0" i="0" u="none" strike="noStrike" kern="1200">
                        <a:solidFill>
                          <a:srgbClr val="000000"/>
                        </a:solidFill>
                        <a:latin typeface="CordiaUPC" panose="020B0304020202020204" pitchFamily="34" charset="-34"/>
                        <a:ea typeface="Tahoma" pitchFamily="34" charset="0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0265180"/>
                  </a:ext>
                </a:extLst>
              </a:tr>
              <a:tr h="521206">
                <a:tc>
                  <a:txBody>
                    <a:bodyPr/>
                    <a:lstStyle/>
                    <a:p>
                      <a:pPr marL="0" lvl="0" algn="ctr" defTabSz="914400" rtl="0" eaLnBrk="1" fontAlgn="t" latinLnBrk="0" hangingPunct="1">
                        <a:buNone/>
                      </a:pPr>
                      <a:r>
                        <a:rPr lang="th-TH" sz="2400" b="0" i="0" u="none" strike="noStrike" kern="1200">
                          <a:solidFill>
                            <a:srgbClr val="000000"/>
                          </a:solidFill>
                          <a:latin typeface="CordiaUPC"/>
                          <a:ea typeface="Tahoma"/>
                          <a:cs typeface="CordiaUPC"/>
                        </a:rPr>
                        <a:t>อื่นๆ</a:t>
                      </a:r>
                      <a:endParaRPr lang="en-US" sz="2400" b="0" i="0" u="none" strike="noStrike" kern="1200">
                        <a:solidFill>
                          <a:srgbClr val="000000"/>
                        </a:solidFill>
                        <a:latin typeface="CordiaUPC"/>
                        <a:ea typeface="Tahoma"/>
                        <a:cs typeface="CordiaUP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th-TH" sz="2400" b="0" i="0" u="none" strike="noStrike" kern="1200">
                          <a:solidFill>
                            <a:srgbClr val="000000"/>
                          </a:solidFill>
                          <a:latin typeface="CordiaUPC"/>
                          <a:ea typeface="Tahoma"/>
                          <a:cs typeface="CordiaUPC"/>
                        </a:rPr>
                        <a:t>N/A</a:t>
                      </a:r>
                      <a:endParaRPr lang="en-US" sz="2400" b="0" i="0" u="none" strike="noStrike" kern="1200">
                        <a:solidFill>
                          <a:srgbClr val="000000"/>
                        </a:solidFill>
                        <a:latin typeface="CordiaUPC"/>
                        <a:ea typeface="Tahoma"/>
                        <a:cs typeface="CordiaUP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lang="th-TH" sz="2400" b="0" i="0" u="none" strike="noStrike" kern="1200">
                        <a:solidFill>
                          <a:srgbClr val="000000"/>
                        </a:solidFill>
                        <a:latin typeface="CordiaUPC" panose="020B0304020202020204" pitchFamily="34" charset="-34"/>
                        <a:ea typeface="Tahoma" pitchFamily="34" charset="0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lang="th-TH" sz="2400" b="0" i="0" u="none" strike="noStrike" kern="1200">
                        <a:solidFill>
                          <a:srgbClr val="000000"/>
                        </a:solidFill>
                        <a:latin typeface="CordiaUPC" panose="020B0304020202020204" pitchFamily="34" charset="-34"/>
                        <a:ea typeface="Tahoma" pitchFamily="34" charset="0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lang="th-TH" sz="2400" b="0" i="0" u="none" strike="noStrike" kern="1200">
                        <a:solidFill>
                          <a:srgbClr val="000000"/>
                        </a:solidFill>
                        <a:latin typeface="CordiaUPC" panose="020B0304020202020204" pitchFamily="34" charset="-34"/>
                        <a:ea typeface="Tahoma" pitchFamily="34" charset="0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lang="th-TH" sz="2400" b="0" i="0" u="none" strike="noStrike" kern="1200">
                        <a:solidFill>
                          <a:srgbClr val="000000"/>
                        </a:solidFill>
                        <a:latin typeface="CordiaUPC" panose="020B0304020202020204" pitchFamily="34" charset="-34"/>
                        <a:ea typeface="Tahoma" pitchFamily="34" charset="0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th-TH" sz="2400" b="0" i="0" u="none" strike="noStrike" kern="1200">
                        <a:solidFill>
                          <a:srgbClr val="000000"/>
                        </a:solidFill>
                        <a:latin typeface="CordiaUPC" panose="020B0304020202020204" pitchFamily="34" charset="-34"/>
                        <a:ea typeface="Tahoma" pitchFamily="34" charset="0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60944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2778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999564" y="1017868"/>
            <a:ext cx="10531909" cy="4441638"/>
          </a:xfrm>
          <a:solidFill>
            <a:srgbClr val="FFFFFF"/>
          </a:solidFill>
        </p:spPr>
        <p:txBody>
          <a:bodyPr/>
          <a:lstStyle/>
          <a:p>
            <a:pPr lvl="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th-TH" sz="2800">
                <a:latin typeface="CordiaUPC"/>
                <a:ea typeface="Tahoma"/>
                <a:cs typeface="CordiaUPC"/>
              </a:rPr>
              <a:t>Timing Constraint</a:t>
            </a:r>
            <a:r>
              <a:rPr lang="th-TH" altLang="th-TH" sz="2800">
                <a:latin typeface="CordiaUPC"/>
                <a:ea typeface="Tahoma"/>
                <a:cs typeface="CordiaUPC"/>
              </a:rPr>
              <a:t> </a:t>
            </a:r>
            <a:r>
              <a:rPr lang="th-TH" altLang="th-TH" sz="2800" i="1">
                <a:solidFill>
                  <a:srgbClr val="0070C0"/>
                </a:solidFill>
                <a:latin typeface="CordiaUPC"/>
                <a:ea typeface="Tahoma"/>
                <a:cs typeface="CordiaUPC"/>
              </a:rPr>
              <a:t>(เช่น จำเป็นต้องเสร็จภายในเมื่อไหร่เพื่ออะไร) </a:t>
            </a:r>
            <a:r>
              <a:rPr lang="th-TH" altLang="th-TH" i="1">
                <a:solidFill>
                  <a:schemeClr val="tx1">
                    <a:lumMod val="95000"/>
                    <a:lumOff val="5000"/>
                  </a:schemeClr>
                </a:solidFill>
                <a:latin typeface="CordiaUPC" panose="020B0304020202020204" pitchFamily="34" charset="-34"/>
                <a:cs typeface="CordiaUPC" panose="020B0304020202020204" pitchFamily="34" charset="-34"/>
              </a:rPr>
              <a:t>เปลี่ยนจากระบบ </a:t>
            </a:r>
            <a:r>
              <a:rPr lang="en-US" altLang="th-TH" i="1">
                <a:solidFill>
                  <a:schemeClr val="tx1">
                    <a:lumMod val="95000"/>
                    <a:lumOff val="5000"/>
                  </a:schemeClr>
                </a:solidFill>
                <a:latin typeface="CordiaUPC" panose="020B0304020202020204" pitchFamily="34" charset="-34"/>
                <a:cs typeface="CordiaUPC" panose="020B0304020202020204" pitchFamily="34" charset="-34"/>
              </a:rPr>
              <a:t>K2 </a:t>
            </a:r>
            <a:r>
              <a:rPr lang="th-TH" altLang="th-TH" i="1">
                <a:solidFill>
                  <a:schemeClr val="tx1">
                    <a:lumMod val="95000"/>
                    <a:lumOff val="5000"/>
                  </a:schemeClr>
                </a:solidFill>
                <a:latin typeface="CordiaUPC" panose="020B0304020202020204" pitchFamily="34" charset="-34"/>
                <a:cs typeface="CordiaUPC" panose="020B0304020202020204" pitchFamily="34" charset="-34"/>
              </a:rPr>
              <a:t> ไปที่ </a:t>
            </a:r>
            <a:r>
              <a:rPr lang="en-US" altLang="th-TH" i="1">
                <a:solidFill>
                  <a:schemeClr val="tx1">
                    <a:lumMod val="95000"/>
                    <a:lumOff val="5000"/>
                  </a:schemeClr>
                </a:solidFill>
                <a:latin typeface="CordiaUPC" panose="020B0304020202020204" pitchFamily="34" charset="-34"/>
                <a:cs typeface="CordiaUPC" panose="020B0304020202020204" pitchFamily="34" charset="-34"/>
              </a:rPr>
              <a:t>SBP MALL</a:t>
            </a:r>
            <a:endParaRPr lang="en-US" altLang="en-US" i="1" kern="0">
              <a:solidFill>
                <a:schemeClr val="tx1">
                  <a:lumMod val="95000"/>
                  <a:lumOff val="5000"/>
                </a:schemeClr>
              </a:solidFill>
              <a:latin typeface="CordiaUPC" panose="020B0304020202020204" pitchFamily="34" charset="-34"/>
              <a:cs typeface="CordiaUPC" panose="020B0304020202020204" pitchFamily="34" charset="-34"/>
            </a:endParaRPr>
          </a:p>
          <a:p>
            <a:pPr marL="857250" lvl="1" indent="-457200" eaLnBrk="0" hangingPunct="0">
              <a:buClr>
                <a:srgbClr val="003300"/>
              </a:buClr>
              <a:buAutoNum type="arabicPeriod"/>
              <a:defRPr/>
            </a:pPr>
            <a:r>
              <a:rPr lang="th-TH" altLang="en-US" sz="2400" kern="0">
                <a:latin typeface="Cordia New" panose="020B0304020202020204" pitchFamily="34" charset="-34"/>
                <a:cs typeface="Cordia New" panose="020B0304020202020204" pitchFamily="34" charset="-34"/>
              </a:rPr>
              <a:t>ให้ระบบ </a:t>
            </a:r>
            <a:r>
              <a:rPr lang="en-US" altLang="en-US" sz="2400" kern="0">
                <a:latin typeface="Cordia New" panose="020B0304020202020204" pitchFamily="34" charset="-34"/>
                <a:cs typeface="Cordia New" panose="020B0304020202020204" pitchFamily="34" charset="-34"/>
              </a:rPr>
              <a:t>https://sbpmall.cpall.co.th/sbp/smlWeb/  </a:t>
            </a:r>
            <a:r>
              <a:rPr lang="th-TH" altLang="en-US" sz="2400" kern="0">
                <a:latin typeface="Cordia New" panose="020B0304020202020204" pitchFamily="34" charset="-34"/>
                <a:cs typeface="Cordia New" panose="020B0304020202020204" pitchFamily="34" charset="-34"/>
              </a:rPr>
              <a:t>สามารถแสดงรายงานตรวจสอบข้อมูลได้ โดยไม่ต้องผ่านกระบวนอนุมัติ </a:t>
            </a:r>
            <a:r>
              <a:rPr lang="en-US" altLang="en-US" sz="2400" kern="0">
                <a:latin typeface="Cordia New" panose="020B0304020202020204" pitchFamily="34" charset="-34"/>
                <a:cs typeface="Cordia New" panose="020B0304020202020204" pitchFamily="34" charset="-34"/>
              </a:rPr>
              <a:t>Flow </a:t>
            </a:r>
            <a:r>
              <a:rPr lang="th-TH" altLang="en-US" sz="2400" kern="0">
                <a:latin typeface="Cordia New" panose="020B0304020202020204" pitchFamily="34" charset="-34"/>
                <a:cs typeface="Cordia New" panose="020B0304020202020204" pitchFamily="34" charset="-34"/>
              </a:rPr>
              <a:t>จากระบบ </a:t>
            </a:r>
            <a:r>
              <a:rPr lang="en-US" altLang="en-US" sz="2400" kern="0">
                <a:latin typeface="Cordia New" panose="020B0304020202020204" pitchFamily="34" charset="-34"/>
                <a:cs typeface="Cordia New" panose="020B0304020202020204" pitchFamily="34" charset="-34"/>
              </a:rPr>
              <a:t>K2  </a:t>
            </a:r>
            <a:r>
              <a:rPr lang="th-TH" altLang="en-US" sz="2400" kern="0">
                <a:latin typeface="Cordia New" panose="020B0304020202020204" pitchFamily="34" charset="-34"/>
                <a:cs typeface="Cordia New" panose="020B0304020202020204" pitchFamily="34" charset="-34"/>
              </a:rPr>
              <a:t>ซึ่งขั้นตอนที่ซ้ำซ้อนและการอนุมัติผ่านผู้มีอำนาจลงนามอนุมัติค่อนข้างมาก</a:t>
            </a:r>
          </a:p>
          <a:p>
            <a:pPr marL="857250" lvl="1" indent="-457200" eaLnBrk="0" hangingPunct="0">
              <a:buClr>
                <a:srgbClr val="003300"/>
              </a:buClr>
              <a:buAutoNum type="arabicPeriod"/>
              <a:defRPr/>
            </a:pPr>
            <a:r>
              <a:rPr lang="th-TH" altLang="en-US" sz="2400" kern="0">
                <a:latin typeface="Cordia New" panose="020B0304020202020204" pitchFamily="34" charset="-34"/>
                <a:cs typeface="Cordia New" panose="020B0304020202020204" pitchFamily="34" charset="-34"/>
              </a:rPr>
              <a:t>หากมีรายงานตรวจสอบและปรับปรุงได้ในกรณีที่มีข้อมูลที่ผิด สามารถย้อนกลับไปแก้ไขได้ภายในเดือน (เคส </a:t>
            </a:r>
            <a:r>
              <a:rPr lang="en-US" altLang="en-US" sz="2400" kern="0">
                <a:latin typeface="Cordia New" panose="020B0304020202020204" pitchFamily="34" charset="-34"/>
                <a:cs typeface="Cordia New" panose="020B0304020202020204" pitchFamily="34" charset="-34"/>
              </a:rPr>
              <a:t>by </a:t>
            </a:r>
            <a:r>
              <a:rPr lang="th-TH" altLang="en-US" sz="2400" kern="0">
                <a:latin typeface="Cordia New" panose="020B0304020202020204" pitchFamily="34" charset="-34"/>
                <a:cs typeface="Cordia New" panose="020B0304020202020204" pitchFamily="34" charset="-34"/>
              </a:rPr>
              <a:t>เคส)</a:t>
            </a:r>
            <a:endParaRPr lang="en-US" altLang="en-US" sz="2400" kern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r>
              <a:rPr lang="en-US" altLang="th-TH" sz="2800">
                <a:latin typeface="CordiaUPC" panose="020B0304020202020204" pitchFamily="34" charset="-34"/>
                <a:cs typeface="CordiaUPC" panose="020B0304020202020204" pitchFamily="34" charset="-34"/>
              </a:rPr>
              <a:t>Resource: </a:t>
            </a:r>
            <a:r>
              <a:rPr lang="en-US" altLang="th-TH" sz="2800" i="1">
                <a:solidFill>
                  <a:srgbClr val="0070C0"/>
                </a:solidFill>
                <a:latin typeface="CordiaUPC" panose="020B0304020202020204" pitchFamily="34" charset="-34"/>
                <a:cs typeface="CordiaUPC" panose="020B0304020202020204" pitchFamily="34" charset="-34"/>
              </a:rPr>
              <a:t>(</a:t>
            </a:r>
            <a:r>
              <a:rPr lang="th-TH" altLang="th-TH" sz="2800" i="1">
                <a:solidFill>
                  <a:srgbClr val="0070C0"/>
                </a:solidFill>
                <a:latin typeface="CordiaUPC" panose="020B0304020202020204" pitchFamily="34" charset="-34"/>
                <a:cs typeface="CordiaUPC" panose="020B0304020202020204" pitchFamily="34" charset="-34"/>
              </a:rPr>
              <a:t>เช่น มีข้อจำกัดเรื่องคนที่เข้ามาทำงานในกระบวนการ)</a:t>
            </a:r>
            <a:endParaRPr lang="en-US" altLang="th-TH" sz="2800" i="1">
              <a:solidFill>
                <a:srgbClr val="0070C0"/>
              </a:solidFill>
              <a:latin typeface="CordiaUPC" panose="020B0304020202020204" pitchFamily="34" charset="-34"/>
              <a:cs typeface="CordiaUPC" panose="020B0304020202020204" pitchFamily="34" charset="-34"/>
            </a:endParaRPr>
          </a:p>
          <a:p>
            <a:pPr marL="0" indent="0">
              <a:buNone/>
            </a:pPr>
            <a:r>
              <a:rPr lang="th-TH" altLang="th-TH" sz="2800" i="1">
                <a:solidFill>
                  <a:srgbClr val="0070C0"/>
                </a:solidFill>
                <a:latin typeface="CordiaUPC" panose="020B0304020202020204" pitchFamily="34" charset="-34"/>
                <a:cs typeface="CordiaUPC" panose="020B0304020202020204" pitchFamily="34" charset="-34"/>
              </a:rPr>
              <a:t>     ไม่มี</a:t>
            </a:r>
          </a:p>
          <a:p>
            <a:r>
              <a:rPr lang="en-US" altLang="th-TH" sz="2800">
                <a:latin typeface="CordiaUPC"/>
                <a:ea typeface="Tahoma"/>
                <a:cs typeface="CordiaUPC"/>
              </a:rPr>
              <a:t>Budget: </a:t>
            </a:r>
            <a:r>
              <a:rPr lang="en-US" altLang="th-TH" sz="2800" i="1">
                <a:solidFill>
                  <a:srgbClr val="0070C0"/>
                </a:solidFill>
                <a:latin typeface="CordiaUPC"/>
                <a:ea typeface="Tahoma"/>
                <a:cs typeface="CordiaUPC"/>
              </a:rPr>
              <a:t>(</a:t>
            </a:r>
            <a:r>
              <a:rPr lang="th-TH" altLang="th-TH" sz="2800" i="1">
                <a:solidFill>
                  <a:srgbClr val="0070C0"/>
                </a:solidFill>
                <a:latin typeface="CordiaUPC"/>
                <a:ea typeface="Tahoma"/>
                <a:cs typeface="CordiaUPC"/>
              </a:rPr>
              <a:t>ข้อจำกัดเรื่องงบประมาณ) ระบุ UL </a:t>
            </a:r>
            <a:r>
              <a:rPr lang="th-TH" altLang="th-TH" sz="2800" i="1" err="1">
                <a:solidFill>
                  <a:srgbClr val="0070C0"/>
                </a:solidFill>
                <a:latin typeface="CordiaUPC"/>
                <a:ea typeface="Tahoma"/>
                <a:cs typeface="CordiaUPC"/>
              </a:rPr>
              <a:t>Code</a:t>
            </a:r>
            <a:endParaRPr lang="en-US" altLang="th-TH" sz="2800" i="1">
              <a:solidFill>
                <a:srgbClr val="0070C0"/>
              </a:solidFill>
              <a:latin typeface="CordiaUPC" panose="020B0304020202020204" pitchFamily="34" charset="-34"/>
              <a:cs typeface="CordiaUPC" panose="020B0304020202020204" pitchFamily="34" charset="-34"/>
            </a:endParaRPr>
          </a:p>
          <a:p>
            <a:pPr lvl="1">
              <a:buFont typeface="Courier New" charset="0"/>
              <a:buChar char="o"/>
            </a:pPr>
            <a:r>
              <a:rPr lang="th-TH" altLang="th-TH" sz="2400" i="1" err="1">
                <a:solidFill>
                  <a:srgbClr val="0070C0"/>
                </a:solidFill>
                <a:latin typeface="CordiaUPC"/>
                <a:ea typeface="Tahoma"/>
                <a:cs typeface="CordiaUPC"/>
              </a:rPr>
              <a:t>Replacement</a:t>
            </a:r>
            <a:r>
              <a:rPr lang="th-TH" altLang="th-TH" sz="2400" i="1">
                <a:solidFill>
                  <a:srgbClr val="0070C0"/>
                </a:solidFill>
                <a:latin typeface="CordiaUPC"/>
                <a:ea typeface="Tahoma"/>
                <a:cs typeface="CordiaUPC"/>
              </a:rPr>
              <a:t> SBP</a:t>
            </a:r>
            <a:endParaRPr lang="th-TH" altLang="th-TH" sz="2400" i="1">
              <a:solidFill>
                <a:srgbClr val="0070C0"/>
              </a:solidFill>
              <a:latin typeface="CordiaUPC" panose="020B0304020202020204" pitchFamily="34" charset="-34"/>
              <a:cs typeface="CordiaUPC" panose="020B0304020202020204" pitchFamily="34" charset="-34"/>
            </a:endParaRPr>
          </a:p>
          <a:p>
            <a:endParaRPr lang="th-TH" altLang="th-TH" sz="2800" i="1">
              <a:solidFill>
                <a:srgbClr val="0070C0"/>
              </a:solidFill>
              <a:latin typeface="CordiaUPC" panose="020B0304020202020204" pitchFamily="34" charset="-34"/>
              <a:cs typeface="CordiaUPC" panose="020B0304020202020204" pitchFamily="34" charset="-34"/>
            </a:endParaRPr>
          </a:p>
          <a:p>
            <a:pPr>
              <a:buNone/>
            </a:pPr>
            <a:endParaRPr lang="th-TH" altLang="th-TH" sz="2000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23AA42F-81EB-4DC5-BA77-75D1E97B907D}"/>
              </a:ext>
            </a:extLst>
          </p:cNvPr>
          <p:cNvSpPr txBox="1">
            <a:spLocks/>
          </p:cNvSpPr>
          <p:nvPr/>
        </p:nvSpPr>
        <p:spPr bwMode="auto">
          <a:xfrm>
            <a:off x="621254" y="325158"/>
            <a:ext cx="10910220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th-TH" u="sng">
                <a:latin typeface="CordiaUPC"/>
                <a:ea typeface="Tahoma"/>
                <a:cs typeface="CordiaUPC"/>
              </a:rPr>
              <a:t>1.5</a:t>
            </a:r>
            <a:r>
              <a:rPr lang="en-US" altLang="th-TH" b="1" u="sng">
                <a:latin typeface="CordiaUPC"/>
                <a:ea typeface="Tahoma"/>
                <a:cs typeface="CordiaUPC"/>
              </a:rPr>
              <a:t> Business Constraint</a:t>
            </a:r>
            <a:endParaRPr lang="th-TH" altLang="en-US" b="1" u="sng">
              <a:latin typeface="CordiaUPC"/>
              <a:ea typeface="Tahoma"/>
              <a:cs typeface="CordiaUPC"/>
            </a:endParaRPr>
          </a:p>
        </p:txBody>
      </p:sp>
    </p:spTree>
    <p:extLst>
      <p:ext uri="{BB962C8B-B14F-4D97-AF65-F5344CB8AC3E}">
        <p14:creationId xmlns:p14="http://schemas.microsoft.com/office/powerpoint/2010/main" val="1140324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23665"/>
              </p:ext>
            </p:extLst>
          </p:nvPr>
        </p:nvGraphicFramePr>
        <p:xfrm>
          <a:off x="762001" y="1158874"/>
          <a:ext cx="11070770" cy="4292088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6358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8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657"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CordiaUPC"/>
                          <a:cs typeface="CordiaUPC"/>
                        </a:rPr>
                        <a:t>Roles</a:t>
                      </a:r>
                      <a:endParaRPr lang="th-TH" sz="2800">
                        <a:latin typeface="CordiaUPC"/>
                        <a:cs typeface="CordiaUPC"/>
                      </a:endParaRPr>
                    </a:p>
                  </a:txBody>
                  <a:tcPr marL="120732" marR="120732" marT="60365" marB="6036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CordiaUPC"/>
                          <a:cs typeface="CordiaUPC"/>
                        </a:rPr>
                        <a:t>Name</a:t>
                      </a:r>
                      <a:endParaRPr lang="th-TH" sz="2800">
                        <a:latin typeface="CordiaUPC"/>
                        <a:cs typeface="CordiaUPC"/>
                      </a:endParaRPr>
                    </a:p>
                  </a:txBody>
                  <a:tcPr marL="120732" marR="120732" marT="60365" marB="6036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CordiaUPC"/>
                          <a:cs typeface="CordiaUPC"/>
                        </a:rPr>
                        <a:t>Department</a:t>
                      </a:r>
                      <a:endParaRPr lang="th-TH" sz="2800">
                        <a:latin typeface="CordiaUPC"/>
                        <a:cs typeface="CordiaUPC"/>
                      </a:endParaRPr>
                    </a:p>
                  </a:txBody>
                  <a:tcPr marL="120732" marR="120732" marT="60365" marB="6036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65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u="none">
                          <a:solidFill>
                            <a:srgbClr val="000010"/>
                          </a:solidFill>
                          <a:latin typeface="CordiaUPC"/>
                          <a:cs typeface="CordiaUPC"/>
                        </a:rPr>
                        <a:t>Project Sponsor</a:t>
                      </a:r>
                    </a:p>
                  </a:txBody>
                  <a:tcPr marL="120732" marR="120732" marT="60365" marB="6036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u="none" kern="1200" err="1">
                          <a:solidFill>
                            <a:srgbClr val="000010"/>
                          </a:solidFill>
                          <a:latin typeface="CordiaUPC" pitchFamily="34" charset="-34"/>
                          <a:ea typeface="+mn-ea"/>
                          <a:cs typeface="CordiaUPC" pitchFamily="34" charset="-34"/>
                        </a:rPr>
                        <a:t>Doungduean</a:t>
                      </a:r>
                      <a:r>
                        <a:rPr lang="en-US" sz="2400" b="0" u="none" kern="1200">
                          <a:solidFill>
                            <a:srgbClr val="000010"/>
                          </a:solidFill>
                          <a:latin typeface="CordiaUPC" pitchFamily="34" charset="-34"/>
                          <a:ea typeface="+mn-ea"/>
                          <a:cs typeface="CordiaUPC" pitchFamily="34" charset="-34"/>
                        </a:rPr>
                        <a:t> Tibodee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400" b="0"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สำนักบัญชี </a:t>
                      </a:r>
                      <a:r>
                        <a:rPr lang="en-US" sz="2400" b="0"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Business</a:t>
                      </a:r>
                      <a:r>
                        <a:rPr lang="en-US" sz="2400" b="0" baseline="0"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 Partner </a:t>
                      </a:r>
                      <a:r>
                        <a:rPr lang="th-TH" sz="2400" b="0" baseline="0"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ธุรกิจค้าปลีก</a:t>
                      </a:r>
                      <a:endParaRPr lang="th-TH" sz="2400"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65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u="none">
                          <a:solidFill>
                            <a:srgbClr val="000010"/>
                          </a:solidFill>
                          <a:latin typeface="CordiaUPC"/>
                          <a:cs typeface="CordiaUPC"/>
                        </a:rPr>
                        <a:t>Project Owner</a:t>
                      </a:r>
                    </a:p>
                  </a:txBody>
                  <a:tcPr marL="120732" marR="120732" marT="60365" marB="60365"/>
                </a:tc>
                <a:tc>
                  <a:txBody>
                    <a:bodyPr/>
                    <a:lstStyle/>
                    <a:p>
                      <a:r>
                        <a:rPr lang="en-US" sz="2400" err="1"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Jareeporn</a:t>
                      </a:r>
                      <a:r>
                        <a:rPr lang="en-US" sz="2400"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 </a:t>
                      </a:r>
                      <a:r>
                        <a:rPr lang="en-US" sz="2400" err="1"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Siripongutumporn</a:t>
                      </a:r>
                      <a:endParaRPr lang="th-TH" sz="2400"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400" b="0"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สำนักบัญชี </a:t>
                      </a:r>
                      <a:r>
                        <a:rPr lang="en-US" sz="2400" b="0"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Business</a:t>
                      </a:r>
                      <a:r>
                        <a:rPr lang="en-US" sz="2400" b="0" baseline="0"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 Partner </a:t>
                      </a:r>
                      <a:r>
                        <a:rPr lang="th-TH" sz="2400" b="0" baseline="0"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ธุรกิจค้าปลีก</a:t>
                      </a:r>
                      <a:endParaRPr lang="th-TH" sz="2400" b="0"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801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u="none">
                          <a:solidFill>
                            <a:srgbClr val="000010"/>
                          </a:solidFill>
                          <a:latin typeface="CordiaUPC"/>
                          <a:cs typeface="CordiaUPC"/>
                        </a:rPr>
                        <a:t>Business Project Manager</a:t>
                      </a:r>
                    </a:p>
                  </a:txBody>
                  <a:tcPr marL="120732" marR="120732" marT="60365" marB="6036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kern="1200">
                          <a:solidFill>
                            <a:schemeClr val="tx1"/>
                          </a:solidFill>
                          <a:effectLst/>
                          <a:latin typeface="CordiaUPC" panose="020B0304020202020204" pitchFamily="34" charset="-34"/>
                          <a:ea typeface="+mn-ea"/>
                          <a:cs typeface="CordiaUPC" panose="020B0304020202020204" pitchFamily="34" charset="-34"/>
                        </a:rPr>
                        <a:t>Sopavan Srimongkol</a:t>
                      </a:r>
                      <a:endParaRPr lang="th-TH" sz="2400"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400" b="0"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สำนักบัญชี </a:t>
                      </a:r>
                      <a:r>
                        <a:rPr lang="en-US" sz="2400" b="0"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Business</a:t>
                      </a:r>
                      <a:r>
                        <a:rPr lang="en-US" sz="2400" b="0" baseline="0"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 Partner </a:t>
                      </a:r>
                      <a:r>
                        <a:rPr lang="th-TH" sz="2400" b="0" baseline="0"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ธุรกิจค้าปลีก</a:t>
                      </a:r>
                      <a:endParaRPr lang="th-TH" sz="2400" b="0"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7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u="none">
                          <a:solidFill>
                            <a:srgbClr val="000010"/>
                          </a:solidFill>
                          <a:latin typeface="CordiaUPC"/>
                          <a:cs typeface="CordiaUPC"/>
                        </a:rPr>
                        <a:t>Business User</a:t>
                      </a:r>
                      <a:endParaRPr lang="th-TH" sz="2400" b="0" u="none">
                        <a:solidFill>
                          <a:srgbClr val="000010"/>
                        </a:solidFill>
                        <a:latin typeface="CordiaUPC"/>
                        <a:cs typeface="CordiaUPC"/>
                      </a:endParaRPr>
                    </a:p>
                  </a:txBody>
                  <a:tcPr marL="120732" marR="120732" marT="60365" marB="6036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kern="1200">
                          <a:solidFill>
                            <a:schemeClr val="tx1"/>
                          </a:solidFill>
                          <a:effectLst/>
                          <a:latin typeface="CordiaUPC" panose="020B0304020202020204" pitchFamily="34" charset="-34"/>
                          <a:ea typeface="+mn-ea"/>
                          <a:cs typeface="CordiaUPC" panose="020B0304020202020204" pitchFamily="34" charset="-34"/>
                        </a:rPr>
                        <a:t>Sopavan Srimongkol</a:t>
                      </a:r>
                      <a:endParaRPr lang="th-TH" sz="2400">
                        <a:latin typeface="CordiaUPC"/>
                        <a:cs typeface="CordiaUPC"/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400" b="0"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สำนักบัญชี </a:t>
                      </a:r>
                      <a:r>
                        <a:rPr lang="en-US" sz="2400" b="0"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Business</a:t>
                      </a:r>
                      <a:r>
                        <a:rPr lang="en-US" sz="2400" b="0" baseline="0"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 Partner </a:t>
                      </a:r>
                      <a:r>
                        <a:rPr lang="th-TH" sz="2400" b="0" baseline="0"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ธุรกิจค้าปลีก</a:t>
                      </a:r>
                      <a:endParaRPr lang="th-TH" sz="2400" b="0"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65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u="none">
                          <a:solidFill>
                            <a:srgbClr val="000010"/>
                          </a:solidFill>
                          <a:latin typeface="CordiaUPC"/>
                          <a:cs typeface="CordiaUPC"/>
                        </a:rPr>
                        <a:t>Business</a:t>
                      </a:r>
                      <a:r>
                        <a:rPr lang="en-US" sz="2400" b="0" u="none" baseline="0">
                          <a:solidFill>
                            <a:srgbClr val="000010"/>
                          </a:solidFill>
                          <a:latin typeface="CordiaUPC"/>
                          <a:cs typeface="CordiaUPC"/>
                        </a:rPr>
                        <a:t> Analyst</a:t>
                      </a:r>
                      <a:endParaRPr lang="th-TH" sz="2400" b="0" u="none">
                        <a:solidFill>
                          <a:srgbClr val="000010"/>
                        </a:solidFill>
                        <a:latin typeface="CordiaUPC"/>
                        <a:cs typeface="CordiaUPC"/>
                      </a:endParaRPr>
                    </a:p>
                  </a:txBody>
                  <a:tcPr marL="120732" marR="120732" marT="60365" marB="60365"/>
                </a:tc>
                <a:tc>
                  <a:txBody>
                    <a:bodyPr/>
                    <a:lstStyle/>
                    <a:p>
                      <a:r>
                        <a:rPr lang="th-TH" sz="2400" err="1">
                          <a:latin typeface="CordiaUPC"/>
                          <a:cs typeface="CordiaUPC"/>
                        </a:rPr>
                        <a:t>Kanyarat</a:t>
                      </a:r>
                      <a:r>
                        <a:rPr lang="th-TH" sz="2400">
                          <a:latin typeface="CordiaUPC"/>
                          <a:cs typeface="CordiaUPC"/>
                        </a:rPr>
                        <a:t> </a:t>
                      </a:r>
                      <a:r>
                        <a:rPr lang="th-TH" sz="2400" err="1">
                          <a:latin typeface="CordiaUPC"/>
                          <a:cs typeface="CordiaUPC"/>
                        </a:rPr>
                        <a:t>Sirathananan</a:t>
                      </a:r>
                      <a:endParaRPr lang="th-TH" sz="2400">
                        <a:latin typeface="CordiaUPC"/>
                        <a:cs typeface="CordiaUPC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th-TH" sz="2400" b="0" i="0" u="none" strike="noStrike" baseline="0" noProof="0" err="1">
                          <a:solidFill>
                            <a:srgbClr val="000000"/>
                          </a:solidFill>
                          <a:latin typeface="CordiaUPC"/>
                          <a:cs typeface="CordiaUPC"/>
                        </a:rPr>
                        <a:t>Arthit</a:t>
                      </a:r>
                      <a:r>
                        <a:rPr lang="th-TH" sz="2400" b="0" i="0" u="none" strike="noStrike" baseline="0" noProof="0">
                          <a:solidFill>
                            <a:srgbClr val="000000"/>
                          </a:solidFill>
                          <a:latin typeface="CordiaUPC"/>
                          <a:cs typeface="CordiaUPC"/>
                        </a:rPr>
                        <a:t> </a:t>
                      </a:r>
                      <a:r>
                        <a:rPr lang="th-TH" sz="2400" b="0" i="0" u="none" strike="noStrike" baseline="0" noProof="0" err="1">
                          <a:solidFill>
                            <a:srgbClr val="000000"/>
                          </a:solidFill>
                          <a:latin typeface="CordiaUPC"/>
                          <a:cs typeface="CordiaUPC"/>
                        </a:rPr>
                        <a:t>Suwannachai</a:t>
                      </a:r>
                      <a:endParaRPr lang="th-TH" err="1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th-TH" sz="2400">
                          <a:latin typeface="CordiaUPC"/>
                          <a:cs typeface="CordiaUPC"/>
                        </a:rPr>
                        <a:t>Digital Solution</a:t>
                      </a:r>
                      <a:endParaRPr lang="th-TH" sz="2400"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65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u="none">
                          <a:solidFill>
                            <a:srgbClr val="000010"/>
                          </a:solidFill>
                          <a:latin typeface="CordiaUPC"/>
                          <a:cs typeface="CordiaUPC"/>
                        </a:rPr>
                        <a:t>Solution Architect</a:t>
                      </a:r>
                      <a:endParaRPr lang="th-TH" sz="2400" b="0" u="none">
                        <a:solidFill>
                          <a:srgbClr val="000010"/>
                        </a:solidFill>
                        <a:latin typeface="CordiaUPC"/>
                        <a:cs typeface="CordiaUPC"/>
                      </a:endParaRPr>
                    </a:p>
                  </a:txBody>
                  <a:tcPr marL="120732" marR="120732" marT="60365" marB="60365"/>
                </a:tc>
                <a:tc>
                  <a:txBody>
                    <a:bodyPr/>
                    <a:lstStyle/>
                    <a:p>
                      <a:endParaRPr lang="th-TH" sz="2400"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th-TH" sz="2400"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BDB147D7-4646-40D5-9946-83BA4323E9A0}"/>
              </a:ext>
            </a:extLst>
          </p:cNvPr>
          <p:cNvSpPr txBox="1">
            <a:spLocks/>
          </p:cNvSpPr>
          <p:nvPr/>
        </p:nvSpPr>
        <p:spPr bwMode="auto">
          <a:xfrm>
            <a:off x="621254" y="325158"/>
            <a:ext cx="10910220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1.6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 Stakeholder</a:t>
            </a:r>
            <a:endParaRPr lang="th-TH" altLang="en-US" b="1" u="sng">
              <a:latin typeface="CordiaUPC"/>
              <a:ea typeface="Tahoma"/>
              <a:cs typeface="CordiaUPC"/>
            </a:endParaRPr>
          </a:p>
        </p:txBody>
      </p:sp>
    </p:spTree>
    <p:extLst>
      <p:ext uri="{BB962C8B-B14F-4D97-AF65-F5344CB8AC3E}">
        <p14:creationId xmlns:p14="http://schemas.microsoft.com/office/powerpoint/2010/main" val="777378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81566D4-6E83-4850-953C-AD6DB7F0588B}"/>
              </a:ext>
            </a:extLst>
          </p:cNvPr>
          <p:cNvSpPr txBox="1">
            <a:spLocks/>
          </p:cNvSpPr>
          <p:nvPr/>
        </p:nvSpPr>
        <p:spPr bwMode="auto">
          <a:xfrm>
            <a:off x="595314" y="214312"/>
            <a:ext cx="10910220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1.7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 Business Process List</a:t>
            </a:r>
            <a:endParaRPr lang="th-TH" altLang="en-US" b="1" u="sng">
              <a:latin typeface="CordiaUPC"/>
              <a:ea typeface="Tahoma"/>
              <a:cs typeface="CordiaUPC"/>
            </a:endParaRPr>
          </a:p>
        </p:txBody>
      </p:sp>
      <p:graphicFrame>
        <p:nvGraphicFramePr>
          <p:cNvPr id="4" name="ตาราง 3">
            <a:extLst>
              <a:ext uri="{FF2B5EF4-FFF2-40B4-BE49-F238E27FC236}">
                <a16:creationId xmlns:a16="http://schemas.microsoft.com/office/drawing/2014/main" id="{60B32FBC-B5F6-9599-FC35-24E3122FD4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6874466"/>
              </p:ext>
            </p:extLst>
          </p:nvPr>
        </p:nvGraphicFramePr>
        <p:xfrm>
          <a:off x="95250" y="976312"/>
          <a:ext cx="11966121" cy="528002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05893">
                  <a:extLst>
                    <a:ext uri="{9D8B030D-6E8A-4147-A177-3AD203B41FA5}">
                      <a16:colId xmlns:a16="http://schemas.microsoft.com/office/drawing/2014/main" val="1904322428"/>
                    </a:ext>
                  </a:extLst>
                </a:gridCol>
                <a:gridCol w="6465390">
                  <a:extLst>
                    <a:ext uri="{9D8B030D-6E8A-4147-A177-3AD203B41FA5}">
                      <a16:colId xmlns:a16="http://schemas.microsoft.com/office/drawing/2014/main" val="1740571082"/>
                    </a:ext>
                  </a:extLst>
                </a:gridCol>
                <a:gridCol w="1894838">
                  <a:extLst>
                    <a:ext uri="{9D8B030D-6E8A-4147-A177-3AD203B41FA5}">
                      <a16:colId xmlns:a16="http://schemas.microsoft.com/office/drawing/2014/main" val="3780176938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3375"/>
                        </a:lnSpc>
                        <a:buNone/>
                      </a:pPr>
                      <a:r>
                        <a:rPr lang="af-ZA" sz="1800" b="1" err="1">
                          <a:solidFill>
                            <a:srgbClr val="FFFFFF"/>
                          </a:solidFill>
                          <a:effectLst/>
                          <a:latin typeface="Browallia New"/>
                          <a:cs typeface="CordiaUPC"/>
                        </a:rPr>
                        <a:t>Process</a:t>
                      </a:r>
                      <a:r>
                        <a:rPr lang="af-ZA" sz="1800" b="1">
                          <a:solidFill>
                            <a:srgbClr val="FFFFFF"/>
                          </a:solidFill>
                          <a:effectLst/>
                          <a:latin typeface="Browallia New"/>
                          <a:cs typeface="CordiaUPC"/>
                        </a:rPr>
                        <a:t> Name</a:t>
                      </a: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3375"/>
                        </a:lnSpc>
                        <a:buNone/>
                      </a:pPr>
                      <a:r>
                        <a:rPr lang="th-TH" sz="1800" b="1">
                          <a:solidFill>
                            <a:srgbClr val="FFFFFF"/>
                          </a:solidFill>
                          <a:effectLst/>
                          <a:latin typeface="Browallia New"/>
                          <a:cs typeface="Browallia New"/>
                        </a:rPr>
                        <a:t>ผู้รับผิดชอบ</a:t>
                      </a: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3375"/>
                        </a:lnSpc>
                        <a:buNone/>
                      </a:pPr>
                      <a:r>
                        <a:rPr lang="th-TH" sz="1800" b="1">
                          <a:solidFill>
                            <a:srgbClr val="FFFFFF"/>
                          </a:solidFill>
                          <a:effectLst/>
                          <a:latin typeface="Browallia New"/>
                          <a:cs typeface="Browallia New"/>
                        </a:rPr>
                        <a:t>ความถี่</a:t>
                      </a: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0842469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>
                        <a:lnSpc>
                          <a:spcPts val="2850"/>
                        </a:lnSpc>
                        <a:buNone/>
                      </a:pPr>
                      <a:r>
                        <a:rPr lang="th-TH" sz="1800">
                          <a:effectLst/>
                          <a:latin typeface="Browallia New"/>
                          <a:cs typeface="Browallia New"/>
                        </a:rPr>
                        <a:t>กระบวนการอนุมัติระบบประกันรายได้ในส่วนของฝ่ายส่งเสริมธุรกิจ </a:t>
                      </a:r>
                      <a:r>
                        <a:rPr lang="af-ZA" sz="1800">
                          <a:effectLst/>
                          <a:latin typeface="Browallia New"/>
                        </a:rPr>
                        <a:t>SBP </a:t>
                      </a: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850"/>
                        </a:lnSpc>
                        <a:buNone/>
                      </a:pPr>
                      <a:r>
                        <a:rPr lang="th-TH" sz="1800">
                          <a:effectLst/>
                          <a:latin typeface="Browallia New"/>
                          <a:cs typeface="Browallia New"/>
                        </a:rPr>
                        <a:t>หน่วยงานส่งเสริม ตำแหน่ง</a:t>
                      </a:r>
                      <a:br>
                        <a:rPr lang="th-TH" sz="1800">
                          <a:effectLst/>
                          <a:latin typeface="Browallia New"/>
                          <a:cs typeface="Browallia New"/>
                        </a:rPr>
                      </a:br>
                      <a:r>
                        <a:rPr lang="th-TH" sz="1800">
                          <a:effectLst/>
                          <a:latin typeface="Browallia New"/>
                          <a:cs typeface="Browallia New"/>
                        </a:rPr>
                        <a:t>- ผู้จัดการฝ่าย(รักษาการ)</a:t>
                      </a:r>
                    </a:p>
                    <a:p>
                      <a:pPr fontAlgn="base">
                        <a:lnSpc>
                          <a:spcPts val="2850"/>
                        </a:lnSpc>
                        <a:buNone/>
                      </a:pPr>
                      <a:r>
                        <a:rPr lang="th-TH" sz="1800">
                          <a:effectLst/>
                          <a:latin typeface="Browallia New"/>
                          <a:cs typeface="Browallia New"/>
                        </a:rPr>
                        <a:t>- ผู้จัดการฝ่าย</a:t>
                      </a:r>
                    </a:p>
                    <a:p>
                      <a:pPr fontAlgn="base">
                        <a:lnSpc>
                          <a:spcPts val="2850"/>
                        </a:lnSpc>
                        <a:buNone/>
                      </a:pPr>
                      <a:r>
                        <a:rPr lang="th-TH" sz="1800">
                          <a:effectLst/>
                          <a:latin typeface="Browallia New"/>
                          <a:cs typeface="Browallia New"/>
                        </a:rPr>
                        <a:t>- </a:t>
                      </a:r>
                      <a:r>
                        <a:rPr lang="af-ZA" sz="1800">
                          <a:effectLst/>
                          <a:latin typeface="Browallia New"/>
                        </a:rPr>
                        <a:t>GM</a:t>
                      </a: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850"/>
                        </a:lnSpc>
                        <a:buNone/>
                      </a:pPr>
                      <a:r>
                        <a:rPr lang="th-TH" sz="1800">
                          <a:effectLst/>
                          <a:latin typeface="Browallia New"/>
                          <a:cs typeface="Browallia New"/>
                        </a:rPr>
                        <a:t>ทุกเดือน</a:t>
                      </a: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7560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>
                        <a:lnSpc>
                          <a:spcPts val="2850"/>
                        </a:lnSpc>
                        <a:buNone/>
                      </a:pPr>
                      <a:r>
                        <a:rPr lang="th-TH" sz="1800">
                          <a:effectLst/>
                          <a:latin typeface="Browallia New"/>
                          <a:cs typeface="Browallia New"/>
                        </a:rPr>
                        <a:t>กระบวนการสร้างชดเชยรายได้ บางสาขาไม่ได้เพราะมีสาขาเดิมค้างอยู่ในระบบ</a:t>
                      </a: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2850"/>
                        </a:lnSpc>
                        <a:buNone/>
                      </a:pPr>
                      <a:r>
                        <a:rPr lang="th-TH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Browallia New"/>
                          <a:cs typeface="Browallia New"/>
                        </a:rPr>
                        <a:t>ทีมวิเคราะห์ข้อมูล (สำนัก SBPM)</a:t>
                      </a:r>
                      <a:endParaRPr lang="th-TH" sz="1800"/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850"/>
                        </a:lnSpc>
                        <a:buNone/>
                      </a:pPr>
                      <a:r>
                        <a:rPr lang="th-TH" sz="1800">
                          <a:effectLst/>
                          <a:latin typeface="Browallia New"/>
                          <a:cs typeface="Browallia New"/>
                        </a:rPr>
                        <a:t>ทุกเดือน</a:t>
                      </a: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02329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lvl="0">
                        <a:lnSpc>
                          <a:spcPts val="2850"/>
                        </a:lnSpc>
                        <a:buNone/>
                      </a:pPr>
                      <a:r>
                        <a:rPr lang="th-TH" sz="1800">
                          <a:effectLst/>
                          <a:latin typeface="Browallia New"/>
                          <a:cs typeface="Browallia New"/>
                        </a:rPr>
                        <a:t>ตรวจสอบยอดชดเชยรายได้ของร้านถูกกระทบ</a:t>
                      </a:r>
                    </a:p>
                  </a:txBody>
                  <a:tcPr>
                    <a:lnL w="10154">
                      <a:solidFill>
                        <a:srgbClr val="FFFFFF"/>
                      </a:solidFill>
                    </a:lnL>
                    <a:lnR w="10154">
                      <a:solidFill>
                        <a:srgbClr val="FFFFFF"/>
                      </a:solidFill>
                    </a:lnR>
                    <a:lnT w="10154">
                      <a:solidFill>
                        <a:srgbClr val="FFFFFF"/>
                      </a:solidFill>
                    </a:lnT>
                    <a:lnB w="10154">
                      <a:solidFill>
                        <a:srgbClr val="FFFFFF"/>
                      </a:solidFill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th-TH" sz="1800" b="1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Browallia New"/>
                          <a:cs typeface="Browallia New"/>
                        </a:rPr>
                        <a:t>ท</a:t>
                      </a:r>
                      <a:r>
                        <a:rPr lang="th-TH" sz="1800" b="1" i="0" u="sng" strike="noStrike" baseline="0" noProof="0">
                          <a:solidFill>
                            <a:srgbClr val="000000"/>
                          </a:solidFill>
                          <a:effectLst/>
                          <a:latin typeface="Browallia New"/>
                          <a:cs typeface="Browallia New"/>
                        </a:rPr>
                        <a:t>ีมวิเคราะห์ข้อมูล (สำนัก SBPM)</a:t>
                      </a:r>
                      <a:endParaRPr lang="th-TH" sz="1800" b="1" u="sng">
                        <a:latin typeface="Browallia New"/>
                        <a:cs typeface="Browallia New"/>
                      </a:endParaRPr>
                    </a:p>
                    <a:p>
                      <a:pPr lvl="0">
                        <a:lnSpc>
                          <a:spcPts val="2850"/>
                        </a:lnSpc>
                        <a:buNone/>
                      </a:pPr>
                      <a:r>
                        <a:rPr lang="th-TH" sz="1800" b="1" i="0" u="sng" strike="noStrike" noProof="0">
                          <a:solidFill>
                            <a:srgbClr val="000000"/>
                          </a:solidFill>
                          <a:effectLst/>
                          <a:latin typeface="Browallia New"/>
                          <a:cs typeface="Browallia New"/>
                        </a:rPr>
                        <a:t>ฝ่ายบัญชี</a:t>
                      </a:r>
                    </a:p>
                    <a:p>
                      <a:pPr marL="0" lvl="0" indent="0" algn="l">
                        <a:buNone/>
                      </a:pPr>
                      <a:r>
                        <a:rPr lang="th-TH" sz="18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Browallia New"/>
                          <a:cs typeface="Browallia New"/>
                        </a:rPr>
                        <a:t>1. ตรวจสอบ </a:t>
                      </a:r>
                      <a:r>
                        <a:rPr lang="th-TH" sz="1800" b="0" i="0" u="none" strike="noStrike" baseline="0" noProof="0" err="1">
                          <a:solidFill>
                            <a:srgbClr val="000000"/>
                          </a:solidFill>
                          <a:effectLst/>
                          <a:latin typeface="Browallia New"/>
                          <a:cs typeface="Browallia New"/>
                        </a:rPr>
                        <a:t>Flow</a:t>
                      </a:r>
                      <a:r>
                        <a:rPr lang="th-TH" sz="18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Browallia New"/>
                          <a:cs typeface="Browallia New"/>
                        </a:rPr>
                        <a:t> ในระบบ K ทั้งหมดที่มีการอนุมัติจากทีม SBP ส่งต่อผจก.แผนกตรวจสอบอนุมัติ</a:t>
                      </a:r>
                    </a:p>
                    <a:p>
                      <a:pPr marL="0" lvl="0" indent="0" algn="l">
                        <a:buNone/>
                      </a:pPr>
                      <a:r>
                        <a:rPr lang="th-TH" sz="18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Browallia New"/>
                          <a:cs typeface="Browallia New"/>
                        </a:rPr>
                        <a:t>2. ตรวจสอบจำนวนเงิน รหัสสาขาที่ถูกเปิดกระทบ</a:t>
                      </a:r>
                    </a:p>
                    <a:p>
                      <a:pPr marL="0" lvl="0" indent="0" algn="l">
                        <a:buNone/>
                      </a:pPr>
                      <a:r>
                        <a:rPr lang="th-TH" sz="18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Browallia New"/>
                          <a:cs typeface="Browallia New"/>
                        </a:rPr>
                        <a:t>3. วันที่ 30-31 ของทุกเดือนตรวจสอบการอนุมัติ </a:t>
                      </a:r>
                      <a:r>
                        <a:rPr lang="th-TH" sz="1800" b="0" i="0" u="none" strike="noStrike" baseline="0" noProof="0" err="1">
                          <a:solidFill>
                            <a:srgbClr val="000000"/>
                          </a:solidFill>
                          <a:effectLst/>
                          <a:latin typeface="Browallia New"/>
                          <a:cs typeface="Browallia New"/>
                        </a:rPr>
                        <a:t>Flow</a:t>
                      </a:r>
                      <a:r>
                        <a:rPr lang="th-TH" sz="18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Browallia New"/>
                          <a:cs typeface="Browallia New"/>
                        </a:rPr>
                        <a:t> ทั้งหมด</a:t>
                      </a:r>
                    </a:p>
                    <a:p>
                      <a:pPr marL="0" lvl="0" indent="0" algn="l">
                        <a:buNone/>
                      </a:pPr>
                      <a:r>
                        <a:rPr lang="th-TH" sz="18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Browallia New"/>
                          <a:cs typeface="Browallia New"/>
                        </a:rPr>
                        <a:t>4. ผู้จัดการแผนก </a:t>
                      </a:r>
                      <a:r>
                        <a:rPr lang="th-TH" sz="1800" b="0" i="0" u="none" strike="noStrike" baseline="0" noProof="0" err="1">
                          <a:solidFill>
                            <a:srgbClr val="000000"/>
                          </a:solidFill>
                          <a:effectLst/>
                          <a:latin typeface="Browallia New"/>
                          <a:cs typeface="Browallia New"/>
                        </a:rPr>
                        <a:t>Confirm</a:t>
                      </a:r>
                      <a:r>
                        <a:rPr lang="th-TH" sz="18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Browallia New"/>
                          <a:cs typeface="Browallia New"/>
                        </a:rPr>
                        <a:t> ปิดงาน </a:t>
                      </a:r>
                      <a:r>
                        <a:rPr lang="th-TH" sz="1800" b="0" i="0" u="none" strike="noStrike" baseline="0" noProof="0" err="1">
                          <a:solidFill>
                            <a:srgbClr val="000000"/>
                          </a:solidFill>
                          <a:effectLst/>
                          <a:latin typeface="Browallia New"/>
                          <a:cs typeface="Browallia New"/>
                        </a:rPr>
                        <a:t>Flow</a:t>
                      </a:r>
                      <a:r>
                        <a:rPr lang="th-TH" sz="18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Browallia New"/>
                          <a:cs typeface="Browallia New"/>
                        </a:rPr>
                        <a:t> ประกันรายได้ภายในเวลา 12.00 น. วันที่ 01 ของเดือน</a:t>
                      </a:r>
                    </a:p>
                    <a:p>
                      <a:pPr marL="0" lvl="0" indent="0" algn="l">
                        <a:buNone/>
                      </a:pPr>
                      <a:r>
                        <a:rPr lang="th-TH" sz="18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Browallia New"/>
                          <a:cs typeface="Browallia New"/>
                        </a:rPr>
                        <a:t>5. </a:t>
                      </a:r>
                      <a:r>
                        <a:rPr lang="th-TH" sz="1800" b="0" i="0" u="none" strike="noStrike" baseline="0" noProof="0" err="1">
                          <a:solidFill>
                            <a:srgbClr val="000000"/>
                          </a:solidFill>
                          <a:effectLst/>
                          <a:latin typeface="Browallia New"/>
                          <a:cs typeface="Browallia New"/>
                        </a:rPr>
                        <a:t>Center</a:t>
                      </a:r>
                      <a:r>
                        <a:rPr lang="th-TH" sz="18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Browallia New"/>
                          <a:cs typeface="Browallia New"/>
                        </a:rPr>
                        <a:t> ดำเนินการแจ้งทีม </a:t>
                      </a:r>
                      <a:r>
                        <a:rPr lang="th-TH" sz="1800" b="0" i="0" u="none" strike="noStrike" baseline="0" noProof="0" err="1">
                          <a:solidFill>
                            <a:srgbClr val="000000"/>
                          </a:solidFill>
                          <a:effectLst/>
                          <a:latin typeface="Browallia New"/>
                          <a:cs typeface="Browallia New"/>
                        </a:rPr>
                        <a:t>Store</a:t>
                      </a:r>
                      <a:r>
                        <a:rPr lang="th-TH" sz="18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Browallia New"/>
                          <a:cs typeface="Browallia New"/>
                        </a:rPr>
                        <a:t> </a:t>
                      </a:r>
                      <a:r>
                        <a:rPr lang="th-TH" sz="1800" b="0" i="0" u="none" strike="noStrike" baseline="0" noProof="0" err="1">
                          <a:solidFill>
                            <a:srgbClr val="000000"/>
                          </a:solidFill>
                          <a:effectLst/>
                          <a:latin typeface="Browallia New"/>
                          <a:cs typeface="Browallia New"/>
                        </a:rPr>
                        <a:t>Acc</a:t>
                      </a:r>
                      <a:r>
                        <a:rPr lang="th-TH" sz="18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Browallia New"/>
                          <a:cs typeface="Browallia New"/>
                        </a:rPr>
                        <a:t>. ทำการอนุมัติ </a:t>
                      </a:r>
                      <a:r>
                        <a:rPr lang="th-TH" sz="1800" b="0" i="0" u="none" strike="noStrike" baseline="0" noProof="0" err="1">
                          <a:solidFill>
                            <a:srgbClr val="000000"/>
                          </a:solidFill>
                          <a:effectLst/>
                          <a:latin typeface="Browallia New"/>
                          <a:cs typeface="Browallia New"/>
                        </a:rPr>
                        <a:t>Flow</a:t>
                      </a:r>
                      <a:r>
                        <a:rPr lang="th-TH" sz="18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Browallia New"/>
                          <a:cs typeface="Browallia New"/>
                        </a:rPr>
                        <a:t> เพื่อบันทึกบัญชี</a:t>
                      </a:r>
                      <a:endParaRPr lang="th-TH" sz="1800" b="1" i="0" u="sng" strike="noStrike" noProof="0">
                        <a:solidFill>
                          <a:srgbClr val="000000"/>
                        </a:solidFill>
                        <a:effectLst/>
                        <a:latin typeface="Browallia New"/>
                        <a:cs typeface="Browallia New"/>
                      </a:endParaRPr>
                    </a:p>
                    <a:p>
                      <a:pPr lvl="0">
                        <a:lnSpc>
                          <a:spcPts val="2850"/>
                        </a:lnSpc>
                        <a:buNone/>
                      </a:pPr>
                      <a:endParaRPr lang="th-TH" sz="1800">
                        <a:effectLst/>
                        <a:latin typeface="Browallia New"/>
                        <a:cs typeface="Browallia New"/>
                      </a:endParaRPr>
                    </a:p>
                  </a:txBody>
                  <a:tcPr>
                    <a:lnL w="10154">
                      <a:solidFill>
                        <a:srgbClr val="FFFFFF"/>
                      </a:solidFill>
                    </a:lnL>
                    <a:lnR w="10154">
                      <a:solidFill>
                        <a:srgbClr val="FFFFFF"/>
                      </a:solidFill>
                    </a:lnR>
                    <a:lnT w="10154">
                      <a:solidFill>
                        <a:srgbClr val="FFFFFF"/>
                      </a:solidFill>
                    </a:lnT>
                    <a:lnB w="10154">
                      <a:solidFill>
                        <a:srgbClr val="FFFFFF"/>
                      </a:solidFill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2850"/>
                        </a:lnSpc>
                        <a:buNone/>
                      </a:pPr>
                      <a:r>
                        <a:rPr lang="th-TH" sz="1800">
                          <a:effectLst/>
                          <a:latin typeface="Browallia New"/>
                          <a:cs typeface="Browallia New"/>
                        </a:rPr>
                        <a:t>ทุกเดือน</a:t>
                      </a:r>
                    </a:p>
                  </a:txBody>
                  <a:tcPr>
                    <a:lnL w="10154">
                      <a:solidFill>
                        <a:srgbClr val="FFFFFF"/>
                      </a:solidFill>
                    </a:lnL>
                    <a:lnR w="10154">
                      <a:solidFill>
                        <a:srgbClr val="FFFFFF"/>
                      </a:solidFill>
                    </a:lnR>
                    <a:lnT w="10154">
                      <a:solidFill>
                        <a:srgbClr val="FFFFFF"/>
                      </a:solidFill>
                    </a:lnT>
                    <a:lnB w="10154">
                      <a:solidFill>
                        <a:srgbClr val="FFFFFF"/>
                      </a:solidFill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39327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3719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545584" y="132971"/>
            <a:ext cx="11135553" cy="777875"/>
          </a:xfrm>
        </p:spPr>
        <p:txBody>
          <a:bodyPr/>
          <a:lstStyle/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b="1" u="sng">
                <a:latin typeface="CordiaUPC"/>
                <a:ea typeface="Tahoma"/>
                <a:cs typeface="CordiaUPC"/>
              </a:rPr>
              <a:t>Business Process : </a:t>
            </a:r>
            <a:r>
              <a:rPr lang="th-TH" altLang="en-US" b="1" u="sng">
                <a:latin typeface="CordiaUPC"/>
                <a:ea typeface="Tahoma"/>
                <a:cs typeface="CordiaUPC"/>
              </a:rPr>
              <a:t>รายละเอียดต่างๆ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 </a:t>
            </a:r>
            <a:endParaRPr lang="th-TH" altLang="en-US" sz="3200" b="1" u="sng">
              <a:latin typeface="CordiaUPC"/>
              <a:ea typeface="Tahoma"/>
              <a:cs typeface="CordiaUPC"/>
            </a:endParaRPr>
          </a:p>
        </p:txBody>
      </p:sp>
      <p:sp>
        <p:nvSpPr>
          <p:cNvPr id="40" name="Rectangle 2"/>
          <p:cNvSpPr>
            <a:spLocks noChangeArrowheads="1"/>
          </p:cNvSpPr>
          <p:nvPr/>
        </p:nvSpPr>
        <p:spPr bwMode="auto">
          <a:xfrm>
            <a:off x="705596" y="4102496"/>
            <a:ext cx="778121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h-TH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7CB680-03AC-6907-03F6-7A3D1667ADF4}"/>
              </a:ext>
            </a:extLst>
          </p:cNvPr>
          <p:cNvSpPr txBox="1"/>
          <p:nvPr/>
        </p:nvSpPr>
        <p:spPr>
          <a:xfrm>
            <a:off x="6213768" y="825091"/>
            <a:ext cx="3954929" cy="4616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th-TH" sz="2400"/>
              <a:t>2. ขั้นตอนการทำงานปัจจุบัน (ส่วนของบัญชี)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6FE8A4-0849-4A53-CBCB-17030AD41580}"/>
              </a:ext>
            </a:extLst>
          </p:cNvPr>
          <p:cNvSpPr txBox="1"/>
          <p:nvPr/>
        </p:nvSpPr>
        <p:spPr>
          <a:xfrm>
            <a:off x="6529163" y="4033812"/>
            <a:ext cx="5662837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th-TH" sz="2200" b="0">
                <a:latin typeface="Cordia New" panose="020B0304020202020204" pitchFamily="34" charset="-34"/>
                <a:cs typeface="Cordia New" panose="020B0304020202020204" pitchFamily="34" charset="-34"/>
              </a:rPr>
              <a:t>ขั้นตอนมีความซ้ำซ้อน (อนุมัติ </a:t>
            </a:r>
            <a:r>
              <a:rPr lang="en-US" sz="2200" b="0">
                <a:latin typeface="Cordia New" panose="020B0304020202020204" pitchFamily="34" charset="-34"/>
                <a:cs typeface="Cordia New" panose="020B0304020202020204" pitchFamily="34" charset="-34"/>
              </a:rPr>
              <a:t>Flow</a:t>
            </a:r>
            <a:r>
              <a:rPr lang="th-TH" sz="2200" b="0">
                <a:latin typeface="Cordia New" panose="020B0304020202020204" pitchFamily="34" charset="-34"/>
                <a:cs typeface="Cordia New" panose="020B0304020202020204" pitchFamily="34" charset="-34"/>
              </a:rPr>
              <a:t>)</a:t>
            </a:r>
            <a:endParaRPr lang="th-TH" sz="2200" b="0">
              <a:latin typeface="Cordia New" panose="020B0304020202020204" pitchFamily="34" charset="-34"/>
              <a:ea typeface="Tahoma"/>
              <a:cs typeface="Cordia New" panose="020B0304020202020204" pitchFamily="34" charset="-34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th-TH" sz="2200" b="0">
                <a:latin typeface="Cordia New" panose="020B0304020202020204" pitchFamily="34" charset="-34"/>
                <a:cs typeface="Cordia New" panose="020B0304020202020204" pitchFamily="34" charset="-34"/>
              </a:rPr>
              <a:t>ใช้เวลารออนุมัติหลายรอบ (วันที่10-20-25-30-วันสิ้นเดือน)</a:t>
            </a:r>
            <a:endParaRPr lang="th-TH" sz="2200" b="0">
              <a:latin typeface="Cordia New" panose="020B0304020202020204" pitchFamily="34" charset="-34"/>
              <a:ea typeface="Tahoma"/>
              <a:cs typeface="Cordia New" panose="020B0304020202020204" pitchFamily="34" charset="-34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th-TH" sz="2200" b="0">
                <a:latin typeface="Cordia New" panose="020B0304020202020204" pitchFamily="34" charset="-34"/>
                <a:cs typeface="Cordia New" panose="020B0304020202020204" pitchFamily="34" charset="-34"/>
              </a:rPr>
              <a:t>ไม่มีระบบอัตโนมัติ  (ทำงานแบบคำนวณตามสูตรเงื่อนไข </a:t>
            </a:r>
            <a:r>
              <a:rPr lang="en-US" sz="2200" b="0">
                <a:latin typeface="Cordia New" panose="020B0304020202020204" pitchFamily="34" charset="-34"/>
                <a:cs typeface="Cordia New" panose="020B0304020202020204" pitchFamily="34" charset="-34"/>
              </a:rPr>
              <a:t>Manual) </a:t>
            </a:r>
            <a:endParaRPr lang="th-TH" sz="2200" b="0">
              <a:latin typeface="Cordia New" panose="020B0304020202020204" pitchFamily="34" charset="-34"/>
              <a:ea typeface="Tahoma"/>
              <a:cs typeface="Cordia New" panose="020B0304020202020204" pitchFamily="34" charset="-34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th-TH" sz="2200" b="0">
                <a:latin typeface="Cordia New" panose="020B0304020202020204" pitchFamily="34" charset="-34"/>
                <a:cs typeface="Cordia New" panose="020B0304020202020204" pitchFamily="34" charset="-34"/>
              </a:rPr>
              <a:t>มีผู้เกี่ยวข้องหลายฝ่าย ทำให้มีการอนุมัติล่าช้า ในการตรวจสอบ</a:t>
            </a:r>
          </a:p>
          <a:p>
            <a:r>
              <a:rPr lang="th-TH" sz="2200" b="0">
                <a:latin typeface="Cordia New" panose="020B0304020202020204" pitchFamily="34" charset="-34"/>
                <a:cs typeface="Cordia New" panose="020B0304020202020204" pitchFamily="34" charset="-34"/>
              </a:rPr>
              <a:t>         ข้อมูลก่อนปิดบัญชี</a:t>
            </a:r>
            <a:endParaRPr lang="th-TH" sz="2200" b="0">
              <a:latin typeface="Cordia New" panose="020B0304020202020204" pitchFamily="34" charset="-34"/>
              <a:ea typeface="Tahoma"/>
              <a:cs typeface="Cordia New" panose="020B0304020202020204" pitchFamily="34" charset="-34"/>
            </a:endParaRPr>
          </a:p>
        </p:txBody>
      </p:sp>
      <p:pic>
        <p:nvPicPr>
          <p:cNvPr id="15" name="Picture 5">
            <a:extLst>
              <a:ext uri="{FF2B5EF4-FFF2-40B4-BE49-F238E27FC236}">
                <a16:creationId xmlns:a16="http://schemas.microsoft.com/office/drawing/2014/main" id="{2939B38C-C6A5-AC9A-EA7E-E64B15FEEE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r="43863" b="7768"/>
          <a:stretch>
            <a:fillRect/>
          </a:stretch>
        </p:blipFill>
        <p:spPr bwMode="auto">
          <a:xfrm>
            <a:off x="658006" y="1406502"/>
            <a:ext cx="5004833" cy="3092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4169E0F-A54A-A812-9399-411C43E0118D}"/>
              </a:ext>
            </a:extLst>
          </p:cNvPr>
          <p:cNvSpPr txBox="1"/>
          <p:nvPr/>
        </p:nvSpPr>
        <p:spPr>
          <a:xfrm>
            <a:off x="658006" y="825091"/>
            <a:ext cx="4865434" cy="4616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th-TH" sz="2400"/>
              <a:t>1. ขั้นตอนดำเนินการ</a:t>
            </a:r>
            <a:r>
              <a:rPr lang="en-US" sz="2400"/>
              <a:t>: </a:t>
            </a:r>
            <a:r>
              <a:rPr lang="en-US" sz="2400">
                <a:latin typeface="CordiaUPC" panose="020B0304020202020204" pitchFamily="34" charset="-34"/>
                <a:cs typeface="CordiaUPC" panose="020B0304020202020204" pitchFamily="34" charset="-34"/>
              </a:rPr>
              <a:t>Section</a:t>
            </a:r>
            <a:r>
              <a:rPr lang="en-US" sz="2400"/>
              <a:t> </a:t>
            </a:r>
            <a:r>
              <a:rPr lang="th-TH" sz="2400"/>
              <a:t>ทั้งหมด (ส่วนของ</a:t>
            </a:r>
            <a:r>
              <a:rPr lang="en-US" sz="2400">
                <a:latin typeface="CordiaUPC" panose="020B0304020202020204" pitchFamily="34" charset="-34"/>
                <a:cs typeface="CordiaUPC" panose="020B0304020202020204" pitchFamily="34" charset="-34"/>
              </a:rPr>
              <a:t>SBP</a:t>
            </a:r>
            <a:r>
              <a:rPr lang="th-TH" sz="2400"/>
              <a:t>) </a:t>
            </a:r>
          </a:p>
        </p:txBody>
      </p:sp>
      <p:grpSp>
        <p:nvGrpSpPr>
          <p:cNvPr id="20" name="กลุ่ม 8">
            <a:extLst>
              <a:ext uri="{FF2B5EF4-FFF2-40B4-BE49-F238E27FC236}">
                <a16:creationId xmlns:a16="http://schemas.microsoft.com/office/drawing/2014/main" id="{913D0109-0BB3-8C2C-3FEB-664CB9AAC76B}"/>
              </a:ext>
            </a:extLst>
          </p:cNvPr>
          <p:cNvGrpSpPr/>
          <p:nvPr/>
        </p:nvGrpSpPr>
        <p:grpSpPr>
          <a:xfrm>
            <a:off x="5796819" y="1471895"/>
            <a:ext cx="6275437" cy="2445461"/>
            <a:chOff x="5294376" y="1939643"/>
            <a:chExt cx="6702552" cy="2445461"/>
          </a:xfrm>
        </p:grpSpPr>
        <p:pic>
          <p:nvPicPr>
            <p:cNvPr id="21" name="Picture 15">
              <a:extLst>
                <a:ext uri="{FF2B5EF4-FFF2-40B4-BE49-F238E27FC236}">
                  <a16:creationId xmlns:a16="http://schemas.microsoft.com/office/drawing/2014/main" id="{FACD7F45-6E99-1CD3-0B16-C5CD652817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94376" y="1939643"/>
              <a:ext cx="6702552" cy="2445461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22" name="Right Brace 17">
              <a:extLst>
                <a:ext uri="{FF2B5EF4-FFF2-40B4-BE49-F238E27FC236}">
                  <a16:creationId xmlns:a16="http://schemas.microsoft.com/office/drawing/2014/main" id="{44C1B3EB-0B8F-70F1-9CBC-D2FBBA8DDD4C}"/>
                </a:ext>
              </a:extLst>
            </p:cNvPr>
            <p:cNvSpPr/>
            <p:nvPr/>
          </p:nvSpPr>
          <p:spPr>
            <a:xfrm>
              <a:off x="6419088" y="2625110"/>
              <a:ext cx="320040" cy="1591056"/>
            </a:xfrm>
            <a:prstGeom prst="rightBrace">
              <a:avLst>
                <a:gd name="adj1" fmla="val 8333"/>
                <a:gd name="adj2" fmla="val 41954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th-TH"/>
              </a:defPPr>
              <a:lvl1pPr marL="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/>
            </a:p>
          </p:txBody>
        </p:sp>
      </p:grpSp>
      <p:sp>
        <p:nvSpPr>
          <p:cNvPr id="23" name="กล่องข้อความ 10">
            <a:extLst>
              <a:ext uri="{FF2B5EF4-FFF2-40B4-BE49-F238E27FC236}">
                <a16:creationId xmlns:a16="http://schemas.microsoft.com/office/drawing/2014/main" id="{3020F6D8-8C1D-EA87-4E4E-E6D449B313B5}"/>
              </a:ext>
            </a:extLst>
          </p:cNvPr>
          <p:cNvSpPr txBox="1"/>
          <p:nvPr/>
        </p:nvSpPr>
        <p:spPr>
          <a:xfrm>
            <a:off x="9547373" y="3498575"/>
            <a:ext cx="1616955" cy="3515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h-TH">
                <a:solidFill>
                  <a:srgbClr val="FF0000"/>
                </a:solidFill>
                <a:latin typeface="CordiaUPC"/>
                <a:cs typeface="CordiaUPC"/>
              </a:rPr>
              <a:t>RPA ดำเนินการ</a:t>
            </a:r>
          </a:p>
        </p:txBody>
      </p:sp>
      <p:sp>
        <p:nvSpPr>
          <p:cNvPr id="24" name="กล่องข้อความ 11">
            <a:extLst>
              <a:ext uri="{FF2B5EF4-FFF2-40B4-BE49-F238E27FC236}">
                <a16:creationId xmlns:a16="http://schemas.microsoft.com/office/drawing/2014/main" id="{E62D1FF5-A363-8E9A-F786-E558F613304B}"/>
              </a:ext>
            </a:extLst>
          </p:cNvPr>
          <p:cNvSpPr txBox="1"/>
          <p:nvPr/>
        </p:nvSpPr>
        <p:spPr>
          <a:xfrm>
            <a:off x="5925822" y="3392889"/>
            <a:ext cx="3529180" cy="4499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th-TH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A6241E9-6CC3-8F65-D35C-5215A30CC1B1}"/>
              </a:ext>
            </a:extLst>
          </p:cNvPr>
          <p:cNvSpPr txBox="1"/>
          <p:nvPr/>
        </p:nvSpPr>
        <p:spPr>
          <a:xfrm>
            <a:off x="658006" y="4618539"/>
            <a:ext cx="4501823" cy="4616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th-TH" sz="2400"/>
              <a:t>3. ความต้องการด้านระบบ (ส่วนของบัญชี)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77D6213-E7FB-6AB7-D3C2-3E31C314418B}"/>
              </a:ext>
            </a:extLst>
          </p:cNvPr>
          <p:cNvSpPr txBox="1"/>
          <p:nvPr/>
        </p:nvSpPr>
        <p:spPr>
          <a:xfrm>
            <a:off x="298778" y="5293771"/>
            <a:ext cx="610144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b="0">
                <a:latin typeface="CordiaUPC"/>
                <a:ea typeface="Tahoma"/>
                <a:cs typeface="CordiaUPC"/>
              </a:rPr>
              <a:t>ยกเลิกหน้าจอกระบวนการ </a:t>
            </a:r>
            <a:r>
              <a:rPr lang="en-US" sz="2400" b="0">
                <a:latin typeface="CordiaUPC"/>
                <a:ea typeface="Tahoma"/>
                <a:cs typeface="CordiaUPC"/>
              </a:rPr>
              <a:t> Approve</a:t>
            </a:r>
            <a:r>
              <a:rPr lang="th-TH" sz="2400" b="0">
                <a:latin typeface="CordiaUPC"/>
                <a:ea typeface="Tahoma"/>
                <a:cs typeface="CordiaUPC"/>
              </a:rPr>
              <a:t>  ตรวจสอบยอดชดเชยรายได้</a:t>
            </a:r>
          </a:p>
          <a:p>
            <a:r>
              <a:rPr lang="th-TH" sz="2400" b="0">
                <a:latin typeface="CordiaUPC"/>
                <a:ea typeface="Tahoma"/>
                <a:cs typeface="CordiaUPC"/>
              </a:rPr>
              <a:t>โดยสามารถ ออกแบบรายงานตรวจสอบกระทบยอดบันทึกบัญชีถูกต้อง</a:t>
            </a:r>
            <a:endParaRPr lang="th-TH" sz="2400" b="0">
              <a:latin typeface="CordiaUPC"/>
              <a:cs typeface="CordiaUPC"/>
            </a:endParaRPr>
          </a:p>
        </p:txBody>
      </p:sp>
    </p:spTree>
    <p:extLst>
      <p:ext uri="{BB962C8B-B14F-4D97-AF65-F5344CB8AC3E}">
        <p14:creationId xmlns:p14="http://schemas.microsoft.com/office/powerpoint/2010/main" val="30239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B907996-4F6B-47B0-BA98-4844791050A1}"/>
              </a:ext>
            </a:extLst>
          </p:cNvPr>
          <p:cNvSpPr txBox="1">
            <a:spLocks/>
          </p:cNvSpPr>
          <p:nvPr/>
        </p:nvSpPr>
        <p:spPr bwMode="auto">
          <a:xfrm>
            <a:off x="621254" y="325158"/>
            <a:ext cx="4707486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1.8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 As-Is Business Process</a:t>
            </a:r>
            <a:endParaRPr lang="th-TH" altLang="en-US" b="1" u="sng">
              <a:latin typeface="CordiaUPC"/>
              <a:ea typeface="Tahoma"/>
              <a:cs typeface="CordiaUPC"/>
            </a:endParaRPr>
          </a:p>
        </p:txBody>
      </p:sp>
      <p:sp>
        <p:nvSpPr>
          <p:cNvPr id="13" name="กล่องข้อความ 12">
            <a:extLst>
              <a:ext uri="{FF2B5EF4-FFF2-40B4-BE49-F238E27FC236}">
                <a16:creationId xmlns:a16="http://schemas.microsoft.com/office/drawing/2014/main" id="{F06D6982-A163-281E-2A2A-362D7A37DFF6}"/>
              </a:ext>
            </a:extLst>
          </p:cNvPr>
          <p:cNvSpPr txBox="1"/>
          <p:nvPr/>
        </p:nvSpPr>
        <p:spPr>
          <a:xfrm>
            <a:off x="9192491" y="129309"/>
            <a:ext cx="27432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hlinkClick r:id="rId3"/>
              </a:rPr>
              <a:t>กระบวนการชดเชยรายได้-ชดเชยรายได้เคสปกติ As-Is.svg</a:t>
            </a:r>
            <a:endParaRPr lang="en-US"/>
          </a:p>
        </p:txBody>
      </p:sp>
      <p:pic>
        <p:nvPicPr>
          <p:cNvPr id="14" name="กราฟิก 13">
            <a:extLst>
              <a:ext uri="{FF2B5EF4-FFF2-40B4-BE49-F238E27FC236}">
                <a16:creationId xmlns:a16="http://schemas.microsoft.com/office/drawing/2014/main" id="{518607F2-FFA8-797D-5976-AA89738458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95400" y="952858"/>
            <a:ext cx="9666514" cy="5366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3248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CD21B-3725-FFB2-7645-5D57A994D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C5E6417-81D7-B668-5631-043B559E7033}"/>
              </a:ext>
            </a:extLst>
          </p:cNvPr>
          <p:cNvSpPr txBox="1">
            <a:spLocks/>
          </p:cNvSpPr>
          <p:nvPr/>
        </p:nvSpPr>
        <p:spPr bwMode="auto">
          <a:xfrm>
            <a:off x="621254" y="325158"/>
            <a:ext cx="4707486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1.8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 As-Is Business Process</a:t>
            </a:r>
            <a:endParaRPr lang="th-TH" altLang="en-US" b="1" u="sng">
              <a:latin typeface="CordiaUPC"/>
              <a:ea typeface="Tahoma"/>
              <a:cs typeface="CordiaUPC"/>
            </a:endParaRPr>
          </a:p>
        </p:txBody>
      </p:sp>
      <p:sp>
        <p:nvSpPr>
          <p:cNvPr id="2" name="TextBox 11">
            <a:extLst>
              <a:ext uri="{FF2B5EF4-FFF2-40B4-BE49-F238E27FC236}">
                <a16:creationId xmlns:a16="http://schemas.microsoft.com/office/drawing/2014/main" id="{3CA6531D-8D65-3211-470A-4E2AD6468E85}"/>
              </a:ext>
            </a:extLst>
          </p:cNvPr>
          <p:cNvSpPr txBox="1"/>
          <p:nvPr/>
        </p:nvSpPr>
        <p:spPr>
          <a:xfrm>
            <a:off x="424955" y="990368"/>
            <a:ext cx="4761263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b="0" u="sng">
                <a:solidFill>
                  <a:srgbClr val="0070C0"/>
                </a:solidFill>
                <a:latin typeface="Browallia New"/>
                <a:cs typeface="Browallia New"/>
              </a:rPr>
              <a:t>กระบวนการเดิม</a:t>
            </a:r>
            <a:endParaRPr lang="th-TH" b="0" u="sng">
              <a:solidFill>
                <a:srgbClr val="0070C0"/>
              </a:solidFill>
              <a:latin typeface="Browallia New"/>
              <a:ea typeface="Tahoma"/>
              <a:cs typeface="Browallia New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th-TH" b="0">
                <a:latin typeface="Browallia New"/>
                <a:cs typeface="Browallia New"/>
              </a:rPr>
              <a:t>ขั้นตอนมีความซ้ำซ้อน (อนุมัติ </a:t>
            </a:r>
            <a:r>
              <a:rPr lang="en-US" sz="2000" b="0">
                <a:latin typeface="Browallia New"/>
              </a:rPr>
              <a:t>Flow</a:t>
            </a:r>
            <a:r>
              <a:rPr lang="th-TH" b="0">
                <a:latin typeface="Browallia New"/>
                <a:cs typeface="Browallia New"/>
              </a:rPr>
              <a:t>)</a:t>
            </a:r>
            <a:endParaRPr lang="th-TH" sz="2000" b="0">
              <a:latin typeface="Browallia New"/>
              <a:ea typeface="Tahoma"/>
              <a:cs typeface="Browallia New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th-TH" b="0">
                <a:latin typeface="Browallia New"/>
                <a:cs typeface="Browallia New"/>
              </a:rPr>
              <a:t>ใช้เวลารออนุมัติหลายรอบ (วันที่10-20-25-30-วันสิ้นเดือน)</a:t>
            </a:r>
            <a:endParaRPr lang="th-TH" b="0">
              <a:latin typeface="Browallia New"/>
              <a:ea typeface="Tahoma"/>
              <a:cs typeface="Browallia New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th-TH" b="0">
                <a:latin typeface="Browallia New"/>
                <a:cs typeface="Browallia New"/>
              </a:rPr>
              <a:t>ไม่มีระบบอัตโนมัติ  </a:t>
            </a:r>
            <a:endParaRPr lang="th-TH" b="0">
              <a:latin typeface="Browallia New"/>
              <a:ea typeface="Tahoma"/>
              <a:cs typeface="Browallia New"/>
            </a:endParaRPr>
          </a:p>
          <a:p>
            <a:r>
              <a:rPr lang="th-TH" b="0">
                <a:latin typeface="Browallia New"/>
                <a:cs typeface="Browallia New"/>
              </a:rPr>
              <a:t>(ทำงานแบบคำนวณตามสูตรเงื่อนไข </a:t>
            </a:r>
            <a:r>
              <a:rPr lang="en-US" b="0">
                <a:latin typeface="Browallia New"/>
                <a:cs typeface="Browallia New"/>
              </a:rPr>
              <a:t>Manual)</a:t>
            </a:r>
            <a:r>
              <a:rPr lang="en-US" sz="2000" b="0">
                <a:latin typeface="Browallia New"/>
                <a:cs typeface="Browallia New"/>
              </a:rPr>
              <a:t> </a:t>
            </a:r>
            <a:endParaRPr lang="th-TH" sz="2000" b="0">
              <a:latin typeface="Browallia New"/>
              <a:ea typeface="Tahoma"/>
              <a:cs typeface="Browallia New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th-TH" b="0">
                <a:latin typeface="Browallia New"/>
                <a:cs typeface="Browallia New"/>
              </a:rPr>
              <a:t>มีผู้เกี่ยวข้องหลายฝ่าย ทำให้มีการอนุมัติล่าช้า ในการตรวจสอบข้อมูลก่อนปิดบัญชี</a:t>
            </a:r>
            <a:endParaRPr lang="th-TH" b="0">
              <a:latin typeface="Browallia New"/>
              <a:ea typeface="Tahoma"/>
              <a:cs typeface="Browallia New"/>
            </a:endParaRPr>
          </a:p>
        </p:txBody>
      </p:sp>
      <p:grpSp>
        <p:nvGrpSpPr>
          <p:cNvPr id="9" name="กลุ่ม 8">
            <a:extLst>
              <a:ext uri="{FF2B5EF4-FFF2-40B4-BE49-F238E27FC236}">
                <a16:creationId xmlns:a16="http://schemas.microsoft.com/office/drawing/2014/main" id="{D7C32782-2117-9027-A927-FB95EF62154A}"/>
              </a:ext>
            </a:extLst>
          </p:cNvPr>
          <p:cNvGrpSpPr/>
          <p:nvPr/>
        </p:nvGrpSpPr>
        <p:grpSpPr>
          <a:xfrm>
            <a:off x="5187220" y="903799"/>
            <a:ext cx="6702552" cy="2445461"/>
            <a:chOff x="5294376" y="1939643"/>
            <a:chExt cx="6702552" cy="2445461"/>
          </a:xfrm>
        </p:grpSpPr>
        <p:pic>
          <p:nvPicPr>
            <p:cNvPr id="3" name="Picture 15">
              <a:extLst>
                <a:ext uri="{FF2B5EF4-FFF2-40B4-BE49-F238E27FC236}">
                  <a16:creationId xmlns:a16="http://schemas.microsoft.com/office/drawing/2014/main" id="{88130286-5296-056B-303C-8CE2AF3E71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94376" y="1939643"/>
              <a:ext cx="6702552" cy="244546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4" name="Right Brace 17">
              <a:extLst>
                <a:ext uri="{FF2B5EF4-FFF2-40B4-BE49-F238E27FC236}">
                  <a16:creationId xmlns:a16="http://schemas.microsoft.com/office/drawing/2014/main" id="{95339E9C-E0E3-18AD-FF0C-BFC59FC60E46}"/>
                </a:ext>
              </a:extLst>
            </p:cNvPr>
            <p:cNvSpPr/>
            <p:nvPr/>
          </p:nvSpPr>
          <p:spPr>
            <a:xfrm>
              <a:off x="6419088" y="2625110"/>
              <a:ext cx="320040" cy="1591056"/>
            </a:xfrm>
            <a:prstGeom prst="rightBrace">
              <a:avLst>
                <a:gd name="adj1" fmla="val 8333"/>
                <a:gd name="adj2" fmla="val 41954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th-TH"/>
              </a:defPPr>
              <a:lvl1pPr marL="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/>
            </a:p>
          </p:txBody>
        </p:sp>
      </p:grpSp>
      <p:sp>
        <p:nvSpPr>
          <p:cNvPr id="6" name="Rectangle 18">
            <a:extLst>
              <a:ext uri="{FF2B5EF4-FFF2-40B4-BE49-F238E27FC236}">
                <a16:creationId xmlns:a16="http://schemas.microsoft.com/office/drawing/2014/main" id="{427C9EF6-D479-BB24-AD3C-78CFA91AA2CF}"/>
              </a:ext>
            </a:extLst>
          </p:cNvPr>
          <p:cNvSpPr/>
          <p:nvPr/>
        </p:nvSpPr>
        <p:spPr>
          <a:xfrm>
            <a:off x="5221983" y="4394819"/>
            <a:ext cx="7159752" cy="36933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1800" b="1">
                <a:latin typeface="Browallia New"/>
                <a:cs typeface="Browallia New"/>
              </a:rPr>
              <a:t>เงื่อนไข </a:t>
            </a:r>
            <a:r>
              <a:rPr lang="en-US" sz="1800" b="1">
                <a:latin typeface="Browallia New"/>
              </a:rPr>
              <a:t>: </a:t>
            </a:r>
            <a:r>
              <a:rPr lang="th-TH" sz="1800" b="1">
                <a:latin typeface="Browallia New"/>
                <a:cs typeface="Browallia New"/>
              </a:rPr>
              <a:t>ประกันรายได้</a:t>
            </a:r>
            <a:r>
              <a:rPr lang="en-US" sz="1800" b="1">
                <a:latin typeface="Browallia New"/>
              </a:rPr>
              <a:t> </a:t>
            </a:r>
            <a:r>
              <a:rPr lang="th-TH" sz="1800" b="1">
                <a:latin typeface="Browallia New"/>
                <a:cs typeface="Browallia New"/>
              </a:rPr>
              <a:t>ปรับเป้าและชดเชยตามเป้าหมายใหม่ /อยู่ระหว่างปรับเป้า / ต่อสัญญา</a:t>
            </a:r>
          </a:p>
        </p:txBody>
      </p:sp>
      <p:sp>
        <p:nvSpPr>
          <p:cNvPr id="7" name="Rectangle 20">
            <a:extLst>
              <a:ext uri="{FF2B5EF4-FFF2-40B4-BE49-F238E27FC236}">
                <a16:creationId xmlns:a16="http://schemas.microsoft.com/office/drawing/2014/main" id="{EBF1400C-11B5-1938-66DF-4E99DD865074}"/>
              </a:ext>
            </a:extLst>
          </p:cNvPr>
          <p:cNvSpPr/>
          <p:nvPr/>
        </p:nvSpPr>
        <p:spPr>
          <a:xfrm>
            <a:off x="5272679" y="3576510"/>
            <a:ext cx="6919265" cy="5232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&gt;&gt; Flow </a:t>
            </a:r>
            <a:r>
              <a:rPr lang="th-TH" sz="140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จากระบบ </a:t>
            </a:r>
            <a:r>
              <a:rPr lang="en-US" sz="140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K2</a:t>
            </a:r>
            <a:r>
              <a:rPr lang="th-TH" sz="140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ต่อเดือน 150-170 ฉบับ </a:t>
            </a:r>
            <a:r>
              <a:rPr lang="en-US" sz="140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&gt;&gt;</a:t>
            </a:r>
            <a:r>
              <a:rPr lang="th-TH" sz="140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ส่งเสริมอนุมัติ (</a:t>
            </a:r>
            <a:r>
              <a:rPr lang="en-US" sz="140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15</a:t>
            </a:r>
            <a:r>
              <a:rPr lang="th-TH" sz="140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วัน) </a:t>
            </a:r>
            <a:r>
              <a:rPr lang="en-US" sz="140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Up</a:t>
            </a:r>
            <a:endParaRPr lang="th-TH" sz="140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th-TH" sz="140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**  หากปรับกระบวนการได้จะลดเวลาและขั้นตอนได้หมด **</a:t>
            </a: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8B172E11-FCAF-553D-3FAB-A191958BA188}"/>
              </a:ext>
            </a:extLst>
          </p:cNvPr>
          <p:cNvSpPr txBox="1"/>
          <p:nvPr/>
        </p:nvSpPr>
        <p:spPr>
          <a:xfrm>
            <a:off x="424955" y="4616367"/>
            <a:ext cx="6207017" cy="132343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0" u="sng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latin typeface="Browallia New"/>
                <a:ea typeface="Tahoma"/>
                <a:cs typeface="Tahoma"/>
              </a:rPr>
              <a:t>Pain Point </a:t>
            </a:r>
            <a:endParaRPr lang="en-US" sz="2000" b="0" u="sng">
              <a:ln w="0"/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highlight>
                <a:srgbClr val="FFFF00"/>
              </a:highlight>
              <a:latin typeface="Browallia New"/>
              <a:ea typeface="Tahoma"/>
              <a:cs typeface="Tahoma"/>
            </a:endParaRPr>
          </a:p>
          <a:p>
            <a:r>
              <a:rPr lang="en-US" sz="2000" b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latin typeface="Browallia New"/>
                <a:ea typeface="Tahoma"/>
                <a:cs typeface="Tahoma"/>
              </a:rPr>
              <a:t>1.</a:t>
            </a:r>
            <a:r>
              <a:rPr lang="th-TH" sz="2000" b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latin typeface="Browallia New"/>
                <a:ea typeface="Tahoma"/>
                <a:cs typeface="Browallia New"/>
              </a:rPr>
              <a:t>ลดการอนุมัติ </a:t>
            </a:r>
            <a:r>
              <a:rPr lang="en-US" sz="2000" b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latin typeface="Browallia New"/>
                <a:ea typeface="Tahoma"/>
                <a:cs typeface="Tahoma"/>
              </a:rPr>
              <a:t>Flow K2 </a:t>
            </a:r>
            <a:endParaRPr lang="en-US" sz="2000" b="0">
              <a:ln w="0"/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highlight>
                <a:srgbClr val="FFFF00"/>
              </a:highlight>
              <a:latin typeface="Browallia New"/>
              <a:ea typeface="Tahoma"/>
              <a:cs typeface="Tahoma"/>
            </a:endParaRPr>
          </a:p>
          <a:p>
            <a:r>
              <a:rPr lang="en-US" sz="2000" b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latin typeface="Browallia New"/>
                <a:ea typeface="Tahoma"/>
                <a:cs typeface="Tahoma"/>
              </a:rPr>
              <a:t>2.</a:t>
            </a:r>
            <a:r>
              <a:rPr lang="th-TH" sz="2000" b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latin typeface="Browallia New"/>
                <a:ea typeface="Tahoma"/>
                <a:cs typeface="Tahoma"/>
              </a:rPr>
              <a:t> </a:t>
            </a:r>
            <a:r>
              <a:rPr lang="th-TH" sz="2000" b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latin typeface="Browallia New"/>
                <a:ea typeface="Tahoma"/>
                <a:cs typeface="Browallia New"/>
              </a:rPr>
              <a:t>อยากให้ได้ข้อมูลที่ดึงรายงานมาจากระบบ กระทบยอดแต่ละสาขาถูกต้องครบถ้วน</a:t>
            </a:r>
            <a:endParaRPr lang="th-TH" sz="2000" b="0">
              <a:ln w="0"/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highlight>
                <a:srgbClr val="FFFF00"/>
              </a:highlight>
              <a:latin typeface="Browallia New"/>
              <a:ea typeface="Tahoma"/>
              <a:cs typeface="Browallia New"/>
            </a:endParaRPr>
          </a:p>
          <a:p>
            <a:r>
              <a:rPr lang="th-TH" sz="2000" b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latin typeface="Browallia New"/>
                <a:ea typeface="Tahoma"/>
                <a:cs typeface="Browallia New"/>
              </a:rPr>
              <a:t>3. ส่งต่อข้อมูลให้ </a:t>
            </a:r>
            <a:r>
              <a:rPr lang="en-US" sz="2000" b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latin typeface="Browallia New"/>
                <a:ea typeface="Tahoma"/>
                <a:cs typeface="Tahoma"/>
              </a:rPr>
              <a:t>RPA  </a:t>
            </a:r>
            <a:r>
              <a:rPr lang="th-TH" sz="2000" b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latin typeface="Browallia New"/>
                <a:ea typeface="Tahoma"/>
                <a:cs typeface="Browallia New"/>
              </a:rPr>
              <a:t>ดำเนินการกระทบยอดบันทึกบัญชี  ในการปิดงบประจำเดือน</a:t>
            </a:r>
            <a:endParaRPr lang="th-TH" sz="2000" b="0">
              <a:ln w="0"/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highlight>
                <a:srgbClr val="FFFF00"/>
              </a:highlight>
              <a:latin typeface="Browallia New"/>
              <a:ea typeface="Tahoma"/>
              <a:cs typeface="Browallia New"/>
            </a:endParaRPr>
          </a:p>
        </p:txBody>
      </p: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3E6521D9-96B8-9252-3C89-2D3D3BC74552}"/>
              </a:ext>
            </a:extLst>
          </p:cNvPr>
          <p:cNvSpPr txBox="1"/>
          <p:nvPr/>
        </p:nvSpPr>
        <p:spPr>
          <a:xfrm>
            <a:off x="9770853" y="-5751"/>
            <a:ext cx="274320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hlinkClick r:id="rId4"/>
              </a:rPr>
              <a:t>1.Flow ประกันรายได้ (18.08.2568) ปรับกระบวนการ1 (1).pptx</a:t>
            </a:r>
            <a:endParaRPr lang="en-US"/>
          </a:p>
        </p:txBody>
      </p:sp>
      <p:sp>
        <p:nvSpPr>
          <p:cNvPr id="11" name="กล่องข้อความ 10">
            <a:extLst>
              <a:ext uri="{FF2B5EF4-FFF2-40B4-BE49-F238E27FC236}">
                <a16:creationId xmlns:a16="http://schemas.microsoft.com/office/drawing/2014/main" id="{F471D8C9-E8C9-781F-B481-7D6AC57F2A49}"/>
              </a:ext>
            </a:extLst>
          </p:cNvPr>
          <p:cNvSpPr txBox="1"/>
          <p:nvPr/>
        </p:nvSpPr>
        <p:spPr>
          <a:xfrm>
            <a:off x="8959546" y="2854277"/>
            <a:ext cx="1616955" cy="3515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h-TH">
                <a:solidFill>
                  <a:srgbClr val="FF0000"/>
                </a:solidFill>
                <a:latin typeface="CordiaUPC"/>
                <a:cs typeface="CordiaUPC"/>
              </a:rPr>
              <a:t>RPA ดำเนินการ</a:t>
            </a:r>
          </a:p>
        </p:txBody>
      </p:sp>
      <p:sp>
        <p:nvSpPr>
          <p:cNvPr id="12" name="กล่องข้อความ 11">
            <a:extLst>
              <a:ext uri="{FF2B5EF4-FFF2-40B4-BE49-F238E27FC236}">
                <a16:creationId xmlns:a16="http://schemas.microsoft.com/office/drawing/2014/main" id="{EA011ED1-6AAC-8E30-A2D3-A13730871591}"/>
              </a:ext>
            </a:extLst>
          </p:cNvPr>
          <p:cNvSpPr txBox="1"/>
          <p:nvPr/>
        </p:nvSpPr>
        <p:spPr>
          <a:xfrm>
            <a:off x="5272679" y="2868337"/>
            <a:ext cx="3529180" cy="4499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857091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3E687-BE2B-5AF0-F5D5-AD549B46B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4432300-EDE7-D977-846E-43F34B993197}"/>
              </a:ext>
            </a:extLst>
          </p:cNvPr>
          <p:cNvSpPr txBox="1">
            <a:spLocks/>
          </p:cNvSpPr>
          <p:nvPr/>
        </p:nvSpPr>
        <p:spPr bwMode="auto">
          <a:xfrm>
            <a:off x="621254" y="325158"/>
            <a:ext cx="4707486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1.8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 As-Is Business Process</a:t>
            </a:r>
            <a:endParaRPr lang="th-TH" altLang="en-US" b="1" u="sng">
              <a:latin typeface="CordiaUPC"/>
              <a:ea typeface="Tahoma"/>
              <a:cs typeface="CordiaUPC"/>
            </a:endParaRPr>
          </a:p>
        </p:txBody>
      </p: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8A86C9DE-6539-9408-EE21-995EE1DDFA4A}"/>
              </a:ext>
            </a:extLst>
          </p:cNvPr>
          <p:cNvSpPr txBox="1"/>
          <p:nvPr/>
        </p:nvSpPr>
        <p:spPr>
          <a:xfrm>
            <a:off x="619710" y="1098303"/>
            <a:ext cx="641903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h-TH" sz="2000" u="sng">
                <a:latin typeface="Browallia New"/>
                <a:cs typeface="Browallia New"/>
              </a:rPr>
              <a:t>ตัวอย่าง</a:t>
            </a:r>
            <a:r>
              <a:rPr lang="th-TH" sz="2000" u="sng" err="1">
                <a:latin typeface="Browallia New"/>
                <a:cs typeface="Browallia New"/>
              </a:rPr>
              <a:t>เมลล์</a:t>
            </a:r>
            <a:r>
              <a:rPr lang="th-TH" sz="2000" u="sng">
                <a:latin typeface="Browallia New"/>
                <a:cs typeface="Browallia New"/>
              </a:rPr>
              <a:t> RPA ดึงข้อมูลและ</a:t>
            </a:r>
            <a:r>
              <a:rPr lang="th-TH" sz="2000" u="sng" err="1">
                <a:latin typeface="Browallia New"/>
                <a:cs typeface="Browallia New"/>
              </a:rPr>
              <a:t>Approve</a:t>
            </a:r>
            <a:r>
              <a:rPr lang="th-TH" sz="2000" u="sng">
                <a:latin typeface="Browallia New"/>
                <a:cs typeface="Browallia New"/>
              </a:rPr>
              <a:t>ยอดชดเชยรายได้จาก K2 ให้กับทีมบัญชี</a:t>
            </a:r>
          </a:p>
        </p:txBody>
      </p:sp>
      <p:pic>
        <p:nvPicPr>
          <p:cNvPr id="12" name="รูปภาพ 11" descr="รูปภาพประกอบด้วย ข้อความ, ภาพหน้าจอ, ซอฟต์แวร์, หน้าเว็บ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ECD247C1-0B69-A68F-C111-EF36747CB2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2335"/>
            <a:ext cx="12192000" cy="3213330"/>
          </a:xfrm>
          <a:prstGeom prst="rect">
            <a:avLst/>
          </a:prstGeom>
        </p:spPr>
      </p:pic>
      <p:sp>
        <p:nvSpPr>
          <p:cNvPr id="14" name="กล่องข้อความ 13">
            <a:extLst>
              <a:ext uri="{FF2B5EF4-FFF2-40B4-BE49-F238E27FC236}">
                <a16:creationId xmlns:a16="http://schemas.microsoft.com/office/drawing/2014/main" id="{890C6A4F-1752-3376-F6CC-74040DCEF687}"/>
              </a:ext>
            </a:extLst>
          </p:cNvPr>
          <p:cNvSpPr txBox="1"/>
          <p:nvPr/>
        </p:nvSpPr>
        <p:spPr>
          <a:xfrm>
            <a:off x="9857117" y="166777"/>
            <a:ext cx="27432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hlinkClick r:id="rId4"/>
              </a:rPr>
              <a:t>รายละเอียดงานที่ทำ RPA.xlsx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7862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E977B-8140-CFD1-6874-07BCC84C1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DFB372E-17E4-935C-B23E-CB33A8D5CF2C}"/>
              </a:ext>
            </a:extLst>
          </p:cNvPr>
          <p:cNvSpPr txBox="1">
            <a:spLocks/>
          </p:cNvSpPr>
          <p:nvPr/>
        </p:nvSpPr>
        <p:spPr bwMode="auto">
          <a:xfrm>
            <a:off x="621254" y="325158"/>
            <a:ext cx="4707486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1.8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 As-Is Business Process</a:t>
            </a:r>
            <a:endParaRPr lang="th-TH" altLang="en-US" b="1" u="sng">
              <a:latin typeface="CordiaUPC"/>
              <a:ea typeface="Tahoma"/>
              <a:cs typeface="CordiaUPC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8A719CFD-C139-B046-1D2A-0364CC6B6F63}"/>
              </a:ext>
            </a:extLst>
          </p:cNvPr>
          <p:cNvSpPr/>
          <p:nvPr/>
        </p:nvSpPr>
        <p:spPr>
          <a:xfrm>
            <a:off x="251693" y="790285"/>
            <a:ext cx="6674024" cy="5539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lIns="91440" tIns="45720" rIns="91440" bIns="45720" anchor="t"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th-TH" sz="3000" b="0" cap="none" spc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owallia New"/>
                <a:cs typeface="Browallia New"/>
              </a:rPr>
              <a:t>รายงานบัญชี</a:t>
            </a:r>
            <a:r>
              <a:rPr lang="th-TH" sz="30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owallia New"/>
                <a:cs typeface="Browallia New"/>
              </a:rPr>
              <a:t> ที่ใช้ เปรียบเทียบข้อมูล</a:t>
            </a:r>
            <a:endParaRPr lang="en-US" sz="3000" cap="none" spc="0">
              <a:ln w="0"/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Browallia New"/>
            </a:endParaRP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C0FBA623-0289-DFB7-7623-283DC3B2CD9B}"/>
              </a:ext>
            </a:extLst>
          </p:cNvPr>
          <p:cNvSpPr txBox="1"/>
          <p:nvPr/>
        </p:nvSpPr>
        <p:spPr>
          <a:xfrm>
            <a:off x="261634" y="1406793"/>
            <a:ext cx="6096000" cy="461665"/>
          </a:xfrm>
          <a:prstGeom prst="rect">
            <a:avLst/>
          </a:prstGeom>
          <a:solidFill>
            <a:schemeClr val="tx2"/>
          </a:solidFill>
        </p:spPr>
        <p:txBody>
          <a:bodyPr wrap="square" lIns="91440" tIns="45720" rIns="91440" bIns="45720" anchor="t"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2400" b="0" cap="none" spc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owallia New"/>
                <a:cs typeface="Browallia New"/>
              </a:rPr>
              <a:t>รายงาน</a:t>
            </a:r>
            <a:r>
              <a:rPr lang="th-TH" sz="240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owallia New"/>
                <a:cs typeface="Browallia New"/>
              </a:rPr>
              <a:t>จาก </a:t>
            </a:r>
            <a:r>
              <a:rPr lang="en-US" sz="240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owallia New"/>
              </a:rPr>
              <a:t>&gt;</a:t>
            </a:r>
            <a:r>
              <a:rPr lang="th-TH" sz="2400" b="0" cap="none" spc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owallia New"/>
                <a:cs typeface="Browallia New"/>
              </a:rPr>
              <a:t> </a:t>
            </a:r>
            <a:r>
              <a:rPr lang="th-TH" sz="2400" b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owallia New"/>
                <a:cs typeface="Browallia New"/>
              </a:rPr>
              <a:t>SBP Mall</a:t>
            </a:r>
            <a:endParaRPr lang="en-US" sz="2400">
              <a:ln w="0"/>
              <a:solidFill>
                <a:schemeClr val="bg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Browallia New"/>
            </a:endParaRPr>
          </a:p>
        </p:txBody>
      </p:sp>
      <p:pic>
        <p:nvPicPr>
          <p:cNvPr id="13" name="Picture 9">
            <a:extLst>
              <a:ext uri="{FF2B5EF4-FFF2-40B4-BE49-F238E27FC236}">
                <a16:creationId xmlns:a16="http://schemas.microsoft.com/office/drawing/2014/main" id="{BD32E040-AE29-CCC9-D346-377FE77DEB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728" y="4373840"/>
            <a:ext cx="11741753" cy="2425825"/>
          </a:xfrm>
          <a:prstGeom prst="rect">
            <a:avLst/>
          </a:prstGeom>
        </p:spPr>
      </p:pic>
      <p:sp>
        <p:nvSpPr>
          <p:cNvPr id="14" name="TextBox 10">
            <a:extLst>
              <a:ext uri="{FF2B5EF4-FFF2-40B4-BE49-F238E27FC236}">
                <a16:creationId xmlns:a16="http://schemas.microsoft.com/office/drawing/2014/main" id="{886ED8CD-DC64-1D28-D3CA-CDBE87DA3752}"/>
              </a:ext>
            </a:extLst>
          </p:cNvPr>
          <p:cNvSpPr txBox="1"/>
          <p:nvPr/>
        </p:nvSpPr>
        <p:spPr>
          <a:xfrm>
            <a:off x="249728" y="3850620"/>
            <a:ext cx="6096000" cy="461665"/>
          </a:xfrm>
          <a:prstGeom prst="rect">
            <a:avLst/>
          </a:prstGeom>
          <a:solidFill>
            <a:schemeClr val="tx2"/>
          </a:solidFill>
        </p:spPr>
        <p:txBody>
          <a:bodyPr wrap="square" lIns="91440" tIns="45720" rIns="91440" bIns="45720" anchor="t"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2400" cap="none" spc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owallia New"/>
                <a:cs typeface="Browallia New"/>
              </a:rPr>
              <a:t>รายงาน</a:t>
            </a:r>
            <a:r>
              <a:rPr lang="th-TH" sz="240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owallia New"/>
                <a:cs typeface="Browallia New"/>
              </a:rPr>
              <a:t>จาก </a:t>
            </a:r>
            <a:r>
              <a:rPr lang="en-US" sz="240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owallia New"/>
              </a:rPr>
              <a:t>&gt;</a:t>
            </a:r>
            <a:r>
              <a:rPr lang="th-TH" sz="2400" cap="none" spc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owallia New"/>
                <a:cs typeface="Browallia New"/>
              </a:rPr>
              <a:t> </a:t>
            </a:r>
            <a:r>
              <a:rPr lang="en-US" sz="2400" cap="none" spc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owallia New"/>
              </a:rPr>
              <a:t>SAP</a:t>
            </a:r>
            <a:r>
              <a:rPr lang="en-US" sz="240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owallia New"/>
              </a:rPr>
              <a:t> </a:t>
            </a:r>
            <a:endParaRPr lang="en-US" sz="2400">
              <a:ln w="0"/>
              <a:solidFill>
                <a:schemeClr val="bg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Browallia New"/>
            </a:endParaRP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C8AD33A6-02F8-BCDC-AAA9-084E4775C4A7}"/>
              </a:ext>
            </a:extLst>
          </p:cNvPr>
          <p:cNvSpPr txBox="1"/>
          <p:nvPr/>
        </p:nvSpPr>
        <p:spPr>
          <a:xfrm>
            <a:off x="7909928" y="820735"/>
            <a:ext cx="3927325" cy="132343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2800" b="0" cap="none" spc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diaUPC"/>
                <a:cs typeface="CordiaUPC"/>
              </a:rPr>
              <a:t>2 รายงานกระทบกันไม่ให้ข้อมูล </a:t>
            </a:r>
            <a:r>
              <a:rPr lang="en-US" sz="2800" b="0" cap="none" spc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diaUPC"/>
              </a:rPr>
              <a:t>Diff</a:t>
            </a:r>
            <a:endParaRPr lang="en-US" sz="2800" b="0" cap="none" spc="0">
              <a:ln w="0"/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CordiaUPC"/>
            </a:endParaRPr>
          </a:p>
          <a:p>
            <a:r>
              <a:rPr lang="en-US" sz="2400" b="0">
                <a:ln w="0"/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ordiaUPC"/>
                <a:cs typeface="Browallia New"/>
              </a:rPr>
              <a:t>(ทีมบัญชีดึงข้อมูล เพื่อเทียบข้อมูลเอง)</a:t>
            </a:r>
          </a:p>
          <a:p>
            <a:endParaRPr lang="en-US" b="0">
              <a:ln w="0"/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Browallia New"/>
            </a:endParaRPr>
          </a:p>
        </p:txBody>
      </p:sp>
      <p:pic>
        <p:nvPicPr>
          <p:cNvPr id="2" name="รูปภาพ 1" descr="รูปภาพประกอบด้วย ข้อความ, ภาพหน้าจอ, ตัวอักษร, ไลน์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ED277B5D-7C9F-E2FE-B5F2-E38DA01776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3563" y="1864880"/>
            <a:ext cx="8524875" cy="1985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0361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0FF26-E316-CAB4-F227-00005EBF6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B988A18-C509-CD25-EDAD-68EA16264A30}"/>
              </a:ext>
            </a:extLst>
          </p:cNvPr>
          <p:cNvSpPr txBox="1">
            <a:spLocks/>
          </p:cNvSpPr>
          <p:nvPr/>
        </p:nvSpPr>
        <p:spPr bwMode="auto">
          <a:xfrm>
            <a:off x="357670" y="76469"/>
            <a:ext cx="4707486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1.8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 As-Is Business Process</a:t>
            </a:r>
            <a:endParaRPr lang="th-TH" altLang="en-US" b="1" u="sng">
              <a:latin typeface="CordiaUPC"/>
              <a:ea typeface="Tahoma"/>
              <a:cs typeface="CordiaUPC"/>
            </a:endParaRP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60894821-D657-606C-ADC1-4B4E34E5763D}"/>
              </a:ext>
            </a:extLst>
          </p:cNvPr>
          <p:cNvSpPr/>
          <p:nvPr/>
        </p:nvSpPr>
        <p:spPr>
          <a:xfrm>
            <a:off x="425267" y="1134336"/>
            <a:ext cx="2805576" cy="369332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1800" u="sng">
                <a:solidFill>
                  <a:srgbClr val="00B050"/>
                </a:solidFill>
                <a:latin typeface="Tahoma"/>
                <a:ea typeface="Tahoma"/>
                <a:cs typeface="Tahoma"/>
              </a:rPr>
              <a:t>บัญชี</a:t>
            </a:r>
            <a:r>
              <a:rPr lang="th-TH" sz="1800" b="1" u="sng">
                <a:solidFill>
                  <a:srgbClr val="00B050"/>
                </a:solidFill>
                <a:latin typeface="Tahoma"/>
                <a:ea typeface="Tahoma"/>
                <a:cs typeface="Tahoma"/>
              </a:rPr>
              <a:t>ดำเนินการ</a:t>
            </a:r>
            <a:r>
              <a:rPr lang="th-TH" sz="1800" u="sng">
                <a:solidFill>
                  <a:srgbClr val="00B050"/>
                </a:solidFill>
                <a:latin typeface="Tahoma"/>
                <a:ea typeface="Tahoma"/>
                <a:cs typeface="Tahoma"/>
              </a:rPr>
              <a:t>ตรวจสอบ</a:t>
            </a:r>
            <a:endParaRPr lang="th-TH" sz="1800" b="1" u="sng">
              <a:solidFill>
                <a:srgbClr val="00B05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45AB3056-7D94-2A3D-D182-A92ED2240B2D}"/>
              </a:ext>
            </a:extLst>
          </p:cNvPr>
          <p:cNvSpPr/>
          <p:nvPr/>
        </p:nvSpPr>
        <p:spPr>
          <a:xfrm>
            <a:off x="1302818" y="3498337"/>
            <a:ext cx="5915765" cy="5084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latin typeface="Browallia New"/>
                <a:ea typeface="Tahoma"/>
                <a:cs typeface="Tahoma"/>
              </a:rPr>
              <a:t>1. </a:t>
            </a:r>
            <a:r>
              <a:rPr lang="th-TH" sz="1600">
                <a:latin typeface="Browallia New"/>
                <a:ea typeface="Tahoma"/>
                <a:cs typeface="Browallia New"/>
              </a:rPr>
              <a:t>ตรวจสอบยอดเงินคำนวณ 3 จุดตรงคำนวณตรงกัน</a:t>
            </a:r>
            <a:endParaRPr lang="en-US" sz="1600">
              <a:latin typeface="Browallia New"/>
              <a:ea typeface="Tahoma"/>
              <a:cs typeface="Browallia New"/>
            </a:endParaRPr>
          </a:p>
          <a:p>
            <a:r>
              <a:rPr lang="en-US" sz="1600">
                <a:latin typeface="Browallia New"/>
                <a:ea typeface="Tahoma"/>
                <a:cs typeface="Tahoma"/>
              </a:rPr>
              <a:t>2. </a:t>
            </a:r>
            <a:r>
              <a:rPr lang="th-TH" sz="1600">
                <a:latin typeface="Browallia New"/>
                <a:ea typeface="Tahoma"/>
                <a:cs typeface="Browallia New"/>
              </a:rPr>
              <a:t>ตรวจสอบ</a:t>
            </a:r>
            <a:r>
              <a:rPr lang="en-US" sz="1600">
                <a:latin typeface="Browallia New"/>
                <a:ea typeface="Tahoma"/>
                <a:cs typeface="Tahoma"/>
              </a:rPr>
              <a:t>Performance Index </a:t>
            </a:r>
            <a:r>
              <a:rPr lang="th-TH" sz="1600">
                <a:solidFill>
                  <a:srgbClr val="242424"/>
                </a:solidFill>
                <a:effectLst/>
                <a:latin typeface="Browallia New"/>
                <a:ea typeface="Tahoma"/>
                <a:cs typeface="Browallia New"/>
              </a:rPr>
              <a:t>ข้อมูลคะแนนมาตรฐาน มาจาก </a:t>
            </a:r>
            <a:r>
              <a:rPr lang="en-US" sz="1600">
                <a:solidFill>
                  <a:srgbClr val="242424"/>
                </a:solidFill>
                <a:latin typeface="Browallia New"/>
                <a:ea typeface="Tahoma"/>
                <a:cs typeface="Tahoma"/>
              </a:rPr>
              <a:t>QSSI </a:t>
            </a:r>
          </a:p>
        </p:txBody>
      </p:sp>
      <p:sp>
        <p:nvSpPr>
          <p:cNvPr id="8" name="Rectangle 20">
            <a:extLst>
              <a:ext uri="{FF2B5EF4-FFF2-40B4-BE49-F238E27FC236}">
                <a16:creationId xmlns:a16="http://schemas.microsoft.com/office/drawing/2014/main" id="{E93659BF-EC36-7625-653A-E2B3FD887AC8}"/>
              </a:ext>
            </a:extLst>
          </p:cNvPr>
          <p:cNvSpPr/>
          <p:nvPr/>
        </p:nvSpPr>
        <p:spPr>
          <a:xfrm>
            <a:off x="1302818" y="5021443"/>
            <a:ext cx="4823951" cy="107721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latin typeface="Browallia New"/>
                <a:ea typeface="Tahoma"/>
                <a:cs typeface="Tahoma"/>
              </a:rPr>
              <a:t>3.</a:t>
            </a:r>
            <a:r>
              <a:rPr lang="th-TH" sz="1600">
                <a:latin typeface="Browallia New"/>
                <a:ea typeface="Tahoma"/>
                <a:cs typeface="Browallia New"/>
              </a:rPr>
              <a:t> ตรวจสอบสาขาที่ถูกกระทบ และ สาขาที่เปิดใกล้เคียง</a:t>
            </a:r>
          </a:p>
          <a:p>
            <a:r>
              <a:rPr lang="th-TH" sz="1600">
                <a:latin typeface="Browallia New"/>
                <a:ea typeface="Tahoma"/>
                <a:cs typeface="Browallia New"/>
              </a:rPr>
              <a:t>4. ตรวจสอบเพิ่มกรณีที่เป็นร้าน </a:t>
            </a:r>
            <a:r>
              <a:rPr lang="en-US" sz="1600">
                <a:latin typeface="Browallia New"/>
                <a:ea typeface="Tahoma"/>
                <a:cs typeface="Tahoma"/>
              </a:rPr>
              <a:t>Take</a:t>
            </a:r>
            <a:r>
              <a:rPr lang="th-TH" sz="1600">
                <a:latin typeface="Browallia New"/>
                <a:ea typeface="Tahoma"/>
                <a:cs typeface="Browallia New"/>
              </a:rPr>
              <a:t> </a:t>
            </a:r>
            <a:r>
              <a:rPr lang="en-US" sz="1600">
                <a:latin typeface="Browallia New"/>
                <a:ea typeface="Tahoma"/>
                <a:cs typeface="Tahoma"/>
              </a:rPr>
              <a:t>“</a:t>
            </a:r>
            <a:r>
              <a:rPr lang="th-TH" sz="1600">
                <a:latin typeface="Browallia New"/>
                <a:ea typeface="Tahoma"/>
                <a:cs typeface="Browallia New"/>
              </a:rPr>
              <a:t>สาขาที่ถูกกระทบ </a:t>
            </a:r>
            <a:r>
              <a:rPr lang="en-US" sz="1600">
                <a:latin typeface="Browallia New"/>
                <a:ea typeface="Tahoma"/>
                <a:cs typeface="Tahoma"/>
              </a:rPr>
              <a:t>“</a:t>
            </a:r>
            <a:endParaRPr lang="th-TH" sz="1600">
              <a:latin typeface="Browallia New"/>
              <a:ea typeface="Tahoma"/>
              <a:cs typeface="Tahoma"/>
            </a:endParaRPr>
          </a:p>
          <a:p>
            <a:r>
              <a:rPr lang="th-TH" sz="1600">
                <a:latin typeface="Browallia New"/>
                <a:ea typeface="Tahoma"/>
                <a:cs typeface="Browallia New"/>
              </a:rPr>
              <a:t>5. </a:t>
            </a:r>
            <a:r>
              <a:rPr lang="en-US" sz="1600">
                <a:latin typeface="Browallia New"/>
                <a:ea typeface="Tahoma"/>
                <a:cs typeface="Tahoma"/>
              </a:rPr>
              <a:t>Center </a:t>
            </a:r>
            <a:r>
              <a:rPr lang="th-TH" sz="1600">
                <a:latin typeface="Browallia New"/>
                <a:ea typeface="Tahoma"/>
                <a:cs typeface="Browallia New"/>
              </a:rPr>
              <a:t>ตรวจสอบจากรายงานประกันรายได้จากระบบ </a:t>
            </a:r>
            <a:r>
              <a:rPr lang="en-US" sz="1600">
                <a:latin typeface="Browallia New"/>
                <a:ea typeface="Tahoma"/>
                <a:cs typeface="Tahoma"/>
              </a:rPr>
              <a:t>K2 </a:t>
            </a:r>
            <a:endParaRPr lang="th-TH" sz="1600">
              <a:latin typeface="Browallia New"/>
              <a:ea typeface="Tahoma"/>
              <a:cs typeface="Tahoma"/>
            </a:endParaRPr>
          </a:p>
          <a:p>
            <a:r>
              <a:rPr lang="th-TH" sz="1600">
                <a:latin typeface="Browallia New"/>
                <a:ea typeface="Tahoma"/>
                <a:cs typeface="Browallia New"/>
              </a:rPr>
              <a:t>    กระทบยอดกับ </a:t>
            </a:r>
            <a:r>
              <a:rPr lang="en-US" sz="1600">
                <a:latin typeface="Browallia New"/>
                <a:ea typeface="Tahoma"/>
                <a:cs typeface="Tahoma"/>
              </a:rPr>
              <a:t>SAP </a:t>
            </a:r>
            <a:r>
              <a:rPr lang="th-TH" sz="1600">
                <a:latin typeface="Browallia New"/>
                <a:ea typeface="Tahoma"/>
                <a:cs typeface="Browallia New"/>
              </a:rPr>
              <a:t>และ </a:t>
            </a:r>
            <a:r>
              <a:rPr lang="en-US" sz="1600">
                <a:latin typeface="Browallia New"/>
                <a:ea typeface="Tahoma"/>
                <a:cs typeface="Tahoma"/>
              </a:rPr>
              <a:t>Post </a:t>
            </a:r>
            <a:r>
              <a:rPr lang="th-TH" sz="1600">
                <a:latin typeface="Browallia New"/>
                <a:ea typeface="Tahoma"/>
                <a:cs typeface="Browallia New"/>
              </a:rPr>
              <a:t>คู่ </a:t>
            </a:r>
            <a:r>
              <a:rPr lang="en-US" sz="1600">
                <a:latin typeface="Browallia New"/>
                <a:ea typeface="Tahoma"/>
                <a:cs typeface="Tahoma"/>
              </a:rPr>
              <a:t>Acc </a:t>
            </a:r>
            <a:r>
              <a:rPr lang="th-TH" sz="1600">
                <a:latin typeface="Browallia New"/>
                <a:ea typeface="Tahoma"/>
                <a:cs typeface="Browallia New"/>
              </a:rPr>
              <a:t>ถูกต้อง</a:t>
            </a:r>
            <a:r>
              <a:rPr lang="en-US" sz="1600">
                <a:latin typeface="Browallia New"/>
                <a:ea typeface="Tahoma"/>
                <a:cs typeface="Tahoma"/>
              </a:rPr>
              <a:t> </a:t>
            </a:r>
            <a:endParaRPr lang="en-US" sz="1800">
              <a:solidFill>
                <a:srgbClr val="242424"/>
              </a:solidFill>
              <a:latin typeface="Browallia New"/>
              <a:ea typeface="Tahoma"/>
              <a:cs typeface="Tahoma"/>
            </a:endParaRPr>
          </a:p>
        </p:txBody>
      </p:sp>
      <p:pic>
        <p:nvPicPr>
          <p:cNvPr id="12" name="Picture 26">
            <a:extLst>
              <a:ext uri="{FF2B5EF4-FFF2-40B4-BE49-F238E27FC236}">
                <a16:creationId xmlns:a16="http://schemas.microsoft.com/office/drawing/2014/main" id="{333E9F9F-657B-3ECB-57AE-99508CD00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523" y="4054408"/>
            <a:ext cx="3297722" cy="963783"/>
          </a:xfrm>
          <a:prstGeom prst="rect">
            <a:avLst/>
          </a:prstGeom>
        </p:spPr>
      </p:pic>
      <p:sp>
        <p:nvSpPr>
          <p:cNvPr id="13" name="Rectangle 14">
            <a:extLst>
              <a:ext uri="{FF2B5EF4-FFF2-40B4-BE49-F238E27FC236}">
                <a16:creationId xmlns:a16="http://schemas.microsoft.com/office/drawing/2014/main" id="{E8C8793F-EE72-822A-7E07-490960234DF2}"/>
              </a:ext>
            </a:extLst>
          </p:cNvPr>
          <p:cNvSpPr/>
          <p:nvPr/>
        </p:nvSpPr>
        <p:spPr>
          <a:xfrm>
            <a:off x="1304649" y="6100725"/>
            <a:ext cx="5915765" cy="722580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anchor="t"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1600" b="1" u="sng">
                <a:solidFill>
                  <a:srgbClr val="FF0000"/>
                </a:solidFill>
                <a:latin typeface="Browallia New"/>
                <a:ea typeface="Tahoma"/>
                <a:cs typeface="Browallia New"/>
              </a:rPr>
              <a:t>กรณีที่ยอดไม่ตรง </a:t>
            </a:r>
            <a:endParaRPr lang="en-US" sz="1600" b="1" u="sng">
              <a:solidFill>
                <a:srgbClr val="FF0000"/>
              </a:solidFill>
              <a:latin typeface="Browallia New"/>
              <a:ea typeface="Tahoma"/>
              <a:cs typeface="Browallia New"/>
            </a:endParaRPr>
          </a:p>
          <a:p>
            <a:r>
              <a:rPr lang="en-US" sz="1600">
                <a:latin typeface="Browallia New"/>
                <a:ea typeface="Tahoma"/>
                <a:cs typeface="Tahoma"/>
              </a:rPr>
              <a:t>1. </a:t>
            </a:r>
            <a:r>
              <a:rPr lang="th-TH" sz="1600">
                <a:latin typeface="Browallia New"/>
                <a:ea typeface="Tahoma"/>
                <a:cs typeface="Browallia New"/>
              </a:rPr>
              <a:t>เนื่องจากระบบ </a:t>
            </a:r>
            <a:r>
              <a:rPr lang="en-US" sz="1600">
                <a:latin typeface="Browallia New"/>
                <a:ea typeface="Tahoma"/>
                <a:cs typeface="Tahoma"/>
              </a:rPr>
              <a:t>K2 </a:t>
            </a:r>
            <a:r>
              <a:rPr lang="th-TH" sz="1600">
                <a:latin typeface="Browallia New"/>
                <a:ea typeface="Tahoma"/>
                <a:cs typeface="Browallia New"/>
              </a:rPr>
              <a:t>คำนวณจำนวนที่ชดเชย ไม่ตรงตาม </a:t>
            </a:r>
            <a:r>
              <a:rPr lang="en-US" sz="1600">
                <a:latin typeface="Browallia New"/>
                <a:ea typeface="Tahoma"/>
                <a:cs typeface="Tahoma"/>
              </a:rPr>
              <a:t>File PDF</a:t>
            </a:r>
          </a:p>
          <a:p>
            <a:r>
              <a:rPr lang="en-US" sz="1600">
                <a:latin typeface="Browallia New"/>
                <a:ea typeface="Tahoma"/>
                <a:cs typeface="Tahoma"/>
              </a:rPr>
              <a:t>2. </a:t>
            </a:r>
            <a:r>
              <a:rPr lang="th-TH" sz="1600">
                <a:latin typeface="Browallia New"/>
                <a:ea typeface="Tahoma"/>
                <a:cs typeface="Browallia New"/>
              </a:rPr>
              <a:t>เนื่องจากต้นทางแจ้งข้อมูลไม่ถูกต้องและครบถ้วน</a:t>
            </a:r>
            <a:endParaRPr lang="en-US" sz="1600">
              <a:solidFill>
                <a:srgbClr val="242424"/>
              </a:solidFill>
              <a:latin typeface="Browallia New"/>
              <a:ea typeface="Tahoma"/>
              <a:cs typeface="Browallia New"/>
            </a:endParaRPr>
          </a:p>
        </p:txBody>
      </p:sp>
      <p:grpSp>
        <p:nvGrpSpPr>
          <p:cNvPr id="20" name="กลุ่ม 19">
            <a:extLst>
              <a:ext uri="{FF2B5EF4-FFF2-40B4-BE49-F238E27FC236}">
                <a16:creationId xmlns:a16="http://schemas.microsoft.com/office/drawing/2014/main" id="{55D58815-EF7F-F7A9-3226-0355AABD6E90}"/>
              </a:ext>
            </a:extLst>
          </p:cNvPr>
          <p:cNvGrpSpPr/>
          <p:nvPr/>
        </p:nvGrpSpPr>
        <p:grpSpPr>
          <a:xfrm>
            <a:off x="7339804" y="239487"/>
            <a:ext cx="4494526" cy="6164682"/>
            <a:chOff x="7221655" y="637192"/>
            <a:chExt cx="4596039" cy="6100715"/>
          </a:xfrm>
        </p:grpSpPr>
        <p:pic>
          <p:nvPicPr>
            <p:cNvPr id="2" name="Picture 11">
              <a:extLst>
                <a:ext uri="{FF2B5EF4-FFF2-40B4-BE49-F238E27FC236}">
                  <a16:creationId xmlns:a16="http://schemas.microsoft.com/office/drawing/2014/main" id="{BE70226D-FBD6-0ADF-4F6D-04975CC402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21655" y="637192"/>
              <a:ext cx="4596039" cy="5986636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7" name="Rectangle 18">
              <a:extLst>
                <a:ext uri="{FF2B5EF4-FFF2-40B4-BE49-F238E27FC236}">
                  <a16:creationId xmlns:a16="http://schemas.microsoft.com/office/drawing/2014/main" id="{C8710CC0-6D7F-5662-63BA-07FEF80B19CB}"/>
                </a:ext>
              </a:extLst>
            </p:cNvPr>
            <p:cNvSpPr/>
            <p:nvPr/>
          </p:nvSpPr>
          <p:spPr>
            <a:xfrm>
              <a:off x="10567280" y="6267212"/>
              <a:ext cx="697537" cy="35661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th-TH"/>
              </a:defPPr>
              <a:lvl1pPr marL="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07A99FA-0A82-71DA-FC42-32973A225986}"/>
                </a:ext>
              </a:extLst>
            </p:cNvPr>
            <p:cNvSpPr/>
            <p:nvPr/>
          </p:nvSpPr>
          <p:spPr>
            <a:xfrm>
              <a:off x="10174224" y="6153132"/>
              <a:ext cx="393056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>
              <a:defPPr>
                <a:defRPr lang="th-TH"/>
              </a:defPPr>
              <a:lvl1pPr marL="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3200" b="1" cap="none" spc="0">
                  <a:ln w="0"/>
                  <a:solidFill>
                    <a:schemeClr val="accent2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2</a:t>
              </a:r>
            </a:p>
          </p:txBody>
        </p:sp>
      </p:grpSp>
      <p:grpSp>
        <p:nvGrpSpPr>
          <p:cNvPr id="19" name="กลุ่ม 18">
            <a:extLst>
              <a:ext uri="{FF2B5EF4-FFF2-40B4-BE49-F238E27FC236}">
                <a16:creationId xmlns:a16="http://schemas.microsoft.com/office/drawing/2014/main" id="{7F0A1C4D-B3D6-0B92-E457-6FD27DD569A6}"/>
              </a:ext>
            </a:extLst>
          </p:cNvPr>
          <p:cNvGrpSpPr/>
          <p:nvPr/>
        </p:nvGrpSpPr>
        <p:grpSpPr>
          <a:xfrm>
            <a:off x="848994" y="1533470"/>
            <a:ext cx="5949816" cy="1890961"/>
            <a:chOff x="230512" y="637192"/>
            <a:chExt cx="6830928" cy="2174683"/>
          </a:xfrm>
        </p:grpSpPr>
        <p:pic>
          <p:nvPicPr>
            <p:cNvPr id="3" name="Picture 12">
              <a:extLst>
                <a:ext uri="{FF2B5EF4-FFF2-40B4-BE49-F238E27FC236}">
                  <a16:creationId xmlns:a16="http://schemas.microsoft.com/office/drawing/2014/main" id="{5C604459-AD06-1159-557F-5C4FBD9A23E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0512" y="637192"/>
              <a:ext cx="6830928" cy="2174682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9" name="Rectangle 22">
              <a:extLst>
                <a:ext uri="{FF2B5EF4-FFF2-40B4-BE49-F238E27FC236}">
                  <a16:creationId xmlns:a16="http://schemas.microsoft.com/office/drawing/2014/main" id="{DB320BD1-1833-8460-306A-59CF9E54A49D}"/>
                </a:ext>
              </a:extLst>
            </p:cNvPr>
            <p:cNvSpPr/>
            <p:nvPr/>
          </p:nvSpPr>
          <p:spPr>
            <a:xfrm>
              <a:off x="1725756" y="1367917"/>
              <a:ext cx="788844" cy="33286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th-TH"/>
              </a:defPPr>
              <a:lvl1pPr marL="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/>
            </a:p>
          </p:txBody>
        </p:sp>
        <p:sp>
          <p:nvSpPr>
            <p:cNvPr id="10" name="Rectangle 23">
              <a:extLst>
                <a:ext uri="{FF2B5EF4-FFF2-40B4-BE49-F238E27FC236}">
                  <a16:creationId xmlns:a16="http://schemas.microsoft.com/office/drawing/2014/main" id="{011D291C-C229-5279-A674-60932EEE60BD}"/>
                </a:ext>
              </a:extLst>
            </p:cNvPr>
            <p:cNvSpPr/>
            <p:nvPr/>
          </p:nvSpPr>
          <p:spPr>
            <a:xfrm>
              <a:off x="3604754" y="1569594"/>
              <a:ext cx="1296430" cy="39636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th-TH"/>
              </a:defPPr>
              <a:lvl1pPr marL="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/>
            </a:p>
          </p:txBody>
        </p:sp>
        <p:sp>
          <p:nvSpPr>
            <p:cNvPr id="11" name="Rectangle 24">
              <a:extLst>
                <a:ext uri="{FF2B5EF4-FFF2-40B4-BE49-F238E27FC236}">
                  <a16:creationId xmlns:a16="http://schemas.microsoft.com/office/drawing/2014/main" id="{06666F34-D46C-ADB2-A12C-D34C227F973E}"/>
                </a:ext>
              </a:extLst>
            </p:cNvPr>
            <p:cNvSpPr/>
            <p:nvPr/>
          </p:nvSpPr>
          <p:spPr>
            <a:xfrm>
              <a:off x="6324517" y="2423161"/>
              <a:ext cx="736923" cy="38871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th-TH"/>
              </a:defPPr>
              <a:lvl1pPr marL="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/>
            </a:p>
          </p:txBody>
        </p:sp>
        <p:sp>
          <p:nvSpPr>
            <p:cNvPr id="14" name="Rectangle 2">
              <a:extLst>
                <a:ext uri="{FF2B5EF4-FFF2-40B4-BE49-F238E27FC236}">
                  <a16:creationId xmlns:a16="http://schemas.microsoft.com/office/drawing/2014/main" id="{B3ABF684-171D-427F-34D9-509FA7B5956A}"/>
                </a:ext>
              </a:extLst>
            </p:cNvPr>
            <p:cNvSpPr/>
            <p:nvPr/>
          </p:nvSpPr>
          <p:spPr>
            <a:xfrm>
              <a:off x="1306740" y="1256348"/>
              <a:ext cx="393056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>
              <a:defPPr>
                <a:defRPr lang="th-TH"/>
              </a:defPPr>
              <a:lvl1pPr marL="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3200" b="1" cap="none" spc="0">
                  <a:ln w="0"/>
                  <a:solidFill>
                    <a:schemeClr val="accent2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</a:p>
          </p:txBody>
        </p:sp>
        <p:sp>
          <p:nvSpPr>
            <p:cNvPr id="15" name="Rectangle 15">
              <a:extLst>
                <a:ext uri="{FF2B5EF4-FFF2-40B4-BE49-F238E27FC236}">
                  <a16:creationId xmlns:a16="http://schemas.microsoft.com/office/drawing/2014/main" id="{F529FB58-9524-3F39-03CB-5B88568FF0ED}"/>
                </a:ext>
              </a:extLst>
            </p:cNvPr>
            <p:cNvSpPr/>
            <p:nvPr/>
          </p:nvSpPr>
          <p:spPr>
            <a:xfrm>
              <a:off x="4989678" y="1530393"/>
              <a:ext cx="393056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>
              <a:defPPr>
                <a:defRPr lang="th-TH"/>
              </a:defPPr>
              <a:lvl1pPr marL="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3200" b="1" cap="none" spc="0">
                  <a:ln w="0"/>
                  <a:solidFill>
                    <a:schemeClr val="accent2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2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1455157-E5A4-BFB4-D7E7-5B1FEAC483A2}"/>
                </a:ext>
              </a:extLst>
            </p:cNvPr>
            <p:cNvSpPr/>
            <p:nvPr/>
          </p:nvSpPr>
          <p:spPr>
            <a:xfrm>
              <a:off x="6501859" y="1934712"/>
              <a:ext cx="393056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>
              <a:defPPr>
                <a:defRPr lang="th-TH"/>
              </a:defPPr>
              <a:lvl1pPr marL="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3200" b="1" cap="none" spc="0">
                  <a:ln w="0"/>
                  <a:solidFill>
                    <a:schemeClr val="accent2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3</a:t>
              </a:r>
            </a:p>
          </p:txBody>
        </p:sp>
      </p:grpSp>
      <p:sp>
        <p:nvSpPr>
          <p:cNvPr id="23" name="กล่องข้อความ 22">
            <a:extLst>
              <a:ext uri="{FF2B5EF4-FFF2-40B4-BE49-F238E27FC236}">
                <a16:creationId xmlns:a16="http://schemas.microsoft.com/office/drawing/2014/main" id="{155FED21-6EDB-D4E9-E519-565D7667E429}"/>
              </a:ext>
            </a:extLst>
          </p:cNvPr>
          <p:cNvSpPr txBox="1"/>
          <p:nvPr/>
        </p:nvSpPr>
        <p:spPr>
          <a:xfrm>
            <a:off x="425267" y="725793"/>
            <a:ext cx="5557269" cy="400110"/>
          </a:xfrm>
          <a:prstGeom prst="rect">
            <a:avLst/>
          </a:prstGeom>
          <a:solidFill>
            <a:schemeClr val="accent6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h-TH" sz="2000">
                <a:latin typeface="CordiaUPC"/>
                <a:cs typeface="CordiaUPC"/>
              </a:rPr>
              <a:t>RPAดำเนินการีดึงข้อมูลร้านจาก SBP </a:t>
            </a:r>
            <a:r>
              <a:rPr lang="th-TH" sz="2000" err="1">
                <a:latin typeface="CordiaUPC"/>
                <a:cs typeface="CordiaUPC"/>
              </a:rPr>
              <a:t>Mall</a:t>
            </a:r>
            <a:r>
              <a:rPr lang="th-TH" sz="2000">
                <a:latin typeface="CordiaUPC"/>
                <a:cs typeface="CordiaUPC"/>
              </a:rPr>
              <a:t> ให้กับทีมบัญชีตรวจสอบ</a:t>
            </a:r>
          </a:p>
        </p:txBody>
      </p:sp>
    </p:spTree>
    <p:extLst>
      <p:ext uri="{BB962C8B-B14F-4D97-AF65-F5344CB8AC3E}">
        <p14:creationId xmlns:p14="http://schemas.microsoft.com/office/powerpoint/2010/main" val="26145238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97D8D-54FE-24A5-4E1E-A8D124F79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5337988-2223-FEF2-269C-016552DF45A5}"/>
              </a:ext>
            </a:extLst>
          </p:cNvPr>
          <p:cNvSpPr txBox="1">
            <a:spLocks/>
          </p:cNvSpPr>
          <p:nvPr/>
        </p:nvSpPr>
        <p:spPr bwMode="auto">
          <a:xfrm>
            <a:off x="621254" y="325158"/>
            <a:ext cx="4707486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1.8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 As-Is Business Process</a:t>
            </a:r>
            <a:endParaRPr lang="th-TH" altLang="en-US" b="1" u="sng">
              <a:latin typeface="CordiaUPC"/>
              <a:ea typeface="Tahoma"/>
              <a:cs typeface="CordiaUPC"/>
            </a:endParaRPr>
          </a:p>
        </p:txBody>
      </p:sp>
      <p:grpSp>
        <p:nvGrpSpPr>
          <p:cNvPr id="11" name="กลุ่ม 10">
            <a:extLst>
              <a:ext uri="{FF2B5EF4-FFF2-40B4-BE49-F238E27FC236}">
                <a16:creationId xmlns:a16="http://schemas.microsoft.com/office/drawing/2014/main" id="{E5967659-4E6A-A171-A4D9-0F16666B8EB2}"/>
              </a:ext>
            </a:extLst>
          </p:cNvPr>
          <p:cNvGrpSpPr/>
          <p:nvPr/>
        </p:nvGrpSpPr>
        <p:grpSpPr>
          <a:xfrm>
            <a:off x="183090" y="933183"/>
            <a:ext cx="11659199" cy="3410125"/>
            <a:chOff x="183273" y="264591"/>
            <a:chExt cx="11659199" cy="3410125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D25461D4-1472-A732-2E6F-A812D731CA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3273" y="264591"/>
              <a:ext cx="11659199" cy="3410125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3B2B1D5-8046-9408-3B17-010B32127CFE}"/>
                </a:ext>
              </a:extLst>
            </p:cNvPr>
            <p:cNvSpPr/>
            <p:nvPr/>
          </p:nvSpPr>
          <p:spPr>
            <a:xfrm>
              <a:off x="1884218" y="877455"/>
              <a:ext cx="1431637" cy="44334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th-TH"/>
              </a:defPPr>
              <a:lvl1pPr marL="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B2291B6-9E2E-4E3B-6636-32F08484A58D}"/>
                </a:ext>
              </a:extLst>
            </p:cNvPr>
            <p:cNvSpPr/>
            <p:nvPr/>
          </p:nvSpPr>
          <p:spPr>
            <a:xfrm>
              <a:off x="4687454" y="3144982"/>
              <a:ext cx="1431637" cy="44334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th-TH"/>
              </a:defPPr>
              <a:lvl1pPr marL="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/>
            </a:p>
          </p:txBody>
        </p:sp>
        <p:sp>
          <p:nvSpPr>
            <p:cNvPr id="6" name="5-Point Star 4">
              <a:extLst>
                <a:ext uri="{FF2B5EF4-FFF2-40B4-BE49-F238E27FC236}">
                  <a16:creationId xmlns:a16="http://schemas.microsoft.com/office/drawing/2014/main" id="{D135971C-5D17-6947-16EC-28E121DDA00B}"/>
                </a:ext>
              </a:extLst>
            </p:cNvPr>
            <p:cNvSpPr/>
            <p:nvPr/>
          </p:nvSpPr>
          <p:spPr>
            <a:xfrm>
              <a:off x="3454400" y="923636"/>
              <a:ext cx="332509" cy="350982"/>
            </a:xfrm>
            <a:prstGeom prst="star5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th-TH"/>
              </a:defPPr>
              <a:lvl1pPr marL="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/>
            </a:p>
          </p:txBody>
        </p:sp>
        <p:sp>
          <p:nvSpPr>
            <p:cNvPr id="7" name="5-Point Star 5">
              <a:extLst>
                <a:ext uri="{FF2B5EF4-FFF2-40B4-BE49-F238E27FC236}">
                  <a16:creationId xmlns:a16="http://schemas.microsoft.com/office/drawing/2014/main" id="{5FDEAF58-99C5-0A6B-37DA-8AABA9B18655}"/>
                </a:ext>
              </a:extLst>
            </p:cNvPr>
            <p:cNvSpPr/>
            <p:nvPr/>
          </p:nvSpPr>
          <p:spPr>
            <a:xfrm>
              <a:off x="4687454" y="3163455"/>
              <a:ext cx="332509" cy="350982"/>
            </a:xfrm>
            <a:prstGeom prst="star5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th-TH"/>
              </a:defPPr>
              <a:lvl1pPr marL="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/>
            </a:p>
          </p:txBody>
        </p:sp>
      </p:grpSp>
      <p:sp>
        <p:nvSpPr>
          <p:cNvPr id="8" name="Rectangle 8">
            <a:extLst>
              <a:ext uri="{FF2B5EF4-FFF2-40B4-BE49-F238E27FC236}">
                <a16:creationId xmlns:a16="http://schemas.microsoft.com/office/drawing/2014/main" id="{9B262995-33FC-722C-A139-9869614BC985}"/>
              </a:ext>
            </a:extLst>
          </p:cNvPr>
          <p:cNvSpPr/>
          <p:nvPr/>
        </p:nvSpPr>
        <p:spPr>
          <a:xfrm>
            <a:off x="6934423" y="3832047"/>
            <a:ext cx="5074487" cy="116955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lIns="91440" tIns="45720" rIns="91440" bIns="45720" anchor="t"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/>
            </a:pPr>
            <a:r>
              <a:rPr lang="th-TH" sz="1400">
                <a:solidFill>
                  <a:srgbClr val="0070C0"/>
                </a:solidFill>
                <a:latin typeface="Browallia New"/>
                <a:ea typeface="Tahoma"/>
                <a:cs typeface="Browallia New"/>
              </a:rPr>
              <a:t>การอนุมัติบันทึกจำนวน 150-170 ต่อเดือน</a:t>
            </a:r>
          </a:p>
          <a:p>
            <a:pPr marL="342900" indent="-342900">
              <a:buAutoNum type="arabicPeriod"/>
            </a:pPr>
            <a:r>
              <a:rPr lang="th-TH" sz="1400">
                <a:solidFill>
                  <a:srgbClr val="0070C0"/>
                </a:solidFill>
                <a:latin typeface="Browallia New"/>
                <a:ea typeface="Tahoma"/>
                <a:cs typeface="Browallia New"/>
              </a:rPr>
              <a:t>ระยะเวลาทำการอนุมัติ ประมาณ 4 นาที /ฉบับ</a:t>
            </a:r>
          </a:p>
          <a:p>
            <a:r>
              <a:rPr lang="th-TH" sz="1400">
                <a:solidFill>
                  <a:srgbClr val="0070C0"/>
                </a:solidFill>
                <a:latin typeface="Browallia New"/>
                <a:ea typeface="Tahoma"/>
                <a:cs typeface="Browallia New"/>
              </a:rPr>
              <a:t>      คำนวณตามเวลา 4 นาที *150 ฉบับ/เดือน</a:t>
            </a:r>
            <a:r>
              <a:rPr lang="en-US" sz="1400">
                <a:solidFill>
                  <a:srgbClr val="0070C0"/>
                </a:solidFill>
                <a:latin typeface="Browallia New"/>
                <a:ea typeface="Tahoma"/>
                <a:cs typeface="Tahoma"/>
              </a:rPr>
              <a:t>= 600 </a:t>
            </a:r>
            <a:r>
              <a:rPr lang="th-TH" sz="1400">
                <a:solidFill>
                  <a:srgbClr val="0070C0"/>
                </a:solidFill>
                <a:latin typeface="Browallia New"/>
                <a:ea typeface="Tahoma"/>
                <a:cs typeface="Browallia New"/>
              </a:rPr>
              <a:t>นาที </a:t>
            </a:r>
            <a:r>
              <a:rPr lang="en-US" sz="1400">
                <a:solidFill>
                  <a:srgbClr val="0070C0"/>
                </a:solidFill>
                <a:latin typeface="Browallia New"/>
                <a:ea typeface="Tahoma"/>
                <a:cs typeface="Tahoma"/>
              </a:rPr>
              <a:t>/ 10 </a:t>
            </a:r>
            <a:r>
              <a:rPr lang="th-TH" sz="1400">
                <a:solidFill>
                  <a:srgbClr val="0070C0"/>
                </a:solidFill>
                <a:latin typeface="Browallia New"/>
                <a:ea typeface="Tahoma"/>
                <a:cs typeface="Browallia New"/>
              </a:rPr>
              <a:t>ชม.</a:t>
            </a:r>
          </a:p>
          <a:p>
            <a:pPr marL="342900" indent="-342900">
              <a:buAutoNum type="arabicPeriod" startAt="3"/>
            </a:pPr>
            <a:r>
              <a:rPr lang="th-TH" sz="1400">
                <a:solidFill>
                  <a:srgbClr val="0070C0"/>
                </a:solidFill>
                <a:latin typeface="Browallia New"/>
                <a:ea typeface="Tahoma"/>
                <a:cs typeface="Browallia New"/>
              </a:rPr>
              <a:t>ผจก.แผนกตรวจสอบข้อมูลใน </a:t>
            </a:r>
            <a:r>
              <a:rPr lang="en-US" sz="1400">
                <a:solidFill>
                  <a:srgbClr val="0070C0"/>
                </a:solidFill>
                <a:latin typeface="Browallia New"/>
                <a:ea typeface="Tahoma"/>
                <a:cs typeface="Tahoma"/>
              </a:rPr>
              <a:t>Flow</a:t>
            </a:r>
            <a:r>
              <a:rPr lang="th-TH" sz="1400">
                <a:solidFill>
                  <a:srgbClr val="0070C0"/>
                </a:solidFill>
                <a:latin typeface="Browallia New"/>
                <a:ea typeface="Tahoma"/>
                <a:cs typeface="Browallia New"/>
              </a:rPr>
              <a:t> </a:t>
            </a:r>
            <a:r>
              <a:rPr lang="en-US" sz="1400">
                <a:solidFill>
                  <a:srgbClr val="0070C0"/>
                </a:solidFill>
                <a:latin typeface="Browallia New"/>
                <a:ea typeface="Tahoma"/>
                <a:cs typeface="Tahoma"/>
              </a:rPr>
              <a:t>K2 </a:t>
            </a:r>
            <a:r>
              <a:rPr lang="th-TH" sz="1400">
                <a:solidFill>
                  <a:srgbClr val="0070C0"/>
                </a:solidFill>
                <a:latin typeface="Browallia New"/>
                <a:ea typeface="Tahoma"/>
                <a:cs typeface="Browallia New"/>
              </a:rPr>
              <a:t>ตรวจสอบพร้อมอนุมัติ </a:t>
            </a:r>
          </a:p>
          <a:p>
            <a:r>
              <a:rPr lang="th-TH" sz="1400">
                <a:solidFill>
                  <a:srgbClr val="0070C0"/>
                </a:solidFill>
                <a:latin typeface="Browallia New"/>
                <a:ea typeface="Tahoma"/>
                <a:cs typeface="Browallia New"/>
              </a:rPr>
              <a:t>      ประมาณ 5 นาทีต่อฉบับ</a:t>
            </a: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15170FFE-8806-E71B-B861-10352718F3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681" y="4242513"/>
            <a:ext cx="6255071" cy="1987652"/>
          </a:xfrm>
          <a:prstGeom prst="rect">
            <a:avLst/>
          </a:prstGeom>
        </p:spPr>
      </p:pic>
      <p:sp>
        <p:nvSpPr>
          <p:cNvPr id="12" name="กล่องข้อความ 11">
            <a:extLst>
              <a:ext uri="{FF2B5EF4-FFF2-40B4-BE49-F238E27FC236}">
                <a16:creationId xmlns:a16="http://schemas.microsoft.com/office/drawing/2014/main" id="{EF2A3750-DA23-EAAE-CDC7-B9ED2E27BD1F}"/>
              </a:ext>
            </a:extLst>
          </p:cNvPr>
          <p:cNvSpPr txBox="1"/>
          <p:nvPr/>
        </p:nvSpPr>
        <p:spPr>
          <a:xfrm>
            <a:off x="4469837" y="404708"/>
            <a:ext cx="7351687" cy="400110"/>
          </a:xfrm>
          <a:prstGeom prst="rect">
            <a:avLst/>
          </a:prstGeom>
          <a:solidFill>
            <a:schemeClr val="accent6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h-TH" sz="2000">
                <a:latin typeface="CordiaUPC"/>
                <a:cs typeface="CordiaUPC"/>
              </a:rPr>
              <a:t>RPAดำเนินการส่งผลดำเนินการ หรือ </a:t>
            </a:r>
            <a:r>
              <a:rPr lang="th-TH" sz="2000" err="1">
                <a:latin typeface="CordiaUPC"/>
                <a:cs typeface="CordiaUPC"/>
              </a:rPr>
              <a:t>Approve</a:t>
            </a:r>
            <a:r>
              <a:rPr lang="th-TH" sz="2000">
                <a:latin typeface="CordiaUPC"/>
                <a:cs typeface="CordiaUPC"/>
              </a:rPr>
              <a:t> ให้กับทีมบัญชีที่ดูแลรับผิดชอบแต่ละสาขา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CA1E3E-56E8-11D0-8854-7E4BD5F59D84}"/>
              </a:ext>
            </a:extLst>
          </p:cNvPr>
          <p:cNvSpPr txBox="1"/>
          <p:nvPr/>
        </p:nvSpPr>
        <p:spPr>
          <a:xfrm>
            <a:off x="6725343" y="5411005"/>
            <a:ext cx="30500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err="1">
                <a:latin typeface="Browallia New"/>
                <a:cs typeface="Browallia New"/>
              </a:rPr>
              <a:t>Form</a:t>
            </a:r>
            <a:r>
              <a:rPr lang="th-TH">
                <a:latin typeface="Browallia New"/>
                <a:cs typeface="Browallia New"/>
              </a:rPr>
              <a:t>/CPA.FRN.FGI.SMF.</a:t>
            </a:r>
            <a:r>
              <a:rPr lang="th-TH" err="1">
                <a:latin typeface="Browallia New"/>
                <a:cs typeface="Browallia New"/>
              </a:rPr>
              <a:t>ApplicationMenu</a:t>
            </a:r>
            <a:endParaRPr lang="th-TH">
              <a:latin typeface="Browallia New"/>
              <a:cs typeface="Browallia New"/>
            </a:endParaRPr>
          </a:p>
        </p:txBody>
      </p:sp>
    </p:spTree>
    <p:extLst>
      <p:ext uri="{BB962C8B-B14F-4D97-AF65-F5344CB8AC3E}">
        <p14:creationId xmlns:p14="http://schemas.microsoft.com/office/powerpoint/2010/main" val="11647053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6EF64-DB49-C353-D28D-8A11799FF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14104A4-BEFF-A02E-4473-A54530EADA1F}"/>
              </a:ext>
            </a:extLst>
          </p:cNvPr>
          <p:cNvSpPr txBox="1">
            <a:spLocks/>
          </p:cNvSpPr>
          <p:nvPr/>
        </p:nvSpPr>
        <p:spPr bwMode="auto">
          <a:xfrm>
            <a:off x="621254" y="325158"/>
            <a:ext cx="4707486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1.8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 As-Is Business Process</a:t>
            </a:r>
            <a:endParaRPr lang="th-TH" altLang="en-US" b="1" u="sng">
              <a:latin typeface="CordiaUPC"/>
              <a:ea typeface="Tahoma"/>
              <a:cs typeface="CordiaUPC"/>
            </a:endParaRPr>
          </a:p>
        </p:txBody>
      </p:sp>
      <p:sp>
        <p:nvSpPr>
          <p:cNvPr id="13" name="กล่องข้อความ 12">
            <a:extLst>
              <a:ext uri="{FF2B5EF4-FFF2-40B4-BE49-F238E27FC236}">
                <a16:creationId xmlns:a16="http://schemas.microsoft.com/office/drawing/2014/main" id="{3BD81B73-E084-BE7E-BDBC-8DA1E912C061}"/>
              </a:ext>
            </a:extLst>
          </p:cNvPr>
          <p:cNvSpPr txBox="1"/>
          <p:nvPr/>
        </p:nvSpPr>
        <p:spPr>
          <a:xfrm>
            <a:off x="615767" y="904387"/>
            <a:ext cx="2925988" cy="400110"/>
          </a:xfrm>
          <a:prstGeom prst="rect">
            <a:avLst/>
          </a:prstGeom>
          <a:solidFill>
            <a:schemeClr val="accent6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h-TH" sz="2000" err="1">
                <a:latin typeface="CordiaUPC"/>
                <a:cs typeface="CordiaUPC"/>
              </a:rPr>
              <a:t>Use</a:t>
            </a:r>
            <a:r>
              <a:rPr lang="th-TH" sz="2000">
                <a:latin typeface="CordiaUPC"/>
                <a:cs typeface="CordiaUPC"/>
              </a:rPr>
              <a:t> </a:t>
            </a:r>
            <a:r>
              <a:rPr lang="th-TH" sz="2000" err="1">
                <a:latin typeface="CordiaUPC"/>
                <a:cs typeface="CordiaUPC"/>
              </a:rPr>
              <a:t>Case</a:t>
            </a:r>
            <a:r>
              <a:rPr lang="th-TH" sz="2000">
                <a:latin typeface="CordiaUPC"/>
                <a:cs typeface="CordiaUPC"/>
              </a:rPr>
              <a:t> ที่อาจเกิดขึ้นในปัจจุบัน</a:t>
            </a:r>
            <a:endParaRPr lang="th-TH"/>
          </a:p>
        </p:txBody>
      </p:sp>
      <p:pic>
        <p:nvPicPr>
          <p:cNvPr id="15" name="รูปภาพ 14" descr="รูปภาพประกอบด้วย ข้อความ, ภาพหน้าจอ, จำนวน, ขนาน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2F6B1679-CA4D-7F4C-0A5B-E006275EB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3" y="3140869"/>
            <a:ext cx="12106276" cy="3719513"/>
          </a:xfrm>
          <a:prstGeom prst="rect">
            <a:avLst/>
          </a:prstGeom>
        </p:spPr>
      </p:pic>
      <p:sp>
        <p:nvSpPr>
          <p:cNvPr id="16" name="กล่องข้อความ 15">
            <a:extLst>
              <a:ext uri="{FF2B5EF4-FFF2-40B4-BE49-F238E27FC236}">
                <a16:creationId xmlns:a16="http://schemas.microsoft.com/office/drawing/2014/main" id="{EC724D8D-75CD-2241-A4DA-782F8CA14A6F}"/>
              </a:ext>
            </a:extLst>
          </p:cNvPr>
          <p:cNvSpPr txBox="1"/>
          <p:nvPr/>
        </p:nvSpPr>
        <p:spPr>
          <a:xfrm>
            <a:off x="250032" y="1309687"/>
            <a:ext cx="11334749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AutoNum type="arabicPeriod"/>
            </a:pPr>
            <a:r>
              <a:rPr lang="en-US" sz="2000" b="0" dirty="0">
                <a:latin typeface="Browallia New"/>
                <a:cs typeface="Angsana New"/>
              </a:rPr>
              <a:t>  Use Case </a:t>
            </a:r>
            <a:r>
              <a:rPr lang="en-US" sz="2000" b="0" err="1">
                <a:latin typeface="Browallia New"/>
                <a:cs typeface="Angsana New"/>
              </a:rPr>
              <a:t>ที่อาจเกิดขึ้นในปัจจุบัน</a:t>
            </a:r>
            <a:r>
              <a:rPr lang="en-US" sz="2000" b="0" dirty="0">
                <a:latin typeface="Browallia New"/>
                <a:cs typeface="Angsana New"/>
              </a:rPr>
              <a:t> </a:t>
            </a:r>
            <a:r>
              <a:rPr lang="en-US" sz="2000" b="0" err="1">
                <a:latin typeface="Browallia New"/>
                <a:cs typeface="Angsana New"/>
              </a:rPr>
              <a:t>โดย</a:t>
            </a:r>
            <a:r>
              <a:rPr lang="en-US" sz="2000" b="0" dirty="0">
                <a:latin typeface="Browallia New"/>
                <a:cs typeface="Angsana New"/>
              </a:rPr>
              <a:t> Human Error </a:t>
            </a:r>
            <a:r>
              <a:rPr lang="en-US" sz="2000" b="0" err="1">
                <a:latin typeface="Browallia New"/>
                <a:cs typeface="Angsana New"/>
              </a:rPr>
              <a:t>เนื่องจากการกรอกข้อมูล</a:t>
            </a:r>
            <a:r>
              <a:rPr lang="en-US" sz="2000" b="0" dirty="0">
                <a:latin typeface="Browallia New"/>
                <a:cs typeface="Angsana New"/>
              </a:rPr>
              <a:t> Adjust </a:t>
            </a:r>
            <a:r>
              <a:rPr lang="en-US" sz="2000" b="0" err="1">
                <a:latin typeface="Browallia New"/>
                <a:cs typeface="Angsana New"/>
              </a:rPr>
              <a:t>ที่ผิดพลาด</a:t>
            </a:r>
            <a:r>
              <a:rPr lang="en-US" sz="2000" b="0" dirty="0">
                <a:latin typeface="Browallia New"/>
                <a:cs typeface="Angsana New"/>
              </a:rPr>
              <a:t> </a:t>
            </a:r>
            <a:r>
              <a:rPr lang="en-US" sz="2000" b="0" err="1">
                <a:latin typeface="Browallia New"/>
                <a:cs typeface="Angsana New"/>
              </a:rPr>
              <a:t>ส่งผลให้ยอดเงินชดเชยผิดปกติได้</a:t>
            </a:r>
            <a:r>
              <a:rPr lang="en-US" sz="2000" b="0" dirty="0">
                <a:latin typeface="Browallia New"/>
                <a:cs typeface="Angsana New"/>
              </a:rPr>
              <a:t> </a:t>
            </a:r>
          </a:p>
          <a:p>
            <a:pPr marL="228600" indent="-228600">
              <a:buAutoNum type="arabicPeriod"/>
            </a:pPr>
            <a:r>
              <a:rPr lang="en-US" sz="2000" b="0" err="1">
                <a:latin typeface="Browallia New"/>
                <a:cs typeface="Angsana New"/>
              </a:rPr>
              <a:t>แนวทางการแก้ไข</a:t>
            </a:r>
            <a:endParaRPr lang="en-US" sz="2000" b="0" dirty="0">
              <a:latin typeface="Browallia New"/>
              <a:cs typeface="Angsana New"/>
            </a:endParaRPr>
          </a:p>
          <a:p>
            <a:pPr marL="228600" indent="-228600">
              <a:buFont typeface=""/>
              <a:buChar char="•"/>
            </a:pPr>
            <a:r>
              <a:rPr lang="en-US" sz="2000" b="0" err="1">
                <a:latin typeface="Browallia New"/>
                <a:cs typeface="Angsana New"/>
              </a:rPr>
              <a:t>ให้ผู้อนุมัติลำดับถัดไป</a:t>
            </a:r>
            <a:r>
              <a:rPr lang="en-US" sz="2000" b="0" dirty="0">
                <a:latin typeface="Browallia New"/>
                <a:cs typeface="Angsana New"/>
              </a:rPr>
              <a:t> </a:t>
            </a:r>
            <a:r>
              <a:rPr lang="en-US" sz="2000" b="0" err="1">
                <a:latin typeface="Browallia New"/>
                <a:cs typeface="Angsana New"/>
              </a:rPr>
              <a:t>ตีกลับ</a:t>
            </a:r>
            <a:r>
              <a:rPr lang="en-US" sz="2000" b="0" dirty="0">
                <a:latin typeface="Browallia New"/>
                <a:cs typeface="Angsana New"/>
              </a:rPr>
              <a:t> Flow </a:t>
            </a:r>
            <a:r>
              <a:rPr lang="en-US" sz="2000" b="0" err="1">
                <a:latin typeface="Browallia New"/>
                <a:cs typeface="Angsana New"/>
              </a:rPr>
              <a:t>มาให้ผู้ปฎิบัติงาน</a:t>
            </a:r>
            <a:endParaRPr lang="en-US" sz="2000" b="0" dirty="0">
              <a:latin typeface="Browallia New"/>
              <a:cs typeface="Angsana New"/>
            </a:endParaRPr>
          </a:p>
          <a:p>
            <a:endParaRPr lang="en-US" sz="2000" b="0" dirty="0">
              <a:latin typeface="Browallia New"/>
            </a:endParaRPr>
          </a:p>
          <a:p>
            <a:r>
              <a:rPr lang="en-US" sz="2000" err="1">
                <a:solidFill>
                  <a:srgbClr val="FF0000"/>
                </a:solidFill>
                <a:latin typeface="Browallia New"/>
                <a:cs typeface="Angsana New"/>
              </a:rPr>
              <a:t>หมายเหตุ</a:t>
            </a:r>
            <a:r>
              <a:rPr lang="en-US" sz="2000" dirty="0">
                <a:solidFill>
                  <a:srgbClr val="FF0000"/>
                </a:solidFill>
                <a:latin typeface="Browallia New"/>
                <a:cs typeface="Angsana New"/>
              </a:rPr>
              <a:t> : Case </a:t>
            </a:r>
            <a:r>
              <a:rPr lang="en-US" sz="2000" err="1">
                <a:solidFill>
                  <a:srgbClr val="FF0000"/>
                </a:solidFill>
                <a:latin typeface="Browallia New"/>
                <a:cs typeface="Angsana New"/>
              </a:rPr>
              <a:t>ที่อาจเกิดขึ้นในปัจจุบัน</a:t>
            </a:r>
            <a:r>
              <a:rPr lang="en-US" sz="2000" dirty="0">
                <a:solidFill>
                  <a:srgbClr val="FF0000"/>
                </a:solidFill>
                <a:latin typeface="Browallia New"/>
                <a:cs typeface="Angsana New"/>
              </a:rPr>
              <a:t> </a:t>
            </a:r>
            <a:r>
              <a:rPr lang="en-US" sz="2000" err="1">
                <a:solidFill>
                  <a:srgbClr val="FF0000"/>
                </a:solidFill>
                <a:latin typeface="Browallia New"/>
                <a:cs typeface="Angsana New"/>
              </a:rPr>
              <a:t>โดย</a:t>
            </a:r>
            <a:r>
              <a:rPr lang="en-US" sz="2000" dirty="0">
                <a:solidFill>
                  <a:srgbClr val="FF0000"/>
                </a:solidFill>
                <a:latin typeface="Browallia New"/>
                <a:cs typeface="Angsana New"/>
              </a:rPr>
              <a:t> Human Error  </a:t>
            </a:r>
            <a:r>
              <a:rPr lang="en-US" sz="2000" err="1">
                <a:solidFill>
                  <a:srgbClr val="FF0000"/>
                </a:solidFill>
                <a:latin typeface="Browallia New"/>
                <a:cs typeface="Angsana New"/>
              </a:rPr>
              <a:t>ยังไม่เคยเกิด</a:t>
            </a:r>
            <a:endParaRPr lang="en-US" sz="2000">
              <a:solidFill>
                <a:srgbClr val="FF0000"/>
              </a:solidFill>
              <a:latin typeface="Browallia New"/>
              <a:cs typeface="Angsana New"/>
            </a:endParaRPr>
          </a:p>
        </p:txBody>
      </p:sp>
    </p:spTree>
    <p:extLst>
      <p:ext uri="{BB962C8B-B14F-4D97-AF65-F5344CB8AC3E}">
        <p14:creationId xmlns:p14="http://schemas.microsoft.com/office/powerpoint/2010/main" val="20198551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B907996-4F6B-47B0-BA98-4844791050A1}"/>
              </a:ext>
            </a:extLst>
          </p:cNvPr>
          <p:cNvSpPr txBox="1">
            <a:spLocks/>
          </p:cNvSpPr>
          <p:nvPr/>
        </p:nvSpPr>
        <p:spPr bwMode="auto">
          <a:xfrm>
            <a:off x="621254" y="325158"/>
            <a:ext cx="4707486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1.9 To-Be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 Business Process</a:t>
            </a:r>
            <a:r>
              <a:rPr lang="en-US" altLang="en-US" u="sng">
                <a:latin typeface="CordiaUPC"/>
                <a:ea typeface="Tahoma"/>
                <a:cs typeface="CordiaUPC"/>
              </a:rPr>
              <a:t> </a:t>
            </a:r>
            <a:endParaRPr lang="th-TH" altLang="en-US" b="1" u="sng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  <p:pic>
        <p:nvPicPr>
          <p:cNvPr id="2" name="กราฟิก 1">
            <a:extLst>
              <a:ext uri="{FF2B5EF4-FFF2-40B4-BE49-F238E27FC236}">
                <a16:creationId xmlns:a16="http://schemas.microsoft.com/office/drawing/2014/main" id="{5B8F645D-5CAC-CC19-035F-56386975BC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39455" y="514820"/>
            <a:ext cx="9848272" cy="6018022"/>
          </a:xfrm>
          <a:prstGeom prst="rect">
            <a:avLst/>
          </a:prstGeom>
        </p:spPr>
      </p:pic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73DA2121-EE5D-18D5-0D72-797841816E4F}"/>
              </a:ext>
            </a:extLst>
          </p:cNvPr>
          <p:cNvSpPr txBox="1"/>
          <p:nvPr/>
        </p:nvSpPr>
        <p:spPr>
          <a:xfrm>
            <a:off x="9446491" y="2309"/>
            <a:ext cx="27432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hlinkClick r:id="rId4"/>
              </a:rPr>
              <a:t>กระบวนการชดเชยรายได้-To-Be ปรับกระบวนการบัญชีประกันรายได้.svg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0791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B37DA-0F6A-892B-61C9-80FAAEB69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E3B2EDB-DDB2-7A6D-9647-3C19E99B2F79}"/>
              </a:ext>
            </a:extLst>
          </p:cNvPr>
          <p:cNvSpPr txBox="1">
            <a:spLocks/>
          </p:cNvSpPr>
          <p:nvPr/>
        </p:nvSpPr>
        <p:spPr bwMode="auto">
          <a:xfrm>
            <a:off x="621254" y="325158"/>
            <a:ext cx="4707486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1.9 To-Be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 Business Process</a:t>
            </a:r>
            <a:r>
              <a:rPr lang="en-US" altLang="en-US" u="sng">
                <a:latin typeface="CordiaUPC"/>
                <a:ea typeface="Tahoma"/>
                <a:cs typeface="CordiaUPC"/>
              </a:rPr>
              <a:t> </a:t>
            </a:r>
            <a:endParaRPr lang="th-TH" altLang="en-US" b="1" u="sng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1143DF-AD71-C8EB-2EB4-C0BD00227C44}"/>
              </a:ext>
            </a:extLst>
          </p:cNvPr>
          <p:cNvSpPr txBox="1"/>
          <p:nvPr/>
        </p:nvSpPr>
        <p:spPr>
          <a:xfrm>
            <a:off x="621254" y="942110"/>
            <a:ext cx="10949492" cy="461665"/>
          </a:xfrm>
          <a:prstGeom prst="rect">
            <a:avLst/>
          </a:prstGeom>
          <a:solidFill>
            <a:schemeClr val="tx2"/>
          </a:solidFill>
        </p:spPr>
        <p:txBody>
          <a:bodyPr wrap="square" lIns="91440" tIns="45720" rIns="91440" bIns="45720" anchor="t"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2400" b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owallia New"/>
                <a:cs typeface="Browallia New"/>
              </a:rPr>
              <a:t>แสดงหน้าจอข้อมูลตารางยอดเงิน แทนกระบวนการ </a:t>
            </a:r>
            <a:r>
              <a:rPr lang="th-TH" sz="2400" b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owallia New"/>
                <a:cs typeface="Browallia New"/>
              </a:rPr>
              <a:t>Approve</a:t>
            </a:r>
            <a:r>
              <a:rPr lang="th-TH" sz="2400" b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owallia New"/>
                <a:cs typeface="Browallia New"/>
              </a:rPr>
              <a:t> ตรวจสอบยอดชดเชยรายได้ฝั่งทีมบัญชี</a:t>
            </a:r>
            <a:endParaRPr lang="th-TH" sz="2400" b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Browallia New"/>
              <a:cs typeface="Browallia New"/>
            </a:endParaRPr>
          </a:p>
        </p:txBody>
      </p:sp>
      <p:pic>
        <p:nvPicPr>
          <p:cNvPr id="3" name="Picture 15">
            <a:extLst>
              <a:ext uri="{FF2B5EF4-FFF2-40B4-BE49-F238E27FC236}">
                <a16:creationId xmlns:a16="http://schemas.microsoft.com/office/drawing/2014/main" id="{5DB46EB8-7569-E924-740B-4B394375C9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3493" y="1711981"/>
            <a:ext cx="9981584" cy="39594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กล่องข้อความ 8">
            <a:extLst>
              <a:ext uri="{FF2B5EF4-FFF2-40B4-BE49-F238E27FC236}">
                <a16:creationId xmlns:a16="http://schemas.microsoft.com/office/drawing/2014/main" id="{E77F96EB-1468-7D92-BBD6-4E54B16B3877}"/>
              </a:ext>
            </a:extLst>
          </p:cNvPr>
          <p:cNvSpPr txBox="1"/>
          <p:nvPr/>
        </p:nvSpPr>
        <p:spPr>
          <a:xfrm>
            <a:off x="1701433" y="4869630"/>
            <a:ext cx="5287195" cy="7592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th-TH"/>
          </a:p>
        </p:txBody>
      </p: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C41ADEF5-67F0-B797-1267-7A57EC378601}"/>
              </a:ext>
            </a:extLst>
          </p:cNvPr>
          <p:cNvSpPr txBox="1"/>
          <p:nvPr/>
        </p:nvSpPr>
        <p:spPr>
          <a:xfrm>
            <a:off x="7283454" y="5146019"/>
            <a:ext cx="2066890" cy="3374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th-TH">
                <a:solidFill>
                  <a:srgbClr val="FF0000"/>
                </a:solidFill>
                <a:latin typeface="Arial"/>
                <a:cs typeface="Angsana New"/>
              </a:rPr>
              <a:t>ยกเลิกกระบวนการบัญชีตรวจสอบ</a:t>
            </a:r>
            <a:endParaRPr lang="th-TH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6606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F83C2-0D51-4938-BA5C-BE9A6D407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A54C748-D40E-58D5-6900-36596E38733D}"/>
              </a:ext>
            </a:extLst>
          </p:cNvPr>
          <p:cNvSpPr txBox="1">
            <a:spLocks/>
          </p:cNvSpPr>
          <p:nvPr/>
        </p:nvSpPr>
        <p:spPr bwMode="auto">
          <a:xfrm>
            <a:off x="509771" y="62981"/>
            <a:ext cx="4707486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1.9 To-Be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 Business Process</a:t>
            </a:r>
            <a:r>
              <a:rPr lang="en-US" altLang="en-US" u="sng">
                <a:latin typeface="CordiaUPC"/>
                <a:ea typeface="Tahoma"/>
                <a:cs typeface="CordiaUPC"/>
              </a:rPr>
              <a:t> </a:t>
            </a:r>
            <a:endParaRPr lang="th-TH" altLang="en-US" b="1" u="sng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61392E-4CE8-D6A0-463C-724662DE58EB}"/>
              </a:ext>
            </a:extLst>
          </p:cNvPr>
          <p:cNvSpPr txBox="1"/>
          <p:nvPr/>
        </p:nvSpPr>
        <p:spPr>
          <a:xfrm>
            <a:off x="575984" y="655318"/>
            <a:ext cx="9282545" cy="461665"/>
          </a:xfrm>
          <a:prstGeom prst="rect">
            <a:avLst/>
          </a:prstGeom>
          <a:solidFill>
            <a:schemeClr val="tx2"/>
          </a:solidFill>
        </p:spPr>
        <p:txBody>
          <a:bodyPr wrap="square" lIns="91440" tIns="45720" rIns="91440" bIns="45720" anchor="t"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2400" b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owallia New"/>
                <a:cs typeface="Browallia New"/>
              </a:rPr>
              <a:t>แสดงหน้าจอข้อมูลตารางยอดเงิน แทนกระบวนการ </a:t>
            </a:r>
            <a:r>
              <a:rPr lang="th-TH" sz="2400" b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owallia New"/>
                <a:cs typeface="Browallia New"/>
              </a:rPr>
              <a:t>Approve</a:t>
            </a:r>
            <a:r>
              <a:rPr lang="th-TH" sz="2400" b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owallia New"/>
                <a:cs typeface="Browallia New"/>
              </a:rPr>
              <a:t> ตรวจสอบยอดชดเชยรายได้ฝั่งทีมบัญชี</a:t>
            </a:r>
            <a:endParaRPr lang="th-TH" sz="2400" b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Browallia New"/>
              <a:cs typeface="Browallia New"/>
            </a:endParaRPr>
          </a:p>
        </p:txBody>
      </p:sp>
      <p:grpSp>
        <p:nvGrpSpPr>
          <p:cNvPr id="52" name="กลุ่ม 51">
            <a:extLst>
              <a:ext uri="{FF2B5EF4-FFF2-40B4-BE49-F238E27FC236}">
                <a16:creationId xmlns:a16="http://schemas.microsoft.com/office/drawing/2014/main" id="{FAC3B008-C120-9D91-3CF8-DBA52925A458}"/>
              </a:ext>
            </a:extLst>
          </p:cNvPr>
          <p:cNvGrpSpPr/>
          <p:nvPr/>
        </p:nvGrpSpPr>
        <p:grpSpPr>
          <a:xfrm>
            <a:off x="1545669" y="1260638"/>
            <a:ext cx="10009424" cy="4942044"/>
            <a:chOff x="99543" y="637192"/>
            <a:chExt cx="11718151" cy="6223588"/>
          </a:xfrm>
        </p:grpSpPr>
        <p:sp>
          <p:nvSpPr>
            <p:cNvPr id="31" name="Rectangle 9">
              <a:extLst>
                <a:ext uri="{FF2B5EF4-FFF2-40B4-BE49-F238E27FC236}">
                  <a16:creationId xmlns:a16="http://schemas.microsoft.com/office/drawing/2014/main" id="{DA21F42A-D85A-AC9E-2110-786AB89DB7D5}"/>
                </a:ext>
              </a:extLst>
            </p:cNvPr>
            <p:cNvSpPr/>
            <p:nvPr/>
          </p:nvSpPr>
          <p:spPr>
            <a:xfrm>
              <a:off x="261965" y="3252421"/>
              <a:ext cx="6791834" cy="584775"/>
            </a:xfrm>
            <a:prstGeom prst="rect">
              <a:avLst/>
            </a:prstGeom>
          </p:spPr>
          <p:txBody>
            <a:bodyPr wrap="square" lIns="91440" tIns="45720" rIns="91440" bIns="45720" anchor="t">
              <a:spAutoFit/>
            </a:bodyPr>
            <a:lstStyle>
              <a:defPPr>
                <a:defRPr lang="th-TH"/>
              </a:defPPr>
              <a:lvl1pPr marL="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600">
                  <a:latin typeface="Browallia New"/>
                  <a:ea typeface="Tahoma"/>
                  <a:cs typeface="Tahoma"/>
                </a:rPr>
                <a:t>1. </a:t>
              </a:r>
              <a:r>
                <a:rPr lang="th-TH" sz="1600">
                  <a:latin typeface="Browallia New"/>
                  <a:ea typeface="Tahoma"/>
                  <a:cs typeface="Browallia New"/>
                </a:rPr>
                <a:t>ตรวจสอบยอดเงินคำนวณ 3 จุดตรงคำนวณตรงกัน</a:t>
              </a:r>
              <a:endParaRPr lang="en-US" sz="1600">
                <a:latin typeface="Browallia New"/>
                <a:ea typeface="Tahoma"/>
                <a:cs typeface="Browallia New"/>
              </a:endParaRPr>
            </a:p>
            <a:p>
              <a:r>
                <a:rPr lang="en-US" sz="1600">
                  <a:latin typeface="Browallia New"/>
                  <a:ea typeface="Tahoma"/>
                  <a:cs typeface="Tahoma"/>
                </a:rPr>
                <a:t>2. </a:t>
              </a:r>
              <a:r>
                <a:rPr lang="th-TH" sz="1600">
                  <a:latin typeface="Browallia New"/>
                  <a:ea typeface="Tahoma"/>
                  <a:cs typeface="Browallia New"/>
                </a:rPr>
                <a:t>ตรวจสอบ</a:t>
              </a:r>
              <a:r>
                <a:rPr lang="en-US" sz="1600">
                  <a:latin typeface="Browallia New"/>
                  <a:ea typeface="Tahoma"/>
                  <a:cs typeface="Tahoma"/>
                </a:rPr>
                <a:t>Performance Index </a:t>
              </a:r>
              <a:r>
                <a:rPr lang="th-TH" sz="1600">
                  <a:solidFill>
                    <a:srgbClr val="242424"/>
                  </a:solidFill>
                  <a:effectLst/>
                  <a:latin typeface="Browallia New"/>
                  <a:ea typeface="Tahoma"/>
                  <a:cs typeface="Browallia New"/>
                </a:rPr>
                <a:t>ข้อมูลคะแนนมาตรฐาน มาจาก </a:t>
              </a:r>
              <a:r>
                <a:rPr lang="en-US" sz="1600">
                  <a:solidFill>
                    <a:srgbClr val="242424"/>
                  </a:solidFill>
                  <a:latin typeface="Browallia New"/>
                  <a:ea typeface="Tahoma"/>
                  <a:cs typeface="Tahoma"/>
                </a:rPr>
                <a:t>QSSI </a:t>
              </a:r>
            </a:p>
          </p:txBody>
        </p:sp>
        <p:sp>
          <p:nvSpPr>
            <p:cNvPr id="33" name="Rectangle 20">
              <a:extLst>
                <a:ext uri="{FF2B5EF4-FFF2-40B4-BE49-F238E27FC236}">
                  <a16:creationId xmlns:a16="http://schemas.microsoft.com/office/drawing/2014/main" id="{4C8B4417-79E6-B210-86AA-0F30BAF831B4}"/>
                </a:ext>
              </a:extLst>
            </p:cNvPr>
            <p:cNvSpPr/>
            <p:nvPr/>
          </p:nvSpPr>
          <p:spPr>
            <a:xfrm>
              <a:off x="261965" y="5004056"/>
              <a:ext cx="3860352" cy="1077218"/>
            </a:xfrm>
            <a:prstGeom prst="rect">
              <a:avLst/>
            </a:prstGeom>
          </p:spPr>
          <p:txBody>
            <a:bodyPr wrap="none" lIns="91440" tIns="45720" rIns="91440" bIns="45720" anchor="t">
              <a:spAutoFit/>
            </a:bodyPr>
            <a:lstStyle>
              <a:defPPr>
                <a:defRPr lang="th-TH"/>
              </a:defPPr>
              <a:lvl1pPr marL="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600">
                  <a:latin typeface="Browallia New"/>
                  <a:ea typeface="Tahoma"/>
                  <a:cs typeface="Tahoma"/>
                </a:rPr>
                <a:t>3.</a:t>
              </a:r>
              <a:r>
                <a:rPr lang="th-TH" sz="1600">
                  <a:latin typeface="Browallia New"/>
                  <a:ea typeface="Tahoma"/>
                  <a:cs typeface="Browallia New"/>
                </a:rPr>
                <a:t> ตรวจสอบสาขาที่ถูกกระทบ และ สาขาที่เปิดใกล้เคียง</a:t>
              </a:r>
            </a:p>
            <a:p>
              <a:r>
                <a:rPr lang="th-TH" sz="1600">
                  <a:latin typeface="Browallia New"/>
                  <a:ea typeface="Tahoma"/>
                  <a:cs typeface="Browallia New"/>
                </a:rPr>
                <a:t>4. ตรวจสอบเพิ่มกรณีที่เป็นร้าน </a:t>
              </a:r>
              <a:r>
                <a:rPr lang="en-US" sz="1600">
                  <a:latin typeface="Browallia New"/>
                  <a:ea typeface="Tahoma"/>
                  <a:cs typeface="Tahoma"/>
                </a:rPr>
                <a:t>Take</a:t>
              </a:r>
              <a:r>
                <a:rPr lang="th-TH" sz="1600">
                  <a:latin typeface="Browallia New"/>
                  <a:ea typeface="Tahoma"/>
                  <a:cs typeface="Browallia New"/>
                </a:rPr>
                <a:t> </a:t>
              </a:r>
              <a:r>
                <a:rPr lang="en-US" sz="1600">
                  <a:latin typeface="Browallia New"/>
                  <a:ea typeface="Tahoma"/>
                  <a:cs typeface="Tahoma"/>
                </a:rPr>
                <a:t>“</a:t>
              </a:r>
              <a:r>
                <a:rPr lang="th-TH" sz="1600">
                  <a:latin typeface="Browallia New"/>
                  <a:ea typeface="Tahoma"/>
                  <a:cs typeface="Browallia New"/>
                </a:rPr>
                <a:t>สาขาที่ถูกกระทบ </a:t>
              </a:r>
              <a:r>
                <a:rPr lang="en-US" sz="1600">
                  <a:latin typeface="Browallia New"/>
                  <a:ea typeface="Tahoma"/>
                  <a:cs typeface="Tahoma"/>
                </a:rPr>
                <a:t>“</a:t>
              </a:r>
              <a:endParaRPr lang="th-TH" sz="1600">
                <a:latin typeface="Browallia New"/>
                <a:ea typeface="Tahoma"/>
                <a:cs typeface="Tahoma"/>
              </a:endParaRPr>
            </a:p>
            <a:p>
              <a:r>
                <a:rPr lang="th-TH" sz="1600">
                  <a:latin typeface="Browallia New"/>
                  <a:ea typeface="Tahoma"/>
                  <a:cs typeface="Browallia New"/>
                </a:rPr>
                <a:t>5. </a:t>
              </a:r>
              <a:r>
                <a:rPr lang="en-US" sz="1600">
                  <a:latin typeface="Browallia New"/>
                  <a:ea typeface="Tahoma"/>
                  <a:cs typeface="Tahoma"/>
                </a:rPr>
                <a:t>Center </a:t>
              </a:r>
              <a:r>
                <a:rPr lang="th-TH" sz="1600">
                  <a:latin typeface="Browallia New"/>
                  <a:ea typeface="Tahoma"/>
                  <a:cs typeface="Browallia New"/>
                </a:rPr>
                <a:t>ตรวจสอบจากรายงานประกันรายได้จากระบบ </a:t>
              </a:r>
              <a:r>
                <a:rPr lang="en-US" sz="1600">
                  <a:latin typeface="Browallia New"/>
                  <a:ea typeface="Tahoma"/>
                  <a:cs typeface="Tahoma"/>
                </a:rPr>
                <a:t>K2 </a:t>
              </a:r>
              <a:endParaRPr lang="th-TH" sz="1600">
                <a:latin typeface="Browallia New"/>
                <a:ea typeface="Tahoma"/>
                <a:cs typeface="Tahoma"/>
              </a:endParaRPr>
            </a:p>
            <a:p>
              <a:r>
                <a:rPr lang="th-TH" sz="1600">
                  <a:latin typeface="Browallia New"/>
                  <a:ea typeface="Tahoma"/>
                  <a:cs typeface="Browallia New"/>
                </a:rPr>
                <a:t>    กระทบยอดกับ </a:t>
              </a:r>
              <a:r>
                <a:rPr lang="en-US" sz="1600">
                  <a:latin typeface="Browallia New"/>
                  <a:ea typeface="Tahoma"/>
                  <a:cs typeface="Tahoma"/>
                </a:rPr>
                <a:t>SAP </a:t>
              </a:r>
              <a:r>
                <a:rPr lang="th-TH" sz="1600">
                  <a:latin typeface="Browallia New"/>
                  <a:ea typeface="Tahoma"/>
                  <a:cs typeface="Browallia New"/>
                </a:rPr>
                <a:t>และ </a:t>
              </a:r>
              <a:r>
                <a:rPr lang="en-US" sz="1600">
                  <a:latin typeface="Browallia New"/>
                  <a:ea typeface="Tahoma"/>
                  <a:cs typeface="Tahoma"/>
                </a:rPr>
                <a:t>Post </a:t>
              </a:r>
              <a:r>
                <a:rPr lang="th-TH" sz="1600">
                  <a:latin typeface="Browallia New"/>
                  <a:ea typeface="Tahoma"/>
                  <a:cs typeface="Browallia New"/>
                </a:rPr>
                <a:t>คู่ </a:t>
              </a:r>
              <a:r>
                <a:rPr lang="en-US" sz="1600">
                  <a:latin typeface="Browallia New"/>
                  <a:ea typeface="Tahoma"/>
                  <a:cs typeface="Tahoma"/>
                </a:rPr>
                <a:t>Acc </a:t>
              </a:r>
              <a:r>
                <a:rPr lang="th-TH" sz="1600">
                  <a:latin typeface="Browallia New"/>
                  <a:ea typeface="Tahoma"/>
                  <a:cs typeface="Browallia New"/>
                </a:rPr>
                <a:t>ถูกต้อง</a:t>
              </a:r>
              <a:r>
                <a:rPr lang="en-US" sz="1600">
                  <a:latin typeface="Browallia New"/>
                  <a:ea typeface="Tahoma"/>
                  <a:cs typeface="Tahoma"/>
                </a:rPr>
                <a:t> </a:t>
              </a:r>
              <a:endParaRPr lang="en-US" sz="1800">
                <a:solidFill>
                  <a:srgbClr val="242424"/>
                </a:solidFill>
                <a:latin typeface="Browallia New"/>
                <a:ea typeface="Tahoma"/>
                <a:cs typeface="Tahoma"/>
              </a:endParaRPr>
            </a:p>
          </p:txBody>
        </p:sp>
        <p:pic>
          <p:nvPicPr>
            <p:cNvPr id="35" name="Picture 26">
              <a:extLst>
                <a:ext uri="{FF2B5EF4-FFF2-40B4-BE49-F238E27FC236}">
                  <a16:creationId xmlns:a16="http://schemas.microsoft.com/office/drawing/2014/main" id="{EDC0C224-77FB-3B25-A591-4F9AB0E6BE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5387" y="3891925"/>
              <a:ext cx="3786084" cy="1108390"/>
            </a:xfrm>
            <a:prstGeom prst="rect">
              <a:avLst/>
            </a:prstGeom>
          </p:spPr>
        </p:pic>
        <p:sp>
          <p:nvSpPr>
            <p:cNvPr id="37" name="Rectangle 14">
              <a:extLst>
                <a:ext uri="{FF2B5EF4-FFF2-40B4-BE49-F238E27FC236}">
                  <a16:creationId xmlns:a16="http://schemas.microsoft.com/office/drawing/2014/main" id="{236CD3D4-0037-3368-F29F-BD8CC4BE8F23}"/>
                </a:ext>
              </a:extLst>
            </p:cNvPr>
            <p:cNvSpPr/>
            <p:nvPr/>
          </p:nvSpPr>
          <p:spPr>
            <a:xfrm>
              <a:off x="206700" y="6029783"/>
              <a:ext cx="6791834" cy="83099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91440" tIns="45720" rIns="91440" bIns="45720" anchor="t">
              <a:spAutoFit/>
            </a:bodyPr>
            <a:lstStyle>
              <a:defPPr>
                <a:defRPr lang="th-TH"/>
              </a:defPPr>
              <a:lvl1pPr marL="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th-TH" sz="1600" b="1" u="sng">
                  <a:solidFill>
                    <a:srgbClr val="FF0000"/>
                  </a:solidFill>
                  <a:latin typeface="Browallia New"/>
                  <a:ea typeface="Tahoma"/>
                  <a:cs typeface="Browallia New"/>
                </a:rPr>
                <a:t>กรณีที่ยอดไม่ตรง </a:t>
              </a:r>
              <a:endParaRPr lang="en-US" sz="1600" b="1" u="sng">
                <a:solidFill>
                  <a:srgbClr val="FF0000"/>
                </a:solidFill>
                <a:latin typeface="Browallia New"/>
                <a:ea typeface="Tahoma"/>
                <a:cs typeface="Browallia New"/>
              </a:endParaRPr>
            </a:p>
            <a:p>
              <a:r>
                <a:rPr lang="en-US" sz="1600">
                  <a:latin typeface="Browallia New"/>
                  <a:ea typeface="Tahoma"/>
                  <a:cs typeface="Tahoma"/>
                </a:rPr>
                <a:t>1. </a:t>
              </a:r>
              <a:r>
                <a:rPr lang="th-TH" sz="1600">
                  <a:latin typeface="Browallia New"/>
                  <a:ea typeface="Tahoma"/>
                  <a:cs typeface="Browallia New"/>
                </a:rPr>
                <a:t>เนื่องจากระบบ </a:t>
              </a:r>
              <a:r>
                <a:rPr lang="en-US" sz="1600">
                  <a:latin typeface="Browallia New"/>
                  <a:ea typeface="Tahoma"/>
                  <a:cs typeface="Tahoma"/>
                </a:rPr>
                <a:t>K2 </a:t>
              </a:r>
              <a:r>
                <a:rPr lang="th-TH" sz="1600">
                  <a:latin typeface="Browallia New"/>
                  <a:ea typeface="Tahoma"/>
                  <a:cs typeface="Browallia New"/>
                </a:rPr>
                <a:t>คำนวณจำนวนที่ชดเชย ไม่ตรงตาม </a:t>
              </a:r>
              <a:r>
                <a:rPr lang="en-US" sz="1600">
                  <a:latin typeface="Browallia New"/>
                  <a:ea typeface="Tahoma"/>
                  <a:cs typeface="Tahoma"/>
                </a:rPr>
                <a:t>File PDF</a:t>
              </a:r>
            </a:p>
            <a:p>
              <a:r>
                <a:rPr lang="en-US" sz="1600">
                  <a:latin typeface="Browallia New"/>
                  <a:ea typeface="Tahoma"/>
                  <a:cs typeface="Tahoma"/>
                </a:rPr>
                <a:t>2. </a:t>
              </a:r>
              <a:r>
                <a:rPr lang="th-TH" sz="1600">
                  <a:latin typeface="Browallia New"/>
                  <a:ea typeface="Tahoma"/>
                  <a:cs typeface="Browallia New"/>
                </a:rPr>
                <a:t>เนื่องจากต้นทางแจ้งข้อมูลไม่ถูกต้องและครบถ้วน</a:t>
              </a:r>
              <a:endParaRPr lang="en-US" sz="1600">
                <a:solidFill>
                  <a:srgbClr val="242424"/>
                </a:solidFill>
                <a:latin typeface="Browallia New"/>
                <a:ea typeface="Tahoma"/>
                <a:cs typeface="Browallia New"/>
              </a:endParaRPr>
            </a:p>
          </p:txBody>
        </p:sp>
        <p:grpSp>
          <p:nvGrpSpPr>
            <p:cNvPr id="42" name="กลุ่ม 41">
              <a:extLst>
                <a:ext uri="{FF2B5EF4-FFF2-40B4-BE49-F238E27FC236}">
                  <a16:creationId xmlns:a16="http://schemas.microsoft.com/office/drawing/2014/main" id="{4ABC1CC4-0BCD-152F-BD85-83ECFA3D1129}"/>
                </a:ext>
              </a:extLst>
            </p:cNvPr>
            <p:cNvGrpSpPr/>
            <p:nvPr/>
          </p:nvGrpSpPr>
          <p:grpSpPr>
            <a:xfrm>
              <a:off x="7221655" y="637192"/>
              <a:ext cx="4596039" cy="6100715"/>
              <a:chOff x="7221655" y="637192"/>
              <a:chExt cx="4596039" cy="6100715"/>
            </a:xfrm>
          </p:grpSpPr>
          <p:pic>
            <p:nvPicPr>
              <p:cNvPr id="39" name="Picture 11">
                <a:extLst>
                  <a:ext uri="{FF2B5EF4-FFF2-40B4-BE49-F238E27FC236}">
                    <a16:creationId xmlns:a16="http://schemas.microsoft.com/office/drawing/2014/main" id="{17DD115A-77E6-50E3-3275-8735248EF1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21655" y="637192"/>
                <a:ext cx="4596039" cy="5986636"/>
              </a:xfrm>
              <a:prstGeom prst="rect">
                <a:avLst/>
              </a:prstGeom>
              <a:ln>
                <a:noFill/>
              </a:ln>
              <a:effectLst>
                <a:outerShdw blurRad="190500" algn="tl" rotWithShape="0">
                  <a:srgbClr val="000000">
                    <a:alpha val="70000"/>
                  </a:srgbClr>
                </a:outerShdw>
              </a:effectLst>
            </p:spPr>
          </p:pic>
          <p:sp>
            <p:nvSpPr>
              <p:cNvPr id="40" name="Rectangle 18">
                <a:extLst>
                  <a:ext uri="{FF2B5EF4-FFF2-40B4-BE49-F238E27FC236}">
                    <a16:creationId xmlns:a16="http://schemas.microsoft.com/office/drawing/2014/main" id="{B119323F-4BFB-E1C1-8470-969BD50BA9C5}"/>
                  </a:ext>
                </a:extLst>
              </p:cNvPr>
              <p:cNvSpPr/>
              <p:nvPr/>
            </p:nvSpPr>
            <p:spPr>
              <a:xfrm>
                <a:off x="10567280" y="6267212"/>
                <a:ext cx="697537" cy="356616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th-TH"/>
                </a:defPPr>
                <a:lvl1pPr marL="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th-TH"/>
              </a:p>
            </p:txBody>
          </p:sp>
          <p:sp>
            <p:nvSpPr>
              <p:cNvPr id="41" name="Rectangle 16">
                <a:extLst>
                  <a:ext uri="{FF2B5EF4-FFF2-40B4-BE49-F238E27FC236}">
                    <a16:creationId xmlns:a16="http://schemas.microsoft.com/office/drawing/2014/main" id="{3DC325FC-EC20-C9BD-B11B-FBA82CC4AE5E}"/>
                  </a:ext>
                </a:extLst>
              </p:cNvPr>
              <p:cNvSpPr/>
              <p:nvPr/>
            </p:nvSpPr>
            <p:spPr>
              <a:xfrm>
                <a:off x="10174224" y="6153132"/>
                <a:ext cx="393056" cy="584775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>
                <a:defPPr>
                  <a:defRPr lang="th-TH"/>
                </a:defPPr>
                <a:lvl1pPr marL="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3200" b="1" cap="none" spc="0">
                    <a:ln w="0"/>
                    <a:solidFill>
                      <a:schemeClr val="accent2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2</a:t>
                </a:r>
              </a:p>
            </p:txBody>
          </p:sp>
        </p:grpSp>
        <p:grpSp>
          <p:nvGrpSpPr>
            <p:cNvPr id="51" name="กลุ่ม 50">
              <a:extLst>
                <a:ext uri="{FF2B5EF4-FFF2-40B4-BE49-F238E27FC236}">
                  <a16:creationId xmlns:a16="http://schemas.microsoft.com/office/drawing/2014/main" id="{54ACD323-9A96-E8E0-83F3-740E27D89DA7}"/>
                </a:ext>
              </a:extLst>
            </p:cNvPr>
            <p:cNvGrpSpPr/>
            <p:nvPr/>
          </p:nvGrpSpPr>
          <p:grpSpPr>
            <a:xfrm>
              <a:off x="99543" y="1101985"/>
              <a:ext cx="6830928" cy="2174683"/>
              <a:chOff x="230512" y="637192"/>
              <a:chExt cx="6830928" cy="2174683"/>
            </a:xfrm>
          </p:grpSpPr>
          <p:pic>
            <p:nvPicPr>
              <p:cNvPr id="44" name="Picture 12">
                <a:extLst>
                  <a:ext uri="{FF2B5EF4-FFF2-40B4-BE49-F238E27FC236}">
                    <a16:creationId xmlns:a16="http://schemas.microsoft.com/office/drawing/2014/main" id="{AF961FDC-F565-0804-419C-45F5AE0C30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0512" y="637192"/>
                <a:ext cx="6830928" cy="2174682"/>
              </a:xfrm>
              <a:prstGeom prst="rect">
                <a:avLst/>
              </a:prstGeom>
              <a:ln>
                <a:noFill/>
              </a:ln>
              <a:effectLst>
                <a:outerShdw blurRad="190500" algn="tl" rotWithShape="0">
                  <a:srgbClr val="000000">
                    <a:alpha val="70000"/>
                  </a:srgbClr>
                </a:outerShdw>
              </a:effectLst>
            </p:spPr>
          </p:pic>
          <p:sp>
            <p:nvSpPr>
              <p:cNvPr id="45" name="Rectangle 22">
                <a:extLst>
                  <a:ext uri="{FF2B5EF4-FFF2-40B4-BE49-F238E27FC236}">
                    <a16:creationId xmlns:a16="http://schemas.microsoft.com/office/drawing/2014/main" id="{CDC73631-E739-BBD3-CD1C-265F0C3A0A66}"/>
                  </a:ext>
                </a:extLst>
              </p:cNvPr>
              <p:cNvSpPr/>
              <p:nvPr/>
            </p:nvSpPr>
            <p:spPr>
              <a:xfrm>
                <a:off x="1725756" y="1367917"/>
                <a:ext cx="788844" cy="332867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th-TH"/>
                </a:defPPr>
                <a:lvl1pPr marL="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th-TH"/>
              </a:p>
            </p:txBody>
          </p:sp>
          <p:sp>
            <p:nvSpPr>
              <p:cNvPr id="46" name="Rectangle 23">
                <a:extLst>
                  <a:ext uri="{FF2B5EF4-FFF2-40B4-BE49-F238E27FC236}">
                    <a16:creationId xmlns:a16="http://schemas.microsoft.com/office/drawing/2014/main" id="{651EE6F8-CD87-8B38-DC36-FB00CEAA38F7}"/>
                  </a:ext>
                </a:extLst>
              </p:cNvPr>
              <p:cNvSpPr/>
              <p:nvPr/>
            </p:nvSpPr>
            <p:spPr>
              <a:xfrm>
                <a:off x="3604754" y="1569594"/>
                <a:ext cx="1296430" cy="396366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th-TH"/>
                </a:defPPr>
                <a:lvl1pPr marL="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th-TH"/>
              </a:p>
            </p:txBody>
          </p:sp>
          <p:sp>
            <p:nvSpPr>
              <p:cNvPr id="47" name="Rectangle 24">
                <a:extLst>
                  <a:ext uri="{FF2B5EF4-FFF2-40B4-BE49-F238E27FC236}">
                    <a16:creationId xmlns:a16="http://schemas.microsoft.com/office/drawing/2014/main" id="{B1DA2A1F-878A-7F7C-BBA3-2506CCDDCCAD}"/>
                  </a:ext>
                </a:extLst>
              </p:cNvPr>
              <p:cNvSpPr/>
              <p:nvPr/>
            </p:nvSpPr>
            <p:spPr>
              <a:xfrm>
                <a:off x="6324517" y="2423161"/>
                <a:ext cx="736923" cy="388714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th-TH"/>
                </a:defPPr>
                <a:lvl1pPr marL="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th-TH"/>
              </a:p>
            </p:txBody>
          </p:sp>
          <p:sp>
            <p:nvSpPr>
              <p:cNvPr id="48" name="Rectangle 2">
                <a:extLst>
                  <a:ext uri="{FF2B5EF4-FFF2-40B4-BE49-F238E27FC236}">
                    <a16:creationId xmlns:a16="http://schemas.microsoft.com/office/drawing/2014/main" id="{6EEA0BAF-4745-4517-681D-C001F29E484B}"/>
                  </a:ext>
                </a:extLst>
              </p:cNvPr>
              <p:cNvSpPr/>
              <p:nvPr/>
            </p:nvSpPr>
            <p:spPr>
              <a:xfrm>
                <a:off x="1306740" y="1256348"/>
                <a:ext cx="393056" cy="584775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>
                <a:defPPr>
                  <a:defRPr lang="th-TH"/>
                </a:defPPr>
                <a:lvl1pPr marL="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3200" b="1" cap="none" spc="0">
                    <a:ln w="0"/>
                    <a:solidFill>
                      <a:schemeClr val="accent2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1</a:t>
                </a:r>
              </a:p>
            </p:txBody>
          </p:sp>
          <p:sp>
            <p:nvSpPr>
              <p:cNvPr id="49" name="Rectangle 15">
                <a:extLst>
                  <a:ext uri="{FF2B5EF4-FFF2-40B4-BE49-F238E27FC236}">
                    <a16:creationId xmlns:a16="http://schemas.microsoft.com/office/drawing/2014/main" id="{D86EF273-BCC4-4F09-9E17-AF5B6605DABE}"/>
                  </a:ext>
                </a:extLst>
              </p:cNvPr>
              <p:cNvSpPr/>
              <p:nvPr/>
            </p:nvSpPr>
            <p:spPr>
              <a:xfrm>
                <a:off x="4989678" y="1530393"/>
                <a:ext cx="393056" cy="584775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>
                <a:defPPr>
                  <a:defRPr lang="th-TH"/>
                </a:defPPr>
                <a:lvl1pPr marL="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3200" b="1" cap="none" spc="0">
                    <a:ln w="0"/>
                    <a:solidFill>
                      <a:schemeClr val="accent2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2</a:t>
                </a:r>
              </a:p>
            </p:txBody>
          </p:sp>
          <p:sp>
            <p:nvSpPr>
              <p:cNvPr id="50" name="Rectangle 17">
                <a:extLst>
                  <a:ext uri="{FF2B5EF4-FFF2-40B4-BE49-F238E27FC236}">
                    <a16:creationId xmlns:a16="http://schemas.microsoft.com/office/drawing/2014/main" id="{74E0274F-FE3E-22A5-DB99-EF2FBD226C93}"/>
                  </a:ext>
                </a:extLst>
              </p:cNvPr>
              <p:cNvSpPr/>
              <p:nvPr/>
            </p:nvSpPr>
            <p:spPr>
              <a:xfrm>
                <a:off x="6501859" y="1934712"/>
                <a:ext cx="393056" cy="584775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>
                <a:defPPr>
                  <a:defRPr lang="th-TH"/>
                </a:defPPr>
                <a:lvl1pPr marL="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3200" b="1" cap="none" spc="0">
                    <a:ln w="0"/>
                    <a:solidFill>
                      <a:schemeClr val="accent2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3</a:t>
                </a:r>
              </a:p>
            </p:txBody>
          </p:sp>
        </p:grpSp>
      </p:grpSp>
      <p:sp>
        <p:nvSpPr>
          <p:cNvPr id="54" name="สี่เหลี่ยมผืนผ้า 53">
            <a:extLst>
              <a:ext uri="{FF2B5EF4-FFF2-40B4-BE49-F238E27FC236}">
                <a16:creationId xmlns:a16="http://schemas.microsoft.com/office/drawing/2014/main" id="{F4FDA5AF-F70E-E61A-97EA-C1FE7EA8847F}"/>
              </a:ext>
            </a:extLst>
          </p:cNvPr>
          <p:cNvSpPr/>
          <p:nvPr/>
        </p:nvSpPr>
        <p:spPr>
          <a:xfrm>
            <a:off x="990599" y="2685551"/>
            <a:ext cx="10809515" cy="87174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800">
                <a:latin typeface="CordiaUPC"/>
                <a:ea typeface="Tahoma"/>
                <a:cs typeface="CordiaUPC"/>
              </a:rPr>
              <a:t>ยกเลิกหน้าจอกระบวนการ </a:t>
            </a:r>
            <a:r>
              <a:rPr lang="th-TH" sz="2800" err="1">
                <a:latin typeface="CordiaUPC"/>
                <a:ea typeface="Tahoma"/>
                <a:cs typeface="CordiaUPC"/>
              </a:rPr>
              <a:t>Approve</a:t>
            </a:r>
            <a:r>
              <a:rPr lang="th-TH" sz="2800">
                <a:latin typeface="CordiaUPC"/>
                <a:ea typeface="Tahoma"/>
                <a:cs typeface="CordiaUPC"/>
              </a:rPr>
              <a:t> ตรวจสอบยอดชดเชยรายได้</a:t>
            </a:r>
            <a:endParaRPr lang="th-TH" sz="3200">
              <a:latin typeface="CordiaUPC"/>
              <a:cs typeface="CordiaUPC"/>
            </a:endParaRPr>
          </a:p>
        </p:txBody>
      </p:sp>
    </p:spTree>
    <p:extLst>
      <p:ext uri="{BB962C8B-B14F-4D97-AF65-F5344CB8AC3E}">
        <p14:creationId xmlns:p14="http://schemas.microsoft.com/office/powerpoint/2010/main" val="21199322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2CEED-B93C-881D-A333-BE243D660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A72E32B-89E0-6B31-2AC4-2D07013E826C}"/>
              </a:ext>
            </a:extLst>
          </p:cNvPr>
          <p:cNvSpPr txBox="1">
            <a:spLocks/>
          </p:cNvSpPr>
          <p:nvPr/>
        </p:nvSpPr>
        <p:spPr bwMode="auto">
          <a:xfrm>
            <a:off x="501815" y="72244"/>
            <a:ext cx="4707486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1.9 To-Be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 Business Process</a:t>
            </a:r>
            <a:r>
              <a:rPr lang="en-US" altLang="en-US" u="sng">
                <a:latin typeface="CordiaUPC"/>
                <a:ea typeface="Tahoma"/>
                <a:cs typeface="CordiaUPC"/>
              </a:rPr>
              <a:t> </a:t>
            </a:r>
            <a:endParaRPr lang="th-TH" altLang="en-US" b="1" u="sng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AB3BCA-5B47-EB3B-E039-8770904D4865}"/>
              </a:ext>
            </a:extLst>
          </p:cNvPr>
          <p:cNvSpPr txBox="1"/>
          <p:nvPr/>
        </p:nvSpPr>
        <p:spPr>
          <a:xfrm>
            <a:off x="568029" y="745227"/>
            <a:ext cx="9282545" cy="461665"/>
          </a:xfrm>
          <a:prstGeom prst="rect">
            <a:avLst/>
          </a:prstGeom>
          <a:solidFill>
            <a:schemeClr val="tx2"/>
          </a:solidFill>
        </p:spPr>
        <p:txBody>
          <a:bodyPr wrap="square" lIns="91440" tIns="45720" rIns="91440" bIns="45720" anchor="t"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2400" b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owallia New"/>
                <a:cs typeface="Browallia New"/>
              </a:rPr>
              <a:t>แสดงหน้าจอข้อมูลตารางยอดเงิน แทนกระบวนการ </a:t>
            </a:r>
            <a:r>
              <a:rPr lang="th-TH" sz="2400" b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owallia New"/>
                <a:cs typeface="Browallia New"/>
              </a:rPr>
              <a:t>Approve</a:t>
            </a:r>
            <a:r>
              <a:rPr lang="th-TH" sz="2400" b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owallia New"/>
                <a:cs typeface="Browallia New"/>
              </a:rPr>
              <a:t> ตรวจสอบยอดชดเชยรายได้ฝั่งทีมบัญชี</a:t>
            </a:r>
            <a:endParaRPr lang="th-TH" sz="2400" b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Browallia New"/>
              <a:cs typeface="Browallia New"/>
            </a:endParaRPr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C970A5DD-E839-ADA4-611E-DF9DC4773D1F}"/>
              </a:ext>
            </a:extLst>
          </p:cNvPr>
          <p:cNvSpPr txBox="1"/>
          <p:nvPr/>
        </p:nvSpPr>
        <p:spPr>
          <a:xfrm>
            <a:off x="9542628" y="-5311"/>
            <a:ext cx="2657543" cy="163121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lIns="91440" tIns="45720" rIns="91440" bIns="45720" anchor="t"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Browallia New"/>
              </a:rPr>
              <a:t>หมายเหตุ</a:t>
            </a:r>
            <a:r>
              <a:rPr lang="en-US" sz="2000" b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Browallia New"/>
              </a:rPr>
              <a:t> : </a:t>
            </a:r>
            <a:r>
              <a:rPr lang="en-US" sz="2000" b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Browallia New"/>
              </a:rPr>
              <a:t>ทีมบัญชีสามารถตรวจสอบหน้ารายงานบนระบบ</a:t>
            </a:r>
            <a:r>
              <a:rPr lang="en-US" sz="2000" b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Browallia New"/>
              </a:rPr>
              <a:t> </a:t>
            </a:r>
            <a:r>
              <a:rPr lang="en-US" sz="2000" b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Browallia New"/>
              </a:rPr>
              <a:t>เพื่อนำไปตรวจสอบข้อมูลบยระบบ</a:t>
            </a:r>
            <a:r>
              <a:rPr lang="en-US" sz="2000" b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Browallia New"/>
              </a:rPr>
              <a:t> SAP</a:t>
            </a:r>
            <a:endParaRPr lang="th-TH">
              <a:ea typeface="Tahoma"/>
            </a:endParaRPr>
          </a:p>
        </p:txBody>
      </p:sp>
      <p:grpSp>
        <p:nvGrpSpPr>
          <p:cNvPr id="26" name="กลุ่ม 25">
            <a:extLst>
              <a:ext uri="{FF2B5EF4-FFF2-40B4-BE49-F238E27FC236}">
                <a16:creationId xmlns:a16="http://schemas.microsoft.com/office/drawing/2014/main" id="{60656B1C-E607-8B06-CD52-CC8136360852}"/>
              </a:ext>
            </a:extLst>
          </p:cNvPr>
          <p:cNvGrpSpPr/>
          <p:nvPr/>
        </p:nvGrpSpPr>
        <p:grpSpPr>
          <a:xfrm>
            <a:off x="875817" y="1341586"/>
            <a:ext cx="10695698" cy="4619597"/>
            <a:chOff x="183090" y="925949"/>
            <a:chExt cx="12474467" cy="5723491"/>
          </a:xfrm>
        </p:grpSpPr>
        <p:grpSp>
          <p:nvGrpSpPr>
            <p:cNvPr id="19" name="กลุ่ม 18">
              <a:extLst>
                <a:ext uri="{FF2B5EF4-FFF2-40B4-BE49-F238E27FC236}">
                  <a16:creationId xmlns:a16="http://schemas.microsoft.com/office/drawing/2014/main" id="{DE9C39BE-8F5C-353B-F9B5-CD90C5126D25}"/>
                </a:ext>
              </a:extLst>
            </p:cNvPr>
            <p:cNvGrpSpPr/>
            <p:nvPr/>
          </p:nvGrpSpPr>
          <p:grpSpPr>
            <a:xfrm>
              <a:off x="183273" y="925949"/>
              <a:ext cx="11659199" cy="3410125"/>
              <a:chOff x="183273" y="264591"/>
              <a:chExt cx="11659199" cy="3410125"/>
            </a:xfrm>
          </p:grpSpPr>
          <p:pic>
            <p:nvPicPr>
              <p:cNvPr id="13" name="Picture 1">
                <a:extLst>
                  <a:ext uri="{FF2B5EF4-FFF2-40B4-BE49-F238E27FC236}">
                    <a16:creationId xmlns:a16="http://schemas.microsoft.com/office/drawing/2014/main" id="{B21E894A-03B8-E38C-E855-3098318119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3273" y="264591"/>
                <a:ext cx="11659199" cy="3410125"/>
              </a:xfrm>
              <a:prstGeom prst="rect">
                <a:avLst/>
              </a:prstGeom>
            </p:spPr>
          </p:pic>
          <p:sp>
            <p:nvSpPr>
              <p:cNvPr id="15" name="Rectangle 2">
                <a:extLst>
                  <a:ext uri="{FF2B5EF4-FFF2-40B4-BE49-F238E27FC236}">
                    <a16:creationId xmlns:a16="http://schemas.microsoft.com/office/drawing/2014/main" id="{1C2C6E55-F602-C7FB-19F9-A04EE034A30A}"/>
                  </a:ext>
                </a:extLst>
              </p:cNvPr>
              <p:cNvSpPr/>
              <p:nvPr/>
            </p:nvSpPr>
            <p:spPr>
              <a:xfrm>
                <a:off x="1884218" y="877455"/>
                <a:ext cx="1431637" cy="443345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th-TH"/>
                </a:defPPr>
                <a:lvl1pPr marL="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th-TH"/>
              </a:p>
            </p:txBody>
          </p:sp>
          <p:sp>
            <p:nvSpPr>
              <p:cNvPr id="16" name="Rectangle 3">
                <a:extLst>
                  <a:ext uri="{FF2B5EF4-FFF2-40B4-BE49-F238E27FC236}">
                    <a16:creationId xmlns:a16="http://schemas.microsoft.com/office/drawing/2014/main" id="{4E019EEC-308B-7E03-D620-C744A921431B}"/>
                  </a:ext>
                </a:extLst>
              </p:cNvPr>
              <p:cNvSpPr/>
              <p:nvPr/>
            </p:nvSpPr>
            <p:spPr>
              <a:xfrm>
                <a:off x="4687454" y="3144982"/>
                <a:ext cx="1431637" cy="443345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th-TH"/>
                </a:defPPr>
                <a:lvl1pPr marL="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th-TH"/>
              </a:p>
            </p:txBody>
          </p:sp>
          <p:sp>
            <p:nvSpPr>
              <p:cNvPr id="17" name="5-Point Star 4">
                <a:extLst>
                  <a:ext uri="{FF2B5EF4-FFF2-40B4-BE49-F238E27FC236}">
                    <a16:creationId xmlns:a16="http://schemas.microsoft.com/office/drawing/2014/main" id="{C66385FE-6843-4FDB-7113-35CC569208D4}"/>
                  </a:ext>
                </a:extLst>
              </p:cNvPr>
              <p:cNvSpPr/>
              <p:nvPr/>
            </p:nvSpPr>
            <p:spPr>
              <a:xfrm>
                <a:off x="3454400" y="923636"/>
                <a:ext cx="332509" cy="350982"/>
              </a:xfrm>
              <a:prstGeom prst="star5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th-TH"/>
                </a:defPPr>
                <a:lvl1pPr marL="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th-TH"/>
              </a:p>
            </p:txBody>
          </p:sp>
          <p:sp>
            <p:nvSpPr>
              <p:cNvPr id="18" name="5-Point Star 5">
                <a:extLst>
                  <a:ext uri="{FF2B5EF4-FFF2-40B4-BE49-F238E27FC236}">
                    <a16:creationId xmlns:a16="http://schemas.microsoft.com/office/drawing/2014/main" id="{4F6F6A50-2DDF-FBFD-F880-59B1D0073671}"/>
                  </a:ext>
                </a:extLst>
              </p:cNvPr>
              <p:cNvSpPr/>
              <p:nvPr/>
            </p:nvSpPr>
            <p:spPr>
              <a:xfrm>
                <a:off x="4687454" y="3163455"/>
                <a:ext cx="332509" cy="350982"/>
              </a:xfrm>
              <a:prstGeom prst="star5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th-TH"/>
                </a:defPPr>
                <a:lvl1pPr marL="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th-TH"/>
              </a:p>
            </p:txBody>
          </p:sp>
        </p:grpSp>
        <p:sp>
          <p:nvSpPr>
            <p:cNvPr id="21" name="Rectangle 8">
              <a:extLst>
                <a:ext uri="{FF2B5EF4-FFF2-40B4-BE49-F238E27FC236}">
                  <a16:creationId xmlns:a16="http://schemas.microsoft.com/office/drawing/2014/main" id="{381DE017-2A48-DBA6-703B-1D39D25974D6}"/>
                </a:ext>
              </a:extLst>
            </p:cNvPr>
            <p:cNvSpPr/>
            <p:nvPr/>
          </p:nvSpPr>
          <p:spPr>
            <a:xfrm>
              <a:off x="6767489" y="4345711"/>
              <a:ext cx="5074487" cy="144902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lIns="91440" tIns="45720" rIns="91440" bIns="45720" anchor="t">
              <a:spAutoFit/>
            </a:bodyPr>
            <a:lstStyle>
              <a:defPPr>
                <a:defRPr lang="th-TH"/>
              </a:defPPr>
              <a:lvl1pPr marL="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indent="-342900">
                <a:buAutoNum type="arabicPeriod"/>
              </a:pPr>
              <a:r>
                <a:rPr lang="th-TH" sz="1400">
                  <a:solidFill>
                    <a:srgbClr val="0070C0"/>
                  </a:solidFill>
                  <a:latin typeface="Browallia New"/>
                  <a:ea typeface="Tahoma"/>
                  <a:cs typeface="Browallia New"/>
                </a:rPr>
                <a:t>การอนุมัติบันทึกจำนวน 150-170 ต่อเดือน</a:t>
              </a:r>
            </a:p>
            <a:p>
              <a:pPr marL="342900" indent="-342900">
                <a:buAutoNum type="arabicPeriod"/>
              </a:pPr>
              <a:r>
                <a:rPr lang="th-TH" sz="1400">
                  <a:solidFill>
                    <a:srgbClr val="0070C0"/>
                  </a:solidFill>
                  <a:latin typeface="Browallia New"/>
                  <a:ea typeface="Tahoma"/>
                  <a:cs typeface="Browallia New"/>
                </a:rPr>
                <a:t>ระยะเวลาทำการอนุมัติ ประมาณ 4 นาที /ฉบับ</a:t>
              </a:r>
            </a:p>
            <a:p>
              <a:r>
                <a:rPr lang="th-TH" sz="1400">
                  <a:solidFill>
                    <a:srgbClr val="0070C0"/>
                  </a:solidFill>
                  <a:latin typeface="Browallia New"/>
                  <a:ea typeface="Tahoma"/>
                  <a:cs typeface="Browallia New"/>
                </a:rPr>
                <a:t>           คำนวณตามเวลา 4 นาที *150 ฉบับ/เดือน</a:t>
              </a:r>
              <a:r>
                <a:rPr lang="en-US" sz="1400">
                  <a:solidFill>
                    <a:srgbClr val="0070C0"/>
                  </a:solidFill>
                  <a:latin typeface="Browallia New"/>
                  <a:ea typeface="Tahoma"/>
                  <a:cs typeface="Tahoma"/>
                </a:rPr>
                <a:t>= 600 </a:t>
              </a:r>
              <a:r>
                <a:rPr lang="th-TH" sz="1400">
                  <a:solidFill>
                    <a:srgbClr val="0070C0"/>
                  </a:solidFill>
                  <a:latin typeface="Browallia New"/>
                  <a:ea typeface="Tahoma"/>
                  <a:cs typeface="Browallia New"/>
                </a:rPr>
                <a:t>นาที </a:t>
              </a:r>
              <a:r>
                <a:rPr lang="en-US" sz="1400">
                  <a:solidFill>
                    <a:srgbClr val="0070C0"/>
                  </a:solidFill>
                  <a:latin typeface="Browallia New"/>
                  <a:ea typeface="Tahoma"/>
                  <a:cs typeface="Tahoma"/>
                </a:rPr>
                <a:t>/ 10 </a:t>
              </a:r>
              <a:r>
                <a:rPr lang="th-TH" sz="1400">
                  <a:solidFill>
                    <a:srgbClr val="0070C0"/>
                  </a:solidFill>
                  <a:latin typeface="Browallia New"/>
                  <a:ea typeface="Tahoma"/>
                  <a:cs typeface="Browallia New"/>
                </a:rPr>
                <a:t>ชม.</a:t>
              </a:r>
            </a:p>
            <a:p>
              <a:pPr marL="342900" indent="-342900">
                <a:buAutoNum type="arabicPeriod" startAt="3"/>
              </a:pPr>
              <a:r>
                <a:rPr lang="th-TH" sz="1400">
                  <a:solidFill>
                    <a:srgbClr val="0070C0"/>
                  </a:solidFill>
                  <a:latin typeface="Browallia New"/>
                  <a:ea typeface="Tahoma"/>
                  <a:cs typeface="Browallia New"/>
                </a:rPr>
                <a:t>ผจก.แผนกตรวจสอบข้อมูลใน </a:t>
              </a:r>
              <a:r>
                <a:rPr lang="en-US" sz="1400">
                  <a:solidFill>
                    <a:srgbClr val="0070C0"/>
                  </a:solidFill>
                  <a:latin typeface="Browallia New"/>
                  <a:ea typeface="Tahoma"/>
                  <a:cs typeface="Tahoma"/>
                </a:rPr>
                <a:t>Flow</a:t>
              </a:r>
              <a:r>
                <a:rPr lang="th-TH" sz="1400">
                  <a:solidFill>
                    <a:srgbClr val="0070C0"/>
                  </a:solidFill>
                  <a:latin typeface="Browallia New"/>
                  <a:ea typeface="Tahoma"/>
                  <a:cs typeface="Browallia New"/>
                </a:rPr>
                <a:t> </a:t>
              </a:r>
              <a:r>
                <a:rPr lang="en-US" sz="1400">
                  <a:solidFill>
                    <a:srgbClr val="0070C0"/>
                  </a:solidFill>
                  <a:latin typeface="Browallia New"/>
                  <a:ea typeface="Tahoma"/>
                  <a:cs typeface="Tahoma"/>
                </a:rPr>
                <a:t>K2 </a:t>
              </a:r>
              <a:r>
                <a:rPr lang="th-TH" sz="1400">
                  <a:solidFill>
                    <a:srgbClr val="0070C0"/>
                  </a:solidFill>
                  <a:latin typeface="Browallia New"/>
                  <a:ea typeface="Tahoma"/>
                  <a:cs typeface="Browallia New"/>
                </a:rPr>
                <a:t>ตรวจสอบพร้อมอนุมัติ</a:t>
              </a:r>
            </a:p>
            <a:p>
              <a:r>
                <a:rPr lang="th-TH" sz="1400">
                  <a:solidFill>
                    <a:srgbClr val="0070C0"/>
                  </a:solidFill>
                  <a:latin typeface="Browallia New"/>
                  <a:ea typeface="Tahoma"/>
                  <a:cs typeface="Browallia New"/>
                </a:rPr>
                <a:t>           ประมาณ 5 นาทีต่อฉบับ</a:t>
              </a:r>
            </a:p>
          </p:txBody>
        </p:sp>
        <p:pic>
          <p:nvPicPr>
            <p:cNvPr id="23" name="Picture 9">
              <a:extLst>
                <a:ext uri="{FF2B5EF4-FFF2-40B4-BE49-F238E27FC236}">
                  <a16:creationId xmlns:a16="http://schemas.microsoft.com/office/drawing/2014/main" id="{18F5954D-AB1D-80A6-FED6-ED40FC0A64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3090" y="4343308"/>
              <a:ext cx="6255071" cy="1987652"/>
            </a:xfrm>
            <a:prstGeom prst="rect">
              <a:avLst/>
            </a:prstGeom>
          </p:spPr>
        </p:pic>
        <p:sp>
          <p:nvSpPr>
            <p:cNvPr id="25" name="TextBox 6">
              <a:extLst>
                <a:ext uri="{FF2B5EF4-FFF2-40B4-BE49-F238E27FC236}">
                  <a16:creationId xmlns:a16="http://schemas.microsoft.com/office/drawing/2014/main" id="{F07E7D3A-A95E-F7A3-B8B0-A1795659C7F4}"/>
                </a:ext>
              </a:extLst>
            </p:cNvPr>
            <p:cNvSpPr txBox="1"/>
            <p:nvPr/>
          </p:nvSpPr>
          <p:spPr>
            <a:xfrm>
              <a:off x="6767490" y="6001192"/>
              <a:ext cx="5890067" cy="64824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91440" tIns="45720" rIns="91440" bIns="45720" anchor="t">
              <a:spAutoFit/>
            </a:bodyPr>
            <a:lstStyle>
              <a:defPPr>
                <a:defRPr lang="th-TH"/>
              </a:defPPr>
              <a:lvl1pPr marL="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th-TH" err="1">
                  <a:latin typeface="Browallia New"/>
                  <a:cs typeface="Browallia New"/>
                </a:rPr>
                <a:t>Form</a:t>
              </a:r>
              <a:r>
                <a:rPr lang="th-TH">
                  <a:latin typeface="Browallia New"/>
                  <a:cs typeface="Browallia New"/>
                </a:rPr>
                <a:t>/CPA.FRN.FGI.SMF.</a:t>
              </a:r>
              <a:r>
                <a:rPr lang="th-TH" err="1">
                  <a:latin typeface="Browallia New"/>
                  <a:cs typeface="Browallia New"/>
                </a:rPr>
                <a:t>ApplicationMenu</a:t>
              </a:r>
              <a:endParaRPr lang="th-TH">
                <a:latin typeface="Browallia New"/>
                <a:cs typeface="Browallia New"/>
              </a:endParaRPr>
            </a:p>
          </p:txBody>
        </p:sp>
      </p:grpSp>
      <p:sp>
        <p:nvSpPr>
          <p:cNvPr id="27" name="สี่เหลี่ยมผืนผ้า 26">
            <a:extLst>
              <a:ext uri="{FF2B5EF4-FFF2-40B4-BE49-F238E27FC236}">
                <a16:creationId xmlns:a16="http://schemas.microsoft.com/office/drawing/2014/main" id="{C6DBBB09-64BE-4ED3-4A59-E2A16A0E043F}"/>
              </a:ext>
            </a:extLst>
          </p:cNvPr>
          <p:cNvSpPr/>
          <p:nvPr/>
        </p:nvSpPr>
        <p:spPr>
          <a:xfrm>
            <a:off x="1940346" y="2685551"/>
            <a:ext cx="7761384" cy="87174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800">
                <a:latin typeface="CordiaUPC"/>
                <a:ea typeface="Tahoma"/>
                <a:cs typeface="CordiaUPC"/>
              </a:rPr>
              <a:t>ยกเลิกหน้าจอกระบวนการ Approve ตรวจสอบยอดชดเชยรายได้</a:t>
            </a:r>
            <a:endParaRPr lang="th-TH" sz="3200">
              <a:latin typeface="CordiaUPC"/>
              <a:cs typeface="CordiaUPC"/>
            </a:endParaRPr>
          </a:p>
        </p:txBody>
      </p:sp>
    </p:spTree>
    <p:extLst>
      <p:ext uri="{BB962C8B-B14F-4D97-AF65-F5344CB8AC3E}">
        <p14:creationId xmlns:p14="http://schemas.microsoft.com/office/powerpoint/2010/main" val="38717049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E2698-4BD8-5B7F-B4D1-F143012D7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E9B99BE-91B4-40B9-ACE0-1E8048B39A8E}"/>
              </a:ext>
            </a:extLst>
          </p:cNvPr>
          <p:cNvSpPr txBox="1">
            <a:spLocks/>
          </p:cNvSpPr>
          <p:nvPr/>
        </p:nvSpPr>
        <p:spPr bwMode="auto">
          <a:xfrm>
            <a:off x="566825" y="205415"/>
            <a:ext cx="4707486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1.9 To-Be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 Business Process</a:t>
            </a:r>
            <a:r>
              <a:rPr lang="en-US" altLang="en-US" u="sng">
                <a:latin typeface="CordiaUPC"/>
                <a:ea typeface="Tahoma"/>
                <a:cs typeface="CordiaUPC"/>
              </a:rPr>
              <a:t> </a:t>
            </a:r>
            <a:endParaRPr lang="th-TH" altLang="en-US" b="1" u="sng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B1312C-9E17-F700-4E62-34A34C98B807}"/>
              </a:ext>
            </a:extLst>
          </p:cNvPr>
          <p:cNvSpPr txBox="1">
            <a:spLocks/>
          </p:cNvSpPr>
          <p:nvPr/>
        </p:nvSpPr>
        <p:spPr bwMode="auto">
          <a:xfrm>
            <a:off x="462916" y="573880"/>
            <a:ext cx="6998746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sz="2800">
                <a:latin typeface="CordiaUPC"/>
                <a:ea typeface="Tahoma"/>
                <a:cs typeface="CordiaUPC"/>
              </a:rPr>
              <a:t>1.</a:t>
            </a:r>
            <a:r>
              <a:rPr lang="th-TH" altLang="en-US" sz="2800">
                <a:latin typeface="CordiaUPC"/>
                <a:ea typeface="Tahoma"/>
                <a:cs typeface="CordiaUPC"/>
              </a:rPr>
              <a:t> ออกแบบหรือสร้าง </a:t>
            </a:r>
            <a:r>
              <a:rPr lang="en-US" altLang="en-US" sz="2800">
                <a:latin typeface="CordiaUPC"/>
                <a:ea typeface="Tahoma"/>
                <a:cs typeface="CordiaUPC"/>
              </a:rPr>
              <a:t>Menu </a:t>
            </a:r>
            <a:r>
              <a:rPr lang="th-TH" altLang="en-US" sz="2800">
                <a:latin typeface="CordiaUPC"/>
                <a:ea typeface="Tahoma"/>
                <a:cs typeface="CordiaUPC"/>
              </a:rPr>
              <a:t>ใหม่ในระบบ </a:t>
            </a:r>
            <a:r>
              <a:rPr lang="en-US" altLang="en-US" sz="2800">
                <a:latin typeface="CordiaUPC"/>
                <a:ea typeface="Tahoma"/>
                <a:cs typeface="CordiaUPC"/>
              </a:rPr>
              <a:t>SBP Mall</a:t>
            </a:r>
            <a:endParaRPr lang="th-TH" altLang="en-US" sz="2800" b="1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4AEA6E-1482-A5C3-A2F0-0F6237F73098}"/>
              </a:ext>
            </a:extLst>
          </p:cNvPr>
          <p:cNvSpPr txBox="1"/>
          <p:nvPr/>
        </p:nvSpPr>
        <p:spPr>
          <a:xfrm>
            <a:off x="6265223" y="752233"/>
            <a:ext cx="6096000" cy="437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/>
              <a:t>✅  </a:t>
            </a:r>
            <a:r>
              <a:rPr lang="en-US"/>
              <a:t>Menu                   &gt;</a:t>
            </a:r>
            <a:r>
              <a:rPr lang="th-TH"/>
              <a:t>   </a:t>
            </a:r>
            <a:r>
              <a:rPr lang="th-TH" sz="2200">
                <a:latin typeface="CordiaUPC" panose="020B0304020202020204" pitchFamily="34" charset="-34"/>
                <a:cs typeface="CordiaUPC" panose="020B0304020202020204" pitchFamily="34" charset="-34"/>
              </a:rPr>
              <a:t>รายงานตรวจสอบประกันรายได้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1F09700-23D8-181A-91E1-2D2702D493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995" y="766793"/>
            <a:ext cx="794658" cy="360539"/>
          </a:xfrm>
          <a:prstGeom prst="rect">
            <a:avLst/>
          </a:prstGeom>
        </p:spPr>
      </p:pic>
      <p:grpSp>
        <p:nvGrpSpPr>
          <p:cNvPr id="69" name="กลุ่ม 68">
            <a:extLst>
              <a:ext uri="{FF2B5EF4-FFF2-40B4-BE49-F238E27FC236}">
                <a16:creationId xmlns:a16="http://schemas.microsoft.com/office/drawing/2014/main" id="{ED7A1C25-31A5-5849-9ABD-1DA0E9433BE4}"/>
              </a:ext>
            </a:extLst>
          </p:cNvPr>
          <p:cNvGrpSpPr/>
          <p:nvPr/>
        </p:nvGrpSpPr>
        <p:grpSpPr>
          <a:xfrm>
            <a:off x="18379" y="1143255"/>
            <a:ext cx="12194434" cy="5718615"/>
            <a:chOff x="-223364" y="681080"/>
            <a:chExt cx="12194434" cy="5718615"/>
          </a:xfrm>
        </p:grpSpPr>
        <p:sp>
          <p:nvSpPr>
            <p:cNvPr id="41" name="สี่เหลี่ยมผืนผ้า 40">
              <a:extLst>
                <a:ext uri="{FF2B5EF4-FFF2-40B4-BE49-F238E27FC236}">
                  <a16:creationId xmlns:a16="http://schemas.microsoft.com/office/drawing/2014/main" id="{7811A15B-BF49-E0C9-03D5-ACFCDA9EF9D3}"/>
                </a:ext>
              </a:extLst>
            </p:cNvPr>
            <p:cNvSpPr/>
            <p:nvPr/>
          </p:nvSpPr>
          <p:spPr>
            <a:xfrm>
              <a:off x="-223364" y="681080"/>
              <a:ext cx="12194434" cy="571861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42" name="สี่เหลี่ยมผืนผ้า: มุมมน 41">
              <a:extLst>
                <a:ext uri="{FF2B5EF4-FFF2-40B4-BE49-F238E27FC236}">
                  <a16:creationId xmlns:a16="http://schemas.microsoft.com/office/drawing/2014/main" id="{416A0346-6A80-9CDB-ED9C-71BEEFA2C70A}"/>
                </a:ext>
              </a:extLst>
            </p:cNvPr>
            <p:cNvSpPr/>
            <p:nvPr/>
          </p:nvSpPr>
          <p:spPr>
            <a:xfrm>
              <a:off x="-91192" y="742494"/>
              <a:ext cx="12033467" cy="319888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sp>
        <p:nvSpPr>
          <p:cNvPr id="44" name="กล่องข้อความ 43">
            <a:extLst>
              <a:ext uri="{FF2B5EF4-FFF2-40B4-BE49-F238E27FC236}">
                <a16:creationId xmlns:a16="http://schemas.microsoft.com/office/drawing/2014/main" id="{49593FB4-94F6-2EFF-9CBE-C4AD9674CA66}"/>
              </a:ext>
            </a:extLst>
          </p:cNvPr>
          <p:cNvSpPr txBox="1"/>
          <p:nvPr/>
        </p:nvSpPr>
        <p:spPr>
          <a:xfrm>
            <a:off x="796753" y="1496015"/>
            <a:ext cx="12795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th-TH" sz="2000">
                <a:latin typeface="CordiaUPC"/>
                <a:cs typeface="CordiaUPC"/>
              </a:rPr>
              <a:t>สถานะ</a:t>
            </a:r>
            <a:r>
              <a:rPr lang="th-TH" sz="2000">
                <a:solidFill>
                  <a:srgbClr val="FF0000"/>
                </a:solidFill>
                <a:latin typeface="CordiaUPC"/>
                <a:cs typeface="CordiaUPC"/>
              </a:rPr>
              <a:t>*</a:t>
            </a:r>
          </a:p>
        </p:txBody>
      </p:sp>
      <p:pic>
        <p:nvPicPr>
          <p:cNvPr id="46" name="รูปภาพ 45">
            <a:extLst>
              <a:ext uri="{FF2B5EF4-FFF2-40B4-BE49-F238E27FC236}">
                <a16:creationId xmlns:a16="http://schemas.microsoft.com/office/drawing/2014/main" id="{14011BF9-3691-92FA-E66C-CF1FD8FA66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5668" y="1926648"/>
            <a:ext cx="299027" cy="164522"/>
          </a:xfrm>
          <a:prstGeom prst="rect">
            <a:avLst/>
          </a:prstGeom>
        </p:spPr>
      </p:pic>
      <p:sp>
        <p:nvSpPr>
          <p:cNvPr id="48" name="กล่องข้อความ 47">
            <a:extLst>
              <a:ext uri="{FF2B5EF4-FFF2-40B4-BE49-F238E27FC236}">
                <a16:creationId xmlns:a16="http://schemas.microsoft.com/office/drawing/2014/main" id="{64CE4854-17D3-99CE-F3AC-9FF2447D12D3}"/>
              </a:ext>
            </a:extLst>
          </p:cNvPr>
          <p:cNvSpPr txBox="1"/>
          <p:nvPr/>
        </p:nvSpPr>
        <p:spPr>
          <a:xfrm>
            <a:off x="9108709" y="2905725"/>
            <a:ext cx="1595683" cy="338554"/>
          </a:xfrm>
          <a:prstGeom prst="rect">
            <a:avLst/>
          </a:prstGeom>
          <a:solidFill>
            <a:srgbClr val="0070C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th-TH" err="1">
                <a:solidFill>
                  <a:schemeClr val="bg1"/>
                </a:solidFill>
                <a:latin typeface="CordiaUPC"/>
                <a:cs typeface="CordiaUPC"/>
              </a:rPr>
              <a:t>Preview</a:t>
            </a:r>
            <a:r>
              <a:rPr lang="th-TH">
                <a:solidFill>
                  <a:schemeClr val="bg1"/>
                </a:solidFill>
                <a:latin typeface="CordiaUPC"/>
                <a:cs typeface="CordiaUPC"/>
              </a:rPr>
              <a:t> </a:t>
            </a:r>
            <a:r>
              <a:rPr lang="th-TH" err="1">
                <a:solidFill>
                  <a:schemeClr val="bg1"/>
                </a:solidFill>
                <a:latin typeface="CordiaUPC"/>
                <a:cs typeface="CordiaUPC"/>
              </a:rPr>
              <a:t>Report</a:t>
            </a:r>
            <a:endParaRPr lang="th-TH">
              <a:solidFill>
                <a:schemeClr val="bg1"/>
              </a:solidFill>
              <a:latin typeface="CordiaUPC"/>
              <a:cs typeface="CordiaUPC"/>
            </a:endParaRPr>
          </a:p>
        </p:txBody>
      </p:sp>
      <p:sp>
        <p:nvSpPr>
          <p:cNvPr id="49" name="กล่องข้อความ 48">
            <a:extLst>
              <a:ext uri="{FF2B5EF4-FFF2-40B4-BE49-F238E27FC236}">
                <a16:creationId xmlns:a16="http://schemas.microsoft.com/office/drawing/2014/main" id="{CD4B3CEB-C07A-C90C-259A-CDC7A0B78392}"/>
              </a:ext>
            </a:extLst>
          </p:cNvPr>
          <p:cNvSpPr txBox="1"/>
          <p:nvPr/>
        </p:nvSpPr>
        <p:spPr>
          <a:xfrm>
            <a:off x="9110662" y="3362925"/>
            <a:ext cx="1589290" cy="338554"/>
          </a:xfrm>
          <a:prstGeom prst="rect">
            <a:avLst/>
          </a:prstGeom>
          <a:solidFill>
            <a:srgbClr val="00B05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h-TH" err="1">
                <a:solidFill>
                  <a:schemeClr val="bg1"/>
                </a:solidFill>
                <a:latin typeface="CordiaUPC"/>
                <a:cs typeface="CordiaUPC"/>
              </a:rPr>
              <a:t>Export</a:t>
            </a:r>
            <a:r>
              <a:rPr lang="th-TH">
                <a:solidFill>
                  <a:schemeClr val="bg1"/>
                </a:solidFill>
                <a:latin typeface="CordiaUPC"/>
                <a:cs typeface="CordiaUPC"/>
              </a:rPr>
              <a:t> CSV </a:t>
            </a:r>
            <a:r>
              <a:rPr lang="th-TH" err="1">
                <a:solidFill>
                  <a:schemeClr val="bg1"/>
                </a:solidFill>
                <a:latin typeface="CordiaUPC"/>
                <a:cs typeface="CordiaUPC"/>
              </a:rPr>
              <a:t>to</a:t>
            </a:r>
            <a:r>
              <a:rPr lang="th-TH">
                <a:solidFill>
                  <a:schemeClr val="bg1"/>
                </a:solidFill>
                <a:latin typeface="CordiaUPC"/>
                <a:cs typeface="CordiaUPC"/>
              </a:rPr>
              <a:t> </a:t>
            </a:r>
            <a:r>
              <a:rPr lang="th-TH" err="1">
                <a:solidFill>
                  <a:schemeClr val="bg1"/>
                </a:solidFill>
                <a:latin typeface="CordiaUPC"/>
                <a:cs typeface="CordiaUPC"/>
              </a:rPr>
              <a:t>Batch</a:t>
            </a:r>
            <a:endParaRPr lang="th-TH" err="1">
              <a:solidFill>
                <a:schemeClr val="bg1"/>
              </a:solidFill>
            </a:endParaRPr>
          </a:p>
        </p:txBody>
      </p:sp>
      <p:sp>
        <p:nvSpPr>
          <p:cNvPr id="50" name="กล่องข้อความ 49">
            <a:extLst>
              <a:ext uri="{FF2B5EF4-FFF2-40B4-BE49-F238E27FC236}">
                <a16:creationId xmlns:a16="http://schemas.microsoft.com/office/drawing/2014/main" id="{15B379C8-13E1-B75F-B39F-7A3DA6C5B8ED}"/>
              </a:ext>
            </a:extLst>
          </p:cNvPr>
          <p:cNvSpPr txBox="1"/>
          <p:nvPr/>
        </p:nvSpPr>
        <p:spPr>
          <a:xfrm>
            <a:off x="9962184" y="3867015"/>
            <a:ext cx="746472" cy="33855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h-TH">
                <a:solidFill>
                  <a:schemeClr val="bg1"/>
                </a:solidFill>
                <a:latin typeface="CordiaUPC"/>
                <a:cs typeface="CordiaUPC"/>
              </a:rPr>
              <a:t>ย้อนกลับ</a:t>
            </a:r>
            <a:endParaRPr lang="th-TH"/>
          </a:p>
        </p:txBody>
      </p:sp>
      <p:grpSp>
        <p:nvGrpSpPr>
          <p:cNvPr id="97" name="กลุ่ม 96">
            <a:extLst>
              <a:ext uri="{FF2B5EF4-FFF2-40B4-BE49-F238E27FC236}">
                <a16:creationId xmlns:a16="http://schemas.microsoft.com/office/drawing/2014/main" id="{00613098-E87E-124F-B5B7-197A65F65069}"/>
              </a:ext>
            </a:extLst>
          </p:cNvPr>
          <p:cNvGrpSpPr/>
          <p:nvPr/>
        </p:nvGrpSpPr>
        <p:grpSpPr>
          <a:xfrm>
            <a:off x="5244062" y="1696371"/>
            <a:ext cx="1637411" cy="984976"/>
            <a:chOff x="3048117" y="1715378"/>
            <a:chExt cx="1637411" cy="984976"/>
          </a:xfrm>
        </p:grpSpPr>
        <p:sp>
          <p:nvSpPr>
            <p:cNvPr id="52" name="กล่องข้อความ 51">
              <a:extLst>
                <a:ext uri="{FF2B5EF4-FFF2-40B4-BE49-F238E27FC236}">
                  <a16:creationId xmlns:a16="http://schemas.microsoft.com/office/drawing/2014/main" id="{C6B94FC1-64D5-6EEF-BB36-15E709C052AF}"/>
                </a:ext>
              </a:extLst>
            </p:cNvPr>
            <p:cNvSpPr txBox="1"/>
            <p:nvPr/>
          </p:nvSpPr>
          <p:spPr>
            <a:xfrm>
              <a:off x="3048117" y="1715378"/>
              <a:ext cx="1279503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th-TH" sz="2000">
                  <a:latin typeface="CordiaUPC"/>
                  <a:cs typeface="CordiaUPC"/>
                </a:rPr>
                <a:t>ประเภทร้าน</a:t>
              </a:r>
            </a:p>
          </p:txBody>
        </p:sp>
        <p:sp>
          <p:nvSpPr>
            <p:cNvPr id="53" name="กล่องข้อความ 52">
              <a:extLst>
                <a:ext uri="{FF2B5EF4-FFF2-40B4-BE49-F238E27FC236}">
                  <a16:creationId xmlns:a16="http://schemas.microsoft.com/office/drawing/2014/main" id="{CE22C369-070B-3BA5-8856-ECCAC094C598}"/>
                </a:ext>
              </a:extLst>
            </p:cNvPr>
            <p:cNvSpPr txBox="1"/>
            <p:nvPr/>
          </p:nvSpPr>
          <p:spPr>
            <a:xfrm>
              <a:off x="3192183" y="2087466"/>
              <a:ext cx="210907" cy="196846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endParaRPr lang="th-TH"/>
            </a:p>
          </p:txBody>
        </p:sp>
        <p:sp>
          <p:nvSpPr>
            <p:cNvPr id="54" name="กล่องข้อความ 53">
              <a:extLst>
                <a:ext uri="{FF2B5EF4-FFF2-40B4-BE49-F238E27FC236}">
                  <a16:creationId xmlns:a16="http://schemas.microsoft.com/office/drawing/2014/main" id="{7AC3D303-009F-44C3-DE7A-31EBE3D5DD74}"/>
                </a:ext>
              </a:extLst>
            </p:cNvPr>
            <p:cNvSpPr txBox="1"/>
            <p:nvPr/>
          </p:nvSpPr>
          <p:spPr>
            <a:xfrm>
              <a:off x="3406025" y="1992468"/>
              <a:ext cx="1279503" cy="707886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th-TH" sz="2000" b="0">
                  <a:latin typeface="CordiaUPC"/>
                  <a:cs typeface="CordiaUPC"/>
                </a:rPr>
                <a:t>A         B     </a:t>
              </a:r>
            </a:p>
            <a:p>
              <a:r>
                <a:rPr lang="th-TH" sz="2000" b="0">
                  <a:latin typeface="CordiaUPC"/>
                  <a:cs typeface="CordiaUPC"/>
                </a:rPr>
                <a:t>C         D</a:t>
              </a:r>
            </a:p>
          </p:txBody>
        </p:sp>
        <p:sp>
          <p:nvSpPr>
            <p:cNvPr id="55" name="กล่องข้อความ 54">
              <a:extLst>
                <a:ext uri="{FF2B5EF4-FFF2-40B4-BE49-F238E27FC236}">
                  <a16:creationId xmlns:a16="http://schemas.microsoft.com/office/drawing/2014/main" id="{47E328D3-2A40-99A2-E55E-0C1CE36BE301}"/>
                </a:ext>
              </a:extLst>
            </p:cNvPr>
            <p:cNvSpPr txBox="1"/>
            <p:nvPr/>
          </p:nvSpPr>
          <p:spPr>
            <a:xfrm>
              <a:off x="3192183" y="2364556"/>
              <a:ext cx="210907" cy="196846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endParaRPr lang="th-TH"/>
            </a:p>
          </p:txBody>
        </p:sp>
        <p:sp>
          <p:nvSpPr>
            <p:cNvPr id="56" name="กล่องข้อความ 55">
              <a:extLst>
                <a:ext uri="{FF2B5EF4-FFF2-40B4-BE49-F238E27FC236}">
                  <a16:creationId xmlns:a16="http://schemas.microsoft.com/office/drawing/2014/main" id="{619205E3-7F2B-33C3-AC16-DE97AC8ED2C1}"/>
                </a:ext>
              </a:extLst>
            </p:cNvPr>
            <p:cNvSpPr txBox="1"/>
            <p:nvPr/>
          </p:nvSpPr>
          <p:spPr>
            <a:xfrm>
              <a:off x="3769455" y="2364556"/>
              <a:ext cx="210907" cy="196846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endParaRPr lang="th-TH"/>
            </a:p>
          </p:txBody>
        </p:sp>
        <p:sp>
          <p:nvSpPr>
            <p:cNvPr id="57" name="กล่องข้อความ 56">
              <a:extLst>
                <a:ext uri="{FF2B5EF4-FFF2-40B4-BE49-F238E27FC236}">
                  <a16:creationId xmlns:a16="http://schemas.microsoft.com/office/drawing/2014/main" id="{ECAD57BB-E557-8725-4475-70C38E15863E}"/>
                </a:ext>
              </a:extLst>
            </p:cNvPr>
            <p:cNvSpPr txBox="1"/>
            <p:nvPr/>
          </p:nvSpPr>
          <p:spPr>
            <a:xfrm>
              <a:off x="3769455" y="2075920"/>
              <a:ext cx="210907" cy="196846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endParaRPr lang="th-TH"/>
            </a:p>
          </p:txBody>
        </p:sp>
      </p:grpSp>
      <p:sp>
        <p:nvSpPr>
          <p:cNvPr id="58" name="กล่องข้อความ 57">
            <a:extLst>
              <a:ext uri="{FF2B5EF4-FFF2-40B4-BE49-F238E27FC236}">
                <a16:creationId xmlns:a16="http://schemas.microsoft.com/office/drawing/2014/main" id="{726105D7-D580-41B2-8E85-77DE4D0B206F}"/>
              </a:ext>
            </a:extLst>
          </p:cNvPr>
          <p:cNvSpPr txBox="1"/>
          <p:nvPr/>
        </p:nvSpPr>
        <p:spPr>
          <a:xfrm>
            <a:off x="697639" y="2281993"/>
            <a:ext cx="187986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th-TH" sz="2000">
                <a:latin typeface="CordiaUPC"/>
                <a:cs typeface="CordiaUPC"/>
              </a:rPr>
              <a:t>รหัสร้านถูกกระทบ</a:t>
            </a:r>
            <a:endParaRPr lang="th-TH"/>
          </a:p>
        </p:txBody>
      </p:sp>
      <p:sp>
        <p:nvSpPr>
          <p:cNvPr id="60" name="สี่เหลี่ยมผืนผ้า 59">
            <a:extLst>
              <a:ext uri="{FF2B5EF4-FFF2-40B4-BE49-F238E27FC236}">
                <a16:creationId xmlns:a16="http://schemas.microsoft.com/office/drawing/2014/main" id="{3891B143-8B47-5DDF-B5F3-20A8F2BEEB80}"/>
              </a:ext>
            </a:extLst>
          </p:cNvPr>
          <p:cNvSpPr/>
          <p:nvPr/>
        </p:nvSpPr>
        <p:spPr>
          <a:xfrm>
            <a:off x="610128" y="2727185"/>
            <a:ext cx="2913009" cy="20988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th-TH">
                <a:solidFill>
                  <a:schemeClr val="tx1"/>
                </a:solidFill>
                <a:latin typeface="CordiaUPC"/>
                <a:ea typeface="Tahoma"/>
                <a:cs typeface="CordiaUPC"/>
              </a:rPr>
              <a:t>XXXXXX</a:t>
            </a:r>
            <a:endParaRPr lang="th-TH"/>
          </a:p>
        </p:txBody>
      </p:sp>
      <p:sp>
        <p:nvSpPr>
          <p:cNvPr id="62" name="สี่เหลี่ยมผืนผ้า 61">
            <a:extLst>
              <a:ext uri="{FF2B5EF4-FFF2-40B4-BE49-F238E27FC236}">
                <a16:creationId xmlns:a16="http://schemas.microsoft.com/office/drawing/2014/main" id="{6F8C9A3D-B5D5-A78B-7C54-00799E45A177}"/>
              </a:ext>
            </a:extLst>
          </p:cNvPr>
          <p:cNvSpPr/>
          <p:nvPr/>
        </p:nvSpPr>
        <p:spPr>
          <a:xfrm>
            <a:off x="5289392" y="3062397"/>
            <a:ext cx="3082519" cy="859616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graphicFrame>
        <p:nvGraphicFramePr>
          <p:cNvPr id="64" name="ตาราง 63">
            <a:extLst>
              <a:ext uri="{FF2B5EF4-FFF2-40B4-BE49-F238E27FC236}">
                <a16:creationId xmlns:a16="http://schemas.microsoft.com/office/drawing/2014/main" id="{A5CAAACA-17FC-6AB9-CB7C-1FC8E14B8E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3533506"/>
              </p:ext>
            </p:extLst>
          </p:nvPr>
        </p:nvGraphicFramePr>
        <p:xfrm>
          <a:off x="7968672" y="3138876"/>
          <a:ext cx="345172" cy="222885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345172">
                  <a:extLst>
                    <a:ext uri="{9D8B030D-6E8A-4147-A177-3AD203B41FA5}">
                      <a16:colId xmlns:a16="http://schemas.microsoft.com/office/drawing/2014/main" val="3687245891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af-ZA" sz="1100" u="none" strike="noStrike">
                          <a:solidFill>
                            <a:srgbClr val="000000"/>
                          </a:solidFill>
                          <a:effectLst/>
                        </a:rPr>
                        <a:t>RSU</a:t>
                      </a: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3715069828"/>
                  </a:ext>
                </a:extLst>
              </a:tr>
            </a:tbl>
          </a:graphicData>
        </a:graphic>
      </p:graphicFrame>
      <p:graphicFrame>
        <p:nvGraphicFramePr>
          <p:cNvPr id="65" name="ตาราง 64">
            <a:extLst>
              <a:ext uri="{FF2B5EF4-FFF2-40B4-BE49-F238E27FC236}">
                <a16:creationId xmlns:a16="http://schemas.microsoft.com/office/drawing/2014/main" id="{DC83B1BA-FD8E-529C-6489-808769F833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6773508"/>
              </p:ext>
            </p:extLst>
          </p:nvPr>
        </p:nvGraphicFramePr>
        <p:xfrm>
          <a:off x="7437580" y="3161966"/>
          <a:ext cx="330361" cy="668655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330361">
                  <a:extLst>
                    <a:ext uri="{9D8B030D-6E8A-4147-A177-3AD203B41FA5}">
                      <a16:colId xmlns:a16="http://schemas.microsoft.com/office/drawing/2014/main" val="3687245891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af-ZA" sz="1100" u="none" strike="noStrike">
                          <a:solidFill>
                            <a:srgbClr val="000000"/>
                          </a:solidFill>
                          <a:effectLst/>
                        </a:rPr>
                        <a:t>REU</a:t>
                      </a: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941625214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af-ZA" sz="1100" u="none" strike="noStrike">
                          <a:solidFill>
                            <a:srgbClr val="000000"/>
                          </a:solidFill>
                          <a:effectLst/>
                        </a:rPr>
                        <a:t>RN</a:t>
                      </a: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1994268977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af-ZA" sz="1100" u="none" strike="noStrike">
                          <a:solidFill>
                            <a:srgbClr val="000000"/>
                          </a:solidFill>
                          <a:effectLst/>
                        </a:rPr>
                        <a:t>RSL</a:t>
                      </a: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336032494"/>
                  </a:ext>
                </a:extLst>
              </a:tr>
            </a:tbl>
          </a:graphicData>
        </a:graphic>
      </p:graphicFrame>
      <p:graphicFrame>
        <p:nvGraphicFramePr>
          <p:cNvPr id="66" name="ตาราง 65">
            <a:extLst>
              <a:ext uri="{FF2B5EF4-FFF2-40B4-BE49-F238E27FC236}">
                <a16:creationId xmlns:a16="http://schemas.microsoft.com/office/drawing/2014/main" id="{348F1E05-7433-1770-5F63-EDC3AEDC6E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9822629"/>
              </p:ext>
            </p:extLst>
          </p:nvPr>
        </p:nvGraphicFramePr>
        <p:xfrm>
          <a:off x="6825672" y="3161967"/>
          <a:ext cx="322015" cy="668655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322015">
                  <a:extLst>
                    <a:ext uri="{9D8B030D-6E8A-4147-A177-3AD203B41FA5}">
                      <a16:colId xmlns:a16="http://schemas.microsoft.com/office/drawing/2014/main" val="3687245891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af-ZA" sz="1100" u="none" strike="noStrike">
                          <a:solidFill>
                            <a:srgbClr val="000000"/>
                          </a:solidFill>
                          <a:effectLst/>
                        </a:rPr>
                        <a:t>NEU</a:t>
                      </a: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3718001639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af-ZA" sz="1100" u="none" strike="noStrike">
                          <a:solidFill>
                            <a:srgbClr val="000000"/>
                          </a:solidFill>
                          <a:effectLst/>
                        </a:rPr>
                        <a:t>RC</a:t>
                      </a: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194774489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af-ZA" sz="1100" u="none" strike="noStrike">
                          <a:solidFill>
                            <a:srgbClr val="000000"/>
                          </a:solidFill>
                          <a:effectLst/>
                        </a:rPr>
                        <a:t>REL</a:t>
                      </a: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1938769112"/>
                  </a:ext>
                </a:extLst>
              </a:tr>
            </a:tbl>
          </a:graphicData>
        </a:graphic>
      </p:graphicFrame>
      <p:graphicFrame>
        <p:nvGraphicFramePr>
          <p:cNvPr id="67" name="ตาราง 66">
            <a:extLst>
              <a:ext uri="{FF2B5EF4-FFF2-40B4-BE49-F238E27FC236}">
                <a16:creationId xmlns:a16="http://schemas.microsoft.com/office/drawing/2014/main" id="{C2558EC6-87A8-31B8-7AD3-04DB9AC857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3262020"/>
              </p:ext>
            </p:extLst>
          </p:nvPr>
        </p:nvGraphicFramePr>
        <p:xfrm>
          <a:off x="6259945" y="3161967"/>
          <a:ext cx="287280" cy="668655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287280">
                  <a:extLst>
                    <a:ext uri="{9D8B030D-6E8A-4147-A177-3AD203B41FA5}">
                      <a16:colId xmlns:a16="http://schemas.microsoft.com/office/drawing/2014/main" val="3687245891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af-ZA" sz="1100" u="none" strike="noStrike">
                          <a:solidFill>
                            <a:srgbClr val="000000"/>
                          </a:solidFill>
                          <a:effectLst/>
                        </a:rPr>
                        <a:t>BS</a:t>
                      </a: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2661563555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af-ZA" sz="1100" u="none" strike="noStrike">
                          <a:solidFill>
                            <a:srgbClr val="000000"/>
                          </a:solidFill>
                          <a:effectLst/>
                        </a:rPr>
                        <a:t>BW</a:t>
                      </a: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3048319522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af-ZA" sz="1100" u="none" strike="noStrike">
                          <a:solidFill>
                            <a:srgbClr val="000000"/>
                          </a:solidFill>
                          <a:effectLst/>
                        </a:rPr>
                        <a:t>NEL</a:t>
                      </a: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2316928032"/>
                  </a:ext>
                </a:extLst>
              </a:tr>
            </a:tbl>
          </a:graphicData>
        </a:graphic>
      </p:graphicFrame>
      <p:graphicFrame>
        <p:nvGraphicFramePr>
          <p:cNvPr id="68" name="ตาราง 67">
            <a:extLst>
              <a:ext uri="{FF2B5EF4-FFF2-40B4-BE49-F238E27FC236}">
                <a16:creationId xmlns:a16="http://schemas.microsoft.com/office/drawing/2014/main" id="{D4049BEB-841E-166E-C2F1-5960E2CB94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3413246"/>
              </p:ext>
            </p:extLst>
          </p:nvPr>
        </p:nvGraphicFramePr>
        <p:xfrm>
          <a:off x="5682672" y="3161966"/>
          <a:ext cx="264123" cy="668655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264123">
                  <a:extLst>
                    <a:ext uri="{9D8B030D-6E8A-4147-A177-3AD203B41FA5}">
                      <a16:colId xmlns:a16="http://schemas.microsoft.com/office/drawing/2014/main" val="3687245891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af-ZA" sz="1100" u="none" strike="noStrike">
                          <a:solidFill>
                            <a:srgbClr val="000000"/>
                          </a:solidFill>
                          <a:effectLst/>
                        </a:rPr>
                        <a:t>BE</a:t>
                      </a: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265470442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af-ZA" sz="1100" u="none" strike="noStrike">
                          <a:solidFill>
                            <a:srgbClr val="000000"/>
                          </a:solidFill>
                          <a:effectLst/>
                        </a:rPr>
                        <a:t>BG</a:t>
                      </a: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2288781689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af-ZA" sz="1100" u="none" strike="noStrike">
                          <a:solidFill>
                            <a:srgbClr val="000000"/>
                          </a:solidFill>
                          <a:effectLst/>
                        </a:rPr>
                        <a:t>BN</a:t>
                      </a: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613755575"/>
                  </a:ext>
                </a:extLst>
              </a:tr>
            </a:tbl>
          </a:graphicData>
        </a:graphic>
      </p:graphicFrame>
      <p:sp>
        <p:nvSpPr>
          <p:cNvPr id="80" name="กล่องข้อความ 79">
            <a:extLst>
              <a:ext uri="{FF2B5EF4-FFF2-40B4-BE49-F238E27FC236}">
                <a16:creationId xmlns:a16="http://schemas.microsoft.com/office/drawing/2014/main" id="{1772B193-312E-4F02-A2A6-B1A1A7980EDC}"/>
              </a:ext>
            </a:extLst>
          </p:cNvPr>
          <p:cNvSpPr txBox="1"/>
          <p:nvPr/>
        </p:nvSpPr>
        <p:spPr>
          <a:xfrm>
            <a:off x="7743402" y="3107550"/>
            <a:ext cx="210907" cy="19684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th-TH"/>
          </a:p>
        </p:txBody>
      </p:sp>
      <p:sp>
        <p:nvSpPr>
          <p:cNvPr id="81" name="กล่องข้อความ 80">
            <a:extLst>
              <a:ext uri="{FF2B5EF4-FFF2-40B4-BE49-F238E27FC236}">
                <a16:creationId xmlns:a16="http://schemas.microsoft.com/office/drawing/2014/main" id="{FB80539F-F25E-8A3C-E208-84ACE93E256F}"/>
              </a:ext>
            </a:extLst>
          </p:cNvPr>
          <p:cNvSpPr txBox="1"/>
          <p:nvPr/>
        </p:nvSpPr>
        <p:spPr>
          <a:xfrm>
            <a:off x="5399673" y="3661733"/>
            <a:ext cx="210907" cy="19684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th-TH"/>
          </a:p>
        </p:txBody>
      </p:sp>
      <p:sp>
        <p:nvSpPr>
          <p:cNvPr id="82" name="กล่องข้อความ 81">
            <a:extLst>
              <a:ext uri="{FF2B5EF4-FFF2-40B4-BE49-F238E27FC236}">
                <a16:creationId xmlns:a16="http://schemas.microsoft.com/office/drawing/2014/main" id="{780B8D7C-3318-7EAD-2CC7-1596CE7E6452}"/>
              </a:ext>
            </a:extLst>
          </p:cNvPr>
          <p:cNvSpPr txBox="1"/>
          <p:nvPr/>
        </p:nvSpPr>
        <p:spPr>
          <a:xfrm>
            <a:off x="5399673" y="3396186"/>
            <a:ext cx="210907" cy="19684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th-TH"/>
          </a:p>
        </p:txBody>
      </p:sp>
      <p:sp>
        <p:nvSpPr>
          <p:cNvPr id="83" name="กล่องข้อความ 82">
            <a:extLst>
              <a:ext uri="{FF2B5EF4-FFF2-40B4-BE49-F238E27FC236}">
                <a16:creationId xmlns:a16="http://schemas.microsoft.com/office/drawing/2014/main" id="{B44BCD5F-BA99-10CE-6327-AA5DDB00C956}"/>
              </a:ext>
            </a:extLst>
          </p:cNvPr>
          <p:cNvSpPr txBox="1"/>
          <p:nvPr/>
        </p:nvSpPr>
        <p:spPr>
          <a:xfrm>
            <a:off x="5399674" y="3142186"/>
            <a:ext cx="210907" cy="19684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th-TH"/>
          </a:p>
        </p:txBody>
      </p:sp>
      <p:sp>
        <p:nvSpPr>
          <p:cNvPr id="86" name="กล่องข้อความ 85">
            <a:extLst>
              <a:ext uri="{FF2B5EF4-FFF2-40B4-BE49-F238E27FC236}">
                <a16:creationId xmlns:a16="http://schemas.microsoft.com/office/drawing/2014/main" id="{85B55E42-870E-A313-1DAE-F8550227FE30}"/>
              </a:ext>
            </a:extLst>
          </p:cNvPr>
          <p:cNvSpPr txBox="1"/>
          <p:nvPr/>
        </p:nvSpPr>
        <p:spPr>
          <a:xfrm>
            <a:off x="6011582" y="3650187"/>
            <a:ext cx="210907" cy="19684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th-TH"/>
          </a:p>
        </p:txBody>
      </p:sp>
      <p:sp>
        <p:nvSpPr>
          <p:cNvPr id="87" name="กล่องข้อความ 86">
            <a:extLst>
              <a:ext uri="{FF2B5EF4-FFF2-40B4-BE49-F238E27FC236}">
                <a16:creationId xmlns:a16="http://schemas.microsoft.com/office/drawing/2014/main" id="{F3CF194D-3BB7-909E-C1C4-5A16CE89FE6B}"/>
              </a:ext>
            </a:extLst>
          </p:cNvPr>
          <p:cNvSpPr txBox="1"/>
          <p:nvPr/>
        </p:nvSpPr>
        <p:spPr>
          <a:xfrm>
            <a:off x="6011582" y="3384642"/>
            <a:ext cx="210907" cy="19684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th-TH"/>
          </a:p>
        </p:txBody>
      </p:sp>
      <p:sp>
        <p:nvSpPr>
          <p:cNvPr id="88" name="กล่องข้อความ 87">
            <a:extLst>
              <a:ext uri="{FF2B5EF4-FFF2-40B4-BE49-F238E27FC236}">
                <a16:creationId xmlns:a16="http://schemas.microsoft.com/office/drawing/2014/main" id="{533B4FEF-E928-0396-7CFE-15447FC7CEA2}"/>
              </a:ext>
            </a:extLst>
          </p:cNvPr>
          <p:cNvSpPr txBox="1"/>
          <p:nvPr/>
        </p:nvSpPr>
        <p:spPr>
          <a:xfrm>
            <a:off x="6011583" y="3130641"/>
            <a:ext cx="210907" cy="19684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th-TH"/>
          </a:p>
        </p:txBody>
      </p:sp>
      <p:sp>
        <p:nvSpPr>
          <p:cNvPr id="90" name="กล่องข้อความ 89">
            <a:extLst>
              <a:ext uri="{FF2B5EF4-FFF2-40B4-BE49-F238E27FC236}">
                <a16:creationId xmlns:a16="http://schemas.microsoft.com/office/drawing/2014/main" id="{DA2E4A91-44DA-6F45-35D2-4D56DFCCDB44}"/>
              </a:ext>
            </a:extLst>
          </p:cNvPr>
          <p:cNvSpPr txBox="1"/>
          <p:nvPr/>
        </p:nvSpPr>
        <p:spPr>
          <a:xfrm>
            <a:off x="6588854" y="3627095"/>
            <a:ext cx="210907" cy="19684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th-TH"/>
          </a:p>
        </p:txBody>
      </p:sp>
      <p:sp>
        <p:nvSpPr>
          <p:cNvPr id="91" name="กล่องข้อความ 90">
            <a:extLst>
              <a:ext uri="{FF2B5EF4-FFF2-40B4-BE49-F238E27FC236}">
                <a16:creationId xmlns:a16="http://schemas.microsoft.com/office/drawing/2014/main" id="{7E9D8884-859A-E391-0CCF-B277B553ADFA}"/>
              </a:ext>
            </a:extLst>
          </p:cNvPr>
          <p:cNvSpPr txBox="1"/>
          <p:nvPr/>
        </p:nvSpPr>
        <p:spPr>
          <a:xfrm>
            <a:off x="6588854" y="3361550"/>
            <a:ext cx="210907" cy="19684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th-TH"/>
          </a:p>
        </p:txBody>
      </p:sp>
      <p:sp>
        <p:nvSpPr>
          <p:cNvPr id="92" name="กล่องข้อความ 91">
            <a:extLst>
              <a:ext uri="{FF2B5EF4-FFF2-40B4-BE49-F238E27FC236}">
                <a16:creationId xmlns:a16="http://schemas.microsoft.com/office/drawing/2014/main" id="{52E8338A-8A03-29C3-C76F-37A8CEE3ADB9}"/>
              </a:ext>
            </a:extLst>
          </p:cNvPr>
          <p:cNvSpPr txBox="1"/>
          <p:nvPr/>
        </p:nvSpPr>
        <p:spPr>
          <a:xfrm>
            <a:off x="6588855" y="3107549"/>
            <a:ext cx="210907" cy="19684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th-TH"/>
          </a:p>
        </p:txBody>
      </p:sp>
      <p:sp>
        <p:nvSpPr>
          <p:cNvPr id="94" name="กล่องข้อความ 93">
            <a:extLst>
              <a:ext uri="{FF2B5EF4-FFF2-40B4-BE49-F238E27FC236}">
                <a16:creationId xmlns:a16="http://schemas.microsoft.com/office/drawing/2014/main" id="{D7692D70-9D1F-7F27-580D-DA51FDB90EAE}"/>
              </a:ext>
            </a:extLst>
          </p:cNvPr>
          <p:cNvSpPr txBox="1"/>
          <p:nvPr/>
        </p:nvSpPr>
        <p:spPr>
          <a:xfrm>
            <a:off x="7200764" y="3627095"/>
            <a:ext cx="210907" cy="19684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th-TH"/>
          </a:p>
        </p:txBody>
      </p:sp>
      <p:sp>
        <p:nvSpPr>
          <p:cNvPr id="95" name="กล่องข้อความ 94">
            <a:extLst>
              <a:ext uri="{FF2B5EF4-FFF2-40B4-BE49-F238E27FC236}">
                <a16:creationId xmlns:a16="http://schemas.microsoft.com/office/drawing/2014/main" id="{089032D1-2E27-C7B5-8F21-298BE79D9161}"/>
              </a:ext>
            </a:extLst>
          </p:cNvPr>
          <p:cNvSpPr txBox="1"/>
          <p:nvPr/>
        </p:nvSpPr>
        <p:spPr>
          <a:xfrm>
            <a:off x="7200764" y="3361550"/>
            <a:ext cx="210907" cy="19684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th-TH"/>
          </a:p>
        </p:txBody>
      </p:sp>
      <p:sp>
        <p:nvSpPr>
          <p:cNvPr id="96" name="กล่องข้อความ 95">
            <a:extLst>
              <a:ext uri="{FF2B5EF4-FFF2-40B4-BE49-F238E27FC236}">
                <a16:creationId xmlns:a16="http://schemas.microsoft.com/office/drawing/2014/main" id="{FD21CD29-24CC-6534-F4D2-153ECFA17404}"/>
              </a:ext>
            </a:extLst>
          </p:cNvPr>
          <p:cNvSpPr txBox="1"/>
          <p:nvPr/>
        </p:nvSpPr>
        <p:spPr>
          <a:xfrm>
            <a:off x="7200765" y="3107549"/>
            <a:ext cx="210907" cy="19684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th-TH"/>
          </a:p>
        </p:txBody>
      </p:sp>
      <p:graphicFrame>
        <p:nvGraphicFramePr>
          <p:cNvPr id="103" name="ตาราง 102">
            <a:extLst>
              <a:ext uri="{FF2B5EF4-FFF2-40B4-BE49-F238E27FC236}">
                <a16:creationId xmlns:a16="http://schemas.microsoft.com/office/drawing/2014/main" id="{E2B5ECD6-FF73-72D9-14C2-719CCA22C7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9770588"/>
              </p:ext>
            </p:extLst>
          </p:nvPr>
        </p:nvGraphicFramePr>
        <p:xfrm>
          <a:off x="695498" y="1890066"/>
          <a:ext cx="2926199" cy="3091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199">
                  <a:extLst>
                    <a:ext uri="{9D8B030D-6E8A-4147-A177-3AD203B41FA5}">
                      <a16:colId xmlns:a16="http://schemas.microsoft.com/office/drawing/2014/main" val="2622018388"/>
                    </a:ext>
                  </a:extLst>
                </a:gridCol>
              </a:tblGrid>
              <a:tr h="30917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err="1">
                          <a:solidFill>
                            <a:srgbClr val="000000"/>
                          </a:solidFill>
                          <a:latin typeface="CordiaUPC"/>
                          <a:cs typeface="Tahoma"/>
                        </a:rPr>
                        <a:t>รอ</a:t>
                      </a: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ordiaUPC"/>
                          <a:cs typeface="Tahoma"/>
                        </a:rPr>
                        <a:t> </a:t>
                      </a:r>
                      <a:r>
                        <a:rPr lang="en-US" sz="1400" b="0" i="0" u="none" strike="noStrike" noProof="0" err="1">
                          <a:solidFill>
                            <a:srgbClr val="000000"/>
                          </a:solidFill>
                          <a:latin typeface="CordiaUPC"/>
                          <a:cs typeface="Tahoma"/>
                        </a:rPr>
                        <a:t>ฝ่ายส่งเสริมธุรกิจ</a:t>
                      </a: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ordiaUPC"/>
                          <a:cs typeface="Tahoma"/>
                        </a:rPr>
                        <a:t> SBP </a:t>
                      </a:r>
                      <a:r>
                        <a:rPr lang="en-US" sz="1400" b="0" i="0" u="none" strike="noStrike" noProof="0" err="1">
                          <a:solidFill>
                            <a:srgbClr val="000000"/>
                          </a:solidFill>
                          <a:latin typeface="CordiaUPC"/>
                          <a:cs typeface="Tahoma"/>
                        </a:rPr>
                        <a:t>ดำเนินการ</a:t>
                      </a:r>
                      <a:endParaRPr lang="th-TH" sz="1400" b="0">
                        <a:latin typeface="CordiaUPC"/>
                        <a:cs typeface="CordiaUPC"/>
                      </a:endParaRPr>
                    </a:p>
                  </a:txBody>
                  <a:tcPr>
                    <a:lnL w="3175">
                      <a:solidFill>
                        <a:schemeClr val="bg1">
                          <a:lumMod val="65000"/>
                        </a:schemeClr>
                      </a:solidFill>
                    </a:lnL>
                    <a:lnR w="3175">
                      <a:solidFill>
                        <a:schemeClr val="bg1">
                          <a:lumMod val="65000"/>
                        </a:schemeClr>
                      </a:solidFill>
                    </a:lnR>
                    <a:lnT w="3175">
                      <a:solidFill>
                        <a:schemeClr val="bg1">
                          <a:lumMod val="65000"/>
                        </a:schemeClr>
                      </a:solidFill>
                    </a:lnT>
                    <a:lnB w="3175">
                      <a:solidFill>
                        <a:schemeClr val="bg1">
                          <a:lumMod val="65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6666446"/>
                  </a:ext>
                </a:extLst>
              </a:tr>
            </a:tbl>
          </a:graphicData>
        </a:graphic>
      </p:graphicFrame>
      <p:sp>
        <p:nvSpPr>
          <p:cNvPr id="104" name="กล่องข้อความ 103">
            <a:extLst>
              <a:ext uri="{FF2B5EF4-FFF2-40B4-BE49-F238E27FC236}">
                <a16:creationId xmlns:a16="http://schemas.microsoft.com/office/drawing/2014/main" id="{D69E17D5-1A2C-747D-5A3D-4500874A7BF8}"/>
              </a:ext>
            </a:extLst>
          </p:cNvPr>
          <p:cNvSpPr txBox="1"/>
          <p:nvPr/>
        </p:nvSpPr>
        <p:spPr>
          <a:xfrm>
            <a:off x="8974903" y="1638209"/>
            <a:ext cx="274320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h-TH" sz="2000">
                <a:latin typeface="Arial"/>
                <a:cs typeface="CordiaUPC"/>
              </a:rPr>
              <a:t>ผลการพิจารณา</a:t>
            </a:r>
            <a:r>
              <a:rPr lang="th-TH" sz="2000">
                <a:solidFill>
                  <a:srgbClr val="FF0000"/>
                </a:solidFill>
                <a:latin typeface="Arial"/>
                <a:cs typeface="CordiaUPC"/>
              </a:rPr>
              <a:t>*</a:t>
            </a:r>
          </a:p>
          <a:p>
            <a:r>
              <a:rPr lang="th-TH" sz="2000" b="0">
                <a:latin typeface="Arial"/>
                <a:cs typeface="CordiaUPC"/>
              </a:rPr>
              <a:t>     ประกันรายได้</a:t>
            </a:r>
          </a:p>
          <a:p>
            <a:r>
              <a:rPr lang="th-TH" sz="2000" b="0">
                <a:latin typeface="Arial"/>
                <a:cs typeface="CordiaUPC"/>
              </a:rPr>
              <a:t>     ไม่ประกันรายได้</a:t>
            </a:r>
            <a:endParaRPr lang="th-TH" sz="2000" b="0">
              <a:cs typeface="CordiaUPC"/>
            </a:endParaRPr>
          </a:p>
        </p:txBody>
      </p:sp>
      <p:sp>
        <p:nvSpPr>
          <p:cNvPr id="105" name="วงรี 104">
            <a:extLst>
              <a:ext uri="{FF2B5EF4-FFF2-40B4-BE49-F238E27FC236}">
                <a16:creationId xmlns:a16="http://schemas.microsoft.com/office/drawing/2014/main" id="{045FD5B8-7483-B446-61E2-AF1784EFFB6D}"/>
              </a:ext>
            </a:extLst>
          </p:cNvPr>
          <p:cNvSpPr/>
          <p:nvPr/>
        </p:nvSpPr>
        <p:spPr>
          <a:xfrm>
            <a:off x="9078546" y="2023168"/>
            <a:ext cx="232801" cy="245054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06" name="วงรี 105">
            <a:extLst>
              <a:ext uri="{FF2B5EF4-FFF2-40B4-BE49-F238E27FC236}">
                <a16:creationId xmlns:a16="http://schemas.microsoft.com/office/drawing/2014/main" id="{26C81484-C67C-CCBC-CAA0-8050D2284032}"/>
              </a:ext>
            </a:extLst>
          </p:cNvPr>
          <p:cNvSpPr/>
          <p:nvPr/>
        </p:nvSpPr>
        <p:spPr>
          <a:xfrm>
            <a:off x="9078545" y="2381076"/>
            <a:ext cx="232801" cy="245054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07" name="สี่เหลี่ยมผืนผ้า: มุมมน 106">
            <a:extLst>
              <a:ext uri="{FF2B5EF4-FFF2-40B4-BE49-F238E27FC236}">
                <a16:creationId xmlns:a16="http://schemas.microsoft.com/office/drawing/2014/main" id="{2356E324-7DC1-7E69-A908-7514A26982AD}"/>
              </a:ext>
            </a:extLst>
          </p:cNvPr>
          <p:cNvSpPr/>
          <p:nvPr/>
        </p:nvSpPr>
        <p:spPr>
          <a:xfrm>
            <a:off x="137802" y="4347972"/>
            <a:ext cx="12055761" cy="232294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graphicFrame>
        <p:nvGraphicFramePr>
          <p:cNvPr id="111" name="ตาราง 110">
            <a:extLst>
              <a:ext uri="{FF2B5EF4-FFF2-40B4-BE49-F238E27FC236}">
                <a16:creationId xmlns:a16="http://schemas.microsoft.com/office/drawing/2014/main" id="{3E53A4B1-7643-9B37-46EA-303C238FDC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1615661"/>
              </p:ext>
            </p:extLst>
          </p:nvPr>
        </p:nvGraphicFramePr>
        <p:xfrm>
          <a:off x="588818" y="4514271"/>
          <a:ext cx="11112118" cy="199834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39942">
                  <a:extLst>
                    <a:ext uri="{9D8B030D-6E8A-4147-A177-3AD203B41FA5}">
                      <a16:colId xmlns:a16="http://schemas.microsoft.com/office/drawing/2014/main" val="2369833276"/>
                    </a:ext>
                  </a:extLst>
                </a:gridCol>
                <a:gridCol w="1011835">
                  <a:extLst>
                    <a:ext uri="{9D8B030D-6E8A-4147-A177-3AD203B41FA5}">
                      <a16:colId xmlns:a16="http://schemas.microsoft.com/office/drawing/2014/main" val="66828785"/>
                    </a:ext>
                  </a:extLst>
                </a:gridCol>
                <a:gridCol w="524598">
                  <a:extLst>
                    <a:ext uri="{9D8B030D-6E8A-4147-A177-3AD203B41FA5}">
                      <a16:colId xmlns:a16="http://schemas.microsoft.com/office/drawing/2014/main" val="2050674365"/>
                    </a:ext>
                  </a:extLst>
                </a:gridCol>
                <a:gridCol w="768218">
                  <a:extLst>
                    <a:ext uri="{9D8B030D-6E8A-4147-A177-3AD203B41FA5}">
                      <a16:colId xmlns:a16="http://schemas.microsoft.com/office/drawing/2014/main" val="2117332542"/>
                    </a:ext>
                  </a:extLst>
                </a:gridCol>
                <a:gridCol w="960272">
                  <a:extLst>
                    <a:ext uri="{9D8B030D-6E8A-4147-A177-3AD203B41FA5}">
                      <a16:colId xmlns:a16="http://schemas.microsoft.com/office/drawing/2014/main" val="2625964537"/>
                    </a:ext>
                  </a:extLst>
                </a:gridCol>
                <a:gridCol w="802851">
                  <a:extLst>
                    <a:ext uri="{9D8B030D-6E8A-4147-A177-3AD203B41FA5}">
                      <a16:colId xmlns:a16="http://schemas.microsoft.com/office/drawing/2014/main" val="3180753257"/>
                    </a:ext>
                  </a:extLst>
                </a:gridCol>
                <a:gridCol w="786982">
                  <a:extLst>
                    <a:ext uri="{9D8B030D-6E8A-4147-A177-3AD203B41FA5}">
                      <a16:colId xmlns:a16="http://schemas.microsoft.com/office/drawing/2014/main" val="264577888"/>
                    </a:ext>
                  </a:extLst>
                </a:gridCol>
                <a:gridCol w="955620">
                  <a:extLst>
                    <a:ext uri="{9D8B030D-6E8A-4147-A177-3AD203B41FA5}">
                      <a16:colId xmlns:a16="http://schemas.microsoft.com/office/drawing/2014/main" val="3845301861"/>
                    </a:ext>
                  </a:extLst>
                </a:gridCol>
                <a:gridCol w="604290">
                  <a:extLst>
                    <a:ext uri="{9D8B030D-6E8A-4147-A177-3AD203B41FA5}">
                      <a16:colId xmlns:a16="http://schemas.microsoft.com/office/drawing/2014/main" val="2053017898"/>
                    </a:ext>
                  </a:extLst>
                </a:gridCol>
                <a:gridCol w="672636">
                  <a:extLst>
                    <a:ext uri="{9D8B030D-6E8A-4147-A177-3AD203B41FA5}">
                      <a16:colId xmlns:a16="http://schemas.microsoft.com/office/drawing/2014/main" val="2872838350"/>
                    </a:ext>
                  </a:extLst>
                </a:gridCol>
                <a:gridCol w="824430">
                  <a:extLst>
                    <a:ext uri="{9D8B030D-6E8A-4147-A177-3AD203B41FA5}">
                      <a16:colId xmlns:a16="http://schemas.microsoft.com/office/drawing/2014/main" val="3373771294"/>
                    </a:ext>
                  </a:extLst>
                </a:gridCol>
                <a:gridCol w="538652">
                  <a:extLst>
                    <a:ext uri="{9D8B030D-6E8A-4147-A177-3AD203B41FA5}">
                      <a16:colId xmlns:a16="http://schemas.microsoft.com/office/drawing/2014/main" val="3826866106"/>
                    </a:ext>
                  </a:extLst>
                </a:gridCol>
                <a:gridCol w="810896">
                  <a:extLst>
                    <a:ext uri="{9D8B030D-6E8A-4147-A177-3AD203B41FA5}">
                      <a16:colId xmlns:a16="http://schemas.microsoft.com/office/drawing/2014/main" val="4215986181"/>
                    </a:ext>
                  </a:extLst>
                </a:gridCol>
                <a:gridCol w="810896">
                  <a:extLst>
                    <a:ext uri="{9D8B030D-6E8A-4147-A177-3AD203B41FA5}">
                      <a16:colId xmlns:a16="http://schemas.microsoft.com/office/drawing/2014/main" val="429507798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th-TH" sz="1000" b="1">
                          <a:effectLst/>
                          <a:latin typeface="Tahoma" panose="020B0604030504040204" pitchFamily="34" charset="0"/>
                        </a:rPr>
                        <a:t>รหัสร้านถูกกระทบ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th-TH" sz="1000" b="1">
                          <a:effectLst/>
                          <a:latin typeface="Tahoma" panose="020B0604030504040204" pitchFamily="34" charset="0"/>
                        </a:rPr>
                        <a:t>ชื่อร้านถูกกระทบ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th-TH" sz="1000" b="1">
                          <a:effectLst/>
                          <a:latin typeface="Tahoma" panose="020B0604030504040204" pitchFamily="34" charset="0"/>
                        </a:rPr>
                        <a:t>ภาค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th-TH" sz="1000" b="1">
                          <a:effectLst/>
                          <a:latin typeface="Tahoma" panose="020B0604030504040204" pitchFamily="34" charset="0"/>
                        </a:rPr>
                        <a:t>ประเภทร้าน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th-TH" sz="1000" b="1">
                          <a:effectLst/>
                          <a:latin typeface="Tahoma" panose="020B0604030504040204" pitchFamily="34" charset="0"/>
                        </a:rPr>
                        <a:t>เดือนปีที่ถูกกระทบ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af-ZA" sz="1000" b="1">
                          <a:effectLst/>
                          <a:latin typeface="Tahoma" panose="020B0604030504040204" pitchFamily="34" charset="0"/>
                        </a:rPr>
                        <a:t>Period Statement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th-TH" sz="1000" b="1">
                          <a:effectLst/>
                          <a:latin typeface="Tahoma" panose="020B0604030504040204" pitchFamily="34" charset="0"/>
                        </a:rPr>
                        <a:t>รหัสร้านเปิดกระทบ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th-TH" sz="1000" b="1">
                          <a:effectLst/>
                          <a:latin typeface="Tahoma" panose="020B0604030504040204" pitchFamily="34" charset="0"/>
                        </a:rPr>
                        <a:t>ชื่อร้านเปิดกระทบ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th-TH" sz="1000" b="1">
                          <a:effectLst/>
                          <a:latin typeface="Tahoma" panose="020B0604030504040204" pitchFamily="34" charset="0"/>
                        </a:rPr>
                        <a:t>ภาค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th-TH" sz="1000" b="1">
                          <a:effectLst/>
                          <a:latin typeface="Tahoma" panose="020B0604030504040204" pitchFamily="34" charset="0"/>
                        </a:rPr>
                        <a:t>ประเภทร้าน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th-TH" sz="1000" b="1">
                          <a:effectLst/>
                          <a:latin typeface="Tahoma" panose="020B0604030504040204" pitchFamily="34" charset="0"/>
                        </a:rPr>
                        <a:t>ยอดเงินชดเชย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th-TH" sz="1000" b="1">
                          <a:effectLst/>
                          <a:latin typeface="Tahoma" panose="020B0604030504040204" pitchFamily="34" charset="0"/>
                        </a:rPr>
                        <a:t>ครั้งที่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th-TH" sz="1000" b="1">
                          <a:effectLst/>
                          <a:latin typeface="Tahoma" panose="020B0604030504040204" pitchFamily="34" charset="0"/>
                        </a:rPr>
                        <a:t>วันที่สร้าง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th-TH" sz="1000" b="1">
                          <a:effectLst/>
                          <a:latin typeface="Tahoma" panose="020B0604030504040204" pitchFamily="34" charset="0"/>
                        </a:rPr>
                        <a:t>เลขที่เอกสาร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535604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th-TH" sz="1000">
                          <a:effectLst/>
                          <a:latin typeface="Tahoma"/>
                        </a:rPr>
                        <a:t>233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 panose="020B0604030504040204" pitchFamily="34" charset="0"/>
                        </a:rPr>
                        <a:t>บางลำภู-1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af-ZA" sz="1000">
                          <a:effectLst/>
                          <a:latin typeface="Tahoma" panose="020B0604030504040204" pitchFamily="34" charset="0"/>
                        </a:rPr>
                        <a:t>BG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af-ZA" sz="1000">
                          <a:effectLst/>
                          <a:latin typeface="Tahoma" panose="020B0604030504040204" pitchFamily="34" charset="0"/>
                        </a:rPr>
                        <a:t>C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 panose="020B0604030504040204" pitchFamily="34" charset="0"/>
                        </a:rPr>
                        <a:t>06/2025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 panose="020B0604030504040204" pitchFamily="34" charset="0"/>
                        </a:rPr>
                        <a:t>07/2025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/>
                        </a:rPr>
                        <a:t>22864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 panose="020B0604030504040204" pitchFamily="34" charset="0"/>
                        </a:rPr>
                        <a:t>ถนนรามบุตรี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af-ZA" sz="1000">
                          <a:effectLst/>
                          <a:latin typeface="Tahoma" panose="020B0604030504040204" pitchFamily="34" charset="0"/>
                        </a:rPr>
                        <a:t>BG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af-ZA" sz="1000">
                          <a:effectLst/>
                          <a:latin typeface="Tahoma" panose="020B0604030504040204" pitchFamily="34" charset="0"/>
                        </a:rPr>
                        <a:t>B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/>
                        </a:rPr>
                        <a:t>43,089.59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/>
                        </a:rPr>
                        <a:t>4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 panose="020B0604030504040204" pitchFamily="34" charset="0"/>
                        </a:rPr>
                        <a:t>07/07/2025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 panose="020B0604030504040204" pitchFamily="34" charset="0"/>
                        </a:rPr>
                        <a:t>2025/01942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674483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th-TH" sz="1000">
                          <a:effectLst/>
                          <a:latin typeface="Tahoma"/>
                        </a:rPr>
                        <a:t>233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 panose="020B0604030504040204" pitchFamily="34" charset="0"/>
                        </a:rPr>
                        <a:t>บางลำภู-1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af-ZA" sz="1000">
                          <a:effectLst/>
                          <a:latin typeface="Tahoma" panose="020B0604030504040204" pitchFamily="34" charset="0"/>
                        </a:rPr>
                        <a:t>BG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af-ZA" sz="1000">
                          <a:effectLst/>
                          <a:latin typeface="Tahoma" panose="020B0604030504040204" pitchFamily="34" charset="0"/>
                        </a:rPr>
                        <a:t>C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 panose="020B0604030504040204" pitchFamily="34" charset="0"/>
                        </a:rPr>
                        <a:t>06/2025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 panose="020B0604030504040204" pitchFamily="34" charset="0"/>
                        </a:rPr>
                        <a:t>07/2025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/>
                        </a:rPr>
                        <a:t>22886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 panose="020B0604030504040204" pitchFamily="34" charset="0"/>
                        </a:rPr>
                        <a:t>วิสุทธิกษัตริย์ 3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af-ZA" sz="1000">
                          <a:effectLst/>
                          <a:latin typeface="Tahoma" panose="020B0604030504040204" pitchFamily="34" charset="0"/>
                        </a:rPr>
                        <a:t>BN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af-ZA" sz="1000">
                          <a:effectLst/>
                          <a:latin typeface="Tahoma" panose="020B0604030504040204" pitchFamily="34" charset="0"/>
                        </a:rPr>
                        <a:t>B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/>
                        </a:rPr>
                        <a:t>0.00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/>
                        </a:rPr>
                        <a:t>4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 panose="020B0604030504040204" pitchFamily="34" charset="0"/>
                        </a:rPr>
                        <a:t>07/07/2025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 panose="020B0604030504040204" pitchFamily="34" charset="0"/>
                        </a:rPr>
                        <a:t>2025/01942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529159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th-TH" sz="1000">
                          <a:effectLst/>
                          <a:latin typeface="Tahoma"/>
                        </a:rPr>
                        <a:t>233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 panose="020B0604030504040204" pitchFamily="34" charset="0"/>
                        </a:rPr>
                        <a:t>บางลำภู-1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af-ZA" sz="1000">
                          <a:effectLst/>
                          <a:latin typeface="Tahoma" panose="020B0604030504040204" pitchFamily="34" charset="0"/>
                        </a:rPr>
                        <a:t>BG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af-ZA" sz="1000">
                          <a:effectLst/>
                          <a:latin typeface="Tahoma" panose="020B0604030504040204" pitchFamily="34" charset="0"/>
                        </a:rPr>
                        <a:t>C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 panose="020B0604030504040204" pitchFamily="34" charset="0"/>
                        </a:rPr>
                        <a:t>06/2025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 panose="020B0604030504040204" pitchFamily="34" charset="0"/>
                        </a:rPr>
                        <a:t>07/2025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/>
                        </a:rPr>
                        <a:t>22905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 panose="020B0604030504040204" pitchFamily="34" charset="0"/>
                        </a:rPr>
                        <a:t>ถนนอัษฎางค์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af-ZA" sz="1000">
                          <a:effectLst/>
                          <a:latin typeface="Tahoma" panose="020B0604030504040204" pitchFamily="34" charset="0"/>
                        </a:rPr>
                        <a:t>BG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af-ZA" sz="1000">
                          <a:effectLst/>
                          <a:latin typeface="Tahoma" panose="020B0604030504040204" pitchFamily="34" charset="0"/>
                        </a:rPr>
                        <a:t>B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/>
                        </a:rPr>
                        <a:t>0.00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/>
                        </a:rPr>
                        <a:t>4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 panose="020B0604030504040204" pitchFamily="34" charset="0"/>
                        </a:rPr>
                        <a:t>07/07/2025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 panose="020B0604030504040204" pitchFamily="34" charset="0"/>
                        </a:rPr>
                        <a:t>2025/01942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8794165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th-TH" sz="1000">
                          <a:effectLst/>
                          <a:latin typeface="Tahoma"/>
                        </a:rPr>
                        <a:t>369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 panose="020B0604030504040204" pitchFamily="34" charset="0"/>
                        </a:rPr>
                        <a:t>ราชเทวี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af-ZA" sz="1000">
                          <a:effectLst/>
                          <a:latin typeface="Tahoma" panose="020B0604030504040204" pitchFamily="34" charset="0"/>
                        </a:rPr>
                        <a:t>BW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af-ZA" sz="1000">
                          <a:effectLst/>
                          <a:latin typeface="Tahoma" panose="020B0604030504040204" pitchFamily="34" charset="0"/>
                        </a:rPr>
                        <a:t>C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 panose="020B0604030504040204" pitchFamily="34" charset="0"/>
                        </a:rPr>
                        <a:t>06/2025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 panose="020B0604030504040204" pitchFamily="34" charset="0"/>
                        </a:rPr>
                        <a:t>07/2025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/>
                        </a:rPr>
                        <a:t>22977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 panose="020B0604030504040204" pitchFamily="34" charset="0"/>
                        </a:rPr>
                        <a:t>โรงแรมเอเชีย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af-ZA" sz="1000">
                          <a:effectLst/>
                          <a:latin typeface="Tahoma" panose="020B0604030504040204" pitchFamily="34" charset="0"/>
                        </a:rPr>
                        <a:t>BW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af-ZA" sz="1000">
                          <a:effectLst/>
                          <a:latin typeface="Tahoma" panose="020B0604030504040204" pitchFamily="34" charset="0"/>
                        </a:rPr>
                        <a:t>B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/>
                        </a:rPr>
                        <a:t>64,588.73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/>
                        </a:rPr>
                        <a:t>2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 panose="020B0604030504040204" pitchFamily="34" charset="0"/>
                        </a:rPr>
                        <a:t>07/07/2025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 panose="020B0604030504040204" pitchFamily="34" charset="0"/>
                        </a:rPr>
                        <a:t>2025/01991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437444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th-TH" sz="1000">
                          <a:effectLst/>
                          <a:latin typeface="Tahoma"/>
                        </a:rPr>
                        <a:t>613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 panose="020B0604030504040204" pitchFamily="34" charset="0"/>
                        </a:rPr>
                        <a:t>สี่แยกปฐมพร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af-ZA" sz="1000">
                          <a:effectLst/>
                          <a:latin typeface="Tahoma" panose="020B0604030504040204" pitchFamily="34" charset="0"/>
                        </a:rPr>
                        <a:t>RSU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af-ZA" sz="1000">
                          <a:effectLst/>
                          <a:latin typeface="Tahoma" panose="020B0604030504040204" pitchFamily="34" charset="0"/>
                        </a:rPr>
                        <a:t>A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 panose="020B0604030504040204" pitchFamily="34" charset="0"/>
                        </a:rPr>
                        <a:t>06/2025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 panose="020B0604030504040204" pitchFamily="34" charset="0"/>
                        </a:rPr>
                        <a:t>07/2025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/>
                        </a:rPr>
                        <a:t>19903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 panose="020B0604030504040204" pitchFamily="34" charset="0"/>
                        </a:rPr>
                        <a:t>วังไผ่(ขาเข้าเมืองชุมพร)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af-ZA" sz="1000">
                          <a:effectLst/>
                          <a:latin typeface="Tahoma" panose="020B0604030504040204" pitchFamily="34" charset="0"/>
                        </a:rPr>
                        <a:t>RSU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af-ZA" sz="1000">
                          <a:effectLst/>
                          <a:latin typeface="Tahoma" panose="020B0604030504040204" pitchFamily="34" charset="0"/>
                        </a:rPr>
                        <a:t>B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/>
                        </a:rPr>
                        <a:t>36,062.56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/>
                        </a:rPr>
                        <a:t>11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 panose="020B0604030504040204" pitchFamily="34" charset="0"/>
                        </a:rPr>
                        <a:t>07/07/2025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 panose="020B0604030504040204" pitchFamily="34" charset="0"/>
                        </a:rPr>
                        <a:t>2025/01855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7439257"/>
                  </a:ext>
                </a:extLst>
              </a:tr>
            </a:tbl>
          </a:graphicData>
        </a:graphic>
      </p:graphicFrame>
      <p:sp>
        <p:nvSpPr>
          <p:cNvPr id="112" name="กล่องข้อความ 111">
            <a:extLst>
              <a:ext uri="{FF2B5EF4-FFF2-40B4-BE49-F238E27FC236}">
                <a16:creationId xmlns:a16="http://schemas.microsoft.com/office/drawing/2014/main" id="{58285C8C-D74D-6607-963F-085018B3AEC7}"/>
              </a:ext>
            </a:extLst>
          </p:cNvPr>
          <p:cNvSpPr txBox="1"/>
          <p:nvPr/>
        </p:nvSpPr>
        <p:spPr>
          <a:xfrm>
            <a:off x="464127" y="1122218"/>
            <a:ext cx="27432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242424"/>
                </a:solidFill>
                <a:latin typeface="CordiaUPC"/>
                <a:cs typeface="Angsana New"/>
              </a:rPr>
              <a:t>รายงานแสดงร้านถูกกระทบ</a:t>
            </a:r>
            <a:endParaRPr lang="en-US" sz="2400">
              <a:latin typeface="CordiaUPC"/>
              <a:cs typeface="Angsana New"/>
            </a:endParaRPr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F0AA5A8E-E9C4-F4CC-04ED-5CDE41EAF47F}"/>
              </a:ext>
            </a:extLst>
          </p:cNvPr>
          <p:cNvSpPr txBox="1"/>
          <p:nvPr/>
        </p:nvSpPr>
        <p:spPr>
          <a:xfrm>
            <a:off x="697816" y="3093550"/>
            <a:ext cx="187986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th-TH" sz="2000">
                <a:latin typeface="CordiaUPC"/>
                <a:cs typeface="CordiaUPC"/>
              </a:rPr>
              <a:t>รหัสร้านเปิดกระทบบ</a:t>
            </a:r>
            <a:endParaRPr lang="th-TH"/>
          </a:p>
        </p:txBody>
      </p:sp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4EA8F372-CCA3-0F6A-46F7-F531DA98986C}"/>
              </a:ext>
            </a:extLst>
          </p:cNvPr>
          <p:cNvSpPr txBox="1"/>
          <p:nvPr/>
        </p:nvSpPr>
        <p:spPr>
          <a:xfrm>
            <a:off x="5290242" y="2747007"/>
            <a:ext cx="187986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th-TH" sz="2000">
                <a:latin typeface="CordiaUPC"/>
                <a:cs typeface="CordiaUPC"/>
              </a:rPr>
              <a:t>ภาค</a:t>
            </a:r>
            <a:endParaRPr lang="th-TH"/>
          </a:p>
        </p:txBody>
      </p:sp>
      <p:sp>
        <p:nvSpPr>
          <p:cNvPr id="9" name="กล่องข้อความ 8">
            <a:extLst>
              <a:ext uri="{FF2B5EF4-FFF2-40B4-BE49-F238E27FC236}">
                <a16:creationId xmlns:a16="http://schemas.microsoft.com/office/drawing/2014/main" id="{19BFB649-D8A4-B0B9-844C-930B78430D3D}"/>
              </a:ext>
            </a:extLst>
          </p:cNvPr>
          <p:cNvSpPr txBox="1"/>
          <p:nvPr/>
        </p:nvSpPr>
        <p:spPr>
          <a:xfrm>
            <a:off x="349531" y="1543806"/>
            <a:ext cx="3628375" cy="281326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th-TH"/>
          </a:p>
        </p:txBody>
      </p:sp>
      <p:sp>
        <p:nvSpPr>
          <p:cNvPr id="8" name="สี่เหลี่ยมผืนผ้า 7">
            <a:extLst>
              <a:ext uri="{FF2B5EF4-FFF2-40B4-BE49-F238E27FC236}">
                <a16:creationId xmlns:a16="http://schemas.microsoft.com/office/drawing/2014/main" id="{740E2946-4558-DF61-D16D-B8945280DA86}"/>
              </a:ext>
            </a:extLst>
          </p:cNvPr>
          <p:cNvSpPr/>
          <p:nvPr/>
        </p:nvSpPr>
        <p:spPr>
          <a:xfrm>
            <a:off x="563235" y="3489184"/>
            <a:ext cx="2913009" cy="20988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th-TH">
                <a:solidFill>
                  <a:schemeClr val="tx1"/>
                </a:solidFill>
                <a:latin typeface="CordiaUPC"/>
                <a:ea typeface="Tahoma"/>
                <a:cs typeface="CordiaUPC"/>
              </a:rPr>
              <a:t>XXXXXX</a:t>
            </a:r>
            <a:endParaRPr lang="th-TH"/>
          </a:p>
        </p:txBody>
      </p:sp>
      <p:sp>
        <p:nvSpPr>
          <p:cNvPr id="11" name="กล่องข้อความ 10">
            <a:extLst>
              <a:ext uri="{FF2B5EF4-FFF2-40B4-BE49-F238E27FC236}">
                <a16:creationId xmlns:a16="http://schemas.microsoft.com/office/drawing/2014/main" id="{E8F5F6A1-04DD-7251-80A9-E96ED2B20F3A}"/>
              </a:ext>
            </a:extLst>
          </p:cNvPr>
          <p:cNvSpPr txBox="1"/>
          <p:nvPr/>
        </p:nvSpPr>
        <p:spPr>
          <a:xfrm>
            <a:off x="4969597" y="1497283"/>
            <a:ext cx="6336661" cy="2818799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th-TH"/>
          </a:p>
        </p:txBody>
      </p:sp>
      <p:sp>
        <p:nvSpPr>
          <p:cNvPr id="15" name="กล่องข้อความ 14">
            <a:extLst>
              <a:ext uri="{FF2B5EF4-FFF2-40B4-BE49-F238E27FC236}">
                <a16:creationId xmlns:a16="http://schemas.microsoft.com/office/drawing/2014/main" id="{1BCD89A7-FBB8-9C5B-6464-650D798F7A1E}"/>
              </a:ext>
            </a:extLst>
          </p:cNvPr>
          <p:cNvSpPr txBox="1"/>
          <p:nvPr/>
        </p:nvSpPr>
        <p:spPr>
          <a:xfrm>
            <a:off x="9999785" y="35169"/>
            <a:ext cx="27432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hlinkClick r:id="rId5"/>
              </a:rPr>
              <a:t>ภาคตาม Area และตารางข้อมูล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1010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140DF-8EA1-4498-2C0A-E6DAC0FB4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F99D9EB-2F82-3167-D084-BD032FF5DCFC}"/>
              </a:ext>
            </a:extLst>
          </p:cNvPr>
          <p:cNvSpPr txBox="1">
            <a:spLocks/>
          </p:cNvSpPr>
          <p:nvPr/>
        </p:nvSpPr>
        <p:spPr bwMode="auto">
          <a:xfrm>
            <a:off x="566825" y="205415"/>
            <a:ext cx="4707486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1.9 To-Be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 Business Process</a:t>
            </a:r>
            <a:r>
              <a:rPr lang="en-US" altLang="en-US" u="sng">
                <a:latin typeface="CordiaUPC"/>
                <a:ea typeface="Tahoma"/>
                <a:cs typeface="CordiaUPC"/>
              </a:rPr>
              <a:t> </a:t>
            </a:r>
            <a:endParaRPr lang="th-TH" altLang="en-US" b="1" u="sng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D24244-6E19-C0E2-B676-4976CDF98DD0}"/>
              </a:ext>
            </a:extLst>
          </p:cNvPr>
          <p:cNvSpPr txBox="1">
            <a:spLocks/>
          </p:cNvSpPr>
          <p:nvPr/>
        </p:nvSpPr>
        <p:spPr bwMode="auto">
          <a:xfrm>
            <a:off x="462916" y="573880"/>
            <a:ext cx="6998746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sz="2800">
                <a:latin typeface="CordiaUPC"/>
                <a:ea typeface="Tahoma"/>
                <a:cs typeface="CordiaUPC"/>
              </a:rPr>
              <a:t>1.</a:t>
            </a:r>
            <a:r>
              <a:rPr lang="th-TH" altLang="en-US" sz="2800">
                <a:latin typeface="CordiaUPC"/>
                <a:ea typeface="Tahoma"/>
                <a:cs typeface="CordiaUPC"/>
              </a:rPr>
              <a:t> ออกแบบหรือสร้าง </a:t>
            </a:r>
            <a:r>
              <a:rPr lang="en-US" altLang="en-US" sz="2800">
                <a:latin typeface="CordiaUPC"/>
                <a:ea typeface="Tahoma"/>
                <a:cs typeface="CordiaUPC"/>
              </a:rPr>
              <a:t>Menu </a:t>
            </a:r>
            <a:r>
              <a:rPr lang="th-TH" altLang="en-US" sz="2800">
                <a:latin typeface="CordiaUPC"/>
                <a:ea typeface="Tahoma"/>
                <a:cs typeface="CordiaUPC"/>
              </a:rPr>
              <a:t>ใหม่ในระบบ </a:t>
            </a:r>
            <a:r>
              <a:rPr lang="en-US" altLang="en-US" sz="2800">
                <a:latin typeface="CordiaUPC"/>
                <a:ea typeface="Tahoma"/>
                <a:cs typeface="CordiaUPC"/>
              </a:rPr>
              <a:t>SBP Mall</a:t>
            </a:r>
            <a:endParaRPr lang="th-TH" altLang="en-US" sz="2800" b="1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CE18D4-8266-CB91-D9AC-C10B7DFEA1E3}"/>
              </a:ext>
            </a:extLst>
          </p:cNvPr>
          <p:cNvSpPr txBox="1"/>
          <p:nvPr/>
        </p:nvSpPr>
        <p:spPr>
          <a:xfrm>
            <a:off x="6265223" y="752233"/>
            <a:ext cx="6096000" cy="437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/>
              <a:t>✅  </a:t>
            </a:r>
            <a:r>
              <a:rPr lang="en-US"/>
              <a:t>Menu                   &gt;</a:t>
            </a:r>
            <a:r>
              <a:rPr lang="th-TH"/>
              <a:t>   </a:t>
            </a:r>
            <a:r>
              <a:rPr lang="th-TH" sz="2200">
                <a:latin typeface="CordiaUPC" panose="020B0304020202020204" pitchFamily="34" charset="-34"/>
                <a:cs typeface="CordiaUPC" panose="020B0304020202020204" pitchFamily="34" charset="-34"/>
              </a:rPr>
              <a:t>รายงานตรวจสอบประกันรายได้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6FFA15E-28CC-CF66-F5C6-A3A1855245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995" y="766793"/>
            <a:ext cx="794658" cy="360539"/>
          </a:xfrm>
          <a:prstGeom prst="rect">
            <a:avLst/>
          </a:prstGeom>
        </p:spPr>
      </p:pic>
      <p:grpSp>
        <p:nvGrpSpPr>
          <p:cNvPr id="69" name="กลุ่ม 68">
            <a:extLst>
              <a:ext uri="{FF2B5EF4-FFF2-40B4-BE49-F238E27FC236}">
                <a16:creationId xmlns:a16="http://schemas.microsoft.com/office/drawing/2014/main" id="{5622BE9D-534A-3DC2-5434-484691DA618C}"/>
              </a:ext>
            </a:extLst>
          </p:cNvPr>
          <p:cNvGrpSpPr/>
          <p:nvPr/>
        </p:nvGrpSpPr>
        <p:grpSpPr>
          <a:xfrm>
            <a:off x="18379" y="1143255"/>
            <a:ext cx="12194434" cy="5718615"/>
            <a:chOff x="-223364" y="681080"/>
            <a:chExt cx="12194434" cy="5718615"/>
          </a:xfrm>
        </p:grpSpPr>
        <p:sp>
          <p:nvSpPr>
            <p:cNvPr id="41" name="สี่เหลี่ยมผืนผ้า 40">
              <a:extLst>
                <a:ext uri="{FF2B5EF4-FFF2-40B4-BE49-F238E27FC236}">
                  <a16:creationId xmlns:a16="http://schemas.microsoft.com/office/drawing/2014/main" id="{B76F3F39-C1DF-69DB-C732-ED9BACA49367}"/>
                </a:ext>
              </a:extLst>
            </p:cNvPr>
            <p:cNvSpPr/>
            <p:nvPr/>
          </p:nvSpPr>
          <p:spPr>
            <a:xfrm>
              <a:off x="-223364" y="681080"/>
              <a:ext cx="12194434" cy="571861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42" name="สี่เหลี่ยมผืนผ้า: มุมมน 41">
              <a:extLst>
                <a:ext uri="{FF2B5EF4-FFF2-40B4-BE49-F238E27FC236}">
                  <a16:creationId xmlns:a16="http://schemas.microsoft.com/office/drawing/2014/main" id="{4A8BEA84-32EA-82AE-58E2-04ACE6F9C9BF}"/>
                </a:ext>
              </a:extLst>
            </p:cNvPr>
            <p:cNvSpPr/>
            <p:nvPr/>
          </p:nvSpPr>
          <p:spPr>
            <a:xfrm>
              <a:off x="-91192" y="742494"/>
              <a:ext cx="12033467" cy="319888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sp>
        <p:nvSpPr>
          <p:cNvPr id="44" name="กล่องข้อความ 43">
            <a:extLst>
              <a:ext uri="{FF2B5EF4-FFF2-40B4-BE49-F238E27FC236}">
                <a16:creationId xmlns:a16="http://schemas.microsoft.com/office/drawing/2014/main" id="{ABB82BAA-0940-5728-8FBB-D266449CA10A}"/>
              </a:ext>
            </a:extLst>
          </p:cNvPr>
          <p:cNvSpPr txBox="1"/>
          <p:nvPr/>
        </p:nvSpPr>
        <p:spPr>
          <a:xfrm>
            <a:off x="796753" y="1496015"/>
            <a:ext cx="12795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th-TH" sz="2000">
                <a:latin typeface="CordiaUPC"/>
                <a:cs typeface="CordiaUPC"/>
              </a:rPr>
              <a:t>สถานะ</a:t>
            </a:r>
            <a:r>
              <a:rPr lang="th-TH" sz="2000">
                <a:solidFill>
                  <a:srgbClr val="FF0000"/>
                </a:solidFill>
                <a:latin typeface="CordiaUPC"/>
                <a:cs typeface="CordiaUPC"/>
              </a:rPr>
              <a:t>*</a:t>
            </a:r>
          </a:p>
        </p:txBody>
      </p:sp>
      <p:pic>
        <p:nvPicPr>
          <p:cNvPr id="46" name="รูปภาพ 45">
            <a:extLst>
              <a:ext uri="{FF2B5EF4-FFF2-40B4-BE49-F238E27FC236}">
                <a16:creationId xmlns:a16="http://schemas.microsoft.com/office/drawing/2014/main" id="{704D7CFE-B750-F1CE-A498-5A077CEEB0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5668" y="1926648"/>
            <a:ext cx="299027" cy="164522"/>
          </a:xfrm>
          <a:prstGeom prst="rect">
            <a:avLst/>
          </a:prstGeom>
        </p:spPr>
      </p:pic>
      <p:sp>
        <p:nvSpPr>
          <p:cNvPr id="48" name="กล่องข้อความ 47">
            <a:extLst>
              <a:ext uri="{FF2B5EF4-FFF2-40B4-BE49-F238E27FC236}">
                <a16:creationId xmlns:a16="http://schemas.microsoft.com/office/drawing/2014/main" id="{21E0773E-4D27-9AEC-E051-D66F0AF1C0E2}"/>
              </a:ext>
            </a:extLst>
          </p:cNvPr>
          <p:cNvSpPr txBox="1"/>
          <p:nvPr/>
        </p:nvSpPr>
        <p:spPr>
          <a:xfrm>
            <a:off x="9108709" y="2905725"/>
            <a:ext cx="1595683" cy="338554"/>
          </a:xfrm>
          <a:prstGeom prst="rect">
            <a:avLst/>
          </a:prstGeom>
          <a:solidFill>
            <a:srgbClr val="0070C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th-TH" err="1">
                <a:solidFill>
                  <a:schemeClr val="bg1"/>
                </a:solidFill>
                <a:latin typeface="CordiaUPC"/>
                <a:cs typeface="CordiaUPC"/>
              </a:rPr>
              <a:t>Preview</a:t>
            </a:r>
            <a:r>
              <a:rPr lang="th-TH">
                <a:solidFill>
                  <a:schemeClr val="bg1"/>
                </a:solidFill>
                <a:latin typeface="CordiaUPC"/>
                <a:cs typeface="CordiaUPC"/>
              </a:rPr>
              <a:t> </a:t>
            </a:r>
            <a:r>
              <a:rPr lang="th-TH" err="1">
                <a:solidFill>
                  <a:schemeClr val="bg1"/>
                </a:solidFill>
                <a:latin typeface="CordiaUPC"/>
                <a:cs typeface="CordiaUPC"/>
              </a:rPr>
              <a:t>Report</a:t>
            </a:r>
            <a:endParaRPr lang="th-TH">
              <a:solidFill>
                <a:schemeClr val="bg1"/>
              </a:solidFill>
              <a:latin typeface="CordiaUPC"/>
              <a:cs typeface="CordiaUPC"/>
            </a:endParaRPr>
          </a:p>
        </p:txBody>
      </p:sp>
      <p:sp>
        <p:nvSpPr>
          <p:cNvPr id="49" name="กล่องข้อความ 48">
            <a:extLst>
              <a:ext uri="{FF2B5EF4-FFF2-40B4-BE49-F238E27FC236}">
                <a16:creationId xmlns:a16="http://schemas.microsoft.com/office/drawing/2014/main" id="{33DA79B0-EAEF-7547-5052-904FB0E7D0DC}"/>
              </a:ext>
            </a:extLst>
          </p:cNvPr>
          <p:cNvSpPr txBox="1"/>
          <p:nvPr/>
        </p:nvSpPr>
        <p:spPr>
          <a:xfrm>
            <a:off x="9110662" y="3362925"/>
            <a:ext cx="1589290" cy="338554"/>
          </a:xfrm>
          <a:prstGeom prst="rect">
            <a:avLst/>
          </a:prstGeom>
          <a:solidFill>
            <a:srgbClr val="00B05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h-TH" err="1">
                <a:solidFill>
                  <a:schemeClr val="bg1"/>
                </a:solidFill>
                <a:latin typeface="CordiaUPC"/>
                <a:cs typeface="CordiaUPC"/>
              </a:rPr>
              <a:t>Export</a:t>
            </a:r>
            <a:r>
              <a:rPr lang="th-TH">
                <a:solidFill>
                  <a:schemeClr val="bg1"/>
                </a:solidFill>
                <a:latin typeface="CordiaUPC"/>
                <a:cs typeface="CordiaUPC"/>
              </a:rPr>
              <a:t> CSV </a:t>
            </a:r>
            <a:r>
              <a:rPr lang="th-TH" err="1">
                <a:solidFill>
                  <a:schemeClr val="bg1"/>
                </a:solidFill>
                <a:latin typeface="CordiaUPC"/>
                <a:cs typeface="CordiaUPC"/>
              </a:rPr>
              <a:t>to</a:t>
            </a:r>
            <a:r>
              <a:rPr lang="th-TH">
                <a:solidFill>
                  <a:schemeClr val="bg1"/>
                </a:solidFill>
                <a:latin typeface="CordiaUPC"/>
                <a:cs typeface="CordiaUPC"/>
              </a:rPr>
              <a:t> </a:t>
            </a:r>
            <a:r>
              <a:rPr lang="th-TH" err="1">
                <a:solidFill>
                  <a:schemeClr val="bg1"/>
                </a:solidFill>
                <a:latin typeface="CordiaUPC"/>
                <a:cs typeface="CordiaUPC"/>
              </a:rPr>
              <a:t>Batch</a:t>
            </a:r>
            <a:endParaRPr lang="th-TH" err="1">
              <a:solidFill>
                <a:schemeClr val="bg1"/>
              </a:solidFill>
            </a:endParaRPr>
          </a:p>
        </p:txBody>
      </p:sp>
      <p:sp>
        <p:nvSpPr>
          <p:cNvPr id="50" name="กล่องข้อความ 49">
            <a:extLst>
              <a:ext uri="{FF2B5EF4-FFF2-40B4-BE49-F238E27FC236}">
                <a16:creationId xmlns:a16="http://schemas.microsoft.com/office/drawing/2014/main" id="{0012B078-B33A-7EA2-22D7-33CBF1E4498F}"/>
              </a:ext>
            </a:extLst>
          </p:cNvPr>
          <p:cNvSpPr txBox="1"/>
          <p:nvPr/>
        </p:nvSpPr>
        <p:spPr>
          <a:xfrm>
            <a:off x="9962184" y="3867015"/>
            <a:ext cx="746472" cy="33855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h-TH">
                <a:solidFill>
                  <a:schemeClr val="bg1"/>
                </a:solidFill>
                <a:latin typeface="CordiaUPC"/>
                <a:cs typeface="CordiaUPC"/>
              </a:rPr>
              <a:t>ย้อนกลับ</a:t>
            </a:r>
            <a:endParaRPr lang="th-TH"/>
          </a:p>
        </p:txBody>
      </p:sp>
      <p:grpSp>
        <p:nvGrpSpPr>
          <p:cNvPr id="97" name="กลุ่ม 96">
            <a:extLst>
              <a:ext uri="{FF2B5EF4-FFF2-40B4-BE49-F238E27FC236}">
                <a16:creationId xmlns:a16="http://schemas.microsoft.com/office/drawing/2014/main" id="{B249FF6E-3A5F-A0CF-CC1C-5BE5E8EE5AB1}"/>
              </a:ext>
            </a:extLst>
          </p:cNvPr>
          <p:cNvGrpSpPr/>
          <p:nvPr/>
        </p:nvGrpSpPr>
        <p:grpSpPr>
          <a:xfrm>
            <a:off x="5244062" y="1696371"/>
            <a:ext cx="1637411" cy="984976"/>
            <a:chOff x="3048117" y="1715378"/>
            <a:chExt cx="1637411" cy="984976"/>
          </a:xfrm>
        </p:grpSpPr>
        <p:sp>
          <p:nvSpPr>
            <p:cNvPr id="52" name="กล่องข้อความ 51">
              <a:extLst>
                <a:ext uri="{FF2B5EF4-FFF2-40B4-BE49-F238E27FC236}">
                  <a16:creationId xmlns:a16="http://schemas.microsoft.com/office/drawing/2014/main" id="{748AEC81-D68C-D42E-ADD3-ED948C8D2A58}"/>
                </a:ext>
              </a:extLst>
            </p:cNvPr>
            <p:cNvSpPr txBox="1"/>
            <p:nvPr/>
          </p:nvSpPr>
          <p:spPr>
            <a:xfrm>
              <a:off x="3048117" y="1715378"/>
              <a:ext cx="1279503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th-TH" sz="2000">
                  <a:latin typeface="CordiaUPC"/>
                  <a:cs typeface="CordiaUPC"/>
                </a:rPr>
                <a:t>ประเภทร้าน</a:t>
              </a:r>
            </a:p>
          </p:txBody>
        </p:sp>
        <p:sp>
          <p:nvSpPr>
            <p:cNvPr id="53" name="กล่องข้อความ 52">
              <a:extLst>
                <a:ext uri="{FF2B5EF4-FFF2-40B4-BE49-F238E27FC236}">
                  <a16:creationId xmlns:a16="http://schemas.microsoft.com/office/drawing/2014/main" id="{ADC36B17-826A-2779-7D01-67F57B0F658B}"/>
                </a:ext>
              </a:extLst>
            </p:cNvPr>
            <p:cNvSpPr txBox="1"/>
            <p:nvPr/>
          </p:nvSpPr>
          <p:spPr>
            <a:xfrm>
              <a:off x="3192183" y="2087466"/>
              <a:ext cx="210907" cy="196846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endParaRPr lang="th-TH"/>
            </a:p>
          </p:txBody>
        </p:sp>
        <p:sp>
          <p:nvSpPr>
            <p:cNvPr id="54" name="กล่องข้อความ 53">
              <a:extLst>
                <a:ext uri="{FF2B5EF4-FFF2-40B4-BE49-F238E27FC236}">
                  <a16:creationId xmlns:a16="http://schemas.microsoft.com/office/drawing/2014/main" id="{A5BEA07B-6965-E002-9AAB-19E260022173}"/>
                </a:ext>
              </a:extLst>
            </p:cNvPr>
            <p:cNvSpPr txBox="1"/>
            <p:nvPr/>
          </p:nvSpPr>
          <p:spPr>
            <a:xfrm>
              <a:off x="3406025" y="1992468"/>
              <a:ext cx="1279503" cy="707886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th-TH" sz="2000" b="0">
                  <a:latin typeface="CordiaUPC"/>
                  <a:cs typeface="CordiaUPC"/>
                </a:rPr>
                <a:t>A         B     </a:t>
              </a:r>
            </a:p>
            <a:p>
              <a:r>
                <a:rPr lang="th-TH" sz="2000" b="0">
                  <a:latin typeface="CordiaUPC"/>
                  <a:cs typeface="CordiaUPC"/>
                </a:rPr>
                <a:t>C         D</a:t>
              </a:r>
            </a:p>
          </p:txBody>
        </p:sp>
        <p:sp>
          <p:nvSpPr>
            <p:cNvPr id="55" name="กล่องข้อความ 54">
              <a:extLst>
                <a:ext uri="{FF2B5EF4-FFF2-40B4-BE49-F238E27FC236}">
                  <a16:creationId xmlns:a16="http://schemas.microsoft.com/office/drawing/2014/main" id="{885582EA-D8E4-2569-9705-E995982B12D7}"/>
                </a:ext>
              </a:extLst>
            </p:cNvPr>
            <p:cNvSpPr txBox="1"/>
            <p:nvPr/>
          </p:nvSpPr>
          <p:spPr>
            <a:xfrm>
              <a:off x="3192183" y="2364556"/>
              <a:ext cx="210907" cy="196846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endParaRPr lang="th-TH"/>
            </a:p>
          </p:txBody>
        </p:sp>
        <p:sp>
          <p:nvSpPr>
            <p:cNvPr id="56" name="กล่องข้อความ 55">
              <a:extLst>
                <a:ext uri="{FF2B5EF4-FFF2-40B4-BE49-F238E27FC236}">
                  <a16:creationId xmlns:a16="http://schemas.microsoft.com/office/drawing/2014/main" id="{8E907A98-EB79-F448-0DCF-1A5F54B4633E}"/>
                </a:ext>
              </a:extLst>
            </p:cNvPr>
            <p:cNvSpPr txBox="1"/>
            <p:nvPr/>
          </p:nvSpPr>
          <p:spPr>
            <a:xfrm>
              <a:off x="3769455" y="2364556"/>
              <a:ext cx="210907" cy="196846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endParaRPr lang="th-TH"/>
            </a:p>
          </p:txBody>
        </p:sp>
        <p:sp>
          <p:nvSpPr>
            <p:cNvPr id="57" name="กล่องข้อความ 56">
              <a:extLst>
                <a:ext uri="{FF2B5EF4-FFF2-40B4-BE49-F238E27FC236}">
                  <a16:creationId xmlns:a16="http://schemas.microsoft.com/office/drawing/2014/main" id="{0347C752-639E-DA76-242C-845FA74AE574}"/>
                </a:ext>
              </a:extLst>
            </p:cNvPr>
            <p:cNvSpPr txBox="1"/>
            <p:nvPr/>
          </p:nvSpPr>
          <p:spPr>
            <a:xfrm>
              <a:off x="3769455" y="2075920"/>
              <a:ext cx="210907" cy="196846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endParaRPr lang="th-TH"/>
            </a:p>
          </p:txBody>
        </p:sp>
      </p:grpSp>
      <p:sp>
        <p:nvSpPr>
          <p:cNvPr id="58" name="กล่องข้อความ 57">
            <a:extLst>
              <a:ext uri="{FF2B5EF4-FFF2-40B4-BE49-F238E27FC236}">
                <a16:creationId xmlns:a16="http://schemas.microsoft.com/office/drawing/2014/main" id="{C6A1AF08-2347-6914-DA5E-8E3E6A912C1A}"/>
              </a:ext>
            </a:extLst>
          </p:cNvPr>
          <p:cNvSpPr txBox="1"/>
          <p:nvPr/>
        </p:nvSpPr>
        <p:spPr>
          <a:xfrm>
            <a:off x="697639" y="2281993"/>
            <a:ext cx="187986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th-TH" sz="2000">
                <a:latin typeface="CordiaUPC"/>
                <a:cs typeface="CordiaUPC"/>
              </a:rPr>
              <a:t>รหัสร้านถูกกระทบ</a:t>
            </a:r>
            <a:endParaRPr lang="th-TH"/>
          </a:p>
        </p:txBody>
      </p:sp>
      <p:sp>
        <p:nvSpPr>
          <p:cNvPr id="60" name="สี่เหลี่ยมผืนผ้า 59">
            <a:extLst>
              <a:ext uri="{FF2B5EF4-FFF2-40B4-BE49-F238E27FC236}">
                <a16:creationId xmlns:a16="http://schemas.microsoft.com/office/drawing/2014/main" id="{14B37577-CF9F-2C9A-6BEF-B3F45426F6F7}"/>
              </a:ext>
            </a:extLst>
          </p:cNvPr>
          <p:cNvSpPr/>
          <p:nvPr/>
        </p:nvSpPr>
        <p:spPr>
          <a:xfrm>
            <a:off x="610128" y="2727185"/>
            <a:ext cx="2913009" cy="20988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th-TH">
                <a:solidFill>
                  <a:schemeClr val="tx1"/>
                </a:solidFill>
                <a:latin typeface="CordiaUPC"/>
                <a:ea typeface="Tahoma"/>
                <a:cs typeface="CordiaUPC"/>
              </a:rPr>
              <a:t>XXXXXX</a:t>
            </a:r>
            <a:endParaRPr lang="th-TH"/>
          </a:p>
        </p:txBody>
      </p:sp>
      <p:sp>
        <p:nvSpPr>
          <p:cNvPr id="62" name="สี่เหลี่ยมผืนผ้า 61">
            <a:extLst>
              <a:ext uri="{FF2B5EF4-FFF2-40B4-BE49-F238E27FC236}">
                <a16:creationId xmlns:a16="http://schemas.microsoft.com/office/drawing/2014/main" id="{F639C64B-EE44-F011-9137-83E6F54B3873}"/>
              </a:ext>
            </a:extLst>
          </p:cNvPr>
          <p:cNvSpPr/>
          <p:nvPr/>
        </p:nvSpPr>
        <p:spPr>
          <a:xfrm>
            <a:off x="5289392" y="3062397"/>
            <a:ext cx="3082519" cy="859616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graphicFrame>
        <p:nvGraphicFramePr>
          <p:cNvPr id="64" name="ตาราง 63">
            <a:extLst>
              <a:ext uri="{FF2B5EF4-FFF2-40B4-BE49-F238E27FC236}">
                <a16:creationId xmlns:a16="http://schemas.microsoft.com/office/drawing/2014/main" id="{4181EEFE-973E-6564-4FC7-E9514791AC8D}"/>
              </a:ext>
            </a:extLst>
          </p:cNvPr>
          <p:cNvGraphicFramePr>
            <a:graphicFrameLocks noGrp="1"/>
          </p:cNvGraphicFramePr>
          <p:nvPr/>
        </p:nvGraphicFramePr>
        <p:xfrm>
          <a:off x="7968672" y="3138876"/>
          <a:ext cx="345172" cy="222885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345172">
                  <a:extLst>
                    <a:ext uri="{9D8B030D-6E8A-4147-A177-3AD203B41FA5}">
                      <a16:colId xmlns:a16="http://schemas.microsoft.com/office/drawing/2014/main" val="3687245891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af-ZA" sz="1100" u="none" strike="noStrike">
                          <a:solidFill>
                            <a:srgbClr val="000000"/>
                          </a:solidFill>
                          <a:effectLst/>
                        </a:rPr>
                        <a:t>RSU</a:t>
                      </a: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3715069828"/>
                  </a:ext>
                </a:extLst>
              </a:tr>
            </a:tbl>
          </a:graphicData>
        </a:graphic>
      </p:graphicFrame>
      <p:graphicFrame>
        <p:nvGraphicFramePr>
          <p:cNvPr id="65" name="ตาราง 64">
            <a:extLst>
              <a:ext uri="{FF2B5EF4-FFF2-40B4-BE49-F238E27FC236}">
                <a16:creationId xmlns:a16="http://schemas.microsoft.com/office/drawing/2014/main" id="{41209C42-B792-7D3A-95B3-030626B8C92A}"/>
              </a:ext>
            </a:extLst>
          </p:cNvPr>
          <p:cNvGraphicFramePr>
            <a:graphicFrameLocks noGrp="1"/>
          </p:cNvGraphicFramePr>
          <p:nvPr/>
        </p:nvGraphicFramePr>
        <p:xfrm>
          <a:off x="7437580" y="3161966"/>
          <a:ext cx="330361" cy="668655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330361">
                  <a:extLst>
                    <a:ext uri="{9D8B030D-6E8A-4147-A177-3AD203B41FA5}">
                      <a16:colId xmlns:a16="http://schemas.microsoft.com/office/drawing/2014/main" val="3687245891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af-ZA" sz="1100" u="none" strike="noStrike">
                          <a:solidFill>
                            <a:srgbClr val="000000"/>
                          </a:solidFill>
                          <a:effectLst/>
                        </a:rPr>
                        <a:t>REU</a:t>
                      </a: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941625214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af-ZA" sz="1100" u="none" strike="noStrike">
                          <a:solidFill>
                            <a:srgbClr val="000000"/>
                          </a:solidFill>
                          <a:effectLst/>
                        </a:rPr>
                        <a:t>RN</a:t>
                      </a: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1994268977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af-ZA" sz="1100" u="none" strike="noStrike">
                          <a:solidFill>
                            <a:srgbClr val="000000"/>
                          </a:solidFill>
                          <a:effectLst/>
                        </a:rPr>
                        <a:t>RSL</a:t>
                      </a: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336032494"/>
                  </a:ext>
                </a:extLst>
              </a:tr>
            </a:tbl>
          </a:graphicData>
        </a:graphic>
      </p:graphicFrame>
      <p:graphicFrame>
        <p:nvGraphicFramePr>
          <p:cNvPr id="66" name="ตาราง 65">
            <a:extLst>
              <a:ext uri="{FF2B5EF4-FFF2-40B4-BE49-F238E27FC236}">
                <a16:creationId xmlns:a16="http://schemas.microsoft.com/office/drawing/2014/main" id="{FD025FB8-0117-3C84-1E1F-4FA898A7C627}"/>
              </a:ext>
            </a:extLst>
          </p:cNvPr>
          <p:cNvGraphicFramePr>
            <a:graphicFrameLocks noGrp="1"/>
          </p:cNvGraphicFramePr>
          <p:nvPr/>
        </p:nvGraphicFramePr>
        <p:xfrm>
          <a:off x="6825672" y="3161967"/>
          <a:ext cx="322015" cy="668655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322015">
                  <a:extLst>
                    <a:ext uri="{9D8B030D-6E8A-4147-A177-3AD203B41FA5}">
                      <a16:colId xmlns:a16="http://schemas.microsoft.com/office/drawing/2014/main" val="3687245891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af-ZA" sz="1100" u="none" strike="noStrike">
                          <a:solidFill>
                            <a:srgbClr val="000000"/>
                          </a:solidFill>
                          <a:effectLst/>
                        </a:rPr>
                        <a:t>NEU</a:t>
                      </a: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3718001639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af-ZA" sz="1100" u="none" strike="noStrike">
                          <a:solidFill>
                            <a:srgbClr val="000000"/>
                          </a:solidFill>
                          <a:effectLst/>
                        </a:rPr>
                        <a:t>RC</a:t>
                      </a: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194774489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af-ZA" sz="1100" u="none" strike="noStrike">
                          <a:solidFill>
                            <a:srgbClr val="000000"/>
                          </a:solidFill>
                          <a:effectLst/>
                        </a:rPr>
                        <a:t>REL</a:t>
                      </a: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1938769112"/>
                  </a:ext>
                </a:extLst>
              </a:tr>
            </a:tbl>
          </a:graphicData>
        </a:graphic>
      </p:graphicFrame>
      <p:graphicFrame>
        <p:nvGraphicFramePr>
          <p:cNvPr id="67" name="ตาราง 66">
            <a:extLst>
              <a:ext uri="{FF2B5EF4-FFF2-40B4-BE49-F238E27FC236}">
                <a16:creationId xmlns:a16="http://schemas.microsoft.com/office/drawing/2014/main" id="{6B8D5FD3-6A6F-E55A-F150-F1466CF776BE}"/>
              </a:ext>
            </a:extLst>
          </p:cNvPr>
          <p:cNvGraphicFramePr>
            <a:graphicFrameLocks noGrp="1"/>
          </p:cNvGraphicFramePr>
          <p:nvPr/>
        </p:nvGraphicFramePr>
        <p:xfrm>
          <a:off x="6259945" y="3161967"/>
          <a:ext cx="287280" cy="668655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287280">
                  <a:extLst>
                    <a:ext uri="{9D8B030D-6E8A-4147-A177-3AD203B41FA5}">
                      <a16:colId xmlns:a16="http://schemas.microsoft.com/office/drawing/2014/main" val="3687245891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af-ZA" sz="1100" u="none" strike="noStrike">
                          <a:solidFill>
                            <a:srgbClr val="000000"/>
                          </a:solidFill>
                          <a:effectLst/>
                        </a:rPr>
                        <a:t>BS</a:t>
                      </a: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2661563555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af-ZA" sz="1100" u="none" strike="noStrike">
                          <a:solidFill>
                            <a:srgbClr val="000000"/>
                          </a:solidFill>
                          <a:effectLst/>
                        </a:rPr>
                        <a:t>BW</a:t>
                      </a: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3048319522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af-ZA" sz="1100" u="none" strike="noStrike">
                          <a:solidFill>
                            <a:srgbClr val="000000"/>
                          </a:solidFill>
                          <a:effectLst/>
                        </a:rPr>
                        <a:t>NEL</a:t>
                      </a: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2316928032"/>
                  </a:ext>
                </a:extLst>
              </a:tr>
            </a:tbl>
          </a:graphicData>
        </a:graphic>
      </p:graphicFrame>
      <p:graphicFrame>
        <p:nvGraphicFramePr>
          <p:cNvPr id="68" name="ตาราง 67">
            <a:extLst>
              <a:ext uri="{FF2B5EF4-FFF2-40B4-BE49-F238E27FC236}">
                <a16:creationId xmlns:a16="http://schemas.microsoft.com/office/drawing/2014/main" id="{FAB38B56-8442-F30A-98EC-A120A1597C6A}"/>
              </a:ext>
            </a:extLst>
          </p:cNvPr>
          <p:cNvGraphicFramePr>
            <a:graphicFrameLocks noGrp="1"/>
          </p:cNvGraphicFramePr>
          <p:nvPr/>
        </p:nvGraphicFramePr>
        <p:xfrm>
          <a:off x="5682672" y="3161966"/>
          <a:ext cx="264123" cy="668655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264123">
                  <a:extLst>
                    <a:ext uri="{9D8B030D-6E8A-4147-A177-3AD203B41FA5}">
                      <a16:colId xmlns:a16="http://schemas.microsoft.com/office/drawing/2014/main" val="3687245891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af-ZA" sz="1100" u="none" strike="noStrike">
                          <a:solidFill>
                            <a:srgbClr val="000000"/>
                          </a:solidFill>
                          <a:effectLst/>
                        </a:rPr>
                        <a:t>BE</a:t>
                      </a: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265470442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af-ZA" sz="1100" u="none" strike="noStrike">
                          <a:solidFill>
                            <a:srgbClr val="000000"/>
                          </a:solidFill>
                          <a:effectLst/>
                        </a:rPr>
                        <a:t>BG</a:t>
                      </a: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2288781689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af-ZA" sz="1100" u="none" strike="noStrike">
                          <a:solidFill>
                            <a:srgbClr val="000000"/>
                          </a:solidFill>
                          <a:effectLst/>
                        </a:rPr>
                        <a:t>BN</a:t>
                      </a: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613755575"/>
                  </a:ext>
                </a:extLst>
              </a:tr>
            </a:tbl>
          </a:graphicData>
        </a:graphic>
      </p:graphicFrame>
      <p:sp>
        <p:nvSpPr>
          <p:cNvPr id="80" name="กล่องข้อความ 79">
            <a:extLst>
              <a:ext uri="{FF2B5EF4-FFF2-40B4-BE49-F238E27FC236}">
                <a16:creationId xmlns:a16="http://schemas.microsoft.com/office/drawing/2014/main" id="{E0B05D91-A7E9-406A-67FA-5F78E87F7117}"/>
              </a:ext>
            </a:extLst>
          </p:cNvPr>
          <p:cNvSpPr txBox="1"/>
          <p:nvPr/>
        </p:nvSpPr>
        <p:spPr>
          <a:xfrm>
            <a:off x="7743402" y="3107550"/>
            <a:ext cx="210907" cy="19684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th-TH"/>
          </a:p>
        </p:txBody>
      </p:sp>
      <p:sp>
        <p:nvSpPr>
          <p:cNvPr id="81" name="กล่องข้อความ 80">
            <a:extLst>
              <a:ext uri="{FF2B5EF4-FFF2-40B4-BE49-F238E27FC236}">
                <a16:creationId xmlns:a16="http://schemas.microsoft.com/office/drawing/2014/main" id="{0EA755DB-5F54-3BE3-6F4D-DFCEC29B43AF}"/>
              </a:ext>
            </a:extLst>
          </p:cNvPr>
          <p:cNvSpPr txBox="1"/>
          <p:nvPr/>
        </p:nvSpPr>
        <p:spPr>
          <a:xfrm>
            <a:off x="5399673" y="3661733"/>
            <a:ext cx="210907" cy="19684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th-TH"/>
          </a:p>
        </p:txBody>
      </p:sp>
      <p:sp>
        <p:nvSpPr>
          <p:cNvPr id="82" name="กล่องข้อความ 81">
            <a:extLst>
              <a:ext uri="{FF2B5EF4-FFF2-40B4-BE49-F238E27FC236}">
                <a16:creationId xmlns:a16="http://schemas.microsoft.com/office/drawing/2014/main" id="{3CB6FDB6-E2E4-5902-071A-4241779079C2}"/>
              </a:ext>
            </a:extLst>
          </p:cNvPr>
          <p:cNvSpPr txBox="1"/>
          <p:nvPr/>
        </p:nvSpPr>
        <p:spPr>
          <a:xfrm>
            <a:off x="5399673" y="3396186"/>
            <a:ext cx="210907" cy="19684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th-TH"/>
          </a:p>
        </p:txBody>
      </p:sp>
      <p:sp>
        <p:nvSpPr>
          <p:cNvPr id="83" name="กล่องข้อความ 82">
            <a:extLst>
              <a:ext uri="{FF2B5EF4-FFF2-40B4-BE49-F238E27FC236}">
                <a16:creationId xmlns:a16="http://schemas.microsoft.com/office/drawing/2014/main" id="{39D38EB1-57A4-3E48-49BC-B0496CE5279B}"/>
              </a:ext>
            </a:extLst>
          </p:cNvPr>
          <p:cNvSpPr txBox="1"/>
          <p:nvPr/>
        </p:nvSpPr>
        <p:spPr>
          <a:xfrm>
            <a:off x="5399674" y="3142186"/>
            <a:ext cx="210907" cy="19684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th-TH"/>
          </a:p>
        </p:txBody>
      </p:sp>
      <p:sp>
        <p:nvSpPr>
          <p:cNvPr id="86" name="กล่องข้อความ 85">
            <a:extLst>
              <a:ext uri="{FF2B5EF4-FFF2-40B4-BE49-F238E27FC236}">
                <a16:creationId xmlns:a16="http://schemas.microsoft.com/office/drawing/2014/main" id="{E9F7639B-25F2-A05B-EFFC-B775A48BE3C1}"/>
              </a:ext>
            </a:extLst>
          </p:cNvPr>
          <p:cNvSpPr txBox="1"/>
          <p:nvPr/>
        </p:nvSpPr>
        <p:spPr>
          <a:xfrm>
            <a:off x="6011582" y="3650187"/>
            <a:ext cx="210907" cy="19684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th-TH"/>
          </a:p>
        </p:txBody>
      </p:sp>
      <p:sp>
        <p:nvSpPr>
          <p:cNvPr id="87" name="กล่องข้อความ 86">
            <a:extLst>
              <a:ext uri="{FF2B5EF4-FFF2-40B4-BE49-F238E27FC236}">
                <a16:creationId xmlns:a16="http://schemas.microsoft.com/office/drawing/2014/main" id="{7D21D51D-5110-CBFF-96AA-F727E089DAB2}"/>
              </a:ext>
            </a:extLst>
          </p:cNvPr>
          <p:cNvSpPr txBox="1"/>
          <p:nvPr/>
        </p:nvSpPr>
        <p:spPr>
          <a:xfrm>
            <a:off x="6011582" y="3384642"/>
            <a:ext cx="210907" cy="19684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th-TH"/>
          </a:p>
        </p:txBody>
      </p:sp>
      <p:sp>
        <p:nvSpPr>
          <p:cNvPr id="88" name="กล่องข้อความ 87">
            <a:extLst>
              <a:ext uri="{FF2B5EF4-FFF2-40B4-BE49-F238E27FC236}">
                <a16:creationId xmlns:a16="http://schemas.microsoft.com/office/drawing/2014/main" id="{CC517976-1D9F-82DB-4EBD-5ECD6FB73D5F}"/>
              </a:ext>
            </a:extLst>
          </p:cNvPr>
          <p:cNvSpPr txBox="1"/>
          <p:nvPr/>
        </p:nvSpPr>
        <p:spPr>
          <a:xfrm>
            <a:off x="6011583" y="3130641"/>
            <a:ext cx="210907" cy="19684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th-TH"/>
          </a:p>
        </p:txBody>
      </p:sp>
      <p:sp>
        <p:nvSpPr>
          <p:cNvPr id="90" name="กล่องข้อความ 89">
            <a:extLst>
              <a:ext uri="{FF2B5EF4-FFF2-40B4-BE49-F238E27FC236}">
                <a16:creationId xmlns:a16="http://schemas.microsoft.com/office/drawing/2014/main" id="{9A41E20E-B115-BDFE-2CB5-CA8BC41759EA}"/>
              </a:ext>
            </a:extLst>
          </p:cNvPr>
          <p:cNvSpPr txBox="1"/>
          <p:nvPr/>
        </p:nvSpPr>
        <p:spPr>
          <a:xfrm>
            <a:off x="6588854" y="3627095"/>
            <a:ext cx="210907" cy="19684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th-TH"/>
          </a:p>
        </p:txBody>
      </p:sp>
      <p:sp>
        <p:nvSpPr>
          <p:cNvPr id="91" name="กล่องข้อความ 90">
            <a:extLst>
              <a:ext uri="{FF2B5EF4-FFF2-40B4-BE49-F238E27FC236}">
                <a16:creationId xmlns:a16="http://schemas.microsoft.com/office/drawing/2014/main" id="{A00CEC12-2483-0A1D-8A7F-31CF37CAD4DF}"/>
              </a:ext>
            </a:extLst>
          </p:cNvPr>
          <p:cNvSpPr txBox="1"/>
          <p:nvPr/>
        </p:nvSpPr>
        <p:spPr>
          <a:xfrm>
            <a:off x="6588854" y="3361550"/>
            <a:ext cx="210907" cy="19684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th-TH"/>
          </a:p>
        </p:txBody>
      </p:sp>
      <p:sp>
        <p:nvSpPr>
          <p:cNvPr id="92" name="กล่องข้อความ 91">
            <a:extLst>
              <a:ext uri="{FF2B5EF4-FFF2-40B4-BE49-F238E27FC236}">
                <a16:creationId xmlns:a16="http://schemas.microsoft.com/office/drawing/2014/main" id="{41567DA8-F337-CC43-528E-E49A4582F0FF}"/>
              </a:ext>
            </a:extLst>
          </p:cNvPr>
          <p:cNvSpPr txBox="1"/>
          <p:nvPr/>
        </p:nvSpPr>
        <p:spPr>
          <a:xfrm>
            <a:off x="6588855" y="3107549"/>
            <a:ext cx="210907" cy="19684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th-TH"/>
          </a:p>
        </p:txBody>
      </p:sp>
      <p:sp>
        <p:nvSpPr>
          <p:cNvPr id="94" name="กล่องข้อความ 93">
            <a:extLst>
              <a:ext uri="{FF2B5EF4-FFF2-40B4-BE49-F238E27FC236}">
                <a16:creationId xmlns:a16="http://schemas.microsoft.com/office/drawing/2014/main" id="{760F5D00-A608-BE62-3F2B-D6A07C87A8C7}"/>
              </a:ext>
            </a:extLst>
          </p:cNvPr>
          <p:cNvSpPr txBox="1"/>
          <p:nvPr/>
        </p:nvSpPr>
        <p:spPr>
          <a:xfrm>
            <a:off x="7200764" y="3627095"/>
            <a:ext cx="210907" cy="19684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th-TH"/>
          </a:p>
        </p:txBody>
      </p:sp>
      <p:sp>
        <p:nvSpPr>
          <p:cNvPr id="95" name="กล่องข้อความ 94">
            <a:extLst>
              <a:ext uri="{FF2B5EF4-FFF2-40B4-BE49-F238E27FC236}">
                <a16:creationId xmlns:a16="http://schemas.microsoft.com/office/drawing/2014/main" id="{85049016-96CF-286C-DB2C-1A463A472360}"/>
              </a:ext>
            </a:extLst>
          </p:cNvPr>
          <p:cNvSpPr txBox="1"/>
          <p:nvPr/>
        </p:nvSpPr>
        <p:spPr>
          <a:xfrm>
            <a:off x="7200764" y="3361550"/>
            <a:ext cx="210907" cy="19684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th-TH"/>
          </a:p>
        </p:txBody>
      </p:sp>
      <p:sp>
        <p:nvSpPr>
          <p:cNvPr id="96" name="กล่องข้อความ 95">
            <a:extLst>
              <a:ext uri="{FF2B5EF4-FFF2-40B4-BE49-F238E27FC236}">
                <a16:creationId xmlns:a16="http://schemas.microsoft.com/office/drawing/2014/main" id="{879B04EF-B126-B677-E913-4D417DE99619}"/>
              </a:ext>
            </a:extLst>
          </p:cNvPr>
          <p:cNvSpPr txBox="1"/>
          <p:nvPr/>
        </p:nvSpPr>
        <p:spPr>
          <a:xfrm>
            <a:off x="7200765" y="3107549"/>
            <a:ext cx="210907" cy="19684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th-TH"/>
          </a:p>
        </p:txBody>
      </p:sp>
      <p:sp>
        <p:nvSpPr>
          <p:cNvPr id="104" name="กล่องข้อความ 103">
            <a:extLst>
              <a:ext uri="{FF2B5EF4-FFF2-40B4-BE49-F238E27FC236}">
                <a16:creationId xmlns:a16="http://schemas.microsoft.com/office/drawing/2014/main" id="{7871473D-25BD-9A30-BFD4-12F6ADCEAD94}"/>
              </a:ext>
            </a:extLst>
          </p:cNvPr>
          <p:cNvSpPr txBox="1"/>
          <p:nvPr/>
        </p:nvSpPr>
        <p:spPr>
          <a:xfrm>
            <a:off x="8974903" y="1638209"/>
            <a:ext cx="274320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h-TH" sz="2000">
                <a:latin typeface="Arial"/>
                <a:cs typeface="CordiaUPC"/>
              </a:rPr>
              <a:t>ผลการพิจารณา</a:t>
            </a:r>
            <a:r>
              <a:rPr lang="th-TH" sz="2000">
                <a:solidFill>
                  <a:srgbClr val="FF0000"/>
                </a:solidFill>
                <a:latin typeface="Arial"/>
                <a:cs typeface="CordiaUPC"/>
              </a:rPr>
              <a:t>*</a:t>
            </a:r>
          </a:p>
          <a:p>
            <a:r>
              <a:rPr lang="th-TH" sz="2000" b="0">
                <a:latin typeface="Arial"/>
                <a:cs typeface="CordiaUPC"/>
              </a:rPr>
              <a:t>     ประกันรายได้</a:t>
            </a:r>
          </a:p>
          <a:p>
            <a:r>
              <a:rPr lang="th-TH" sz="2000" b="0">
                <a:latin typeface="Arial"/>
                <a:cs typeface="CordiaUPC"/>
              </a:rPr>
              <a:t>     ไม่ประกันรายได้</a:t>
            </a:r>
            <a:endParaRPr lang="th-TH" sz="2000" b="0">
              <a:cs typeface="CordiaUPC"/>
            </a:endParaRPr>
          </a:p>
        </p:txBody>
      </p:sp>
      <p:sp>
        <p:nvSpPr>
          <p:cNvPr id="105" name="วงรี 104">
            <a:extLst>
              <a:ext uri="{FF2B5EF4-FFF2-40B4-BE49-F238E27FC236}">
                <a16:creationId xmlns:a16="http://schemas.microsoft.com/office/drawing/2014/main" id="{C2819D3B-A286-DD0B-C075-2D9555FC58B8}"/>
              </a:ext>
            </a:extLst>
          </p:cNvPr>
          <p:cNvSpPr/>
          <p:nvPr/>
        </p:nvSpPr>
        <p:spPr>
          <a:xfrm>
            <a:off x="9078546" y="2023168"/>
            <a:ext cx="232801" cy="245054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06" name="วงรี 105">
            <a:extLst>
              <a:ext uri="{FF2B5EF4-FFF2-40B4-BE49-F238E27FC236}">
                <a16:creationId xmlns:a16="http://schemas.microsoft.com/office/drawing/2014/main" id="{CC9A548A-481F-4066-71AB-303F90599262}"/>
              </a:ext>
            </a:extLst>
          </p:cNvPr>
          <p:cNvSpPr/>
          <p:nvPr/>
        </p:nvSpPr>
        <p:spPr>
          <a:xfrm>
            <a:off x="9078545" y="2381076"/>
            <a:ext cx="232801" cy="245054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07" name="สี่เหลี่ยมผืนผ้า: มุมมน 106">
            <a:extLst>
              <a:ext uri="{FF2B5EF4-FFF2-40B4-BE49-F238E27FC236}">
                <a16:creationId xmlns:a16="http://schemas.microsoft.com/office/drawing/2014/main" id="{CD38C93D-D5EF-ED6C-13D1-C396C94A2C6E}"/>
              </a:ext>
            </a:extLst>
          </p:cNvPr>
          <p:cNvSpPr/>
          <p:nvPr/>
        </p:nvSpPr>
        <p:spPr>
          <a:xfrm>
            <a:off x="137802" y="4347972"/>
            <a:ext cx="12055761" cy="232294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graphicFrame>
        <p:nvGraphicFramePr>
          <p:cNvPr id="111" name="ตาราง 110">
            <a:extLst>
              <a:ext uri="{FF2B5EF4-FFF2-40B4-BE49-F238E27FC236}">
                <a16:creationId xmlns:a16="http://schemas.microsoft.com/office/drawing/2014/main" id="{2F8EAB29-137B-B561-F556-486E0CA04945}"/>
              </a:ext>
            </a:extLst>
          </p:cNvPr>
          <p:cNvGraphicFramePr>
            <a:graphicFrameLocks noGrp="1"/>
          </p:cNvGraphicFramePr>
          <p:nvPr/>
        </p:nvGraphicFramePr>
        <p:xfrm>
          <a:off x="588818" y="4514271"/>
          <a:ext cx="11112118" cy="199834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39942">
                  <a:extLst>
                    <a:ext uri="{9D8B030D-6E8A-4147-A177-3AD203B41FA5}">
                      <a16:colId xmlns:a16="http://schemas.microsoft.com/office/drawing/2014/main" val="2369833276"/>
                    </a:ext>
                  </a:extLst>
                </a:gridCol>
                <a:gridCol w="1011835">
                  <a:extLst>
                    <a:ext uri="{9D8B030D-6E8A-4147-A177-3AD203B41FA5}">
                      <a16:colId xmlns:a16="http://schemas.microsoft.com/office/drawing/2014/main" val="66828785"/>
                    </a:ext>
                  </a:extLst>
                </a:gridCol>
                <a:gridCol w="524598">
                  <a:extLst>
                    <a:ext uri="{9D8B030D-6E8A-4147-A177-3AD203B41FA5}">
                      <a16:colId xmlns:a16="http://schemas.microsoft.com/office/drawing/2014/main" val="2050674365"/>
                    </a:ext>
                  </a:extLst>
                </a:gridCol>
                <a:gridCol w="768218">
                  <a:extLst>
                    <a:ext uri="{9D8B030D-6E8A-4147-A177-3AD203B41FA5}">
                      <a16:colId xmlns:a16="http://schemas.microsoft.com/office/drawing/2014/main" val="2117332542"/>
                    </a:ext>
                  </a:extLst>
                </a:gridCol>
                <a:gridCol w="960272">
                  <a:extLst>
                    <a:ext uri="{9D8B030D-6E8A-4147-A177-3AD203B41FA5}">
                      <a16:colId xmlns:a16="http://schemas.microsoft.com/office/drawing/2014/main" val="2625964537"/>
                    </a:ext>
                  </a:extLst>
                </a:gridCol>
                <a:gridCol w="802851">
                  <a:extLst>
                    <a:ext uri="{9D8B030D-6E8A-4147-A177-3AD203B41FA5}">
                      <a16:colId xmlns:a16="http://schemas.microsoft.com/office/drawing/2014/main" val="3180753257"/>
                    </a:ext>
                  </a:extLst>
                </a:gridCol>
                <a:gridCol w="786982">
                  <a:extLst>
                    <a:ext uri="{9D8B030D-6E8A-4147-A177-3AD203B41FA5}">
                      <a16:colId xmlns:a16="http://schemas.microsoft.com/office/drawing/2014/main" val="264577888"/>
                    </a:ext>
                  </a:extLst>
                </a:gridCol>
                <a:gridCol w="955620">
                  <a:extLst>
                    <a:ext uri="{9D8B030D-6E8A-4147-A177-3AD203B41FA5}">
                      <a16:colId xmlns:a16="http://schemas.microsoft.com/office/drawing/2014/main" val="3845301861"/>
                    </a:ext>
                  </a:extLst>
                </a:gridCol>
                <a:gridCol w="604290">
                  <a:extLst>
                    <a:ext uri="{9D8B030D-6E8A-4147-A177-3AD203B41FA5}">
                      <a16:colId xmlns:a16="http://schemas.microsoft.com/office/drawing/2014/main" val="2053017898"/>
                    </a:ext>
                  </a:extLst>
                </a:gridCol>
                <a:gridCol w="672636">
                  <a:extLst>
                    <a:ext uri="{9D8B030D-6E8A-4147-A177-3AD203B41FA5}">
                      <a16:colId xmlns:a16="http://schemas.microsoft.com/office/drawing/2014/main" val="2872838350"/>
                    </a:ext>
                  </a:extLst>
                </a:gridCol>
                <a:gridCol w="824430">
                  <a:extLst>
                    <a:ext uri="{9D8B030D-6E8A-4147-A177-3AD203B41FA5}">
                      <a16:colId xmlns:a16="http://schemas.microsoft.com/office/drawing/2014/main" val="3373771294"/>
                    </a:ext>
                  </a:extLst>
                </a:gridCol>
                <a:gridCol w="538652">
                  <a:extLst>
                    <a:ext uri="{9D8B030D-6E8A-4147-A177-3AD203B41FA5}">
                      <a16:colId xmlns:a16="http://schemas.microsoft.com/office/drawing/2014/main" val="3826866106"/>
                    </a:ext>
                  </a:extLst>
                </a:gridCol>
                <a:gridCol w="810896">
                  <a:extLst>
                    <a:ext uri="{9D8B030D-6E8A-4147-A177-3AD203B41FA5}">
                      <a16:colId xmlns:a16="http://schemas.microsoft.com/office/drawing/2014/main" val="4215986181"/>
                    </a:ext>
                  </a:extLst>
                </a:gridCol>
                <a:gridCol w="810896">
                  <a:extLst>
                    <a:ext uri="{9D8B030D-6E8A-4147-A177-3AD203B41FA5}">
                      <a16:colId xmlns:a16="http://schemas.microsoft.com/office/drawing/2014/main" val="429507798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th-TH" sz="1000" b="1">
                          <a:effectLst/>
                          <a:latin typeface="Tahoma" panose="020B0604030504040204" pitchFamily="34" charset="0"/>
                        </a:rPr>
                        <a:t>รหัสร้านถูกกระทบ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th-TH" sz="1000" b="1">
                          <a:effectLst/>
                          <a:latin typeface="Tahoma" panose="020B0604030504040204" pitchFamily="34" charset="0"/>
                        </a:rPr>
                        <a:t>ชื่อร้านถูกกระทบ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th-TH" sz="1000" b="1">
                          <a:effectLst/>
                          <a:latin typeface="Tahoma" panose="020B0604030504040204" pitchFamily="34" charset="0"/>
                        </a:rPr>
                        <a:t>ภาค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th-TH" sz="1000" b="1">
                          <a:effectLst/>
                          <a:latin typeface="Tahoma" panose="020B0604030504040204" pitchFamily="34" charset="0"/>
                        </a:rPr>
                        <a:t>ประเภทร้าน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th-TH" sz="1000" b="1">
                          <a:effectLst/>
                          <a:latin typeface="Tahoma" panose="020B0604030504040204" pitchFamily="34" charset="0"/>
                        </a:rPr>
                        <a:t>เดือนปีที่ถูกกระทบ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af-ZA" sz="1000" b="1">
                          <a:effectLst/>
                          <a:latin typeface="Tahoma" panose="020B0604030504040204" pitchFamily="34" charset="0"/>
                        </a:rPr>
                        <a:t>Period Statement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th-TH" sz="1000" b="1">
                          <a:effectLst/>
                          <a:latin typeface="Tahoma" panose="020B0604030504040204" pitchFamily="34" charset="0"/>
                        </a:rPr>
                        <a:t>รหัสร้านเปิดกระทบ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th-TH" sz="1000" b="1">
                          <a:effectLst/>
                          <a:latin typeface="Tahoma" panose="020B0604030504040204" pitchFamily="34" charset="0"/>
                        </a:rPr>
                        <a:t>ชื่อร้านเปิดกระทบ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th-TH" sz="1000" b="1">
                          <a:effectLst/>
                          <a:latin typeface="Tahoma" panose="020B0604030504040204" pitchFamily="34" charset="0"/>
                        </a:rPr>
                        <a:t>ภาค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th-TH" sz="1000" b="1">
                          <a:effectLst/>
                          <a:latin typeface="Tahoma" panose="020B0604030504040204" pitchFamily="34" charset="0"/>
                        </a:rPr>
                        <a:t>ประเภทร้าน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th-TH" sz="1000" b="1">
                          <a:effectLst/>
                          <a:latin typeface="Tahoma" panose="020B0604030504040204" pitchFamily="34" charset="0"/>
                        </a:rPr>
                        <a:t>ยอดเงินชดเชย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th-TH" sz="1000" b="1">
                          <a:effectLst/>
                          <a:latin typeface="Tahoma" panose="020B0604030504040204" pitchFamily="34" charset="0"/>
                        </a:rPr>
                        <a:t>ครั้งที่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th-TH" sz="1000" b="1">
                          <a:effectLst/>
                          <a:latin typeface="Tahoma" panose="020B0604030504040204" pitchFamily="34" charset="0"/>
                        </a:rPr>
                        <a:t>วันที่สร้าง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th-TH" sz="1000" b="1">
                          <a:effectLst/>
                          <a:latin typeface="Tahoma" panose="020B0604030504040204" pitchFamily="34" charset="0"/>
                        </a:rPr>
                        <a:t>เลขที่เอกสาร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535604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th-TH" sz="1000">
                          <a:effectLst/>
                          <a:latin typeface="Tahoma"/>
                        </a:rPr>
                        <a:t>233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 panose="020B0604030504040204" pitchFamily="34" charset="0"/>
                        </a:rPr>
                        <a:t>บางลำภู-1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af-ZA" sz="1000">
                          <a:effectLst/>
                          <a:latin typeface="Tahoma" panose="020B0604030504040204" pitchFamily="34" charset="0"/>
                        </a:rPr>
                        <a:t>BG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af-ZA" sz="1000">
                          <a:effectLst/>
                          <a:latin typeface="Tahoma" panose="020B0604030504040204" pitchFamily="34" charset="0"/>
                        </a:rPr>
                        <a:t>C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 panose="020B0604030504040204" pitchFamily="34" charset="0"/>
                        </a:rPr>
                        <a:t>06/2025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 panose="020B0604030504040204" pitchFamily="34" charset="0"/>
                        </a:rPr>
                        <a:t>07/2025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/>
                        </a:rPr>
                        <a:t>22864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 panose="020B0604030504040204" pitchFamily="34" charset="0"/>
                        </a:rPr>
                        <a:t>ถนนรามบุตรี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af-ZA" sz="1000">
                          <a:effectLst/>
                          <a:latin typeface="Tahoma" panose="020B0604030504040204" pitchFamily="34" charset="0"/>
                        </a:rPr>
                        <a:t>BG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af-ZA" sz="1000">
                          <a:effectLst/>
                          <a:latin typeface="Tahoma" panose="020B0604030504040204" pitchFamily="34" charset="0"/>
                        </a:rPr>
                        <a:t>B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/>
                        </a:rPr>
                        <a:t>43,089.59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/>
                        </a:rPr>
                        <a:t>4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 panose="020B0604030504040204" pitchFamily="34" charset="0"/>
                        </a:rPr>
                        <a:t>07/07/2025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 panose="020B0604030504040204" pitchFamily="34" charset="0"/>
                        </a:rPr>
                        <a:t>2025/01942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674483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th-TH" sz="1000">
                          <a:effectLst/>
                          <a:latin typeface="Tahoma"/>
                        </a:rPr>
                        <a:t>233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 panose="020B0604030504040204" pitchFamily="34" charset="0"/>
                        </a:rPr>
                        <a:t>บางลำภู-1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af-ZA" sz="1000">
                          <a:effectLst/>
                          <a:latin typeface="Tahoma" panose="020B0604030504040204" pitchFamily="34" charset="0"/>
                        </a:rPr>
                        <a:t>BG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af-ZA" sz="1000">
                          <a:effectLst/>
                          <a:latin typeface="Tahoma" panose="020B0604030504040204" pitchFamily="34" charset="0"/>
                        </a:rPr>
                        <a:t>C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 panose="020B0604030504040204" pitchFamily="34" charset="0"/>
                        </a:rPr>
                        <a:t>06/2025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 panose="020B0604030504040204" pitchFamily="34" charset="0"/>
                        </a:rPr>
                        <a:t>07/2025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/>
                        </a:rPr>
                        <a:t>22886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 panose="020B0604030504040204" pitchFamily="34" charset="0"/>
                        </a:rPr>
                        <a:t>วิสุทธิกษัตริย์ 3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af-ZA" sz="1000">
                          <a:effectLst/>
                          <a:latin typeface="Tahoma" panose="020B0604030504040204" pitchFamily="34" charset="0"/>
                        </a:rPr>
                        <a:t>BN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af-ZA" sz="1000">
                          <a:effectLst/>
                          <a:latin typeface="Tahoma" panose="020B0604030504040204" pitchFamily="34" charset="0"/>
                        </a:rPr>
                        <a:t>B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/>
                        </a:rPr>
                        <a:t>0.00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/>
                        </a:rPr>
                        <a:t>4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 panose="020B0604030504040204" pitchFamily="34" charset="0"/>
                        </a:rPr>
                        <a:t>07/07/2025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 panose="020B0604030504040204" pitchFamily="34" charset="0"/>
                        </a:rPr>
                        <a:t>2025/01942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529159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th-TH" sz="1000">
                          <a:effectLst/>
                          <a:latin typeface="Tahoma"/>
                        </a:rPr>
                        <a:t>233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 panose="020B0604030504040204" pitchFamily="34" charset="0"/>
                        </a:rPr>
                        <a:t>บางลำภู-1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af-ZA" sz="1000">
                          <a:effectLst/>
                          <a:latin typeface="Tahoma" panose="020B0604030504040204" pitchFamily="34" charset="0"/>
                        </a:rPr>
                        <a:t>BG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af-ZA" sz="1000">
                          <a:effectLst/>
                          <a:latin typeface="Tahoma" panose="020B0604030504040204" pitchFamily="34" charset="0"/>
                        </a:rPr>
                        <a:t>C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 panose="020B0604030504040204" pitchFamily="34" charset="0"/>
                        </a:rPr>
                        <a:t>06/2025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 panose="020B0604030504040204" pitchFamily="34" charset="0"/>
                        </a:rPr>
                        <a:t>07/2025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/>
                        </a:rPr>
                        <a:t>22905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 panose="020B0604030504040204" pitchFamily="34" charset="0"/>
                        </a:rPr>
                        <a:t>ถนนอัษฎางค์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af-ZA" sz="1000">
                          <a:effectLst/>
                          <a:latin typeface="Tahoma" panose="020B0604030504040204" pitchFamily="34" charset="0"/>
                        </a:rPr>
                        <a:t>BG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af-ZA" sz="1000">
                          <a:effectLst/>
                          <a:latin typeface="Tahoma" panose="020B0604030504040204" pitchFamily="34" charset="0"/>
                        </a:rPr>
                        <a:t>B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/>
                        </a:rPr>
                        <a:t>0.00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/>
                        </a:rPr>
                        <a:t>4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 panose="020B0604030504040204" pitchFamily="34" charset="0"/>
                        </a:rPr>
                        <a:t>07/07/2025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 panose="020B0604030504040204" pitchFamily="34" charset="0"/>
                        </a:rPr>
                        <a:t>2025/01942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8794165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th-TH" sz="1000">
                          <a:effectLst/>
                          <a:latin typeface="Tahoma"/>
                        </a:rPr>
                        <a:t>369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 panose="020B0604030504040204" pitchFamily="34" charset="0"/>
                        </a:rPr>
                        <a:t>ราชเทวี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af-ZA" sz="1000">
                          <a:effectLst/>
                          <a:latin typeface="Tahoma" panose="020B0604030504040204" pitchFamily="34" charset="0"/>
                        </a:rPr>
                        <a:t>BW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af-ZA" sz="1000">
                          <a:effectLst/>
                          <a:latin typeface="Tahoma" panose="020B0604030504040204" pitchFamily="34" charset="0"/>
                        </a:rPr>
                        <a:t>C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 panose="020B0604030504040204" pitchFamily="34" charset="0"/>
                        </a:rPr>
                        <a:t>06/2025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 panose="020B0604030504040204" pitchFamily="34" charset="0"/>
                        </a:rPr>
                        <a:t>07/2025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/>
                        </a:rPr>
                        <a:t>22977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 panose="020B0604030504040204" pitchFamily="34" charset="0"/>
                        </a:rPr>
                        <a:t>โรงแรมเอเชีย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af-ZA" sz="1000">
                          <a:effectLst/>
                          <a:latin typeface="Tahoma" panose="020B0604030504040204" pitchFamily="34" charset="0"/>
                        </a:rPr>
                        <a:t>BW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af-ZA" sz="1000">
                          <a:effectLst/>
                          <a:latin typeface="Tahoma" panose="020B0604030504040204" pitchFamily="34" charset="0"/>
                        </a:rPr>
                        <a:t>B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/>
                        </a:rPr>
                        <a:t>64,588.73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/>
                        </a:rPr>
                        <a:t>2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 panose="020B0604030504040204" pitchFamily="34" charset="0"/>
                        </a:rPr>
                        <a:t>07/07/2025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 panose="020B0604030504040204" pitchFamily="34" charset="0"/>
                        </a:rPr>
                        <a:t>2025/01991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437444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th-TH" sz="1000">
                          <a:effectLst/>
                          <a:latin typeface="Tahoma"/>
                        </a:rPr>
                        <a:t>613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 panose="020B0604030504040204" pitchFamily="34" charset="0"/>
                        </a:rPr>
                        <a:t>สี่แยกปฐมพร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af-ZA" sz="1000">
                          <a:effectLst/>
                          <a:latin typeface="Tahoma" panose="020B0604030504040204" pitchFamily="34" charset="0"/>
                        </a:rPr>
                        <a:t>RSU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af-ZA" sz="1000">
                          <a:effectLst/>
                          <a:latin typeface="Tahoma" panose="020B0604030504040204" pitchFamily="34" charset="0"/>
                        </a:rPr>
                        <a:t>A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 panose="020B0604030504040204" pitchFamily="34" charset="0"/>
                        </a:rPr>
                        <a:t>06/2025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 panose="020B0604030504040204" pitchFamily="34" charset="0"/>
                        </a:rPr>
                        <a:t>07/2025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/>
                        </a:rPr>
                        <a:t>19903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 panose="020B0604030504040204" pitchFamily="34" charset="0"/>
                        </a:rPr>
                        <a:t>วังไผ่(ขาเข้าเมืองชุมพร)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af-ZA" sz="1000">
                          <a:effectLst/>
                          <a:latin typeface="Tahoma" panose="020B0604030504040204" pitchFamily="34" charset="0"/>
                        </a:rPr>
                        <a:t>RSU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af-ZA" sz="1000">
                          <a:effectLst/>
                          <a:latin typeface="Tahoma" panose="020B0604030504040204" pitchFamily="34" charset="0"/>
                        </a:rPr>
                        <a:t>B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/>
                        </a:rPr>
                        <a:t>36,062.56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/>
                        </a:rPr>
                        <a:t>11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 panose="020B0604030504040204" pitchFamily="34" charset="0"/>
                        </a:rPr>
                        <a:t>07/07/2025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000">
                          <a:effectLst/>
                          <a:latin typeface="Tahoma" panose="020B0604030504040204" pitchFamily="34" charset="0"/>
                        </a:rPr>
                        <a:t>2025/01855</a:t>
                      </a:r>
                    </a:p>
                  </a:txBody>
                  <a:tcPr marL="9525" marR="9525" marT="9525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7439257"/>
                  </a:ext>
                </a:extLst>
              </a:tr>
            </a:tbl>
          </a:graphicData>
        </a:graphic>
      </p:graphicFrame>
      <p:sp>
        <p:nvSpPr>
          <p:cNvPr id="112" name="กล่องข้อความ 111">
            <a:extLst>
              <a:ext uri="{FF2B5EF4-FFF2-40B4-BE49-F238E27FC236}">
                <a16:creationId xmlns:a16="http://schemas.microsoft.com/office/drawing/2014/main" id="{613C9EA1-F641-2CBB-4757-886BB32A4D38}"/>
              </a:ext>
            </a:extLst>
          </p:cNvPr>
          <p:cNvSpPr txBox="1"/>
          <p:nvPr/>
        </p:nvSpPr>
        <p:spPr>
          <a:xfrm>
            <a:off x="464127" y="1122218"/>
            <a:ext cx="27432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242424"/>
                </a:solidFill>
                <a:latin typeface="CordiaUPC"/>
                <a:cs typeface="Angsana New"/>
              </a:rPr>
              <a:t>รายงานแสดงร้านถูกกระทบ</a:t>
            </a:r>
            <a:endParaRPr lang="en-US" sz="2400">
              <a:latin typeface="CordiaUPC"/>
              <a:cs typeface="Angsana New"/>
            </a:endParaRPr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6F99A6D0-2C2A-EC76-4A74-DFFE05ADE79E}"/>
              </a:ext>
            </a:extLst>
          </p:cNvPr>
          <p:cNvSpPr txBox="1"/>
          <p:nvPr/>
        </p:nvSpPr>
        <p:spPr>
          <a:xfrm>
            <a:off x="697816" y="3093550"/>
            <a:ext cx="187986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th-TH" sz="2000">
                <a:latin typeface="CordiaUPC"/>
                <a:cs typeface="CordiaUPC"/>
              </a:rPr>
              <a:t>รหัสร้านเปิดกระทบบ</a:t>
            </a:r>
            <a:endParaRPr lang="th-TH"/>
          </a:p>
        </p:txBody>
      </p:sp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DCE26F9F-DAF0-06E0-6820-A70971EFE365}"/>
              </a:ext>
            </a:extLst>
          </p:cNvPr>
          <p:cNvSpPr txBox="1"/>
          <p:nvPr/>
        </p:nvSpPr>
        <p:spPr>
          <a:xfrm>
            <a:off x="5290242" y="2747007"/>
            <a:ext cx="187986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th-TH" sz="2000">
                <a:latin typeface="CordiaUPC"/>
                <a:cs typeface="CordiaUPC"/>
              </a:rPr>
              <a:t>ภาค</a:t>
            </a:r>
            <a:endParaRPr lang="th-TH"/>
          </a:p>
        </p:txBody>
      </p:sp>
      <p:sp>
        <p:nvSpPr>
          <p:cNvPr id="8" name="สี่เหลี่ยมผืนผ้า 7">
            <a:extLst>
              <a:ext uri="{FF2B5EF4-FFF2-40B4-BE49-F238E27FC236}">
                <a16:creationId xmlns:a16="http://schemas.microsoft.com/office/drawing/2014/main" id="{420F4A60-61B7-2945-9A39-A077820863FA}"/>
              </a:ext>
            </a:extLst>
          </p:cNvPr>
          <p:cNvSpPr/>
          <p:nvPr/>
        </p:nvSpPr>
        <p:spPr>
          <a:xfrm>
            <a:off x="563235" y="3489184"/>
            <a:ext cx="2913009" cy="20988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th-TH">
                <a:solidFill>
                  <a:schemeClr val="tx1"/>
                </a:solidFill>
                <a:latin typeface="CordiaUPC"/>
                <a:ea typeface="Tahoma"/>
                <a:cs typeface="CordiaUPC"/>
              </a:rPr>
              <a:t>XXXXXX</a:t>
            </a:r>
            <a:endParaRPr lang="th-TH"/>
          </a:p>
        </p:txBody>
      </p:sp>
      <p:sp>
        <p:nvSpPr>
          <p:cNvPr id="9" name="กล่องข้อความ 8">
            <a:extLst>
              <a:ext uri="{FF2B5EF4-FFF2-40B4-BE49-F238E27FC236}">
                <a16:creationId xmlns:a16="http://schemas.microsoft.com/office/drawing/2014/main" id="{BD84D554-298E-363D-C212-E5FCB82D9FFB}"/>
              </a:ext>
            </a:extLst>
          </p:cNvPr>
          <p:cNvSpPr txBox="1"/>
          <p:nvPr/>
        </p:nvSpPr>
        <p:spPr>
          <a:xfrm>
            <a:off x="349531" y="1543805"/>
            <a:ext cx="3628375" cy="281326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th-TH"/>
          </a:p>
        </p:txBody>
      </p:sp>
      <p:sp>
        <p:nvSpPr>
          <p:cNvPr id="11" name="กล่องข้อความ 10">
            <a:extLst>
              <a:ext uri="{FF2B5EF4-FFF2-40B4-BE49-F238E27FC236}">
                <a16:creationId xmlns:a16="http://schemas.microsoft.com/office/drawing/2014/main" id="{E8790243-B665-91DD-03FD-650DA818B38C}"/>
              </a:ext>
            </a:extLst>
          </p:cNvPr>
          <p:cNvSpPr txBox="1"/>
          <p:nvPr/>
        </p:nvSpPr>
        <p:spPr>
          <a:xfrm>
            <a:off x="5145443" y="1497284"/>
            <a:ext cx="6336661" cy="2818799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th-TH"/>
          </a:p>
        </p:txBody>
      </p:sp>
      <p:graphicFrame>
        <p:nvGraphicFramePr>
          <p:cNvPr id="13" name="ตาราง 12">
            <a:extLst>
              <a:ext uri="{FF2B5EF4-FFF2-40B4-BE49-F238E27FC236}">
                <a16:creationId xmlns:a16="http://schemas.microsoft.com/office/drawing/2014/main" id="{65E8C181-2EF5-23DE-6ED4-95DA978C66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0776222"/>
              </p:ext>
            </p:extLst>
          </p:nvPr>
        </p:nvGraphicFramePr>
        <p:xfrm>
          <a:off x="695497" y="1843174"/>
          <a:ext cx="2926199" cy="20640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199">
                  <a:extLst>
                    <a:ext uri="{9D8B030D-6E8A-4147-A177-3AD203B41FA5}">
                      <a16:colId xmlns:a16="http://schemas.microsoft.com/office/drawing/2014/main" val="2622018388"/>
                    </a:ext>
                  </a:extLst>
                </a:gridCol>
              </a:tblGrid>
              <a:tr h="30917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rdiaUPC"/>
                          <a:cs typeface="Tahoma"/>
                        </a:rPr>
                        <a:t>รอ</a:t>
                      </a: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rdiaUPC"/>
                          <a:cs typeface="Tahoma"/>
                        </a:rPr>
                        <a:t> </a:t>
                      </a:r>
                      <a:r>
                        <a:rPr lang="en-US" sz="1400" b="0" i="0" u="none" strike="noStrike" noProof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rdiaUPC"/>
                          <a:cs typeface="Tahoma"/>
                        </a:rPr>
                        <a:t>ฝ่ายส่งเสริมธุรกิจ</a:t>
                      </a: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rdiaUPC"/>
                          <a:cs typeface="Tahoma"/>
                        </a:rPr>
                        <a:t> SBP </a:t>
                      </a:r>
                      <a:r>
                        <a:rPr lang="en-US" sz="1400" b="0" i="0" u="none" strike="noStrike" noProof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rdiaUPC"/>
                          <a:cs typeface="Tahoma"/>
                        </a:rPr>
                        <a:t>ดำเนินการ</a:t>
                      </a:r>
                      <a:endParaRPr lang="th-TH" sz="1400" b="0">
                        <a:highlight>
                          <a:srgbClr val="FFFFFF"/>
                        </a:highlight>
                        <a:latin typeface="CordiaUPC"/>
                        <a:cs typeface="CordiaUPC"/>
                      </a:endParaRPr>
                    </a:p>
                  </a:txBody>
                  <a:tcPr>
                    <a:lnL w="3175">
                      <a:solidFill>
                        <a:schemeClr val="bg1">
                          <a:lumMod val="65000"/>
                        </a:schemeClr>
                      </a:solidFill>
                    </a:lnL>
                    <a:lnR w="3175">
                      <a:solidFill>
                        <a:schemeClr val="bg1">
                          <a:lumMod val="65000"/>
                        </a:schemeClr>
                      </a:solidFill>
                    </a:lnR>
                    <a:lnT w="3175">
                      <a:solidFill>
                        <a:schemeClr val="bg1">
                          <a:lumMod val="65000"/>
                        </a:schemeClr>
                      </a:solidFill>
                    </a:lnT>
                    <a:lnB w="3175">
                      <a:solidFill>
                        <a:schemeClr val="bg1">
                          <a:lumMod val="6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666446"/>
                  </a:ext>
                </a:extLst>
              </a:tr>
              <a:tr h="30917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rdiaUPC"/>
                          <a:cs typeface="Tahoma"/>
                        </a:rPr>
                        <a:t>รอ</a:t>
                      </a: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rdiaUPC"/>
                          <a:cs typeface="Tahoma"/>
                        </a:rPr>
                        <a:t> GM </a:t>
                      </a:r>
                      <a:r>
                        <a:rPr lang="en-US" sz="1400" b="0" i="0" u="none" strike="noStrike" noProof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rdiaUPC"/>
                          <a:cs typeface="Tahoma"/>
                        </a:rPr>
                        <a:t>ส่งเสริมธุรกิจ</a:t>
                      </a: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rdiaUPC"/>
                          <a:cs typeface="Tahoma"/>
                        </a:rPr>
                        <a:t> SBP </a:t>
                      </a:r>
                      <a:r>
                        <a:rPr lang="en-US" sz="1400" b="0" i="0" u="none" strike="noStrike" noProof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rdiaUPC"/>
                          <a:cs typeface="Tahoma"/>
                        </a:rPr>
                        <a:t>ดำเนินการ</a:t>
                      </a:r>
                      <a:endParaRPr lang="th-TH" sz="1400" b="0">
                        <a:highlight>
                          <a:srgbClr val="FFFFFF"/>
                        </a:highlight>
                        <a:latin typeface="CordiaUPC"/>
                        <a:cs typeface="CordiaUPC"/>
                      </a:endParaRPr>
                    </a:p>
                  </a:txBody>
                  <a:tcPr>
                    <a:lnL w="3175">
                      <a:solidFill>
                        <a:schemeClr val="bg1">
                          <a:lumMod val="65000"/>
                        </a:schemeClr>
                      </a:solidFill>
                    </a:lnL>
                    <a:lnR w="3175">
                      <a:solidFill>
                        <a:schemeClr val="bg1">
                          <a:lumMod val="65000"/>
                        </a:schemeClr>
                      </a:solidFill>
                    </a:lnR>
                    <a:lnT w="3175">
                      <a:solidFill>
                        <a:schemeClr val="bg1">
                          <a:lumMod val="65000"/>
                        </a:schemeClr>
                      </a:solidFill>
                    </a:lnT>
                    <a:lnB w="3175">
                      <a:solidFill>
                        <a:schemeClr val="bg1">
                          <a:lumMod val="6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8716960"/>
                  </a:ext>
                </a:extLst>
              </a:tr>
              <a:tr h="30917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rdiaUPC"/>
                          <a:cs typeface="Tahoma"/>
                        </a:rPr>
                        <a:t>รอผู้บริหารสำนักงานบริการ</a:t>
                      </a: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rdiaUPC"/>
                          <a:cs typeface="Tahoma"/>
                        </a:rPr>
                        <a:t> SBP </a:t>
                      </a:r>
                      <a:r>
                        <a:rPr lang="en-US" sz="1400" b="0" i="0" u="none" strike="noStrike" noProof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rdiaUPC"/>
                          <a:cs typeface="Tahoma"/>
                        </a:rPr>
                        <a:t>ดำเนินการ</a:t>
                      </a:r>
                      <a:endParaRPr lang="th-TH" sz="1400" b="0">
                        <a:highlight>
                          <a:srgbClr val="FFFFFF"/>
                        </a:highlight>
                        <a:latin typeface="CordiaUPC"/>
                        <a:cs typeface="CordiaUPC"/>
                      </a:endParaRPr>
                    </a:p>
                  </a:txBody>
                  <a:tcPr>
                    <a:lnL w="3175">
                      <a:solidFill>
                        <a:schemeClr val="bg1">
                          <a:lumMod val="65000"/>
                        </a:schemeClr>
                      </a:solidFill>
                    </a:lnL>
                    <a:lnR w="3175">
                      <a:solidFill>
                        <a:schemeClr val="bg1">
                          <a:lumMod val="65000"/>
                        </a:schemeClr>
                      </a:solidFill>
                    </a:lnR>
                    <a:lnT w="3175">
                      <a:solidFill>
                        <a:schemeClr val="bg1">
                          <a:lumMod val="65000"/>
                        </a:schemeClr>
                      </a:solidFill>
                    </a:lnT>
                    <a:lnB w="3175">
                      <a:solidFill>
                        <a:schemeClr val="bg1">
                          <a:lumMod val="6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9165342"/>
                  </a:ext>
                </a:extLst>
              </a:tr>
              <a:tr h="30917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th-TH" sz="1400" b="0" i="0" u="none" strike="noStrike" baseline="0" noProof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rdiaUPC"/>
                          <a:cs typeface="CordiaUPC"/>
                        </a:rPr>
                        <a:t>รอฝ่าย SBP DSA ดำเนินการ</a:t>
                      </a:r>
                    </a:p>
                  </a:txBody>
                  <a:tcPr>
                    <a:lnL w="3175">
                      <a:solidFill>
                        <a:schemeClr val="bg1">
                          <a:lumMod val="65000"/>
                        </a:schemeClr>
                      </a:solidFill>
                    </a:lnL>
                    <a:lnR w="3175">
                      <a:solidFill>
                        <a:schemeClr val="bg1">
                          <a:lumMod val="65000"/>
                        </a:schemeClr>
                      </a:solidFill>
                    </a:lnR>
                    <a:lnT w="3175">
                      <a:solidFill>
                        <a:schemeClr val="bg1">
                          <a:lumMod val="65000"/>
                        </a:schemeClr>
                      </a:solidFill>
                    </a:lnT>
                    <a:lnB w="3175">
                      <a:solidFill>
                        <a:schemeClr val="bg1">
                          <a:lumMod val="6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9174178"/>
                  </a:ext>
                </a:extLst>
              </a:tr>
              <a:tr h="30917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rdiaUPC"/>
                          <a:cs typeface="Tahoma"/>
                        </a:rPr>
                        <a:t>รอเจ้าหน้าที่</a:t>
                      </a: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rdiaUPC"/>
                          <a:cs typeface="Tahoma"/>
                        </a:rPr>
                        <a:t> SBP DSA </a:t>
                      </a:r>
                      <a:r>
                        <a:rPr lang="en-US" sz="1400" b="0" i="0" u="none" strike="noStrike" noProof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rdiaUPC"/>
                          <a:cs typeface="Tahoma"/>
                        </a:rPr>
                        <a:t>ดำเนินการ</a:t>
                      </a:r>
                      <a:endParaRPr lang="th-TH" sz="1400" b="0">
                        <a:highlight>
                          <a:srgbClr val="FFFFFF"/>
                        </a:highlight>
                        <a:latin typeface="CordiaUPC"/>
                        <a:cs typeface="CordiaUPC"/>
                      </a:endParaRPr>
                    </a:p>
                  </a:txBody>
                  <a:tcPr>
                    <a:lnL w="3175">
                      <a:solidFill>
                        <a:schemeClr val="bg1">
                          <a:lumMod val="65000"/>
                        </a:schemeClr>
                      </a:solidFill>
                    </a:lnL>
                    <a:lnR w="3175">
                      <a:solidFill>
                        <a:schemeClr val="bg1">
                          <a:lumMod val="65000"/>
                        </a:schemeClr>
                      </a:solidFill>
                    </a:lnR>
                    <a:lnT w="3175">
                      <a:solidFill>
                        <a:schemeClr val="bg1">
                          <a:lumMod val="65000"/>
                        </a:schemeClr>
                      </a:solidFill>
                    </a:lnT>
                    <a:lnB w="3175">
                      <a:solidFill>
                        <a:schemeClr val="bg1">
                          <a:lumMod val="6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6661143"/>
                  </a:ext>
                </a:extLst>
              </a:tr>
              <a:tr h="30917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rdiaUPC"/>
                          <a:cs typeface="Tahoma"/>
                        </a:rPr>
                        <a:t>เสร็จสิ้นดำเนินการ</a:t>
                      </a:r>
                      <a:endParaRPr lang="th-TH" sz="1400" b="0">
                        <a:highlight>
                          <a:srgbClr val="FFFFFF"/>
                        </a:highlight>
                        <a:latin typeface="CordiaUPC"/>
                        <a:cs typeface="CordiaUPC"/>
                      </a:endParaRPr>
                    </a:p>
                  </a:txBody>
                  <a:tcPr>
                    <a:lnL w="3175">
                      <a:solidFill>
                        <a:schemeClr val="bg1">
                          <a:lumMod val="65000"/>
                        </a:schemeClr>
                      </a:solidFill>
                    </a:lnL>
                    <a:lnR w="3175">
                      <a:solidFill>
                        <a:schemeClr val="bg1">
                          <a:lumMod val="65000"/>
                        </a:schemeClr>
                      </a:solidFill>
                    </a:lnR>
                    <a:lnT w="3175">
                      <a:solidFill>
                        <a:schemeClr val="bg1">
                          <a:lumMod val="65000"/>
                        </a:schemeClr>
                      </a:solidFill>
                    </a:lnT>
                    <a:lnB w="3175">
                      <a:solidFill>
                        <a:schemeClr val="bg1">
                          <a:lumMod val="6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6562568"/>
                  </a:ext>
                </a:extLst>
              </a:tr>
            </a:tbl>
          </a:graphicData>
        </a:graphic>
      </p:graphicFrame>
      <p:sp>
        <p:nvSpPr>
          <p:cNvPr id="21" name="กล่องข้อความ 20">
            <a:extLst>
              <a:ext uri="{FF2B5EF4-FFF2-40B4-BE49-F238E27FC236}">
                <a16:creationId xmlns:a16="http://schemas.microsoft.com/office/drawing/2014/main" id="{2F3E06CA-B56C-FAE2-50B4-93F6F193D370}"/>
              </a:ext>
            </a:extLst>
          </p:cNvPr>
          <p:cNvSpPr txBox="1"/>
          <p:nvPr/>
        </p:nvSpPr>
        <p:spPr>
          <a:xfrm>
            <a:off x="2706854" y="4839480"/>
            <a:ext cx="9479171" cy="20313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h-TH" sz="1800">
                <a:solidFill>
                  <a:srgbClr val="FF0000"/>
                </a:solidFill>
                <a:latin typeface="CordiaUPC"/>
                <a:cs typeface="CordiaUPC"/>
              </a:rPr>
              <a:t>หมายเหตุ:</a:t>
            </a:r>
          </a:p>
          <a:p>
            <a:r>
              <a:rPr lang="th-TH" sz="1800">
                <a:latin typeface="CordiaUPC"/>
                <a:cs typeface="CordiaUPC"/>
              </a:rPr>
              <a:t>[ สถานะ: Drop-down ] </a:t>
            </a:r>
            <a:r>
              <a:rPr lang="th-TH" sz="1800">
                <a:solidFill>
                  <a:srgbClr val="FF0000"/>
                </a:solidFill>
                <a:highlight>
                  <a:srgbClr val="FFFF00"/>
                </a:highlight>
                <a:latin typeface="CordiaUPC"/>
                <a:cs typeface="CordiaUPC"/>
              </a:rPr>
              <a:t>บังคับ Required Field</a:t>
            </a:r>
            <a:endParaRPr lang="th-TH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th-TH" sz="1800">
                <a:latin typeface="CordiaUPC"/>
                <a:cs typeface="CordiaUPC"/>
              </a:rPr>
              <a:t>[ รหัสร้านถูกกระทบ: Text Box</a:t>
            </a:r>
            <a:r>
              <a:rPr lang="th-TH" sz="1800">
                <a:solidFill>
                  <a:srgbClr val="FF0000"/>
                </a:solidFill>
                <a:latin typeface="CordiaUPC"/>
                <a:cs typeface="CordiaUPC"/>
              </a:rPr>
              <a:t>(Numeric input)</a:t>
            </a:r>
            <a:r>
              <a:rPr lang="th-TH" sz="1800">
                <a:latin typeface="CordiaUPC"/>
                <a:cs typeface="CordiaUPC"/>
              </a:rPr>
              <a:t> ] กรณี ระบุสาขาถูกกระทบ ต้องระบุรหัสที่ถูกเปิดกระทบ</a:t>
            </a:r>
          </a:p>
          <a:p>
            <a:r>
              <a:rPr lang="th-TH" sz="1800">
                <a:latin typeface="CordiaUPC"/>
                <a:cs typeface="CordiaUPC"/>
              </a:rPr>
              <a:t>[ รหัสร้านเปิดกระทบ: Text Box</a:t>
            </a:r>
            <a:r>
              <a:rPr lang="th-TH" sz="1800">
                <a:solidFill>
                  <a:srgbClr val="FF0000"/>
                </a:solidFill>
                <a:latin typeface="CordiaUPC"/>
                <a:cs typeface="CordiaUPC"/>
              </a:rPr>
              <a:t>(Numeric input)</a:t>
            </a:r>
            <a:r>
              <a:rPr lang="th-TH" sz="1800">
                <a:latin typeface="CordiaUPC"/>
                <a:cs typeface="CordiaUPC"/>
              </a:rPr>
              <a:t> ] กรณี ระบุสาขาถูกกระทบ ต้องระบุรหัสที่ถูกเปิดกระทบ</a:t>
            </a:r>
            <a:endParaRPr lang="th-TH"/>
          </a:p>
          <a:p>
            <a:r>
              <a:rPr lang="th-TH" sz="1800">
                <a:latin typeface="CordiaUPC"/>
                <a:cs typeface="CordiaUPC"/>
              </a:rPr>
              <a:t>[ ประเภทร้าน: Checkbox</a:t>
            </a:r>
            <a:r>
              <a:rPr lang="th-TH" sz="1800">
                <a:solidFill>
                  <a:srgbClr val="FF0000"/>
                </a:solidFill>
                <a:latin typeface="CordiaUPC"/>
                <a:cs typeface="CordiaUPC"/>
              </a:rPr>
              <a:t>(เลือกได้หลายปุ่ม)</a:t>
            </a:r>
            <a:r>
              <a:rPr lang="th-TH" sz="1800">
                <a:latin typeface="CordiaUPC"/>
                <a:cs typeface="CordiaUPC"/>
              </a:rPr>
              <a:t> ]</a:t>
            </a:r>
            <a:endParaRPr lang="th-TH"/>
          </a:p>
          <a:p>
            <a:r>
              <a:rPr lang="th-TH" sz="1800">
                <a:latin typeface="CordiaUPC"/>
                <a:cs typeface="CordiaUPC"/>
              </a:rPr>
              <a:t>[ ภาค: Checkbox</a:t>
            </a:r>
            <a:r>
              <a:rPr lang="th-TH" sz="1800">
                <a:solidFill>
                  <a:srgbClr val="FF0000"/>
                </a:solidFill>
                <a:latin typeface="CordiaUPC"/>
                <a:cs typeface="CordiaUPC"/>
              </a:rPr>
              <a:t>(เลือกได้หลายปุ่ม)</a:t>
            </a:r>
            <a:r>
              <a:rPr lang="th-TH" sz="1800">
                <a:latin typeface="CordiaUPC"/>
                <a:cs typeface="CordiaUPC"/>
              </a:rPr>
              <a:t> ] </a:t>
            </a:r>
            <a:r>
              <a:rPr lang="th-TH" sz="1800">
                <a:solidFill>
                  <a:srgbClr val="FF0000"/>
                </a:solidFill>
                <a:latin typeface="CordiaUPC"/>
                <a:cs typeface="CordiaUPC"/>
              </a:rPr>
              <a:t>หมายเหตุ กรณีมีการเพิ่มภาคในระบบ ให้แสดง Checkbox เพิ่มแบบ Auto โดยไม่ต้องแก้หน้าจอ</a:t>
            </a:r>
            <a:endParaRPr lang="th-TH">
              <a:solidFill>
                <a:srgbClr val="FF0000"/>
              </a:solidFill>
            </a:endParaRPr>
          </a:p>
          <a:p>
            <a:r>
              <a:rPr lang="th-TH" sz="1800">
                <a:latin typeface="CordiaUPC"/>
                <a:cs typeface="CordiaUPC"/>
              </a:rPr>
              <a:t>[ ผลการพิจารณา: Radio </a:t>
            </a:r>
            <a:r>
              <a:rPr lang="th-TH" sz="1800">
                <a:solidFill>
                  <a:srgbClr val="FF0000"/>
                </a:solidFill>
                <a:latin typeface="CordiaUPC"/>
                <a:cs typeface="CordiaUPC"/>
              </a:rPr>
              <a:t>(เลือกอย่างใดอย่างหนึ่ง)</a:t>
            </a:r>
            <a:r>
              <a:rPr lang="th-TH" sz="1800">
                <a:latin typeface="CordiaUPC"/>
                <a:cs typeface="CordiaUPC"/>
              </a:rPr>
              <a:t> ] </a:t>
            </a:r>
            <a:r>
              <a:rPr lang="th-TH" sz="1800">
                <a:solidFill>
                  <a:srgbClr val="FF0000"/>
                </a:solidFill>
                <a:highlight>
                  <a:srgbClr val="FFFF00"/>
                </a:highlight>
                <a:latin typeface="CordiaUPC"/>
                <a:cs typeface="CordiaUPC"/>
              </a:rPr>
              <a:t>บังคับ Required Field</a:t>
            </a:r>
            <a:endParaRPr lang="th-TH"/>
          </a:p>
        </p:txBody>
      </p:sp>
      <p:pic>
        <p:nvPicPr>
          <p:cNvPr id="22" name="รูปภาพ 21">
            <a:extLst>
              <a:ext uri="{FF2B5EF4-FFF2-40B4-BE49-F238E27FC236}">
                <a16:creationId xmlns:a16="http://schemas.microsoft.com/office/drawing/2014/main" id="{0EB14D40-99A9-716F-AF4A-0C8A6C7286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7360" y="1896574"/>
            <a:ext cx="314325" cy="180975"/>
          </a:xfrm>
          <a:prstGeom prst="rect">
            <a:avLst/>
          </a:prstGeom>
        </p:spPr>
      </p:pic>
      <p:sp>
        <p:nvSpPr>
          <p:cNvPr id="23" name="กล่องข้อความ 22">
            <a:extLst>
              <a:ext uri="{FF2B5EF4-FFF2-40B4-BE49-F238E27FC236}">
                <a16:creationId xmlns:a16="http://schemas.microsoft.com/office/drawing/2014/main" id="{829AF084-48F7-8779-D3A8-539CD8278D48}"/>
              </a:ext>
            </a:extLst>
          </p:cNvPr>
          <p:cNvSpPr txBox="1"/>
          <p:nvPr/>
        </p:nvSpPr>
        <p:spPr>
          <a:xfrm>
            <a:off x="10105292" y="35169"/>
            <a:ext cx="27432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hlinkClick r:id="rId6"/>
              </a:rPr>
              <a:t>ภาคตาม Area และตารางข้อมูล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3754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8775F-23E5-1250-0B6A-D825B59B8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4D267C5-FF9F-D21D-D9A9-609150AEE1CA}"/>
              </a:ext>
            </a:extLst>
          </p:cNvPr>
          <p:cNvSpPr txBox="1">
            <a:spLocks/>
          </p:cNvSpPr>
          <p:nvPr/>
        </p:nvSpPr>
        <p:spPr bwMode="auto">
          <a:xfrm>
            <a:off x="566825" y="205415"/>
            <a:ext cx="4707486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1.9 To-Be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 Business Process</a:t>
            </a:r>
            <a:r>
              <a:rPr lang="en-US" altLang="en-US" u="sng">
                <a:latin typeface="CordiaUPC"/>
                <a:ea typeface="Tahoma"/>
                <a:cs typeface="CordiaUPC"/>
              </a:rPr>
              <a:t> </a:t>
            </a:r>
            <a:endParaRPr lang="th-TH" altLang="en-US" b="1" u="sng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850F9C-DF3E-D1BE-4104-1D996E79E297}"/>
              </a:ext>
            </a:extLst>
          </p:cNvPr>
          <p:cNvSpPr txBox="1">
            <a:spLocks/>
          </p:cNvSpPr>
          <p:nvPr/>
        </p:nvSpPr>
        <p:spPr bwMode="auto">
          <a:xfrm>
            <a:off x="566825" y="793244"/>
            <a:ext cx="6998746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sz="2800">
                <a:latin typeface="CordiaUPC"/>
                <a:ea typeface="Tahoma"/>
                <a:cs typeface="CordiaUPC"/>
              </a:rPr>
              <a:t>1.</a:t>
            </a:r>
            <a:r>
              <a:rPr lang="th-TH" altLang="en-US" sz="2800">
                <a:latin typeface="CordiaUPC"/>
                <a:ea typeface="Tahoma"/>
                <a:cs typeface="CordiaUPC"/>
              </a:rPr>
              <a:t> ออกแบบหรือสร้าง </a:t>
            </a:r>
            <a:r>
              <a:rPr lang="en-US" altLang="en-US" sz="2800">
                <a:latin typeface="CordiaUPC"/>
                <a:ea typeface="Tahoma"/>
                <a:cs typeface="CordiaUPC"/>
              </a:rPr>
              <a:t>Menu </a:t>
            </a:r>
            <a:r>
              <a:rPr lang="th-TH" altLang="en-US" sz="2800">
                <a:latin typeface="CordiaUPC"/>
                <a:ea typeface="Tahoma"/>
                <a:cs typeface="CordiaUPC"/>
              </a:rPr>
              <a:t>ใหม่ในระบบ </a:t>
            </a:r>
            <a:r>
              <a:rPr lang="en-US" altLang="en-US" sz="2800">
                <a:latin typeface="CordiaUPC"/>
                <a:ea typeface="Tahoma"/>
                <a:cs typeface="CordiaUPC"/>
              </a:rPr>
              <a:t>SBP Mall</a:t>
            </a:r>
            <a:endParaRPr lang="th-TH" altLang="en-US" sz="2800" b="1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  <p:sp>
        <p:nvSpPr>
          <p:cNvPr id="18" name="กล่องข้อความ 17">
            <a:extLst>
              <a:ext uri="{FF2B5EF4-FFF2-40B4-BE49-F238E27FC236}">
                <a16:creationId xmlns:a16="http://schemas.microsoft.com/office/drawing/2014/main" id="{FB6B042D-4DC6-BB12-121E-3429662A8C6D}"/>
              </a:ext>
            </a:extLst>
          </p:cNvPr>
          <p:cNvSpPr txBox="1"/>
          <p:nvPr/>
        </p:nvSpPr>
        <p:spPr>
          <a:xfrm>
            <a:off x="7562021" y="6027488"/>
            <a:ext cx="170131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h-TH">
                <a:latin typeface="Arial"/>
                <a:cs typeface="Angsana New"/>
              </a:rPr>
              <a:t>ขอเพิ่ม </a:t>
            </a:r>
            <a:r>
              <a:rPr lang="th-TH" err="1">
                <a:latin typeface="Arial"/>
                <a:cs typeface="Angsana New"/>
              </a:rPr>
              <a:t>col</a:t>
            </a:r>
            <a:endParaRPr lang="th-TH" err="1"/>
          </a:p>
        </p:txBody>
      </p:sp>
      <p:sp>
        <p:nvSpPr>
          <p:cNvPr id="21" name="กล่องข้อความ 20">
            <a:extLst>
              <a:ext uri="{FF2B5EF4-FFF2-40B4-BE49-F238E27FC236}">
                <a16:creationId xmlns:a16="http://schemas.microsoft.com/office/drawing/2014/main" id="{6DA43EBD-B44E-6C7E-AFE7-DFE649BEC49F}"/>
              </a:ext>
            </a:extLst>
          </p:cNvPr>
          <p:cNvSpPr txBox="1"/>
          <p:nvPr/>
        </p:nvSpPr>
        <p:spPr>
          <a:xfrm>
            <a:off x="566724" y="1365781"/>
            <a:ext cx="11244292" cy="40318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h-TH" sz="2400">
                <a:latin typeface="CordiaUPC"/>
                <a:cs typeface="CordiaUPC"/>
              </a:rPr>
              <a:t>ระบบ SBP</a:t>
            </a:r>
            <a:r>
              <a:rPr lang="th-TH" sz="2400" b="0">
                <a:latin typeface="CordiaUPC"/>
                <a:cs typeface="CordiaUPC"/>
              </a:rPr>
              <a:t> แสดงข้อมูลในรูปแบบตารางชดเชยรายได้ให้กับทีมบัญชี ซึ่งสามารถนำข้อมูลไปใช้งานต่อหรือเปรียบเทียบกับข้อมูลในระบบ </a:t>
            </a:r>
            <a:r>
              <a:rPr lang="th-TH" sz="2400">
                <a:latin typeface="CordiaUPC"/>
                <a:cs typeface="CordiaUPC"/>
              </a:rPr>
              <a:t>SAP</a:t>
            </a:r>
            <a:r>
              <a:rPr lang="th-TH" sz="2400" b="0">
                <a:latin typeface="CordiaUPC"/>
                <a:cs typeface="CordiaUPC"/>
              </a:rPr>
              <a:t> ได้</a:t>
            </a:r>
            <a:endParaRPr lang="th-TH" sz="2400">
              <a:latin typeface="CordiaUPC"/>
              <a:cs typeface="CordiaUPC"/>
            </a:endParaRPr>
          </a:p>
          <a:p>
            <a:endParaRPr lang="th-TH" sz="2400" b="0">
              <a:latin typeface="CordiaUPC"/>
              <a:cs typeface="CordiaUPC"/>
            </a:endParaRPr>
          </a:p>
          <a:p>
            <a:r>
              <a:rPr lang="th-TH" sz="2400" u="sng">
                <a:latin typeface="CordiaUPC"/>
                <a:cs typeface="CordiaUPC"/>
              </a:rPr>
              <a:t>กรณีพบข้อมูลผิดปกติในระบบ SBP</a:t>
            </a:r>
          </a:p>
          <a:p>
            <a:pPr marL="285750" indent="-285750">
              <a:buFont typeface="Arial"/>
              <a:buChar char="•"/>
            </a:pPr>
            <a:r>
              <a:rPr lang="th-TH" sz="2400" b="0">
                <a:latin typeface="CordiaUPC"/>
                <a:cs typeface="CordiaUPC"/>
              </a:rPr>
              <a:t>หากทีมบัญชีพบว่าข้อมูลใน SAP ถูกต้อง แต่ข้อมูลใน SBP ยังแสดงผิดอยู่</a:t>
            </a:r>
          </a:p>
          <a:p>
            <a:pPr marL="285750" indent="-285750">
              <a:buFont typeface="Arial"/>
              <a:buChar char="•"/>
            </a:pPr>
            <a:r>
              <a:rPr lang="th-TH" sz="2400" b="0">
                <a:latin typeface="CordiaUPC"/>
                <a:cs typeface="CordiaUPC"/>
              </a:rPr>
              <a:t>ต้องดำเนินการ </a:t>
            </a:r>
            <a:r>
              <a:rPr lang="th-TH" sz="2400">
                <a:latin typeface="CordiaUPC"/>
                <a:cs typeface="CordiaUPC"/>
              </a:rPr>
              <a:t>เปิด SR (Service </a:t>
            </a:r>
            <a:r>
              <a:rPr lang="th-TH" sz="2400" err="1">
                <a:latin typeface="CordiaUPC"/>
                <a:cs typeface="CordiaUPC"/>
              </a:rPr>
              <a:t>Request</a:t>
            </a:r>
            <a:r>
              <a:rPr lang="th-TH" sz="2400">
                <a:latin typeface="CordiaUPC"/>
                <a:cs typeface="CordiaUPC"/>
              </a:rPr>
              <a:t>)</a:t>
            </a:r>
            <a:r>
              <a:rPr lang="th-TH" sz="2400" b="0">
                <a:latin typeface="CordiaUPC"/>
                <a:cs typeface="CordiaUPC"/>
              </a:rPr>
              <a:t> เพื่อให้ทีมที่ดูแลระบบ SBP แก้ไขข้อมูลให้ถูกต้องเป็นรายครั้ง</a:t>
            </a:r>
          </a:p>
          <a:p>
            <a:pPr marL="285750" indent="-285750">
              <a:buFont typeface="Arial"/>
              <a:buChar char="•"/>
            </a:pPr>
            <a:endParaRPr lang="th-TH" sz="2400" b="0">
              <a:latin typeface="CordiaUPC"/>
              <a:cs typeface="CordiaUPC"/>
            </a:endParaRPr>
          </a:p>
          <a:p>
            <a:r>
              <a:rPr lang="th-TH" sz="2400">
                <a:solidFill>
                  <a:srgbClr val="FF0000"/>
                </a:solidFill>
                <a:latin typeface="CordiaUPC"/>
                <a:cs typeface="CordiaUPC"/>
              </a:rPr>
              <a:t>ข้อเสนอเพิ่มเติม:</a:t>
            </a:r>
          </a:p>
          <a:p>
            <a:pPr marL="285750" indent="-285750">
              <a:buFont typeface="Arial"/>
              <a:buChar char="•"/>
            </a:pPr>
            <a:r>
              <a:rPr lang="th-TH" sz="2400" b="0">
                <a:solidFill>
                  <a:srgbClr val="FF0000"/>
                </a:solidFill>
                <a:latin typeface="CordiaUPC"/>
                <a:cs typeface="CordiaUPC"/>
              </a:rPr>
              <a:t>หากต้องการแก้ไขข้อมูลใน SAP แล้ว ให้ระบบ SBP </a:t>
            </a:r>
            <a:r>
              <a:rPr lang="th-TH" sz="2400" err="1">
                <a:solidFill>
                  <a:srgbClr val="FF0000"/>
                </a:solidFill>
                <a:latin typeface="CordiaUPC"/>
                <a:cs typeface="CordiaUPC"/>
              </a:rPr>
              <a:t>อัป</a:t>
            </a:r>
            <a:r>
              <a:rPr lang="th-TH" sz="2400">
                <a:solidFill>
                  <a:srgbClr val="FF0000"/>
                </a:solidFill>
                <a:latin typeface="CordiaUPC"/>
                <a:cs typeface="CordiaUPC"/>
              </a:rPr>
              <a:t>เดตข้อมูลอัตโนมัติ (Auto </a:t>
            </a:r>
            <a:r>
              <a:rPr lang="th-TH" sz="2400" err="1">
                <a:solidFill>
                  <a:srgbClr val="FF0000"/>
                </a:solidFill>
                <a:latin typeface="CordiaUPC"/>
                <a:cs typeface="CordiaUPC"/>
              </a:rPr>
              <a:t>Update</a:t>
            </a:r>
            <a:r>
              <a:rPr lang="th-TH" sz="2400">
                <a:solidFill>
                  <a:srgbClr val="FF0000"/>
                </a:solidFill>
                <a:latin typeface="CordiaUPC"/>
                <a:cs typeface="CordiaUPC"/>
              </a:rPr>
              <a:t>)</a:t>
            </a:r>
            <a:r>
              <a:rPr lang="th-TH" sz="2400" b="0">
                <a:solidFill>
                  <a:srgbClr val="FF0000"/>
                </a:solidFill>
                <a:latin typeface="CordiaUPC"/>
                <a:cs typeface="CordiaUPC"/>
              </a:rPr>
              <a:t> โดยไม่ต้องเปิด SR ทุกครั้ง ต้องเปิด BSR แก้ไขที่ระบบหลังจากโครงการ </a:t>
            </a:r>
            <a:r>
              <a:rPr lang="th-TH" sz="2400" b="0" err="1">
                <a:solidFill>
                  <a:srgbClr val="FF0000"/>
                </a:solidFill>
                <a:latin typeface="CordiaUPC"/>
                <a:cs typeface="CordiaUPC"/>
              </a:rPr>
              <a:t>Replacement</a:t>
            </a:r>
            <a:r>
              <a:rPr lang="th-TH" sz="2400" b="0">
                <a:solidFill>
                  <a:srgbClr val="FF0000"/>
                </a:solidFill>
                <a:latin typeface="CordiaUPC"/>
                <a:cs typeface="CordiaUPC"/>
              </a:rPr>
              <a:t> SBP เนื่องจาก </a:t>
            </a:r>
            <a:r>
              <a:rPr lang="th-TH" sz="2400" b="0" err="1">
                <a:solidFill>
                  <a:srgbClr val="FF0000"/>
                </a:solidFill>
                <a:latin typeface="CordiaUPC"/>
                <a:cs typeface="CordiaUPC"/>
              </a:rPr>
              <a:t>Out</a:t>
            </a:r>
            <a:r>
              <a:rPr lang="th-TH" sz="2400" b="0">
                <a:solidFill>
                  <a:srgbClr val="FF0000"/>
                </a:solidFill>
                <a:latin typeface="CordiaUPC"/>
                <a:cs typeface="CordiaUPC"/>
              </a:rPr>
              <a:t> Of </a:t>
            </a:r>
            <a:r>
              <a:rPr lang="th-TH" sz="2400" b="0" err="1">
                <a:solidFill>
                  <a:srgbClr val="FF0000"/>
                </a:solidFill>
                <a:latin typeface="CordiaUPC"/>
                <a:cs typeface="CordiaUPC"/>
              </a:rPr>
              <a:t>Scope</a:t>
            </a:r>
            <a:endParaRPr lang="th-TH" sz="2400" err="1">
              <a:solidFill>
                <a:srgbClr val="FF0000"/>
              </a:solidFill>
              <a:latin typeface="CordiaUPC"/>
              <a:cs typeface="CordiaUPC"/>
            </a:endParaRPr>
          </a:p>
          <a:p>
            <a:endParaRPr lang="th-TH"/>
          </a:p>
        </p:txBody>
      </p:sp>
      <p:sp>
        <p:nvSpPr>
          <p:cNvPr id="23" name="กล่องข้อความ 22">
            <a:extLst>
              <a:ext uri="{FF2B5EF4-FFF2-40B4-BE49-F238E27FC236}">
                <a16:creationId xmlns:a16="http://schemas.microsoft.com/office/drawing/2014/main" id="{FFA2A359-4069-901A-7432-248399B80E1E}"/>
              </a:ext>
            </a:extLst>
          </p:cNvPr>
          <p:cNvSpPr txBox="1"/>
          <p:nvPr/>
        </p:nvSpPr>
        <p:spPr>
          <a:xfrm>
            <a:off x="12342806" y="4376961"/>
            <a:ext cx="3274290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h-TH">
                <a:latin typeface="CordiaUPC"/>
                <a:cs typeface="CordiaUPC"/>
              </a:rPr>
              <a:t>หมายเหตุ:</a:t>
            </a:r>
          </a:p>
          <a:p>
            <a:r>
              <a:rPr lang="th-TH" b="0">
                <a:latin typeface="CordiaUPC"/>
                <a:cs typeface="CordiaUPC"/>
              </a:rPr>
              <a:t> ระบบ </a:t>
            </a:r>
            <a:r>
              <a:rPr lang="th-TH" b="0" err="1">
                <a:latin typeface="CordiaUPC"/>
                <a:cs typeface="CordiaUPC"/>
              </a:rPr>
              <a:t>Refult</a:t>
            </a:r>
            <a:r>
              <a:rPr lang="th-TH" b="0">
                <a:latin typeface="CordiaUPC"/>
                <a:cs typeface="CordiaUPC"/>
              </a:rPr>
              <a:t> สามารถดูข้อมูลย้อนหลังได้สูงสุด 12 เดือน โดยมีข้อจำกัดตามประเภทข้อมูลดังนี้:</a:t>
            </a:r>
            <a:endParaRPr lang="th-TH">
              <a:latin typeface="CordiaUPC"/>
              <a:cs typeface="CordiaUPC"/>
            </a:endParaRPr>
          </a:p>
          <a:p>
            <a:pPr marL="285750" indent="-285750">
              <a:buFont typeface="Arial"/>
              <a:buChar char="•"/>
            </a:pPr>
            <a:r>
              <a:rPr lang="th-TH" b="0">
                <a:latin typeface="CordiaUPC"/>
                <a:cs typeface="CordiaUPC"/>
              </a:rPr>
              <a:t>ประเภท </a:t>
            </a:r>
            <a:r>
              <a:rPr lang="th-TH">
                <a:latin typeface="CordiaUPC"/>
                <a:cs typeface="CordiaUPC"/>
              </a:rPr>
              <a:t>B, E, VB</a:t>
            </a:r>
            <a:r>
              <a:rPr lang="th-TH" b="0">
                <a:latin typeface="CordiaUPC"/>
                <a:cs typeface="CordiaUPC"/>
              </a:rPr>
              <a:t>: สามารถดูข้อมูลย้อนหลังได้ </a:t>
            </a:r>
            <a:r>
              <a:rPr lang="th-TH">
                <a:latin typeface="CordiaUPC"/>
                <a:cs typeface="CordiaUPC"/>
              </a:rPr>
              <a:t>สูงสุด 6 เดือน</a:t>
            </a:r>
          </a:p>
          <a:p>
            <a:pPr marL="285750" indent="-285750">
              <a:buFont typeface="Arial"/>
              <a:buChar char="•"/>
            </a:pPr>
            <a:r>
              <a:rPr lang="th-TH" b="0">
                <a:latin typeface="CordiaUPC"/>
                <a:cs typeface="CordiaUPC"/>
              </a:rPr>
              <a:t>ประเภท </a:t>
            </a:r>
            <a:r>
              <a:rPr lang="th-TH">
                <a:latin typeface="CordiaUPC"/>
                <a:cs typeface="CordiaUPC"/>
              </a:rPr>
              <a:t>A, C, VC</a:t>
            </a:r>
            <a:r>
              <a:rPr lang="th-TH" b="0">
                <a:latin typeface="CordiaUPC"/>
                <a:cs typeface="CordiaUPC"/>
              </a:rPr>
              <a:t>: สามารถดูข้อมูลย้อนหลังได้ </a:t>
            </a:r>
            <a:r>
              <a:rPr lang="th-TH">
                <a:latin typeface="CordiaUPC"/>
                <a:cs typeface="CordiaUPC"/>
              </a:rPr>
              <a:t>สูงสุด 12 เดือน</a:t>
            </a:r>
          </a:p>
          <a:p>
            <a:r>
              <a:rPr lang="th-TH" b="0">
                <a:latin typeface="CordiaUPC"/>
                <a:cs typeface="CordiaUPC"/>
              </a:rPr>
              <a:t>หากประเภทใดที่ระบบกำหนดให้ดูย้อนหลังได้ 6 เดือน จะยังคงดูได้เท่าเดิม ไม่เปลี่ยนแปลง เช่น ถ้าประเภท B เคยดูได้ 6 เดือน ก็จะยังคงดูได้ 6 เดือนเหมือนเดิม</a:t>
            </a:r>
            <a:endParaRPr lang="th-TH">
              <a:latin typeface="CordiaUPC"/>
              <a:cs typeface="CordiaUPC"/>
            </a:endParaRPr>
          </a:p>
          <a:p>
            <a:endParaRPr lang="th-TH">
              <a:latin typeface="CordiaUPC"/>
              <a:cs typeface="CordiaUPC"/>
            </a:endParaRPr>
          </a:p>
        </p:txBody>
      </p:sp>
    </p:spTree>
    <p:extLst>
      <p:ext uri="{BB962C8B-B14F-4D97-AF65-F5344CB8AC3E}">
        <p14:creationId xmlns:p14="http://schemas.microsoft.com/office/powerpoint/2010/main" val="26049737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0103F-F2E1-EC00-19F4-66F3B559D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ECD0294-BC55-E4B1-B3F0-1656D39AAFE6}"/>
              </a:ext>
            </a:extLst>
          </p:cNvPr>
          <p:cNvSpPr txBox="1">
            <a:spLocks/>
          </p:cNvSpPr>
          <p:nvPr/>
        </p:nvSpPr>
        <p:spPr bwMode="auto">
          <a:xfrm>
            <a:off x="566825" y="205415"/>
            <a:ext cx="4707486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1.9 To-Be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 Business Process</a:t>
            </a:r>
            <a:r>
              <a:rPr lang="en-US" altLang="en-US" u="sng">
                <a:latin typeface="CordiaUPC"/>
                <a:ea typeface="Tahoma"/>
                <a:cs typeface="CordiaUPC"/>
              </a:rPr>
              <a:t> </a:t>
            </a:r>
            <a:endParaRPr lang="th-TH" altLang="en-US" b="1" u="sng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07AB8E-AE5F-2ADC-F42C-5F6B4C0932A1}"/>
              </a:ext>
            </a:extLst>
          </p:cNvPr>
          <p:cNvSpPr txBox="1">
            <a:spLocks/>
          </p:cNvSpPr>
          <p:nvPr/>
        </p:nvSpPr>
        <p:spPr bwMode="auto">
          <a:xfrm>
            <a:off x="544412" y="1499215"/>
            <a:ext cx="8659471" cy="5593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sz="2800">
                <a:latin typeface="CordiaUPC"/>
                <a:ea typeface="Tahoma"/>
                <a:cs typeface="CordiaUPC"/>
              </a:rPr>
              <a:t>1.</a:t>
            </a:r>
            <a:r>
              <a:rPr lang="th-TH" altLang="en-US" sz="2800">
                <a:latin typeface="CordiaUPC"/>
                <a:ea typeface="Tahoma"/>
                <a:cs typeface="CordiaUPC"/>
              </a:rPr>
              <a:t> เรียกรายงานจาก </a:t>
            </a:r>
            <a:r>
              <a:rPr lang="en-US" altLang="en-US" sz="2800">
                <a:latin typeface="CordiaUPC"/>
                <a:ea typeface="Tahoma"/>
                <a:cs typeface="CordiaUPC"/>
              </a:rPr>
              <a:t>SAP </a:t>
            </a:r>
            <a:r>
              <a:rPr lang="th-TH" altLang="en-US" sz="2800">
                <a:latin typeface="CordiaUPC"/>
                <a:ea typeface="Tahoma"/>
                <a:cs typeface="CordiaUPC"/>
              </a:rPr>
              <a:t>เพื่อกระทบยอด</a:t>
            </a:r>
            <a:endParaRPr lang="th-TH" altLang="en-US" sz="2800" b="1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D85833-2456-6406-5931-24FD2DE70667}"/>
              </a:ext>
            </a:extLst>
          </p:cNvPr>
          <p:cNvSpPr txBox="1"/>
          <p:nvPr/>
        </p:nvSpPr>
        <p:spPr>
          <a:xfrm>
            <a:off x="804903" y="1875688"/>
            <a:ext cx="9829800" cy="172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/>
              <a:t>✅  </a:t>
            </a:r>
            <a:r>
              <a:rPr lang="en-US"/>
              <a:t>Menu  SAP “FBL3H-GL Account Line-Item Browser” </a:t>
            </a:r>
            <a:r>
              <a:rPr lang="th-TH"/>
              <a:t> </a:t>
            </a:r>
          </a:p>
          <a:p>
            <a:r>
              <a:rPr lang="th-TH" altLang="en-US" sz="2800">
                <a:latin typeface="Cordia New" panose="020B0304020202020204" pitchFamily="34" charset="-34"/>
                <a:ea typeface="Tahoma"/>
                <a:cs typeface="Cordia New" panose="020B0304020202020204" pitchFamily="34" charset="-34"/>
              </a:rPr>
              <a:t>เรียกระบุ </a:t>
            </a:r>
            <a:r>
              <a:rPr lang="en-US" altLang="en-US" sz="2800">
                <a:latin typeface="Cordia New" panose="020B0304020202020204" pitchFamily="34" charset="-34"/>
                <a:ea typeface="Tahoma"/>
                <a:cs typeface="Cordia New" panose="020B0304020202020204" pitchFamily="34" charset="-34"/>
              </a:rPr>
              <a:t>Account  </a:t>
            </a:r>
            <a:r>
              <a:rPr lang="th-TH" altLang="en-US" sz="2800">
                <a:latin typeface="Cordia New" panose="020B0304020202020204" pitchFamily="34" charset="-34"/>
                <a:ea typeface="Tahoma"/>
                <a:cs typeface="Cordia New" panose="020B0304020202020204" pitchFamily="34" charset="-34"/>
              </a:rPr>
              <a:t>ระบุ </a:t>
            </a:r>
            <a:r>
              <a:rPr lang="en-US" altLang="en-US" sz="2800">
                <a:latin typeface="Cordia New" panose="020B0304020202020204" pitchFamily="34" charset="-34"/>
                <a:ea typeface="Tahoma"/>
                <a:cs typeface="Cordia New" panose="020B0304020202020204" pitchFamily="34" charset="-34"/>
              </a:rPr>
              <a:t>Period  …. </a:t>
            </a:r>
            <a:r>
              <a:rPr lang="en-US" sz="2800">
                <a:latin typeface="Cordia New" panose="020B0304020202020204" pitchFamily="34" charset="-34"/>
                <a:cs typeface="Cordia New" panose="020B0304020202020204" pitchFamily="34" charset="-34"/>
              </a:rPr>
              <a:t>  </a:t>
            </a:r>
            <a:endParaRPr lang="th-TH" sz="280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r>
              <a:rPr lang="en-US" altLang="en-US" sz="2800">
                <a:latin typeface="Cordia New" panose="020B0304020202020204" pitchFamily="34" charset="-34"/>
                <a:ea typeface="Tahoma"/>
                <a:cs typeface="Cordia New" panose="020B0304020202020204" pitchFamily="34" charset="-34"/>
              </a:rPr>
              <a:t>     Dr. 69102401 – 19550 </a:t>
            </a:r>
            <a:r>
              <a:rPr lang="th-TH" altLang="en-US" sz="2800">
                <a:latin typeface="Cordia New" panose="020B0304020202020204" pitchFamily="34" charset="-34"/>
                <a:ea typeface="Tahoma"/>
                <a:cs typeface="Cordia New" panose="020B0304020202020204" pitchFamily="34" charset="-34"/>
              </a:rPr>
              <a:t>สาขาใกล้เคียง  </a:t>
            </a:r>
            <a:endParaRPr lang="en-US" altLang="en-US" sz="2800">
              <a:latin typeface="Cordia New" panose="020B0304020202020204" pitchFamily="34" charset="-34"/>
              <a:ea typeface="Tahoma"/>
              <a:cs typeface="Cordia New" panose="020B0304020202020204" pitchFamily="34" charset="-34"/>
            </a:endParaRPr>
          </a:p>
          <a:p>
            <a:r>
              <a:rPr lang="en-US" altLang="en-US" sz="2800">
                <a:latin typeface="Cordia New" panose="020B0304020202020204" pitchFamily="34" charset="-34"/>
                <a:ea typeface="Tahoma"/>
                <a:cs typeface="Cordia New" panose="020B0304020202020204" pitchFamily="34" charset="-34"/>
              </a:rPr>
              <a:t>          Cr. 69102400 – 07316 </a:t>
            </a:r>
            <a:r>
              <a:rPr lang="th-TH" altLang="en-US" sz="2800">
                <a:latin typeface="Cordia New" panose="020B0304020202020204" pitchFamily="34" charset="-34"/>
                <a:ea typeface="Tahoma"/>
                <a:cs typeface="Cordia New" panose="020B0304020202020204" pitchFamily="34" charset="-34"/>
              </a:rPr>
              <a:t>รหัสร้านเปิดใหม่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56F99D-C053-5485-0370-9E55B8DA34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1706"/>
          <a:stretch>
            <a:fillRect/>
          </a:stretch>
        </p:blipFill>
        <p:spPr>
          <a:xfrm>
            <a:off x="6480737" y="1606629"/>
            <a:ext cx="5446294" cy="10329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927A8FC-DA1E-DC1A-7C91-55EBC592B1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903" y="3677771"/>
            <a:ext cx="8581861" cy="2843276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2997D093-22AC-EC63-F7F7-B079750EF1A4}"/>
              </a:ext>
            </a:extLst>
          </p:cNvPr>
          <p:cNvSpPr txBox="1">
            <a:spLocks/>
          </p:cNvSpPr>
          <p:nvPr/>
        </p:nvSpPr>
        <p:spPr bwMode="auto">
          <a:xfrm>
            <a:off x="3884820" y="3981865"/>
            <a:ext cx="7457454" cy="5593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th-TH" altLang="en-US" sz="2400" b="1">
                <a:solidFill>
                  <a:srgbClr val="C00000"/>
                </a:solidFill>
                <a:latin typeface="CordiaUPC"/>
                <a:ea typeface="Tahoma"/>
                <a:cs typeface="CordiaUPC"/>
              </a:rPr>
              <a:t>รายงาน </a:t>
            </a:r>
            <a:r>
              <a:rPr lang="en-US" altLang="en-US" sz="2400" b="1">
                <a:solidFill>
                  <a:srgbClr val="C00000"/>
                </a:solidFill>
                <a:latin typeface="CordiaUPC"/>
                <a:ea typeface="Tahoma"/>
                <a:cs typeface="CordiaUPC"/>
              </a:rPr>
              <a:t>Run </a:t>
            </a:r>
            <a:r>
              <a:rPr lang="th-TH" altLang="en-US" sz="2400">
                <a:solidFill>
                  <a:srgbClr val="C00000"/>
                </a:solidFill>
                <a:latin typeface="CordiaUPC"/>
                <a:ea typeface="Tahoma"/>
                <a:cs typeface="CordiaUPC"/>
              </a:rPr>
              <a:t>เรียบร้อยนำมากระทบ ไม่พบ </a:t>
            </a:r>
            <a:r>
              <a:rPr lang="en-US" altLang="en-US" sz="2400">
                <a:solidFill>
                  <a:srgbClr val="C00000"/>
                </a:solidFill>
                <a:latin typeface="CordiaUPC"/>
                <a:ea typeface="Tahoma"/>
                <a:cs typeface="CordiaUPC"/>
              </a:rPr>
              <a:t>Diff </a:t>
            </a:r>
            <a:r>
              <a:rPr lang="en-US" altLang="en-US" sz="2400" err="1">
                <a:solidFill>
                  <a:srgbClr val="C00000"/>
                </a:solidFill>
                <a:latin typeface="CordiaUPC"/>
                <a:ea typeface="Tahoma"/>
                <a:cs typeface="CordiaUPC"/>
              </a:rPr>
              <a:t>Confrim</a:t>
            </a:r>
            <a:r>
              <a:rPr lang="en-US" altLang="en-US" sz="2400">
                <a:solidFill>
                  <a:srgbClr val="C00000"/>
                </a:solidFill>
                <a:latin typeface="CordiaUPC"/>
                <a:ea typeface="Tahoma"/>
                <a:cs typeface="CordiaUPC"/>
              </a:rPr>
              <a:t> </a:t>
            </a:r>
            <a:r>
              <a:rPr lang="th-TH" altLang="en-US" sz="2400">
                <a:solidFill>
                  <a:srgbClr val="C00000"/>
                </a:solidFill>
                <a:latin typeface="CordiaUPC"/>
                <a:ea typeface="Tahoma"/>
                <a:cs typeface="CordiaUPC"/>
              </a:rPr>
              <a:t>ปิดบัญชีประจำเดือน</a:t>
            </a:r>
            <a:endParaRPr lang="th-TH" altLang="en-US" sz="2400" b="1">
              <a:solidFill>
                <a:srgbClr val="C00000"/>
              </a:solidFill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0204887C-399A-C5E7-0A94-EF3239679FB0}"/>
              </a:ext>
            </a:extLst>
          </p:cNvPr>
          <p:cNvSpPr txBox="1"/>
          <p:nvPr/>
        </p:nvSpPr>
        <p:spPr>
          <a:xfrm>
            <a:off x="567017" y="858371"/>
            <a:ext cx="4715436" cy="461665"/>
          </a:xfrm>
          <a:prstGeom prst="rect">
            <a:avLst/>
          </a:prstGeom>
          <a:solidFill>
            <a:schemeClr val="tx2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h-TH" sz="2400" u="sng">
                <a:solidFill>
                  <a:schemeClr val="bg1"/>
                </a:solidFill>
                <a:latin typeface="Browallia New"/>
                <a:cs typeface="Browallia New"/>
              </a:rPr>
              <a:t>กรณีพบข้อมูลผิดปกติในระบบ SBP</a:t>
            </a:r>
            <a:r>
              <a:rPr lang="th-TH" sz="2400">
                <a:solidFill>
                  <a:schemeClr val="bg1"/>
                </a:solidFill>
                <a:latin typeface="Browallia New"/>
                <a:cs typeface="Browallia New"/>
              </a:rPr>
              <a:t>​</a:t>
            </a:r>
            <a:endParaRPr lang="th-TH">
              <a:solidFill>
                <a:schemeClr val="bg1"/>
              </a:solidFill>
              <a:latin typeface="Browallia New"/>
              <a:cs typeface="Browallia New"/>
            </a:endParaRPr>
          </a:p>
        </p:txBody>
      </p:sp>
    </p:spTree>
    <p:extLst>
      <p:ext uri="{BB962C8B-B14F-4D97-AF65-F5344CB8AC3E}">
        <p14:creationId xmlns:p14="http://schemas.microsoft.com/office/powerpoint/2010/main" val="28453347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9F386-20C5-BABB-FB0B-B3131749D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3CFDCB6-284B-0C4F-BFCB-88D1ED5FC448}"/>
              </a:ext>
            </a:extLst>
          </p:cNvPr>
          <p:cNvSpPr txBox="1">
            <a:spLocks/>
          </p:cNvSpPr>
          <p:nvPr/>
        </p:nvSpPr>
        <p:spPr bwMode="auto">
          <a:xfrm>
            <a:off x="566825" y="205415"/>
            <a:ext cx="4707486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1.9 To-Be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 Business Process</a:t>
            </a:r>
            <a:r>
              <a:rPr lang="en-US" altLang="en-US" u="sng">
                <a:latin typeface="CordiaUPC"/>
                <a:ea typeface="Tahoma"/>
                <a:cs typeface="CordiaUPC"/>
              </a:rPr>
              <a:t> </a:t>
            </a:r>
            <a:endParaRPr lang="th-TH" altLang="en-US" b="1" u="sng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0787D4-EAC9-15FB-D17D-8F70980881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555" y="1891437"/>
            <a:ext cx="10331981" cy="16256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7962F37-0606-D2D0-CA6D-0A51DAFD78A9}"/>
              </a:ext>
            </a:extLst>
          </p:cNvPr>
          <p:cNvSpPr txBox="1"/>
          <p:nvPr/>
        </p:nvSpPr>
        <p:spPr>
          <a:xfrm>
            <a:off x="719504" y="1346705"/>
            <a:ext cx="96903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/>
              <a:t>✅  </a:t>
            </a:r>
            <a:r>
              <a:rPr lang="en-US"/>
              <a:t>Menu  FS  =  </a:t>
            </a:r>
            <a:r>
              <a:rPr lang="th-TH" sz="2400" b="0">
                <a:latin typeface="Cordia New" panose="020B0304020202020204" pitchFamily="34" charset="-34"/>
                <a:cs typeface="Cordia New" panose="020B0304020202020204" pitchFamily="34" charset="-34"/>
              </a:rPr>
              <a:t>ตรวจสอบรายงานขึ้นระบบ</a:t>
            </a:r>
            <a:r>
              <a:rPr lang="en-US" sz="2400" b="0">
                <a:latin typeface="Cordia New" panose="020B0304020202020204" pitchFamily="34" charset="-34"/>
                <a:cs typeface="Cordia New" panose="020B0304020202020204" pitchFamily="34" charset="-34"/>
              </a:rPr>
              <a:t> STATUS</a:t>
            </a:r>
            <a:r>
              <a:rPr lang="th-TH" sz="2400" b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b="0">
                <a:latin typeface="Cordia New" panose="020B0304020202020204" pitchFamily="34" charset="-34"/>
                <a:cs typeface="Cordia New" panose="020B0304020202020204" pitchFamily="34" charset="-34"/>
              </a:rPr>
              <a:t>&gt;&gt;</a:t>
            </a:r>
            <a:r>
              <a:rPr lang="th-TH" sz="2400" b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b="0">
                <a:latin typeface="Cordia New" panose="020B0304020202020204" pitchFamily="34" charset="-34"/>
                <a:cs typeface="Cordia New" panose="020B0304020202020204" pitchFamily="34" charset="-34"/>
              </a:rPr>
              <a:t>Completed </a:t>
            </a:r>
            <a:r>
              <a:rPr lang="th-TH" sz="2400" b="0">
                <a:latin typeface="Cordia New" panose="020B0304020202020204" pitchFamily="34" charset="-34"/>
                <a:cs typeface="Cordia New" panose="020B0304020202020204" pitchFamily="34" charset="-34"/>
              </a:rPr>
              <a:t>หรือไหม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EA4A9FE-1FED-B6FF-17D4-8A266EC41D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555" y="3792415"/>
            <a:ext cx="10331981" cy="2197213"/>
          </a:xfrm>
          <a:prstGeom prst="rect">
            <a:avLst/>
          </a:prstGeom>
        </p:spPr>
      </p:pic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E0E56B98-C0D9-D173-06D3-D98B1DDC31B7}"/>
              </a:ext>
            </a:extLst>
          </p:cNvPr>
          <p:cNvSpPr txBox="1"/>
          <p:nvPr/>
        </p:nvSpPr>
        <p:spPr>
          <a:xfrm>
            <a:off x="567017" y="858371"/>
            <a:ext cx="4715436" cy="461665"/>
          </a:xfrm>
          <a:prstGeom prst="rect">
            <a:avLst/>
          </a:prstGeom>
          <a:solidFill>
            <a:schemeClr val="tx2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h-TH" sz="2400" u="sng">
                <a:solidFill>
                  <a:schemeClr val="bg1"/>
                </a:solidFill>
                <a:latin typeface="Browallia New"/>
                <a:cs typeface="Browallia New"/>
              </a:rPr>
              <a:t>กรณีพบข้อมูลผิดปกติในระบบ SBP</a:t>
            </a:r>
            <a:r>
              <a:rPr lang="th-TH" sz="2400">
                <a:solidFill>
                  <a:schemeClr val="bg1"/>
                </a:solidFill>
                <a:latin typeface="Browallia New"/>
                <a:cs typeface="Browallia New"/>
              </a:rPr>
              <a:t>​</a:t>
            </a:r>
            <a:endParaRPr lang="th-TH">
              <a:solidFill>
                <a:schemeClr val="bg1"/>
              </a:solidFill>
              <a:latin typeface="Browallia New"/>
              <a:cs typeface="Browallia New"/>
            </a:endParaRPr>
          </a:p>
        </p:txBody>
      </p:sp>
    </p:spTree>
    <p:extLst>
      <p:ext uri="{BB962C8B-B14F-4D97-AF65-F5344CB8AC3E}">
        <p14:creationId xmlns:p14="http://schemas.microsoft.com/office/powerpoint/2010/main" val="12054016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76CA863-90ED-4BBC-9CED-FD5DEB9FDF13}"/>
              </a:ext>
            </a:extLst>
          </p:cNvPr>
          <p:cNvSpPr txBox="1"/>
          <p:nvPr/>
        </p:nvSpPr>
        <p:spPr>
          <a:xfrm>
            <a:off x="1790701" y="504826"/>
            <a:ext cx="7896225" cy="3508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กรุณาระบุว่า</a:t>
            </a:r>
            <a:r>
              <a:rPr lang="en-US" sz="12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2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งานนี้มี</a:t>
            </a:r>
            <a:r>
              <a:rPr lang="en-US" sz="12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Personal Data </a:t>
            </a:r>
            <a:r>
              <a:rPr lang="en-US" sz="12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หรือไม่</a:t>
            </a:r>
            <a:r>
              <a:rPr lang="en-US" sz="12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2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โดยแบ่งกลุ่มเป็น</a:t>
            </a:r>
            <a:r>
              <a:rPr lang="en-US" sz="12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Normal personal data </a:t>
            </a:r>
            <a:r>
              <a:rPr lang="en-US" sz="12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และ</a:t>
            </a:r>
            <a:r>
              <a:rPr lang="en-US" sz="12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Sensitive Data </a:t>
            </a:r>
            <a:endParaRPr lang="en-US"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889EE0E-5D96-4BF4-920B-092CA9AD5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700" y="112714"/>
            <a:ext cx="8229600" cy="352425"/>
          </a:xfrm>
        </p:spPr>
        <p:txBody>
          <a:bodyPr/>
          <a:lstStyle/>
          <a:p>
            <a:pPr algn="l"/>
            <a:r>
              <a:rPr lang="en-US" u="sng">
                <a:latin typeface="CordiaUPC"/>
                <a:ea typeface="Tahoma"/>
                <a:cs typeface="CordiaUPC"/>
              </a:rPr>
              <a:t>1</a:t>
            </a:r>
            <a:r>
              <a:rPr lang="en-US" b="1" u="sng">
                <a:latin typeface="CordiaUPC"/>
                <a:ea typeface="Tahoma"/>
                <a:cs typeface="CordiaUPC"/>
              </a:rPr>
              <a:t>.10 Personal Data (PDPA) Check List 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6E1AF32-3AAA-4D8F-9066-4552B23715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3460312"/>
              </p:ext>
            </p:extLst>
          </p:nvPr>
        </p:nvGraphicFramePr>
        <p:xfrm>
          <a:off x="6675120" y="1052897"/>
          <a:ext cx="5191761" cy="3173667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62721">
                  <a:extLst>
                    <a:ext uri="{9D8B030D-6E8A-4147-A177-3AD203B41FA5}">
                      <a16:colId xmlns:a16="http://schemas.microsoft.com/office/drawing/2014/main" val="2583847317"/>
                    </a:ext>
                  </a:extLst>
                </a:gridCol>
                <a:gridCol w="3984159">
                  <a:extLst>
                    <a:ext uri="{9D8B030D-6E8A-4147-A177-3AD203B41FA5}">
                      <a16:colId xmlns:a16="http://schemas.microsoft.com/office/drawing/2014/main" val="1837550001"/>
                    </a:ext>
                  </a:extLst>
                </a:gridCol>
                <a:gridCol w="944881">
                  <a:extLst>
                    <a:ext uri="{9D8B030D-6E8A-4147-A177-3AD203B41FA5}">
                      <a16:colId xmlns:a16="http://schemas.microsoft.com/office/drawing/2014/main" val="1403879786"/>
                    </a:ext>
                  </a:extLst>
                </a:gridCol>
              </a:tblGrid>
              <a:tr h="841992"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>
                          <a:solidFill>
                            <a:schemeClr val="lt1"/>
                          </a:solidFill>
                          <a:effectLst/>
                          <a:latin typeface="CordiaUPC"/>
                          <a:cs typeface="CordiaUPC"/>
                        </a:rPr>
                        <a:t>#</a:t>
                      </a:r>
                      <a:endParaRPr lang="en-US" sz="1400" b="1" kern="1200">
                        <a:solidFill>
                          <a:schemeClr val="lt1"/>
                        </a:solidFill>
                        <a:effectLst/>
                        <a:latin typeface="CordiaUPC"/>
                        <a:ea typeface="+mn-ea"/>
                        <a:cs typeface="CordiaUPC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>
                          <a:solidFill>
                            <a:schemeClr val="lt1"/>
                          </a:solidFill>
                          <a:effectLst/>
                          <a:latin typeface="CordiaUPC"/>
                          <a:cs typeface="CordiaUPC"/>
                        </a:rPr>
                        <a:t>Sensitive Data​​</a:t>
                      </a:r>
                      <a:br>
                        <a:rPr lang="en-US" sz="2400" b="1" kern="1200">
                          <a:solidFill>
                            <a:srgbClr val="FFFFFF"/>
                          </a:solidFill>
                          <a:effectLst/>
                          <a:latin typeface="CordiaUPC"/>
                          <a:cs typeface="CordiaUPC"/>
                        </a:rPr>
                      </a:br>
                      <a:r>
                        <a:rPr lang="en-US" sz="1400" b="1" kern="1200">
                          <a:solidFill>
                            <a:schemeClr val="lt1"/>
                          </a:solidFill>
                          <a:effectLst/>
                          <a:latin typeface="CordiaUPC"/>
                          <a:cs typeface="CordiaUPC"/>
                        </a:rPr>
                        <a:t>(</a:t>
                      </a:r>
                      <a:r>
                        <a:rPr lang="th-TH" sz="1400" b="1" kern="1200">
                          <a:solidFill>
                            <a:schemeClr val="lt1"/>
                          </a:solidFill>
                          <a:effectLst/>
                          <a:latin typeface="CordiaUPC"/>
                          <a:cs typeface="CordiaUPC"/>
                        </a:rPr>
                        <a:t>หากมี </a:t>
                      </a:r>
                      <a:r>
                        <a:rPr lang="en-US" sz="1400" b="1" kern="1200">
                          <a:solidFill>
                            <a:schemeClr val="lt1"/>
                          </a:solidFill>
                          <a:effectLst/>
                          <a:latin typeface="CordiaUPC"/>
                          <a:cs typeface="CordiaUPC"/>
                        </a:rPr>
                        <a:t>Sensitive Data </a:t>
                      </a:r>
                      <a:r>
                        <a:rPr lang="th-TH" sz="1400" b="1" kern="1200">
                          <a:solidFill>
                            <a:schemeClr val="lt1"/>
                          </a:solidFill>
                          <a:effectLst/>
                          <a:latin typeface="CordiaUPC"/>
                          <a:cs typeface="CordiaUPC"/>
                        </a:rPr>
                        <a:t>จะ </a:t>
                      </a:r>
                      <a:r>
                        <a:rPr lang="en-US" sz="1400" b="1" kern="1200">
                          <a:solidFill>
                            <a:schemeClr val="lt1"/>
                          </a:solidFill>
                          <a:effectLst/>
                          <a:latin typeface="CordiaUPC"/>
                          <a:cs typeface="CordiaUPC"/>
                        </a:rPr>
                        <a:t>Review </a:t>
                      </a:r>
                      <a:r>
                        <a:rPr lang="th-TH" sz="1400" b="1" kern="1200">
                          <a:solidFill>
                            <a:schemeClr val="lt1"/>
                          </a:solidFill>
                          <a:effectLst/>
                          <a:latin typeface="CordiaUPC"/>
                          <a:cs typeface="CordiaUPC"/>
                        </a:rPr>
                        <a:t>ความจำเป็นในการเก็บ </a:t>
                      </a:r>
                      <a:endParaRPr lang="en-US" sz="1400" b="1" kern="1200">
                        <a:solidFill>
                          <a:schemeClr val="lt1"/>
                        </a:solidFill>
                        <a:effectLst/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  <a:p>
                      <a:pPr algn="ctr"/>
                      <a:r>
                        <a:rPr lang="th-TH" sz="1400" b="1" kern="1200">
                          <a:solidFill>
                            <a:schemeClr val="lt1"/>
                          </a:solidFill>
                          <a:effectLst/>
                          <a:latin typeface="CordiaUPC"/>
                          <a:cs typeface="CordiaUPC"/>
                        </a:rPr>
                        <a:t>หากจำเป็น จะมี</a:t>
                      </a:r>
                      <a:r>
                        <a:rPr lang="th-TH" sz="1400" b="1" kern="1200" err="1">
                          <a:solidFill>
                            <a:schemeClr val="lt1"/>
                          </a:solidFill>
                          <a:effectLst/>
                          <a:latin typeface="CordiaUPC"/>
                          <a:cs typeface="CordiaUPC"/>
                        </a:rPr>
                        <a:t>การทำ</a:t>
                      </a:r>
                      <a:r>
                        <a:rPr lang="th-TH" sz="1400" b="1" kern="1200">
                          <a:solidFill>
                            <a:schemeClr val="lt1"/>
                          </a:solidFill>
                          <a:effectLst/>
                          <a:latin typeface="CordiaUPC"/>
                          <a:cs typeface="CordiaUPC"/>
                        </a:rPr>
                        <a:t> </a:t>
                      </a:r>
                      <a:r>
                        <a:rPr lang="en-US" sz="1400" b="1" kern="1200">
                          <a:solidFill>
                            <a:schemeClr val="lt1"/>
                          </a:solidFill>
                          <a:effectLst/>
                          <a:latin typeface="CordiaUPC"/>
                          <a:cs typeface="CordiaUPC"/>
                        </a:rPr>
                        <a:t>Consent) </a:t>
                      </a:r>
                      <a:endParaRPr lang="en-US" sz="1400" b="1" kern="1200">
                        <a:solidFill>
                          <a:schemeClr val="lt1"/>
                        </a:solidFill>
                        <a:effectLst/>
                        <a:latin typeface="CordiaUPC" panose="020B0304020202020204" pitchFamily="34" charset="-34"/>
                        <a:ea typeface="+mn-ea"/>
                        <a:cs typeface="CordiaUPC" panose="020B0304020202020204" pitchFamily="34" charset="-3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>
                          <a:solidFill>
                            <a:schemeClr val="lt1"/>
                          </a:solidFill>
                          <a:effectLst/>
                          <a:latin typeface="CordiaUPC"/>
                          <a:cs typeface="CordiaUPC"/>
                        </a:rPr>
                        <a:t>Yes / No​</a:t>
                      </a:r>
                      <a:endParaRPr lang="en-US" sz="2400" b="1" kern="1200">
                        <a:solidFill>
                          <a:schemeClr val="lt1"/>
                        </a:solidFill>
                        <a:effectLst/>
                        <a:latin typeface="CordiaUPC"/>
                        <a:ea typeface="+mn-ea"/>
                        <a:cs typeface="CordiaUPC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82937110"/>
                  </a:ext>
                </a:extLst>
              </a:tr>
              <a:tr h="259075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CordiaUPC"/>
                          <a:cs typeface="CordiaUPC"/>
                        </a:rPr>
                        <a:t>1</a:t>
                      </a:r>
                      <a:endParaRPr lang="th-TH" sz="1600">
                        <a:effectLst/>
                        <a:latin typeface="CordiaUPC"/>
                        <a:cs typeface="CordiaUPC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th-TH" sz="1600">
                          <a:effectLst/>
                          <a:latin typeface="CordiaUPC"/>
                          <a:cs typeface="CordiaUPC"/>
                        </a:rPr>
                        <a:t>เชื้อชาติ เผ่าพันธุ์​​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CordiaUPC"/>
                          <a:cs typeface="CordiaUPC"/>
                        </a:rPr>
                        <a:t>​no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15966998"/>
                  </a:ext>
                </a:extLst>
              </a:tr>
              <a:tr h="259075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CordiaUPC"/>
                          <a:cs typeface="CordiaUPC"/>
                        </a:rPr>
                        <a:t>2</a:t>
                      </a:r>
                      <a:endParaRPr lang="th-TH" sz="1600">
                        <a:effectLst/>
                        <a:latin typeface="CordiaUPC"/>
                        <a:cs typeface="CordiaUPC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th-TH" sz="1600">
                          <a:effectLst/>
                          <a:latin typeface="CordiaUPC"/>
                          <a:cs typeface="CordiaUPC"/>
                        </a:rPr>
                        <a:t>ความเชื่อในลัทธิ ศาสนา หรือปรัชญา​​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CordiaUPC"/>
                          <a:cs typeface="CordiaUPC"/>
                        </a:rPr>
                        <a:t>​no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8364012"/>
                  </a:ext>
                </a:extLst>
              </a:tr>
              <a:tr h="259075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CordiaUPC"/>
                          <a:cs typeface="CordiaUPC"/>
                        </a:rPr>
                        <a:t>3</a:t>
                      </a:r>
                      <a:endParaRPr lang="th-TH" sz="1600">
                        <a:effectLst/>
                        <a:latin typeface="CordiaUPC"/>
                        <a:cs typeface="CordiaUPC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th-TH" sz="1600">
                          <a:effectLst/>
                          <a:latin typeface="CordiaUPC"/>
                          <a:cs typeface="CordiaUPC"/>
                        </a:rPr>
                        <a:t>ประวัติอาชญากรรม​​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CordiaUPC"/>
                          <a:cs typeface="CordiaUPC"/>
                        </a:rPr>
                        <a:t>​no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3943291"/>
                  </a:ext>
                </a:extLst>
              </a:tr>
              <a:tr h="259075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CordiaUPC"/>
                          <a:cs typeface="CordiaUPC"/>
                        </a:rPr>
                        <a:t>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th-TH" sz="1600">
                          <a:effectLst/>
                          <a:latin typeface="CordiaUPC"/>
                          <a:cs typeface="CordiaUPC"/>
                        </a:rPr>
                        <a:t>พฤติกรรมทางเพศ​ ​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CordiaUPC"/>
                          <a:cs typeface="CordiaUPC"/>
                        </a:rPr>
                        <a:t>​no</a:t>
                      </a:r>
                      <a:endParaRPr lang="en-US" sz="4800">
                        <a:latin typeface="CordiaUPC"/>
                        <a:cs typeface="CordiaUPC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20311656"/>
                  </a:ext>
                </a:extLst>
              </a:tr>
              <a:tr h="259075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CordiaUPC"/>
                          <a:cs typeface="CordiaUPC"/>
                        </a:rPr>
                        <a:t>5</a:t>
                      </a:r>
                      <a:endParaRPr lang="th-TH" sz="1600">
                        <a:effectLst/>
                        <a:latin typeface="CordiaUPC"/>
                        <a:cs typeface="CordiaUPC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th-TH" sz="1600">
                          <a:effectLst/>
                          <a:latin typeface="CordiaUPC"/>
                          <a:cs typeface="CordiaUPC"/>
                        </a:rPr>
                        <a:t>ข้อมูลสหภาพแรงงาน​ เช่น ข้อมูลการเป็นสมาชิกสหภาพ​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CordiaUPC"/>
                          <a:cs typeface="CordiaUPC"/>
                        </a:rPr>
                        <a:t>​no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63392114"/>
                  </a:ext>
                </a:extLst>
              </a:tr>
              <a:tr h="259075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CordiaUPC"/>
                          <a:cs typeface="CordiaUPC"/>
                        </a:rPr>
                        <a:t>6</a:t>
                      </a:r>
                      <a:endParaRPr lang="th-TH" sz="1600">
                        <a:effectLst/>
                        <a:latin typeface="CordiaUPC"/>
                        <a:cs typeface="CordiaUPC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th-TH" sz="1600">
                          <a:effectLst/>
                          <a:latin typeface="CordiaUPC"/>
                          <a:cs typeface="CordiaUPC"/>
                        </a:rPr>
                        <a:t>ข้อมูลสุขภาพ ความพิการ​​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CordiaUPC"/>
                          <a:cs typeface="CordiaUPC"/>
                        </a:rPr>
                        <a:t>​no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34878063"/>
                  </a:ext>
                </a:extLst>
              </a:tr>
              <a:tr h="259075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CordiaUPC"/>
                          <a:cs typeface="CordiaUPC"/>
                        </a:rPr>
                        <a:t>7</a:t>
                      </a:r>
                      <a:endParaRPr lang="th-TH" sz="1600">
                        <a:effectLst/>
                        <a:latin typeface="CordiaUPC"/>
                        <a:cs typeface="CordiaUPC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th-TH" sz="1600">
                          <a:effectLst/>
                          <a:latin typeface="CordiaUPC"/>
                          <a:cs typeface="CordiaUPC"/>
                        </a:rPr>
                        <a:t>ความคิดเห็นทางการเมือง​​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CordiaUPC"/>
                          <a:cs typeface="CordiaUPC"/>
                        </a:rPr>
                        <a:t>​no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18801139"/>
                  </a:ext>
                </a:extLst>
              </a:tr>
              <a:tr h="259075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CordiaUPC"/>
                          <a:cs typeface="CordiaUPC"/>
                        </a:rPr>
                        <a:t>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th-TH" sz="1600">
                          <a:effectLst/>
                          <a:latin typeface="CordiaUPC"/>
                          <a:cs typeface="CordiaUPC"/>
                        </a:rPr>
                        <a:t>ข้อมูลพันธุกรรม​ เช่น ข้อมูล </a:t>
                      </a:r>
                      <a:r>
                        <a:rPr lang="en-US" sz="1600">
                          <a:effectLst/>
                          <a:latin typeface="CordiaUPC"/>
                          <a:cs typeface="CordiaUPC"/>
                        </a:rPr>
                        <a:t>DNA, </a:t>
                      </a:r>
                      <a:r>
                        <a:rPr lang="th-TH" sz="1600">
                          <a:effectLst/>
                          <a:latin typeface="CordiaUPC"/>
                          <a:cs typeface="CordiaUPC"/>
                        </a:rPr>
                        <a:t>ยีนส์ ​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CordiaUPC"/>
                          <a:cs typeface="CordiaUPC"/>
                        </a:rPr>
                        <a:t>​no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18361643"/>
                  </a:ext>
                </a:extLst>
              </a:tr>
              <a:tr h="259075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CordiaUPC"/>
                          <a:cs typeface="CordiaUPC"/>
                        </a:rPr>
                        <a:t>9</a:t>
                      </a:r>
                      <a:endParaRPr lang="th-TH" sz="1600">
                        <a:effectLst/>
                        <a:latin typeface="CordiaUPC"/>
                        <a:cs typeface="CordiaUPC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th-TH" sz="1600">
                          <a:effectLst/>
                          <a:latin typeface="CordiaUPC"/>
                          <a:cs typeface="CordiaUPC"/>
                        </a:rPr>
                        <a:t>ข้อมูลชีวภาพ เช่น ลายนิ้วมือ, รูปใบหน้า, ข้อมูล</a:t>
                      </a:r>
                      <a:r>
                        <a:rPr lang="en-US" sz="1600">
                          <a:effectLst/>
                          <a:latin typeface="CordiaUPC"/>
                          <a:cs typeface="CordiaUPC"/>
                        </a:rPr>
                        <a:t>scan </a:t>
                      </a:r>
                      <a:r>
                        <a:rPr lang="th-TH" sz="1600">
                          <a:effectLst/>
                          <a:latin typeface="CordiaUPC"/>
                          <a:cs typeface="CordiaUPC"/>
                        </a:rPr>
                        <a:t>ม่านตา​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CordiaUPC"/>
                          <a:cs typeface="CordiaUPC"/>
                        </a:rPr>
                        <a:t>​no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4751634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BE38E46-3D1C-4982-BD21-3770C0C94E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3219887"/>
              </p:ext>
            </p:extLst>
          </p:nvPr>
        </p:nvGraphicFramePr>
        <p:xfrm>
          <a:off x="406401" y="1052897"/>
          <a:ext cx="6085839" cy="463546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97552">
                  <a:extLst>
                    <a:ext uri="{9D8B030D-6E8A-4147-A177-3AD203B41FA5}">
                      <a16:colId xmlns:a16="http://schemas.microsoft.com/office/drawing/2014/main" val="1743387186"/>
                    </a:ext>
                  </a:extLst>
                </a:gridCol>
                <a:gridCol w="4736312">
                  <a:extLst>
                    <a:ext uri="{9D8B030D-6E8A-4147-A177-3AD203B41FA5}">
                      <a16:colId xmlns:a16="http://schemas.microsoft.com/office/drawing/2014/main" val="2009779853"/>
                    </a:ext>
                  </a:extLst>
                </a:gridCol>
                <a:gridCol w="951975">
                  <a:extLst>
                    <a:ext uri="{9D8B030D-6E8A-4147-A177-3AD203B41FA5}">
                      <a16:colId xmlns:a16="http://schemas.microsoft.com/office/drawing/2014/main" val="3372730708"/>
                    </a:ext>
                  </a:extLst>
                </a:gridCol>
              </a:tblGrid>
              <a:tr h="847023"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>
                          <a:solidFill>
                            <a:srgbClr val="FFFFFF"/>
                          </a:solidFill>
                          <a:effectLst/>
                          <a:latin typeface="CordiaUPC"/>
                          <a:cs typeface="CordiaUPC"/>
                        </a:rPr>
                        <a:t>#</a:t>
                      </a:r>
                      <a:endParaRPr lang="th-TH" sz="1400" b="1" kern="1200">
                        <a:solidFill>
                          <a:srgbClr val="FFFFFF"/>
                        </a:solidFill>
                        <a:effectLst/>
                        <a:latin typeface="CordiaUPC"/>
                        <a:ea typeface="+mn-ea"/>
                        <a:cs typeface="CordiaUPC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>
                          <a:solidFill>
                            <a:schemeClr val="lt1"/>
                          </a:solidFill>
                          <a:effectLst/>
                          <a:latin typeface="CordiaUPC"/>
                          <a:cs typeface="CordiaUPC"/>
                        </a:rPr>
                        <a:t>Normal Personal data</a:t>
                      </a:r>
                      <a:br>
                        <a:rPr lang="en-US" sz="2400" b="1" kern="1200">
                          <a:solidFill>
                            <a:srgbClr val="FFFFFF"/>
                          </a:solidFill>
                          <a:effectLst/>
                          <a:latin typeface="CordiaUPC"/>
                          <a:cs typeface="CordiaUPC"/>
                        </a:rPr>
                      </a:br>
                      <a:r>
                        <a:rPr lang="en-US" sz="1400" b="1" kern="1200">
                          <a:solidFill>
                            <a:schemeClr val="lt1"/>
                          </a:solidFill>
                          <a:effectLst/>
                          <a:latin typeface="CordiaUPC"/>
                          <a:cs typeface="CordiaUPC"/>
                        </a:rPr>
                        <a:t>(</a:t>
                      </a:r>
                      <a:r>
                        <a:rPr lang="th-TH" sz="1400" b="1" kern="1200">
                          <a:solidFill>
                            <a:schemeClr val="lt1"/>
                          </a:solidFill>
                          <a:effectLst/>
                          <a:latin typeface="CordiaUPC"/>
                          <a:cs typeface="CordiaUPC"/>
                        </a:rPr>
                        <a:t>พิจารณาทำ </a:t>
                      </a:r>
                      <a:r>
                        <a:rPr lang="en-US" sz="1400" b="1" kern="1200">
                          <a:solidFill>
                            <a:schemeClr val="lt1"/>
                          </a:solidFill>
                          <a:effectLst/>
                          <a:latin typeface="CordiaUPC"/>
                          <a:cs typeface="CordiaUPC"/>
                        </a:rPr>
                        <a:t>Consent </a:t>
                      </a:r>
                      <a:r>
                        <a:rPr lang="th-TH" sz="1400" b="1" kern="1200">
                          <a:solidFill>
                            <a:schemeClr val="lt1"/>
                          </a:solidFill>
                          <a:effectLst/>
                          <a:latin typeface="CordiaUPC"/>
                          <a:cs typeface="CordiaUPC"/>
                        </a:rPr>
                        <a:t>เฉพาะเรื่อง จากการนำข้อมูลไปใช้)</a:t>
                      </a:r>
                      <a:endParaRPr lang="th-TH" sz="1400" b="1" kern="1200">
                        <a:solidFill>
                          <a:srgbClr val="FFFFFF"/>
                        </a:solidFill>
                        <a:effectLst/>
                        <a:latin typeface="CordiaUPC"/>
                        <a:ea typeface="+mn-ea"/>
                        <a:cs typeface="CordiaUPC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>
                          <a:solidFill>
                            <a:schemeClr val="lt1"/>
                          </a:solidFill>
                          <a:effectLst/>
                          <a:latin typeface="CordiaUPC"/>
                          <a:cs typeface="CordiaUPC"/>
                        </a:rPr>
                        <a:t>Yes / No​</a:t>
                      </a:r>
                      <a:endParaRPr lang="en-US" sz="2400" b="1" kern="1200">
                        <a:solidFill>
                          <a:schemeClr val="lt1"/>
                        </a:solidFill>
                        <a:effectLst/>
                        <a:latin typeface="CordiaUPC"/>
                        <a:ea typeface="+mn-ea"/>
                        <a:cs typeface="CordiaUPC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24613657"/>
                  </a:ext>
                </a:extLst>
              </a:tr>
              <a:tr h="288101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CordiaUPC"/>
                          <a:cs typeface="CordiaUPC"/>
                        </a:rPr>
                        <a:t>1</a:t>
                      </a:r>
                      <a:endParaRPr lang="th-TH" sz="1600">
                        <a:effectLst/>
                        <a:latin typeface="CordiaUPC"/>
                        <a:cs typeface="CordiaUPC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th-TH" sz="1600">
                          <a:effectLst/>
                          <a:latin typeface="CordiaUPC"/>
                          <a:cs typeface="CordiaUPC"/>
                        </a:rPr>
                        <a:t>ชื่อ-นามสกุล​, ชื่อเล่น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CordiaUPC"/>
                          <a:cs typeface="CordiaUPC"/>
                        </a:rPr>
                        <a:t>no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39525984"/>
                  </a:ext>
                </a:extLst>
              </a:tr>
              <a:tr h="576201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CordiaUPC"/>
                          <a:cs typeface="CordiaUPC"/>
                        </a:rPr>
                        <a:t>2</a:t>
                      </a:r>
                      <a:endParaRPr lang="th-TH" sz="1600">
                        <a:effectLst/>
                        <a:latin typeface="CordiaUPC"/>
                        <a:cs typeface="CordiaUPC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th-TH" sz="1600">
                          <a:effectLst/>
                          <a:latin typeface="CordiaUPC"/>
                          <a:cs typeface="CordiaUPC"/>
                        </a:rPr>
                        <a:t>เลขบัตรประชาชน, เลขหนังสือเดินทาง, เลขบัตรประกันสังคม, เลขใบอนุญาตขับขี่, </a:t>
                      </a:r>
                      <a:br>
                        <a:rPr lang="en-US" sz="1600">
                          <a:effectLst/>
                          <a:latin typeface="CordiaUPC"/>
                          <a:cs typeface="CordiaUPC"/>
                        </a:rPr>
                      </a:br>
                      <a:r>
                        <a:rPr lang="th-TH" sz="1600">
                          <a:effectLst/>
                          <a:latin typeface="CordiaUPC"/>
                          <a:cs typeface="CordiaUPC"/>
                        </a:rPr>
                        <a:t>เลขประจำตัวผู้เสียภาษี, เลขบัญชีธนาคาร, เลขบัตรเครดิต​​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CordiaUPC"/>
                          <a:cs typeface="CordiaUPC"/>
                        </a:rPr>
                        <a:t>no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3286813"/>
                  </a:ext>
                </a:extLst>
              </a:tr>
              <a:tr h="288101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CordiaUPC"/>
                          <a:cs typeface="CordiaUPC"/>
                        </a:rPr>
                        <a:t>3</a:t>
                      </a:r>
                      <a:endParaRPr lang="th-TH" sz="1600">
                        <a:effectLst/>
                        <a:latin typeface="CordiaUPC"/>
                        <a:cs typeface="CordiaUPC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th-TH" sz="1600">
                          <a:effectLst/>
                          <a:latin typeface="CordiaUPC"/>
                          <a:cs typeface="CordiaUPC"/>
                        </a:rPr>
                        <a:t>ที่อยู่, อีเมล์, เลขโทรศัพท์​​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diaUPC"/>
                          <a:ea typeface="+mn-ea"/>
                          <a:cs typeface="CordiaUPC"/>
                        </a:rPr>
                        <a:t>no</a:t>
                      </a:r>
                      <a:endParaRPr lang="en-US" sz="1600">
                        <a:effectLst/>
                        <a:latin typeface="CordiaUPC"/>
                        <a:cs typeface="CordiaUPC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96945645"/>
                  </a:ext>
                </a:extLst>
              </a:tr>
              <a:tr h="309669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CordiaUPC"/>
                          <a:cs typeface="CordiaUPC"/>
                        </a:rPr>
                        <a:t>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th-TH" sz="1600">
                          <a:effectLst/>
                          <a:latin typeface="CordiaUPC"/>
                          <a:cs typeface="CordiaUPC"/>
                        </a:rPr>
                        <a:t>ข้อมูลอุปกรณ์หรือเครื่องมือ เช่น </a:t>
                      </a:r>
                      <a:r>
                        <a:rPr lang="en-US" sz="1600">
                          <a:effectLst/>
                          <a:latin typeface="CordiaUPC"/>
                          <a:cs typeface="CordiaUPC"/>
                        </a:rPr>
                        <a:t>IP Address, MAC Address, Cookie ID​​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diaUPC"/>
                          <a:ea typeface="+mn-ea"/>
                          <a:cs typeface="CordiaUPC"/>
                        </a:rPr>
                        <a:t>no</a:t>
                      </a:r>
                      <a:endParaRPr lang="en-US" sz="1600">
                        <a:effectLst/>
                        <a:latin typeface="CordiaUPC"/>
                        <a:cs typeface="CordiaUPC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09863995"/>
                  </a:ext>
                </a:extLst>
              </a:tr>
              <a:tr h="864301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CordiaUPC"/>
                          <a:cs typeface="CordiaUPC"/>
                        </a:rPr>
                        <a:t>5</a:t>
                      </a:r>
                      <a:endParaRPr lang="th-TH" sz="1600">
                        <a:effectLst/>
                        <a:latin typeface="CordiaUPC"/>
                        <a:cs typeface="CordiaUPC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th-TH" sz="1600">
                          <a:effectLst/>
                          <a:latin typeface="CordiaUPC"/>
                          <a:cs typeface="CordiaUPC"/>
                        </a:rPr>
                        <a:t>ข้อมูลที่สามารถเชื่อมโยงไปข้อมูลส่วนบุคคลได้ เช่น วันเกิด สถานที่เกิด น้ำหนัก ส่วนสูง ข้อมูลตำแหน่งที่อยู่ ข้อมูลการแพทย์ ข้อมูลการศึกษา ข้อมูลการเงิน ข้อมูลการจ้างาน​​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diaUPC"/>
                          <a:ea typeface="+mn-ea"/>
                          <a:cs typeface="CordiaUPC"/>
                        </a:rPr>
                        <a:t>no</a:t>
                      </a:r>
                      <a:endParaRPr lang="en-US" sz="1600">
                        <a:effectLst/>
                        <a:latin typeface="CordiaUPC"/>
                        <a:cs typeface="CordiaUPC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04794822"/>
                  </a:ext>
                </a:extLst>
              </a:tr>
              <a:tr h="288101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CordiaUPC"/>
                          <a:cs typeface="CordiaUPC"/>
                        </a:rPr>
                        <a:t>6</a:t>
                      </a:r>
                      <a:endParaRPr lang="th-TH" sz="1600">
                        <a:effectLst/>
                        <a:latin typeface="CordiaUPC"/>
                        <a:cs typeface="CordiaUPC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th-TH" sz="1600">
                          <a:effectLst/>
                          <a:latin typeface="CordiaUPC"/>
                          <a:cs typeface="CordiaUPC"/>
                        </a:rPr>
                        <a:t>ข้อมูลหมายเลขอ้างอิงที่เก็บไว้ในไมโครฟิล์ม​​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diaUPC"/>
                          <a:ea typeface="+mn-ea"/>
                          <a:cs typeface="CordiaUPC"/>
                        </a:rPr>
                        <a:t>no</a:t>
                      </a:r>
                      <a:endParaRPr lang="en-US" sz="1600">
                        <a:effectLst/>
                        <a:latin typeface="CordiaUPC"/>
                        <a:cs typeface="CordiaUPC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38191869"/>
                  </a:ext>
                </a:extLst>
              </a:tr>
              <a:tr h="309669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CordiaUPC"/>
                          <a:cs typeface="CordiaUPC"/>
                        </a:rPr>
                        <a:t>7</a:t>
                      </a:r>
                      <a:endParaRPr lang="th-TH" sz="1600">
                        <a:effectLst/>
                        <a:latin typeface="CordiaUPC"/>
                        <a:cs typeface="CordiaUPC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th-TH" sz="1600">
                          <a:effectLst/>
                          <a:latin typeface="CordiaUPC"/>
                          <a:cs typeface="CordiaUPC"/>
                        </a:rPr>
                        <a:t>ข้อมูลประเมินการทำงานหรือความเห็นของนายจ้างต่อการทำงานของลูกจ้าง​​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diaUPC"/>
                          <a:ea typeface="+mn-ea"/>
                          <a:cs typeface="CordiaUPC"/>
                        </a:rPr>
                        <a:t>no</a:t>
                      </a:r>
                      <a:endParaRPr lang="en-US" sz="1600">
                        <a:effectLst/>
                        <a:latin typeface="CordiaUPC"/>
                        <a:cs typeface="CordiaUPC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56737474"/>
                  </a:ext>
                </a:extLst>
              </a:tr>
              <a:tr h="576201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CordiaUPC"/>
                          <a:cs typeface="CordiaUPC"/>
                        </a:rPr>
                        <a:t>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th-TH" sz="1600">
                          <a:effectLst/>
                          <a:latin typeface="CordiaUPC"/>
                          <a:cs typeface="CordiaUPC"/>
                        </a:rPr>
                        <a:t>ข้อมูลบันทึกต่าง ๆ ที่ใช้ติดตามตรวจสอบกิจกรรมต่าง ๆ ของบุคคล เช่น </a:t>
                      </a:r>
                      <a:r>
                        <a:rPr lang="en-US" sz="1600">
                          <a:effectLst/>
                          <a:latin typeface="CordiaUPC"/>
                          <a:cs typeface="CordiaUPC"/>
                        </a:rPr>
                        <a:t>Log file​​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diaUPC"/>
                          <a:ea typeface="+mn-ea"/>
                          <a:cs typeface="CordiaUPC"/>
                        </a:rPr>
                        <a:t>no</a:t>
                      </a:r>
                      <a:endParaRPr lang="en-US" sz="1600">
                        <a:effectLst/>
                        <a:latin typeface="CordiaUPC"/>
                        <a:cs typeface="CordiaUPC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88618185"/>
                  </a:ext>
                </a:extLst>
              </a:tr>
              <a:tr h="288101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CordiaUPC"/>
                          <a:cs typeface="CordiaUPC"/>
                        </a:rPr>
                        <a:t>9</a:t>
                      </a:r>
                      <a:endParaRPr lang="th-TH" sz="1600">
                        <a:effectLst/>
                        <a:latin typeface="CordiaUPC"/>
                        <a:cs typeface="CordiaUPC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th-TH" sz="1600">
                          <a:effectLst/>
                          <a:latin typeface="CordiaUPC"/>
                          <a:cs typeface="CordiaUPC"/>
                        </a:rPr>
                        <a:t>ข้อมูลที่สามารถใช้ในการค้นหาข้อมูลส่วนบุคคลอื่นในอินเตอร์เน็ต ​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diaUPC"/>
                          <a:ea typeface="+mn-ea"/>
                          <a:cs typeface="CordiaUPC"/>
                        </a:rPr>
                        <a:t>no</a:t>
                      </a:r>
                      <a:endParaRPr lang="en-US" sz="1600">
                        <a:effectLst/>
                        <a:latin typeface="CordiaUPC"/>
                        <a:cs typeface="CordiaUPC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77517080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22829746-7A51-4542-92A3-5FBDA7515A80}"/>
              </a:ext>
            </a:extLst>
          </p:cNvPr>
          <p:cNvSpPr txBox="1"/>
          <p:nvPr/>
        </p:nvSpPr>
        <p:spPr>
          <a:xfrm>
            <a:off x="406401" y="5805103"/>
            <a:ext cx="9588500" cy="3508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กรณีมี</a:t>
            </a:r>
            <a:r>
              <a:rPr lang="en-US" sz="1200" b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Personal Data </a:t>
            </a:r>
            <a:r>
              <a:rPr lang="en-US" sz="1200" b="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จะต้องเพิ่มเติมรายละเอียดตาม</a:t>
            </a:r>
            <a:r>
              <a:rPr lang="en-US" sz="1200" b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Template </a:t>
            </a:r>
            <a:r>
              <a:rPr lang="en-US" sz="1200" b="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ของ</a:t>
            </a:r>
            <a:r>
              <a:rPr lang="en-US" sz="1200" b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PDPA Requirement </a:t>
            </a:r>
            <a:r>
              <a:rPr lang="en-US" sz="1200" b="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ตาม</a:t>
            </a:r>
            <a:r>
              <a:rPr lang="en-US" sz="1200" b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200" b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เอกสารแนบ</a:t>
            </a:r>
            <a:endParaRPr lang="en-US" sz="1200" b="0">
              <a:solidFill>
                <a:schemeClr val="bg1">
                  <a:lumMod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8BEABB-EEF3-4986-903A-232CA2C01E79}"/>
              </a:ext>
            </a:extLst>
          </p:cNvPr>
          <p:cNvSpPr/>
          <p:nvPr/>
        </p:nvSpPr>
        <p:spPr>
          <a:xfrm>
            <a:off x="6675120" y="4407627"/>
            <a:ext cx="5191761" cy="584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th-TH">
                <a:solidFill>
                  <a:srgbClr val="C00000"/>
                </a:solidFill>
                <a:latin typeface="CordiaUPC" panose="020B0304020202020204" pitchFamily="34" charset="-34"/>
                <a:cs typeface="CordiaUPC" panose="020B0304020202020204" pitchFamily="34" charset="-34"/>
              </a:rPr>
              <a:t>หมายเหตุ</a:t>
            </a:r>
            <a:r>
              <a:rPr lang="en-US">
                <a:solidFill>
                  <a:srgbClr val="C00000"/>
                </a:solidFill>
                <a:latin typeface="CordiaUPC" panose="020B0304020202020204" pitchFamily="34" charset="-34"/>
                <a:cs typeface="CordiaUPC" panose="020B0304020202020204" pitchFamily="34" charset="-34"/>
              </a:rPr>
              <a:t>: </a:t>
            </a:r>
            <a:endParaRPr lang="th-TH">
              <a:solidFill>
                <a:srgbClr val="C00000"/>
              </a:solidFill>
              <a:latin typeface="CordiaUPC" panose="020B0304020202020204" pitchFamily="34" charset="-34"/>
              <a:cs typeface="CordiaUPC" panose="020B0304020202020204" pitchFamily="34" charset="-34"/>
            </a:endParaRPr>
          </a:p>
          <a:p>
            <a:endParaRPr lang="th-TH" b="0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0147606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B907996-4F6B-47B0-BA98-4844791050A1}"/>
              </a:ext>
            </a:extLst>
          </p:cNvPr>
          <p:cNvSpPr txBox="1">
            <a:spLocks/>
          </p:cNvSpPr>
          <p:nvPr/>
        </p:nvSpPr>
        <p:spPr bwMode="auto">
          <a:xfrm>
            <a:off x="621254" y="325158"/>
            <a:ext cx="7770392" cy="1029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1.11 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Business Requirement Summary</a:t>
            </a:r>
            <a:r>
              <a:rPr lang="en-US" altLang="en-US">
                <a:latin typeface="CordiaUPC"/>
                <a:ea typeface="Tahoma"/>
                <a:cs typeface="CordiaUPC"/>
              </a:rPr>
              <a:t> </a:t>
            </a:r>
            <a:endParaRPr lang="th-TH" altLang="en-US" b="1" u="sng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F2D4D319-F811-FE48-0C23-D53E29ABE106}"/>
              </a:ext>
            </a:extLst>
          </p:cNvPr>
          <p:cNvSpPr txBox="1"/>
          <p:nvPr/>
        </p:nvSpPr>
        <p:spPr>
          <a:xfrm>
            <a:off x="618361" y="1171957"/>
            <a:ext cx="11287927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14350" indent="-514350">
              <a:buAutoNum type="arabicPeriod"/>
            </a:pPr>
            <a:r>
              <a:rPr lang="th-TH" sz="2400">
                <a:latin typeface="CordiaUPC"/>
                <a:cs typeface="CordiaUPC"/>
              </a:rPr>
              <a:t>ยกเลิกหน้าจอกระบวนการ Approve ตรวจสอบยอดชดเชยรายได้ฝั่งทีมบัญชีในระบบ </a:t>
            </a:r>
            <a:r>
              <a:rPr lang="th-TH" sz="2400">
                <a:solidFill>
                  <a:srgbClr val="000000"/>
                </a:solidFill>
                <a:latin typeface="CordiaUPC"/>
                <a:cs typeface="CordiaUPC"/>
              </a:rPr>
              <a:t>SBP Mall และใน K2 </a:t>
            </a:r>
            <a:r>
              <a:rPr lang="th-TH" sz="2400">
                <a:solidFill>
                  <a:srgbClr val="FF0000"/>
                </a:solidFill>
                <a:latin typeface="CordiaUPC"/>
                <a:cs typeface="CordiaUPC"/>
              </a:rPr>
              <a:t>(อ้างอิง Pg. 19-21)</a:t>
            </a:r>
            <a:endParaRPr lang="th-TH" sz="2400" b="0">
              <a:solidFill>
                <a:srgbClr val="FF0000"/>
              </a:solidFill>
              <a:latin typeface="CordiaUPC"/>
              <a:cs typeface="CordiaUPC"/>
            </a:endParaRPr>
          </a:p>
          <a:p>
            <a:pPr marL="971550" lvl="1" indent="-514350">
              <a:buFont typeface="Courier New"/>
              <a:buChar char="o"/>
            </a:pPr>
            <a:r>
              <a:rPr lang="th-TH" sz="2400" b="0">
                <a:latin typeface="CordiaUPC"/>
                <a:cs typeface="CordiaUPC"/>
              </a:rPr>
              <a:t>เพื่อลดระยะเวลาในการทำงาน</a:t>
            </a:r>
          </a:p>
          <a:p>
            <a:pPr marL="514350" indent="-514350">
              <a:buAutoNum type="arabicPeriod"/>
            </a:pPr>
            <a:r>
              <a:rPr lang="th-TH" sz="2400">
                <a:latin typeface="CordiaUPC"/>
                <a:cs typeface="CordiaUPC"/>
              </a:rPr>
              <a:t>ออกแบบหรือสร้าง </a:t>
            </a:r>
            <a:r>
              <a:rPr lang="en-US" sz="2400">
                <a:latin typeface="CordiaUPC"/>
                <a:cs typeface="Arial"/>
              </a:rPr>
              <a:t>Menu </a:t>
            </a:r>
            <a:r>
              <a:rPr lang="th-TH" sz="2400">
                <a:latin typeface="CordiaUPC"/>
                <a:cs typeface="CordiaUPC"/>
              </a:rPr>
              <a:t>ใหม่ในระบบ </a:t>
            </a:r>
            <a:r>
              <a:rPr lang="en-US" sz="2400">
                <a:latin typeface="CordiaUPC"/>
                <a:cs typeface="Arial"/>
              </a:rPr>
              <a:t>SBP Mall </a:t>
            </a:r>
            <a:r>
              <a:rPr lang="en-US" sz="2400">
                <a:solidFill>
                  <a:srgbClr val="FF0000"/>
                </a:solidFill>
                <a:latin typeface="CordiaUPC"/>
                <a:cs typeface="Arial"/>
              </a:rPr>
              <a:t>(อ้างอิง Pg. 22-24)</a:t>
            </a:r>
            <a:endParaRPr lang="en-US"/>
          </a:p>
          <a:p>
            <a:pPr marL="971550" lvl="1" indent="-514350">
              <a:buFont typeface="Courier New"/>
              <a:buChar char="o"/>
            </a:pPr>
            <a:r>
              <a:rPr lang="th-TH" sz="2400">
                <a:latin typeface="CordiaUPC"/>
                <a:cs typeface="CordiaUPC"/>
              </a:rPr>
              <a:t>ระบบ SBP</a:t>
            </a:r>
            <a:r>
              <a:rPr lang="th-TH" sz="2400" b="0">
                <a:latin typeface="CordiaUPC"/>
                <a:cs typeface="CordiaUPC"/>
              </a:rPr>
              <a:t> แสดงข้อมูลในรูปแบบตารางชดเชยรายได้ให้กับทีมบัญชี ซึ่งสามารถนำข้อมูลไปใช้งานต่อหรือเปรียบเทียบกับข้อมูลในระบบ </a:t>
            </a:r>
            <a:r>
              <a:rPr lang="th-TH" sz="2400">
                <a:latin typeface="CordiaUPC"/>
                <a:cs typeface="CordiaUPC"/>
              </a:rPr>
              <a:t>SAP</a:t>
            </a:r>
            <a:r>
              <a:rPr lang="th-TH" sz="2400" b="0">
                <a:latin typeface="CordiaUPC"/>
                <a:cs typeface="CordiaUPC"/>
              </a:rPr>
              <a:t> ได้</a:t>
            </a:r>
            <a:endParaRPr lang="en-US"/>
          </a:p>
          <a:p>
            <a:endParaRPr lang="th-TH"/>
          </a:p>
        </p:txBody>
      </p:sp>
      <p:pic>
        <p:nvPicPr>
          <p:cNvPr id="3" name="รูปภาพ 2" descr="รูปภาพประกอบด้วย ข้อความ, ภาพหน้าจอ, จำนวน, ตัวอักษร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5C4C62B9-75BC-A86B-8628-EA14EB01C0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124" y="3429732"/>
            <a:ext cx="7272704" cy="3421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2650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Content Placeholder 2"/>
          <p:cNvSpPr>
            <a:spLocks noGrp="1"/>
          </p:cNvSpPr>
          <p:nvPr>
            <p:ph idx="1"/>
          </p:nvPr>
        </p:nvSpPr>
        <p:spPr>
          <a:xfrm>
            <a:off x="510369" y="1193627"/>
            <a:ext cx="11685812" cy="3107191"/>
          </a:xfrm>
        </p:spPr>
        <p:txBody>
          <a:bodyPr/>
          <a:lstStyle/>
          <a:p>
            <a:r>
              <a:rPr lang="en-US" altLang="th-TH" sz="2800">
                <a:latin typeface="CordiaUPC"/>
                <a:ea typeface="Tahoma"/>
                <a:cs typeface="CordiaUPC"/>
              </a:rPr>
              <a:t>Daily Operation Report</a:t>
            </a:r>
            <a:endParaRPr lang="en-US" altLang="th-TH" sz="2800">
              <a:latin typeface="CordiaUPC" panose="020B0304020202020204" pitchFamily="34" charset="-34"/>
              <a:cs typeface="CordiaUPC" panose="020B0304020202020204" pitchFamily="34" charset="-34"/>
            </a:endParaRPr>
          </a:p>
          <a:p>
            <a:r>
              <a:rPr lang="en-US" sz="2800">
                <a:latin typeface="CordiaUPC"/>
                <a:ea typeface="Tahoma"/>
                <a:cs typeface="CordiaUPC"/>
              </a:rPr>
              <a:t>Analytic Report </a:t>
            </a:r>
            <a:r>
              <a:rPr lang="en-US" sz="2800">
                <a:solidFill>
                  <a:srgbClr val="FF0000"/>
                </a:solidFill>
                <a:latin typeface="CordiaUPC"/>
                <a:ea typeface="Tahoma"/>
                <a:cs typeface="CordiaUPC"/>
              </a:rPr>
              <a:t>( </a:t>
            </a:r>
            <a:r>
              <a:rPr lang="en-US" sz="2800" err="1">
                <a:solidFill>
                  <a:srgbClr val="FF0000"/>
                </a:solidFill>
                <a:latin typeface="CordiaUPC"/>
                <a:ea typeface="Tahoma"/>
                <a:cs typeface="CordiaUPC"/>
              </a:rPr>
              <a:t>เกี่ยวข้องกับ</a:t>
            </a:r>
            <a:r>
              <a:rPr lang="en-US" sz="2800">
                <a:solidFill>
                  <a:srgbClr val="FF0000"/>
                </a:solidFill>
                <a:latin typeface="CordiaUPC"/>
                <a:ea typeface="Tahoma"/>
                <a:cs typeface="CordiaUPC"/>
              </a:rPr>
              <a:t> Data warehouse , IAS Report </a:t>
            </a:r>
            <a:r>
              <a:rPr lang="en-US" sz="2800" b="1" u="sng" err="1">
                <a:solidFill>
                  <a:srgbClr val="FF0000"/>
                </a:solidFill>
                <a:latin typeface="CordiaUPC"/>
                <a:ea typeface="Tahoma"/>
                <a:cs typeface="CordiaUPC"/>
              </a:rPr>
              <a:t>เพิ่ม</a:t>
            </a:r>
            <a:r>
              <a:rPr lang="en-US" sz="2800">
                <a:solidFill>
                  <a:srgbClr val="FF0000"/>
                </a:solidFill>
                <a:latin typeface="CordiaUPC"/>
                <a:ea typeface="Tahoma"/>
                <a:cs typeface="CordiaUPC"/>
              </a:rPr>
              <a:t> </a:t>
            </a:r>
            <a:r>
              <a:rPr lang="en-US" sz="2800" err="1">
                <a:solidFill>
                  <a:srgbClr val="FF0000"/>
                </a:solidFill>
                <a:latin typeface="CordiaUPC"/>
                <a:ea typeface="Tahoma"/>
                <a:cs typeface="CordiaUPC"/>
              </a:rPr>
              <a:t>ทีม</a:t>
            </a:r>
            <a:r>
              <a:rPr lang="en-US" sz="2800">
                <a:solidFill>
                  <a:srgbClr val="FF0000"/>
                </a:solidFill>
                <a:latin typeface="CordiaUPC"/>
                <a:ea typeface="Tahoma"/>
                <a:cs typeface="CordiaUPC"/>
              </a:rPr>
              <a:t> MISA </a:t>
            </a:r>
            <a:r>
              <a:rPr lang="en-US" sz="2800" err="1">
                <a:solidFill>
                  <a:srgbClr val="FF0000"/>
                </a:solidFill>
                <a:latin typeface="CordiaUPC"/>
                <a:ea typeface="Tahoma"/>
                <a:cs typeface="CordiaUPC"/>
              </a:rPr>
              <a:t>เข้าเก็บ</a:t>
            </a:r>
            <a:r>
              <a:rPr lang="en-US" sz="2800">
                <a:solidFill>
                  <a:srgbClr val="FF0000"/>
                </a:solidFill>
                <a:latin typeface="CordiaUPC"/>
                <a:ea typeface="Tahoma"/>
                <a:cs typeface="CordiaUPC"/>
              </a:rPr>
              <a:t> Requirement </a:t>
            </a:r>
            <a:r>
              <a:rPr lang="en-US" sz="2800" err="1">
                <a:solidFill>
                  <a:srgbClr val="FF0000"/>
                </a:solidFill>
                <a:latin typeface="CordiaUPC"/>
                <a:ea typeface="Tahoma"/>
                <a:cs typeface="CordiaUPC"/>
              </a:rPr>
              <a:t>พร้อมกับ</a:t>
            </a:r>
            <a:r>
              <a:rPr lang="en-US" sz="2800">
                <a:solidFill>
                  <a:srgbClr val="FF0000"/>
                </a:solidFill>
                <a:latin typeface="CordiaUPC"/>
                <a:ea typeface="Tahoma"/>
                <a:cs typeface="CordiaUPC"/>
              </a:rPr>
              <a:t> BA)</a:t>
            </a:r>
            <a:endParaRPr lang="en-US" altLang="th-TH" sz="2800">
              <a:latin typeface="CordiaUPC"/>
              <a:ea typeface="Tahoma"/>
              <a:cs typeface="CordiaUPC"/>
            </a:endParaRPr>
          </a:p>
          <a:p>
            <a:r>
              <a:rPr lang="en-US" altLang="th-TH" sz="2800">
                <a:latin typeface="CordiaUPC"/>
                <a:ea typeface="Tahoma"/>
                <a:cs typeface="CordiaUPC"/>
              </a:rPr>
              <a:t>Reconcile Report</a:t>
            </a:r>
            <a:endParaRPr lang="en-US" altLang="th-TH" sz="2800">
              <a:latin typeface="CordiaUPC" panose="020B0304020202020204" pitchFamily="34" charset="-34"/>
              <a:cs typeface="CordiaUPC" panose="020B0304020202020204" pitchFamily="34" charset="-34"/>
            </a:endParaRPr>
          </a:p>
          <a:p>
            <a:r>
              <a:rPr lang="en-US" altLang="th-TH" sz="2800">
                <a:latin typeface="CordiaUPC"/>
                <a:ea typeface="Tahoma"/>
                <a:cs typeface="CordiaUPC"/>
              </a:rPr>
              <a:t>Archiving Data</a:t>
            </a:r>
          </a:p>
          <a:p>
            <a:r>
              <a:rPr lang="en-US" altLang="th-TH" sz="2800">
                <a:solidFill>
                  <a:schemeClr val="tx2"/>
                </a:solidFill>
                <a:latin typeface="CordiaUPC"/>
                <a:ea typeface="Tahoma"/>
                <a:cs typeface="CordiaUPC"/>
              </a:rPr>
              <a:t>Any Data for Monitor &amp; Tracking </a:t>
            </a:r>
            <a:endParaRPr lang="en-US" altLang="th-TH" sz="2800">
              <a:solidFill>
                <a:schemeClr val="tx2"/>
              </a:solidFill>
              <a:latin typeface="CordiaUPC" panose="020B0304020202020204" pitchFamily="34" charset="-34"/>
              <a:cs typeface="CordiaUPC" panose="020B0304020202020204" pitchFamily="34" charset="-34"/>
            </a:endParaRPr>
          </a:p>
          <a:p>
            <a:endParaRPr lang="en-US" altLang="th-TH" sz="2800">
              <a:latin typeface="CordiaUPC" panose="020B0304020202020204" pitchFamily="34" charset="-34"/>
              <a:cs typeface="CordiaUPC" panose="020B0304020202020204" pitchFamily="34" charset="-34"/>
            </a:endParaRPr>
          </a:p>
          <a:p>
            <a:pPr>
              <a:buNone/>
            </a:pPr>
            <a:endParaRPr lang="th-TH" altLang="th-TH" sz="2000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1D9695D-85E0-4C85-9D5D-6DEC0645E072}"/>
              </a:ext>
            </a:extLst>
          </p:cNvPr>
          <p:cNvSpPr txBox="1">
            <a:spLocks/>
          </p:cNvSpPr>
          <p:nvPr/>
        </p:nvSpPr>
        <p:spPr bwMode="auto">
          <a:xfrm>
            <a:off x="640890" y="343181"/>
            <a:ext cx="4164790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th-TH" u="sng">
                <a:latin typeface="CordiaUPC"/>
                <a:ea typeface="Tahoma"/>
                <a:cs typeface="CordiaUPC"/>
              </a:rPr>
              <a:t>1.12 </a:t>
            </a:r>
            <a:r>
              <a:rPr lang="en-US" altLang="th-TH" b="1" u="sng" err="1">
                <a:latin typeface="CordiaUPC"/>
                <a:ea typeface="Tahoma"/>
                <a:cs typeface="CordiaUPC"/>
              </a:rPr>
              <a:t>ข้อมูลและรายงาน</a:t>
            </a:r>
            <a:endParaRPr lang="th-TH" altLang="en-US" b="1" u="sng" err="1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6328719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Content Placeholder 2"/>
          <p:cNvSpPr>
            <a:spLocks noGrp="1"/>
          </p:cNvSpPr>
          <p:nvPr>
            <p:ph idx="1"/>
          </p:nvPr>
        </p:nvSpPr>
        <p:spPr>
          <a:xfrm>
            <a:off x="640890" y="1314096"/>
            <a:ext cx="10828044" cy="703263"/>
          </a:xfrm>
        </p:spPr>
        <p:txBody>
          <a:bodyPr/>
          <a:lstStyle/>
          <a:p>
            <a:r>
              <a:rPr lang="en-US" altLang="th-TH" sz="2800">
                <a:latin typeface="CordiaUPC" panose="020B0304020202020204" pitchFamily="34" charset="-34"/>
                <a:cs typeface="CordiaUPC" panose="020B0304020202020204" pitchFamily="34" charset="-34"/>
              </a:rPr>
              <a:t>Critical Scenario (Assumption)</a:t>
            </a:r>
            <a:endParaRPr lang="th-TH" altLang="th-TH" sz="2800">
              <a:latin typeface="CordiaUPC" panose="020B0304020202020204" pitchFamily="34" charset="-34"/>
              <a:cs typeface="CordiaUPC" panose="020B0304020202020204" pitchFamily="34" charset="-34"/>
            </a:endParaRPr>
          </a:p>
          <a:p>
            <a:pPr>
              <a:buFont typeface="Wingdings" panose="05000000000000000000" pitchFamily="2" charset="2"/>
              <a:buNone/>
            </a:pPr>
            <a:endParaRPr lang="th-TH" altLang="th-TH" sz="2000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C05702C-E871-4CAA-84DC-F76AB0B7F911}"/>
              </a:ext>
            </a:extLst>
          </p:cNvPr>
          <p:cNvSpPr txBox="1">
            <a:spLocks/>
          </p:cNvSpPr>
          <p:nvPr/>
        </p:nvSpPr>
        <p:spPr bwMode="auto">
          <a:xfrm>
            <a:off x="640890" y="343181"/>
            <a:ext cx="9305750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th-TH" u="sng">
                <a:latin typeface="CordiaUPC"/>
                <a:ea typeface="Tahoma"/>
                <a:cs typeface="CordiaUPC"/>
              </a:rPr>
              <a:t>1.13</a:t>
            </a:r>
            <a:r>
              <a:rPr lang="en-US" altLang="th-TH" b="1" u="sng">
                <a:latin typeface="CordiaUPC"/>
                <a:ea typeface="Tahoma"/>
                <a:cs typeface="CordiaUPC"/>
              </a:rPr>
              <a:t> Performance Requirement</a:t>
            </a:r>
            <a:endParaRPr lang="th-TH" altLang="en-US" b="1" u="sng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B6DC7B3-602E-4BAA-BCD8-25E7B7F330FA}"/>
              </a:ext>
            </a:extLst>
          </p:cNvPr>
          <p:cNvGraphicFramePr>
            <a:graphicFrameLocks noGrp="1"/>
          </p:cNvGraphicFramePr>
          <p:nvPr/>
        </p:nvGraphicFramePr>
        <p:xfrm>
          <a:off x="723066" y="1919934"/>
          <a:ext cx="10706934" cy="2225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3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53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1858"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No.</a:t>
                      </a:r>
                      <a:endParaRPr lang="th-TH" sz="2800"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 marL="68052" marR="68052" marT="34027" marB="340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th-TH" sz="2800"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Scenario </a:t>
                      </a:r>
                      <a:endParaRPr lang="th-TH" sz="2800"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 marL="68052" marR="68052" marT="34027" marB="3402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85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endParaRPr lang="th-TH" sz="1800"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 marL="68052" marR="68052" marT="34027" marB="34027"/>
                </a:tc>
                <a:tc>
                  <a:txBody>
                    <a:bodyPr/>
                    <a:lstStyle/>
                    <a:p>
                      <a:endParaRPr lang="th-TH" sz="1800" b="1">
                        <a:solidFill>
                          <a:schemeClr val="tx1"/>
                        </a:solidFill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 marL="68052" marR="68052" marT="34027" marB="3402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1630">
                <a:tc>
                  <a:txBody>
                    <a:bodyPr/>
                    <a:lstStyle/>
                    <a:p>
                      <a:pPr algn="ctr"/>
                      <a:endParaRPr lang="th-TH" sz="1800" kern="1200">
                        <a:solidFill>
                          <a:schemeClr val="dk1"/>
                        </a:solidFill>
                        <a:latin typeface="CordiaUPC" panose="020B0304020202020204" pitchFamily="34" charset="-34"/>
                        <a:ea typeface="+mn-ea"/>
                        <a:cs typeface="CordiaUPC" panose="020B0304020202020204" pitchFamily="34" charset="-34"/>
                      </a:endParaRPr>
                    </a:p>
                  </a:txBody>
                  <a:tcPr marL="68052" marR="68052" marT="34027" marB="34027"/>
                </a:tc>
                <a:tc>
                  <a:txBody>
                    <a:bodyPr/>
                    <a:lstStyle/>
                    <a:p>
                      <a:endParaRPr lang="en-US" sz="1800" b="0" u="none" kern="1200">
                        <a:solidFill>
                          <a:schemeClr val="dk1"/>
                        </a:solidFill>
                        <a:latin typeface="CordiaUPC" panose="020B0304020202020204" pitchFamily="34" charset="-34"/>
                        <a:ea typeface="+mn-ea"/>
                        <a:cs typeface="CordiaUPC" panose="020B0304020202020204" pitchFamily="34" charset="-34"/>
                      </a:endParaRPr>
                    </a:p>
                  </a:txBody>
                  <a:tcPr marL="68052" marR="68052" marT="34027" marB="3402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07214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Content Placeholder 2"/>
          <p:cNvSpPr>
            <a:spLocks noGrp="1"/>
          </p:cNvSpPr>
          <p:nvPr>
            <p:ph idx="1"/>
          </p:nvPr>
        </p:nvSpPr>
        <p:spPr>
          <a:xfrm>
            <a:off x="2102224" y="1283616"/>
            <a:ext cx="8229600" cy="3966810"/>
          </a:xfrm>
        </p:spPr>
        <p:txBody>
          <a:bodyPr/>
          <a:lstStyle/>
          <a:p>
            <a:r>
              <a:rPr lang="en-US" altLang="th-TH" sz="2800">
                <a:latin typeface="CordiaUPC"/>
                <a:ea typeface="Tahoma"/>
                <a:cs typeface="CordiaUPC"/>
              </a:rPr>
              <a:t>Authentication</a:t>
            </a:r>
            <a:endParaRPr lang="th-TH"/>
          </a:p>
          <a:p>
            <a:r>
              <a:rPr lang="en-US" altLang="th-TH" sz="2800">
                <a:latin typeface="CordiaUPC"/>
                <a:ea typeface="Tahoma"/>
                <a:cs typeface="CordiaUPC"/>
              </a:rPr>
              <a:t>Authorization</a:t>
            </a:r>
          </a:p>
          <a:p>
            <a:r>
              <a:rPr lang="en-US" altLang="th-TH" sz="2800">
                <a:latin typeface="CordiaUPC"/>
                <a:ea typeface="Tahoma"/>
                <a:cs typeface="CordiaUPC"/>
              </a:rPr>
              <a:t>Backup</a:t>
            </a:r>
          </a:p>
          <a:p>
            <a:r>
              <a:rPr lang="en-US" altLang="th-TH" sz="2800">
                <a:latin typeface="CordiaUPC"/>
                <a:ea typeface="Tahoma"/>
                <a:cs typeface="CordiaUPC"/>
              </a:rPr>
              <a:t>Service Level </a:t>
            </a:r>
          </a:p>
          <a:p>
            <a:r>
              <a:rPr lang="en-US" altLang="th-TH" sz="2800">
                <a:latin typeface="CordiaUPC"/>
                <a:ea typeface="Tahoma"/>
                <a:cs typeface="CordiaUPC"/>
              </a:rPr>
              <a:t>Security</a:t>
            </a:r>
          </a:p>
          <a:p>
            <a:pPr lvl="1"/>
            <a:r>
              <a:rPr lang="en-US" sz="2800">
                <a:latin typeface="CordiaUPC"/>
                <a:ea typeface="Tahoma"/>
                <a:cs typeface="CordiaUPC"/>
              </a:rPr>
              <a:t>Penetration testing Required</a:t>
            </a:r>
          </a:p>
          <a:p>
            <a:r>
              <a:rPr lang="en-US" altLang="th-TH" sz="2800">
                <a:solidFill>
                  <a:schemeClr val="tx2"/>
                </a:solidFill>
                <a:latin typeface="CordiaUPC"/>
                <a:ea typeface="Tahoma"/>
                <a:cs typeface="CordiaUPC"/>
              </a:rPr>
              <a:t>Logging (Audit Trail)</a:t>
            </a:r>
          </a:p>
          <a:p>
            <a:r>
              <a:rPr lang="en-US" altLang="th-TH" sz="2800">
                <a:solidFill>
                  <a:schemeClr val="tx2"/>
                </a:solidFill>
                <a:latin typeface="CordiaUPC"/>
                <a:ea typeface="Tahoma"/>
                <a:cs typeface="CordiaUPC"/>
              </a:rPr>
              <a:t>Any data for Monitor &amp; Tracking</a:t>
            </a:r>
          </a:p>
          <a:p>
            <a:pPr marL="457200" lvl="1" indent="0">
              <a:buNone/>
            </a:pPr>
            <a:endParaRPr lang="en-US" altLang="th-TH" sz="2800">
              <a:latin typeface="CordiaUPC"/>
              <a:ea typeface="Tahoma"/>
              <a:cs typeface="CordiaUPC"/>
            </a:endParaRPr>
          </a:p>
          <a:p>
            <a:pPr lvl="1"/>
            <a:endParaRPr lang="en-US" sz="2800">
              <a:latin typeface="CordiaUPC"/>
              <a:ea typeface="Tahoma"/>
              <a:cs typeface="CordiaUPC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CC7FB0B-38B0-4781-B8C5-69862604175F}"/>
              </a:ext>
            </a:extLst>
          </p:cNvPr>
          <p:cNvSpPr txBox="1">
            <a:spLocks/>
          </p:cNvSpPr>
          <p:nvPr/>
        </p:nvSpPr>
        <p:spPr bwMode="auto">
          <a:xfrm>
            <a:off x="640890" y="343181"/>
            <a:ext cx="9305750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th-TH" u="sng">
                <a:latin typeface="CordiaUPC"/>
                <a:ea typeface="Tahoma"/>
                <a:cs typeface="CordiaUPC"/>
              </a:rPr>
              <a:t>1.14</a:t>
            </a:r>
            <a:r>
              <a:rPr lang="en-US" altLang="th-TH" b="1" u="sng">
                <a:latin typeface="CordiaUPC"/>
                <a:ea typeface="Tahoma"/>
                <a:cs typeface="CordiaUPC"/>
              </a:rPr>
              <a:t> Non Functional Requirement</a:t>
            </a:r>
            <a:endParaRPr lang="th-TH" altLang="en-US" b="1" u="sng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4253127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443125" y="2065604"/>
          <a:ext cx="9305750" cy="3207434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32212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22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22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1394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Stage</a:t>
                      </a:r>
                      <a:endParaRPr lang="th-TH" sz="2400">
                        <a:solidFill>
                          <a:schemeClr val="tx1"/>
                        </a:solidFill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Average Respond</a:t>
                      </a:r>
                      <a:r>
                        <a:rPr lang="en-US" sz="2400" baseline="0">
                          <a:solidFill>
                            <a:schemeClr val="tx1"/>
                          </a:solidFill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 Time</a:t>
                      </a:r>
                      <a:endParaRPr lang="th-TH" sz="2400">
                        <a:solidFill>
                          <a:schemeClr val="tx1"/>
                        </a:solidFill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Maximum</a:t>
                      </a:r>
                      <a:r>
                        <a:rPr lang="en-US" sz="2400" baseline="0">
                          <a:solidFill>
                            <a:schemeClr val="tx1"/>
                          </a:solidFill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 Respond Time</a:t>
                      </a:r>
                      <a:endParaRPr lang="th-TH" sz="2400">
                        <a:solidFill>
                          <a:schemeClr val="tx1"/>
                        </a:solidFill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endParaRPr lang="th-TH" sz="2000">
                        <a:solidFill>
                          <a:schemeClr val="tx1"/>
                        </a:solidFill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h-TH" sz="2000">
                        <a:solidFill>
                          <a:schemeClr val="tx1"/>
                        </a:solidFill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h-TH" sz="2000">
                        <a:solidFill>
                          <a:schemeClr val="tx1"/>
                        </a:solidFill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endParaRPr lang="th-TH" sz="2000">
                        <a:solidFill>
                          <a:schemeClr val="tx1"/>
                        </a:solidFill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2000">
                        <a:solidFill>
                          <a:schemeClr val="tx1"/>
                        </a:solidFill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h-TH" sz="2000">
                        <a:solidFill>
                          <a:schemeClr val="tx1"/>
                        </a:solidFill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endParaRPr lang="th-TH" sz="2000" i="0">
                        <a:solidFill>
                          <a:schemeClr val="tx1"/>
                        </a:solidFill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h-TH" sz="2000" i="0">
                        <a:solidFill>
                          <a:schemeClr val="tx1"/>
                        </a:solidFill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2000" i="0">
                        <a:solidFill>
                          <a:schemeClr val="tx1"/>
                        </a:solidFill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endParaRPr lang="th-TH" sz="2000">
                        <a:solidFill>
                          <a:schemeClr val="tx1"/>
                        </a:solidFill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h-TH" sz="2000" i="0">
                        <a:solidFill>
                          <a:schemeClr val="tx1"/>
                        </a:solidFill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2000" i="0">
                        <a:solidFill>
                          <a:schemeClr val="tx1"/>
                        </a:solidFill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endParaRPr lang="th-TH" sz="2000">
                        <a:solidFill>
                          <a:schemeClr val="tx1"/>
                        </a:solidFill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h-TH" sz="2000">
                        <a:solidFill>
                          <a:schemeClr val="tx1"/>
                        </a:solidFill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h-TH" sz="2000">
                        <a:solidFill>
                          <a:schemeClr val="tx1"/>
                        </a:solidFill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640890" y="1356996"/>
            <a:ext cx="625042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th-TH" sz="2800" b="0">
                <a:latin typeface="CordiaUPC" panose="020B0304020202020204" pitchFamily="34" charset="-34"/>
                <a:cs typeface="CordiaUPC" panose="020B0304020202020204" pitchFamily="34" charset="-34"/>
              </a:rPr>
              <a:t>Response Time </a:t>
            </a:r>
            <a:r>
              <a:rPr lang="th-TH" altLang="th-TH" sz="2800" b="0">
                <a:latin typeface="CordiaUPC" panose="020B0304020202020204" pitchFamily="34" charset="-34"/>
                <a:cs typeface="CordiaUPC" panose="020B0304020202020204" pitchFamily="34" charset="-34"/>
              </a:rPr>
              <a:t>(วัดเวลา </a:t>
            </a:r>
            <a:r>
              <a:rPr lang="en-US" altLang="th-TH" sz="2800" b="0">
                <a:latin typeface="CordiaUPC" panose="020B0304020202020204" pitchFamily="34" charset="-34"/>
                <a:cs typeface="CordiaUPC" panose="020B0304020202020204" pitchFamily="34" charset="-34"/>
              </a:rPr>
              <a:t>End to end </a:t>
            </a:r>
            <a:r>
              <a:rPr lang="th-TH" altLang="th-TH" sz="2800" b="0">
                <a:latin typeface="CordiaUPC" panose="020B0304020202020204" pitchFamily="34" charset="-34"/>
                <a:cs typeface="CordiaUPC" panose="020B0304020202020204" pitchFamily="34" charset="-34"/>
              </a:rPr>
              <a:t>ในแต่ละ </a:t>
            </a:r>
            <a:r>
              <a:rPr lang="en-US" altLang="th-TH" sz="2800" b="0">
                <a:latin typeface="CordiaUPC" panose="020B0304020202020204" pitchFamily="34" charset="-34"/>
                <a:cs typeface="CordiaUPC" panose="020B0304020202020204" pitchFamily="34" charset="-34"/>
              </a:rPr>
              <a:t>Stage)</a:t>
            </a:r>
            <a:r>
              <a:rPr lang="th-TH" altLang="th-TH" sz="2800" b="0">
                <a:latin typeface="CordiaUPC" panose="020B0304020202020204" pitchFamily="34" charset="-34"/>
                <a:cs typeface="CordiaUPC" panose="020B0304020202020204" pitchFamily="34" charset="-34"/>
              </a:rPr>
              <a:t> </a:t>
            </a:r>
            <a:endParaRPr lang="en-US" altLang="th-TH" sz="2800" b="0">
              <a:latin typeface="CordiaUPC" panose="020B0304020202020204" pitchFamily="34" charset="-34"/>
              <a:cs typeface="CordiaUPC" panose="020B0304020202020204" pitchFamily="34" charset="-34"/>
            </a:endParaRPr>
          </a:p>
          <a:p>
            <a:endParaRPr lang="th-TH" sz="2800" b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A543673-43B8-449E-B99E-AB4966A6FD4A}"/>
              </a:ext>
            </a:extLst>
          </p:cNvPr>
          <p:cNvSpPr txBox="1">
            <a:spLocks/>
          </p:cNvSpPr>
          <p:nvPr/>
        </p:nvSpPr>
        <p:spPr bwMode="auto">
          <a:xfrm>
            <a:off x="640890" y="343181"/>
            <a:ext cx="9305750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th-TH" u="sng">
                <a:latin typeface="CordiaUPC"/>
                <a:ea typeface="Tahoma"/>
                <a:cs typeface="CordiaUPC"/>
              </a:rPr>
              <a:t>1.15</a:t>
            </a:r>
            <a:r>
              <a:rPr lang="en-US" altLang="th-TH" b="1" u="sng">
                <a:latin typeface="CordiaUPC"/>
                <a:ea typeface="Tahoma"/>
                <a:cs typeface="CordiaUPC"/>
              </a:rPr>
              <a:t> Performance Requirement</a:t>
            </a:r>
            <a:endParaRPr lang="th-TH" altLang="en-US" b="1" u="sng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894628751"/>
      </p:ext>
    </p:extLst>
  </p:cSld>
  <p:clrMapOvr>
    <a:masterClrMapping/>
  </p:clrMapOvr>
</p:sld>
</file>

<file path=ppt/theme/theme1.xml><?xml version="1.0" encoding="utf-8"?>
<a:theme xmlns:a="http://schemas.openxmlformats.org/drawingml/2006/main" name="CPALL_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ahoma1">
      <a:majorFont>
        <a:latin typeface="Tahoma"/>
        <a:ea typeface=""/>
        <a:cs typeface="Tahoma"/>
      </a:majorFont>
      <a:minorFont>
        <a:latin typeface="Tahoma"/>
        <a:ea typeface=""/>
        <a:cs typeface="Taho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Incidents-Weekly-21-27Feb 2022_R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99FF99"/>
        </a:solidFill>
        <a:ln>
          <a:noFill/>
        </a:ln>
      </a:spPr>
      <a:bodyPr rtlCol="0" anchor="ctr"/>
      <a:lstStyle>
        <a:defPPr algn="ctr">
          <a:defRPr>
            <a:latin typeface="Century Gothic" panose="020B0502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F667ED1CC12AE41AA1274E1ABAA72F3" ma:contentTypeVersion="19" ma:contentTypeDescription="Create a new document." ma:contentTypeScope="" ma:versionID="db4c6a1abbf75ccb7111687f172312e1">
  <xsd:schema xmlns:xsd="http://www.w3.org/2001/XMLSchema" xmlns:xs="http://www.w3.org/2001/XMLSchema" xmlns:p="http://schemas.microsoft.com/office/2006/metadata/properties" xmlns:ns2="9ffc25f6-4acb-4d8b-b73f-8fb378806e86" xmlns:ns3="933b7be6-e97d-43ef-abd8-08ed99bc21b5" targetNamespace="http://schemas.microsoft.com/office/2006/metadata/properties" ma:root="true" ma:fieldsID="78bf4f83719321618126f516d3cc3455" ns2:_="" ns3:_="">
    <xsd:import namespace="9ffc25f6-4acb-4d8b-b73f-8fb378806e86"/>
    <xsd:import namespace="933b7be6-e97d-43ef-abd8-08ed99bc21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Descriptio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fc25f6-4acb-4d8b-b73f-8fb378806e8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Description" ma:index="17" nillable="true" ma:displayName="Description" ma:format="Dropdown" ma:internalName="Description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7330478-6e4f-4e24-84b1-b2b7e0a418b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6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3b7be6-e97d-43ef-abd8-08ed99bc21b5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71e799ea-d7ca-4f0a-a64d-b602f2852b54}" ma:internalName="TaxCatchAll" ma:showField="CatchAllData" ma:web="933b7be6-e97d-43ef-abd8-08ed99bc21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933b7be6-e97d-43ef-abd8-08ed99bc21b5">
      <UserInfo>
        <DisplayName>Guntinun (Pao) Bonkrathok</DisplayName>
        <AccountId>871</AccountId>
        <AccountType/>
      </UserInfo>
      <UserInfo>
        <DisplayName>Doljai &lt;Golf&gt; Patcharapochanakorn</DisplayName>
        <AccountId>40</AccountId>
        <AccountType/>
      </UserInfo>
      <UserInfo>
        <DisplayName>Sukit &lt;Art&gt; Kreecharoen</DisplayName>
        <AccountId>1645</AccountId>
        <AccountType/>
      </UserInfo>
    </SharedWithUsers>
    <Description xmlns="9ffc25f6-4acb-4d8b-b73f-8fb378806e86" xsi:nil="true"/>
    <TaxCatchAll xmlns="933b7be6-e97d-43ef-abd8-08ed99bc21b5" xsi:nil="true"/>
    <lcf76f155ced4ddcb4097134ff3c332f xmlns="9ffc25f6-4acb-4d8b-b73f-8fb378806e86">
      <Terms xmlns="http://schemas.microsoft.com/office/infopath/2007/PartnerControls"/>
    </lcf76f155ced4ddcb4097134ff3c332f>
    <MediaLengthInSeconds xmlns="9ffc25f6-4acb-4d8b-b73f-8fb378806e86" xsi:nil="true"/>
  </documentManagement>
</p:properties>
</file>

<file path=customXml/itemProps1.xml><?xml version="1.0" encoding="utf-8"?>
<ds:datastoreItem xmlns:ds="http://schemas.openxmlformats.org/officeDocument/2006/customXml" ds:itemID="{8481701A-2C81-485A-8170-CF31BAA991A4}">
  <ds:schemaRefs>
    <ds:schemaRef ds:uri="933b7be6-e97d-43ef-abd8-08ed99bc21b5"/>
    <ds:schemaRef ds:uri="9ffc25f6-4acb-4d8b-b73f-8fb378806e8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2AA039E-520A-4D25-857A-BBC4BF67EAA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EAF01E-80E0-4974-AFA7-B743653F3865}">
  <ds:schemaRefs>
    <ds:schemaRef ds:uri="http://purl.org/dc/elements/1.1/"/>
    <ds:schemaRef ds:uri="9ffc25f6-4acb-4d8b-b73f-8fb378806e86"/>
    <ds:schemaRef ds:uri="http://schemas.microsoft.com/office/2006/documentManagement/types"/>
    <ds:schemaRef ds:uri="http://schemas.microsoft.com/office/2006/metadata/properties"/>
    <ds:schemaRef ds:uri="933b7be6-e97d-43ef-abd8-08ed99bc21b5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CPALL Presentation</Template>
  <TotalTime>0</TotalTime>
  <Words>3418</Words>
  <Application>Microsoft Macintosh PowerPoint</Application>
  <PresentationFormat>แบบจอกว้าง</PresentationFormat>
  <Paragraphs>654</Paragraphs>
  <Slides>33</Slides>
  <Notes>32</Notes>
  <HiddenSlides>1</HiddenSlides>
  <MMClips>0</MMClips>
  <ScaleCrop>false</ScaleCrop>
  <HeadingPairs>
    <vt:vector size="6" baseType="variant">
      <vt:variant>
        <vt:lpstr>ฟอนต์ที่ถูกใช้</vt:lpstr>
      </vt:variant>
      <vt:variant>
        <vt:i4>14</vt:i4>
      </vt:variant>
      <vt:variant>
        <vt:lpstr>ธีม</vt:lpstr>
      </vt:variant>
      <vt:variant>
        <vt:i4>2</vt:i4>
      </vt:variant>
      <vt:variant>
        <vt:lpstr>ชื่อเรื่องสไลด์</vt:lpstr>
      </vt:variant>
      <vt:variant>
        <vt:i4>33</vt:i4>
      </vt:variant>
    </vt:vector>
  </HeadingPairs>
  <TitlesOfParts>
    <vt:vector size="49" baseType="lpstr">
      <vt:lpstr>Anaheim</vt:lpstr>
      <vt:lpstr>Angsana New</vt:lpstr>
      <vt:lpstr>Arial</vt:lpstr>
      <vt:lpstr>Arial,Sans-Serif</vt:lpstr>
      <vt:lpstr>Browallia New</vt:lpstr>
      <vt:lpstr>Calibri</vt:lpstr>
      <vt:lpstr>Cordia New</vt:lpstr>
      <vt:lpstr>CordiaUPC</vt:lpstr>
      <vt:lpstr>Courier New</vt:lpstr>
      <vt:lpstr>Josefin Slab</vt:lpstr>
      <vt:lpstr>Josefin Slab SemiBold</vt:lpstr>
      <vt:lpstr>Staatliches</vt:lpstr>
      <vt:lpstr>Tahoma</vt:lpstr>
      <vt:lpstr>Wingdings</vt:lpstr>
      <vt:lpstr>CPALL_Template</vt:lpstr>
      <vt:lpstr>2_Incidents-Weekly-21-27Feb 2022_R2</vt:lpstr>
      <vt:lpstr>Solution Document ปรับกระบวนการบัญชีประกันรายได้ สามารถเข้ามาดึงข้อมูลตัวเลขจากระบบ SBP เพื่อตรวจสอบ</vt:lpstr>
      <vt:lpstr>Activity Log</vt:lpstr>
      <vt:lpstr>1. Business Requirement</vt:lpstr>
      <vt:lpstr>1.1 Current Situation Analysis / Problem Statement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Business Process : รายละเอียดต่างๆ 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1.10 Personal Data (PDPA) Check List 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Pasraporn Taveechai</dc:creator>
  <cp:lastModifiedBy>Sudtida &lt;Dai&gt; Jaykam</cp:lastModifiedBy>
  <cp:revision>57</cp:revision>
  <dcterms:created xsi:type="dcterms:W3CDTF">2018-02-09T10:52:13Z</dcterms:created>
  <dcterms:modified xsi:type="dcterms:W3CDTF">2026-06-09T09:19:45Z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0x010100BF667ED1CC12AE41AA1274E1ABAA72F3</vt:lpwstr>
  </property>
  <property fmtid="{D5CDD505-2E9C-101B-9397-08002B2CF9AE}" pid="3" name="MediaServiceImageTags">
    <vt:lpwstr/>
  </property>
  <property fmtid="{D5CDD505-2E9C-101B-9397-08002B2CF9AE}" pid="4" name="Order">
    <vt:r8>1909200</vt:r8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</Properties>
</file>