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  <p:sldMasterId id="2147483843" r:id="rId5"/>
  </p:sldMasterIdLst>
  <p:notesMasterIdLst>
    <p:notesMasterId r:id="rId88"/>
  </p:notesMasterIdLst>
  <p:sldIdLst>
    <p:sldId id="256" r:id="rId6"/>
    <p:sldId id="426" r:id="rId7"/>
    <p:sldId id="338" r:id="rId8"/>
    <p:sldId id="339" r:id="rId9"/>
    <p:sldId id="471" r:id="rId10"/>
    <p:sldId id="502" r:id="rId11"/>
    <p:sldId id="518" r:id="rId12"/>
    <p:sldId id="416" r:id="rId13"/>
    <p:sldId id="340" r:id="rId14"/>
    <p:sldId id="345" r:id="rId15"/>
    <p:sldId id="342" r:id="rId16"/>
    <p:sldId id="344" r:id="rId17"/>
    <p:sldId id="551" r:id="rId18"/>
    <p:sldId id="504" r:id="rId19"/>
    <p:sldId id="503" r:id="rId20"/>
    <p:sldId id="546" r:id="rId21"/>
    <p:sldId id="527" r:id="rId22"/>
    <p:sldId id="528" r:id="rId23"/>
    <p:sldId id="529" r:id="rId24"/>
    <p:sldId id="530" r:id="rId25"/>
    <p:sldId id="531" r:id="rId26"/>
    <p:sldId id="532" r:id="rId27"/>
    <p:sldId id="533" r:id="rId28"/>
    <p:sldId id="534" r:id="rId29"/>
    <p:sldId id="535" r:id="rId30"/>
    <p:sldId id="536" r:id="rId31"/>
    <p:sldId id="537" r:id="rId32"/>
    <p:sldId id="488" r:id="rId33"/>
    <p:sldId id="490" r:id="rId34"/>
    <p:sldId id="526" r:id="rId35"/>
    <p:sldId id="489" r:id="rId36"/>
    <p:sldId id="483" r:id="rId37"/>
    <p:sldId id="484" r:id="rId38"/>
    <p:sldId id="498" r:id="rId39"/>
    <p:sldId id="500" r:id="rId40"/>
    <p:sldId id="499" r:id="rId41"/>
    <p:sldId id="485" r:id="rId42"/>
    <p:sldId id="538" r:id="rId43"/>
    <p:sldId id="561" r:id="rId44"/>
    <p:sldId id="552" r:id="rId45"/>
    <p:sldId id="539" r:id="rId46"/>
    <p:sldId id="555" r:id="rId47"/>
    <p:sldId id="521" r:id="rId48"/>
    <p:sldId id="510" r:id="rId49"/>
    <p:sldId id="547" r:id="rId50"/>
    <p:sldId id="515" r:id="rId51"/>
    <p:sldId id="525" r:id="rId52"/>
    <p:sldId id="549" r:id="rId53"/>
    <p:sldId id="545" r:id="rId54"/>
    <p:sldId id="540" r:id="rId55"/>
    <p:sldId id="550" r:id="rId56"/>
    <p:sldId id="541" r:id="rId57"/>
    <p:sldId id="558" r:id="rId58"/>
    <p:sldId id="559" r:id="rId59"/>
    <p:sldId id="548" r:id="rId60"/>
    <p:sldId id="553" r:id="rId61"/>
    <p:sldId id="564" r:id="rId62"/>
    <p:sldId id="562" r:id="rId63"/>
    <p:sldId id="542" r:id="rId64"/>
    <p:sldId id="543" r:id="rId65"/>
    <p:sldId id="556" r:id="rId66"/>
    <p:sldId id="544" r:id="rId67"/>
    <p:sldId id="472" r:id="rId68"/>
    <p:sldId id="557" r:id="rId69"/>
    <p:sldId id="477" r:id="rId70"/>
    <p:sldId id="563" r:id="rId71"/>
    <p:sldId id="473" r:id="rId72"/>
    <p:sldId id="474" r:id="rId73"/>
    <p:sldId id="476" r:id="rId74"/>
    <p:sldId id="475" r:id="rId75"/>
    <p:sldId id="440" r:id="rId76"/>
    <p:sldId id="450" r:id="rId77"/>
    <p:sldId id="451" r:id="rId78"/>
    <p:sldId id="457" r:id="rId79"/>
    <p:sldId id="414" r:id="rId80"/>
    <p:sldId id="452" r:id="rId81"/>
    <p:sldId id="453" r:id="rId82"/>
    <p:sldId id="445" r:id="rId83"/>
    <p:sldId id="454" r:id="rId84"/>
    <p:sldId id="447" r:id="rId85"/>
    <p:sldId id="455" r:id="rId86"/>
    <p:sldId id="456" r:id="rId8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ngsana New" charset="-34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ngsana New" charset="-34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ngsana New" charset="-34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ngsana New" charset="-34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ngsana New" charset="-34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Angsana New" charset="-34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Angsana New" charset="-34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Angsana New" charset="-34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Angsana New" charset="-34"/>
      </a:defRPr>
    </a:lvl9pPr>
  </p:defaultTextStyle>
  <p:extLst>
    <p:ext uri="{521415D9-36F7-43E2-AB2F-B90AF26B5E84}">
      <p14:sectionLst xmlns:p14="http://schemas.microsoft.com/office/powerpoint/2010/main">
        <p14:section name="Default Section" id="{FBC95B8D-1D74-4064-A782-4538C3437EE4}">
          <p14:sldIdLst>
            <p14:sldId id="256"/>
            <p14:sldId id="426"/>
            <p14:sldId id="338"/>
            <p14:sldId id="339"/>
            <p14:sldId id="471"/>
            <p14:sldId id="502"/>
            <p14:sldId id="518"/>
            <p14:sldId id="416"/>
            <p14:sldId id="340"/>
            <p14:sldId id="345"/>
            <p14:sldId id="342"/>
            <p14:sldId id="344"/>
            <p14:sldId id="551"/>
            <p14:sldId id="504"/>
            <p14:sldId id="503"/>
            <p14:sldId id="546"/>
          </p14:sldIdLst>
        </p14:section>
        <p14:section name="As-Is : Step 0" id="{C13E6FC9-17A2-4F31-B659-C2084EF37A6A}">
          <p14:sldIdLst>
            <p14:sldId id="527"/>
          </p14:sldIdLst>
        </p14:section>
        <p14:section name="As-Is : Step 1" id="{70DB20C4-D35D-4AB2-9196-1072C693B95D}">
          <p14:sldIdLst>
            <p14:sldId id="528"/>
          </p14:sldIdLst>
        </p14:section>
        <p14:section name="As-Is : Step 1.1" id="{56B7CEF9-824C-46CB-8A99-D8D048C1A9A2}">
          <p14:sldIdLst>
            <p14:sldId id="529"/>
            <p14:sldId id="530"/>
            <p14:sldId id="531"/>
          </p14:sldIdLst>
        </p14:section>
        <p14:section name="As-Is : Step 1.2" id="{5200B672-B114-417B-806B-F30871B1A2E8}">
          <p14:sldIdLst>
            <p14:sldId id="532"/>
          </p14:sldIdLst>
        </p14:section>
        <p14:section name="As-Is : Step 1.3" id="{7CE887B8-8A28-485F-B7B8-9D97FD04EA13}">
          <p14:sldIdLst>
            <p14:sldId id="533"/>
          </p14:sldIdLst>
        </p14:section>
        <p14:section name="As-Is : Step 2.0" id="{D1609DA8-C8A4-4145-AB8C-BD845FD5D001}">
          <p14:sldIdLst>
            <p14:sldId id="534"/>
          </p14:sldIdLst>
        </p14:section>
        <p14:section name="As-Is : Step 2.1" id="{3875CAB1-D3D0-41A3-BE05-C45746C65C9D}">
          <p14:sldIdLst>
            <p14:sldId id="535"/>
          </p14:sldIdLst>
        </p14:section>
        <p14:section name="As-Is : Step 3.0" id="{8EDCFD42-DFB7-4328-8917-B429A7DF5291}">
          <p14:sldIdLst>
            <p14:sldId id="536"/>
            <p14:sldId id="537"/>
          </p14:sldIdLst>
        </p14:section>
        <p14:section name="As-Is : Req 1" id="{6D3EC137-2551-4B37-8FF9-76F53A075FDB}">
          <p14:sldIdLst>
            <p14:sldId id="488"/>
            <p14:sldId id="490"/>
            <p14:sldId id="526"/>
            <p14:sldId id="489"/>
            <p14:sldId id="483"/>
            <p14:sldId id="484"/>
            <p14:sldId id="498"/>
            <p14:sldId id="500"/>
            <p14:sldId id="499"/>
            <p14:sldId id="485"/>
          </p14:sldIdLst>
        </p14:section>
        <p14:section name="As-Is : Req 2" id="{7C8F7E79-2799-4505-824C-B2A5148C6B0D}">
          <p14:sldIdLst>
            <p14:sldId id="538"/>
            <p14:sldId id="561"/>
          </p14:sldIdLst>
        </p14:section>
        <p14:section name="As-Is : Req 3" id="{0941BEE5-060D-4C73-BFCA-744C935FA25C}">
          <p14:sldIdLst>
            <p14:sldId id="552"/>
            <p14:sldId id="539"/>
            <p14:sldId id="555"/>
          </p14:sldIdLst>
        </p14:section>
        <p14:section name="To-Be" id="{1A3C806D-A440-45F0-ABD0-8B1EFDC5024C}">
          <p14:sldIdLst>
            <p14:sldId id="521"/>
            <p14:sldId id="510"/>
            <p14:sldId id="547"/>
          </p14:sldIdLst>
        </p14:section>
        <p14:section name="To-Be : Req1" id="{7ECB5D51-30D9-4432-AABD-4F7C82D3F629}">
          <p14:sldIdLst>
            <p14:sldId id="515"/>
          </p14:sldIdLst>
        </p14:section>
        <p14:section name="To-Be : จนท SBP DSA : งานค้าง" id="{DC1B0C52-C744-4700-86C8-0D0D154A6F25}">
          <p14:sldIdLst>
            <p14:sldId id="525"/>
            <p14:sldId id="549"/>
          </p14:sldIdLst>
        </p14:section>
        <p14:section name="To-Be : จนท SBP DSA คีย์/เลือกงาน" id="{022052D9-9C23-4DFF-A5A6-4995398E2E5B}">
          <p14:sldIdLst>
            <p14:sldId id="545"/>
          </p14:sldIdLst>
        </p14:section>
        <p14:section name="To-Be ฝ่าย SBP DSA ตรวจสอบ Approve" id="{BD5C53C0-24F4-440A-BDA5-9504928F1CA8}">
          <p14:sldIdLst>
            <p14:sldId id="540"/>
            <p14:sldId id="550"/>
          </p14:sldIdLst>
        </p14:section>
        <p14:section name="To-Be : Req2" id="{1989706F-6C99-4FE7-939F-90F1DE5B6A28}">
          <p14:sldIdLst>
            <p14:sldId id="541"/>
            <p14:sldId id="558"/>
            <p14:sldId id="559"/>
            <p14:sldId id="548"/>
            <p14:sldId id="553"/>
            <p14:sldId id="564"/>
            <p14:sldId id="562"/>
          </p14:sldIdLst>
        </p14:section>
        <p14:section name="To-Be : Req3" id="{51850053-F227-4C95-93BB-AC285C7012EC}">
          <p14:sldIdLst>
            <p14:sldId id="542"/>
            <p14:sldId id="543"/>
            <p14:sldId id="556"/>
            <p14:sldId id="544"/>
            <p14:sldId id="472"/>
            <p14:sldId id="557"/>
            <p14:sldId id="477"/>
            <p14:sldId id="563"/>
            <p14:sldId id="473"/>
            <p14:sldId id="474"/>
            <p14:sldId id="476"/>
            <p14:sldId id="475"/>
          </p14:sldIdLst>
        </p14:section>
        <p14:section name="Solution" id="{E5DDC1BE-BC9C-4350-A1DB-5F6A8FDE2C42}">
          <p14:sldIdLst>
            <p14:sldId id="440"/>
            <p14:sldId id="450"/>
            <p14:sldId id="451"/>
            <p14:sldId id="457"/>
            <p14:sldId id="414"/>
            <p14:sldId id="452"/>
            <p14:sldId id="453"/>
            <p14:sldId id="445"/>
            <p14:sldId id="454"/>
            <p14:sldId id="447"/>
            <p14:sldId id="455"/>
            <p14:sldId id="4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sraporntav" initials="p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70C0"/>
    <a:srgbClr val="FFD700"/>
    <a:srgbClr val="B9FEFF"/>
    <a:srgbClr val="FD7166"/>
    <a:srgbClr val="FF4015"/>
    <a:srgbClr val="4472C4"/>
    <a:srgbClr val="BDD7EE"/>
    <a:srgbClr val="FFECEB"/>
    <a:srgbClr val="A8D3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9203A5-4F93-5EEB-5741-DAF3D118B09B}" v="4" dt="2026-03-05T01:23:27.1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สไตล์สีอ่อน 1 - เน้น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commentAuthors" Target="commentAuthors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2.xml"/><Relationship Id="rId90" Type="http://schemas.openxmlformats.org/officeDocument/2006/relationships/presProps" Target="presProps.xml"/><Relationship Id="rId95" Type="http://schemas.microsoft.com/office/2015/10/relationships/revisionInfo" Target="revisionInfo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93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theme" Target="theme/theme1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isa &lt;Mam&gt; Phonphunpoa" userId="S::sarisapho@cpall.co.th::ca4300b8-1344-4987-9fb5-2f3520feb78a" providerId="AD" clId="Web-{249203A5-4F93-5EEB-5741-DAF3D118B09B}"/>
    <pc:docChg chg="modSld">
      <pc:chgData name="Sarisa &lt;Mam&gt; Phonphunpoa" userId="S::sarisapho@cpall.co.th::ca4300b8-1344-4987-9fb5-2f3520feb78a" providerId="AD" clId="Web-{249203A5-4F93-5EEB-5741-DAF3D118B09B}" dt="2026-03-05T01:23:27.178" v="3" actId="1076"/>
      <pc:docMkLst>
        <pc:docMk/>
      </pc:docMkLst>
      <pc:sldChg chg="modSp">
        <pc:chgData name="Sarisa &lt;Mam&gt; Phonphunpoa" userId="S::sarisapho@cpall.co.th::ca4300b8-1344-4987-9fb5-2f3520feb78a" providerId="AD" clId="Web-{249203A5-4F93-5EEB-5741-DAF3D118B09B}" dt="2026-03-05T01:23:27.178" v="3" actId="1076"/>
        <pc:sldMkLst>
          <pc:docMk/>
          <pc:sldMk cId="496265058" sldId="477"/>
        </pc:sldMkLst>
        <pc:graphicFrameChg chg="mod">
          <ac:chgData name="Sarisa &lt;Mam&gt; Phonphunpoa" userId="S::sarisapho@cpall.co.th::ca4300b8-1344-4987-9fb5-2f3520feb78a" providerId="AD" clId="Web-{249203A5-4F93-5EEB-5741-DAF3D118B09B}" dt="2026-03-05T01:23:27.178" v="3" actId="1076"/>
          <ac:graphicFrameMkLst>
            <pc:docMk/>
            <pc:sldMk cId="496265058" sldId="477"/>
            <ac:graphicFrameMk id="6" creationId="{B7EC694C-D3A8-835B-673B-8F294327163B}"/>
          </ac:graphicFrameMkLst>
        </pc:graphicFrameChg>
      </pc:sldChg>
      <pc:sldChg chg="modSp">
        <pc:chgData name="Sarisa &lt;Mam&gt; Phonphunpoa" userId="S::sarisapho@cpall.co.th::ca4300b8-1344-4987-9fb5-2f3520feb78a" providerId="AD" clId="Web-{249203A5-4F93-5EEB-5741-DAF3D118B09B}" dt="2026-03-05T01:21:39.722" v="2" actId="14100"/>
        <pc:sldMkLst>
          <pc:docMk/>
          <pc:sldMk cId="1817721009" sldId="547"/>
        </pc:sldMkLst>
        <pc:picChg chg="mod">
          <ac:chgData name="Sarisa &lt;Mam&gt; Phonphunpoa" userId="S::sarisapho@cpall.co.th::ca4300b8-1344-4987-9fb5-2f3520feb78a" providerId="AD" clId="Web-{249203A5-4F93-5EEB-5741-DAF3D118B09B}" dt="2026-03-05T01:21:39.722" v="2" actId="14100"/>
          <ac:picMkLst>
            <pc:docMk/>
            <pc:sldMk cId="1817721009" sldId="547"/>
            <ac:picMk id="2" creationId="{358FC604-5328-CF96-B608-087DE257BDF5}"/>
          </ac:picMkLst>
        </pc:picChg>
      </pc:sldChg>
    </pc:docChg>
  </pc:docChgLst>
  <pc:docChgLst>
    <pc:chgData name="Kanyarat &lt;Poon&gt; Sirathananan" userId="S::kanyaratmangk@cpall.co.th::2e7efd98-0b09-4d16-b39d-fc9529b97342" providerId="AD" clId="Web-{42CE86C1-487C-BF34-981D-D03EF9A29EE2}"/>
    <pc:docChg chg="addSld delSld modSld sldOrd modSection">
      <pc:chgData name="Kanyarat &lt;Poon&gt; Sirathananan" userId="S::kanyaratmangk@cpall.co.th::2e7efd98-0b09-4d16-b39d-fc9529b97342" providerId="AD" clId="Web-{42CE86C1-487C-BF34-981D-D03EF9A29EE2}" dt="2026-02-06T11:18:52.466" v="739" actId="20577"/>
      <pc:docMkLst>
        <pc:docMk/>
      </pc:docMkLst>
      <pc:sldChg chg="modSp">
        <pc:chgData name="Kanyarat &lt;Poon&gt; Sirathananan" userId="S::kanyaratmangk@cpall.co.th::2e7efd98-0b09-4d16-b39d-fc9529b97342" providerId="AD" clId="Web-{42CE86C1-487C-BF34-981D-D03EF9A29EE2}" dt="2026-02-06T11:18:52.466" v="739" actId="20577"/>
        <pc:sldMkLst>
          <pc:docMk/>
          <pc:sldMk cId="0" sldId="256"/>
        </pc:sldMkLst>
        <pc:spChg chg="mod">
          <ac:chgData name="Kanyarat &lt;Poon&gt; Sirathananan" userId="S::kanyaratmangk@cpall.co.th::2e7efd98-0b09-4d16-b39d-fc9529b97342" providerId="AD" clId="Web-{42CE86C1-487C-BF34-981D-D03EF9A29EE2}" dt="2026-02-06T11:18:52.466" v="739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">
        <pc:chgData name="Kanyarat &lt;Poon&gt; Sirathananan" userId="S::kanyaratmangk@cpall.co.th::2e7efd98-0b09-4d16-b39d-fc9529b97342" providerId="AD" clId="Web-{42CE86C1-487C-BF34-981D-D03EF9A29EE2}" dt="2026-02-06T09:39:06.365" v="73" actId="20577"/>
        <pc:sldMkLst>
          <pc:docMk/>
          <pc:sldMk cId="2974772805" sldId="339"/>
        </pc:sldMkLst>
        <pc:spChg chg="mod">
          <ac:chgData name="Kanyarat &lt;Poon&gt; Sirathananan" userId="S::kanyaratmangk@cpall.co.th::2e7efd98-0b09-4d16-b39d-fc9529b97342" providerId="AD" clId="Web-{42CE86C1-487C-BF34-981D-D03EF9A29EE2}" dt="2026-02-06T09:39:06.365" v="73" actId="20577"/>
          <ac:spMkLst>
            <pc:docMk/>
            <pc:sldMk cId="2974772805" sldId="339"/>
            <ac:spMk id="5" creationId="{00000000-0000-0000-0000-000000000000}"/>
          </ac:spMkLst>
        </pc:spChg>
      </pc:sldChg>
      <pc:sldChg chg="modSp">
        <pc:chgData name="Kanyarat &lt;Poon&gt; Sirathananan" userId="S::kanyaratmangk@cpall.co.th::2e7efd98-0b09-4d16-b39d-fc9529b97342" providerId="AD" clId="Web-{42CE86C1-487C-BF34-981D-D03EF9A29EE2}" dt="2026-02-06T09:37:07.745" v="21"/>
        <pc:sldMkLst>
          <pc:docMk/>
          <pc:sldMk cId="1568546250" sldId="426"/>
        </pc:sldMkLst>
        <pc:graphicFrameChg chg="mod modGraphic">
          <ac:chgData name="Kanyarat &lt;Poon&gt; Sirathananan" userId="S::kanyaratmangk@cpall.co.th::2e7efd98-0b09-4d16-b39d-fc9529b97342" providerId="AD" clId="Web-{42CE86C1-487C-BF34-981D-D03EF9A29EE2}" dt="2026-02-06T09:37:07.745" v="21"/>
          <ac:graphicFrameMkLst>
            <pc:docMk/>
            <pc:sldMk cId="1568546250" sldId="426"/>
            <ac:graphicFrameMk id="4" creationId="{69E21062-072A-4D53-B5D5-BD64BB6248C6}"/>
          </ac:graphicFrameMkLst>
        </pc:graphicFrameChg>
      </pc:sldChg>
      <pc:sldChg chg="addSp modSp">
        <pc:chgData name="Kanyarat &lt;Poon&gt; Sirathananan" userId="S::kanyaratmangk@cpall.co.th::2e7efd98-0b09-4d16-b39d-fc9529b97342" providerId="AD" clId="Web-{42CE86C1-487C-BF34-981D-D03EF9A29EE2}" dt="2026-02-06T11:18:35.497" v="735" actId="20577"/>
        <pc:sldMkLst>
          <pc:docMk/>
          <pc:sldMk cId="496265058" sldId="477"/>
        </pc:sldMkLst>
        <pc:spChg chg="mod">
          <ac:chgData name="Kanyarat &lt;Poon&gt; Sirathananan" userId="S::kanyaratmangk@cpall.co.th::2e7efd98-0b09-4d16-b39d-fc9529b97342" providerId="AD" clId="Web-{42CE86C1-487C-BF34-981D-D03EF9A29EE2}" dt="2026-02-06T11:09:35.854" v="708" actId="20577"/>
          <ac:spMkLst>
            <pc:docMk/>
            <pc:sldMk cId="496265058" sldId="477"/>
            <ac:spMk id="3" creationId="{B81A5C48-5E2F-C330-F60B-27C555533A86}"/>
          </ac:spMkLst>
        </pc:spChg>
      </pc:sldChg>
      <pc:sldChg chg="modSp">
        <pc:chgData name="Kanyarat &lt;Poon&gt; Sirathananan" userId="S::kanyaratmangk@cpall.co.th::2e7efd98-0b09-4d16-b39d-fc9529b97342" providerId="AD" clId="Web-{42CE86C1-487C-BF34-981D-D03EF9A29EE2}" dt="2026-02-06T10:35:28.373" v="269" actId="1076"/>
        <pc:sldMkLst>
          <pc:docMk/>
          <pc:sldMk cId="2962691459" sldId="515"/>
        </pc:sldMkLst>
        <pc:spChg chg="mod">
          <ac:chgData name="Kanyarat &lt;Poon&gt; Sirathananan" userId="S::kanyaratmangk@cpall.co.th::2e7efd98-0b09-4d16-b39d-fc9529b97342" providerId="AD" clId="Web-{42CE86C1-487C-BF34-981D-D03EF9A29EE2}" dt="2026-02-06T10:35:28.248" v="266" actId="1076"/>
          <ac:spMkLst>
            <pc:docMk/>
            <pc:sldMk cId="2962691459" sldId="515"/>
            <ac:spMk id="2" creationId="{3B3E8D4B-B0BD-F5E8-7E27-4AD756581946}"/>
          </ac:spMkLst>
        </pc:spChg>
        <pc:spChg chg="mod">
          <ac:chgData name="Kanyarat &lt;Poon&gt; Sirathananan" userId="S::kanyaratmangk@cpall.co.th::2e7efd98-0b09-4d16-b39d-fc9529b97342" providerId="AD" clId="Web-{42CE86C1-487C-BF34-981D-D03EF9A29EE2}" dt="2026-02-06T10:35:28.295" v="267" actId="1076"/>
          <ac:spMkLst>
            <pc:docMk/>
            <pc:sldMk cId="2962691459" sldId="515"/>
            <ac:spMk id="3" creationId="{D0B790CC-366C-7A57-5F4F-E0B4AEB5F284}"/>
          </ac:spMkLst>
        </pc:spChg>
        <pc:spChg chg="mod">
          <ac:chgData name="Kanyarat &lt;Poon&gt; Sirathananan" userId="S::kanyaratmangk@cpall.co.th::2e7efd98-0b09-4d16-b39d-fc9529b97342" providerId="AD" clId="Web-{42CE86C1-487C-BF34-981D-D03EF9A29EE2}" dt="2026-02-06T10:35:22.138" v="265" actId="20577"/>
          <ac:spMkLst>
            <pc:docMk/>
            <pc:sldMk cId="2962691459" sldId="515"/>
            <ac:spMk id="4" creationId="{8331F23B-0B2D-310E-B472-B2E12CA5379A}"/>
          </ac:spMkLst>
        </pc:spChg>
        <pc:spChg chg="mod">
          <ac:chgData name="Kanyarat &lt;Poon&gt; Sirathananan" userId="S::kanyaratmangk@cpall.co.th::2e7efd98-0b09-4d16-b39d-fc9529b97342" providerId="AD" clId="Web-{42CE86C1-487C-BF34-981D-D03EF9A29EE2}" dt="2026-02-06T10:35:28.342" v="268" actId="1076"/>
          <ac:spMkLst>
            <pc:docMk/>
            <pc:sldMk cId="2962691459" sldId="515"/>
            <ac:spMk id="6" creationId="{AE6636ED-B926-2EFE-808E-B3050EA49C2E}"/>
          </ac:spMkLst>
        </pc:spChg>
        <pc:spChg chg="mod">
          <ac:chgData name="Kanyarat &lt;Poon&gt; Sirathananan" userId="S::kanyaratmangk@cpall.co.th::2e7efd98-0b09-4d16-b39d-fc9529b97342" providerId="AD" clId="Web-{42CE86C1-487C-BF34-981D-D03EF9A29EE2}" dt="2026-02-06T10:24:56.635" v="222" actId="1076"/>
          <ac:spMkLst>
            <pc:docMk/>
            <pc:sldMk cId="2962691459" sldId="515"/>
            <ac:spMk id="7" creationId="{27CEC102-052C-7E8A-953E-74305A7BFB89}"/>
          </ac:spMkLst>
        </pc:spChg>
        <pc:spChg chg="mod">
          <ac:chgData name="Kanyarat &lt;Poon&gt; Sirathananan" userId="S::kanyaratmangk@cpall.co.th::2e7efd98-0b09-4d16-b39d-fc9529b97342" providerId="AD" clId="Web-{42CE86C1-487C-BF34-981D-D03EF9A29EE2}" dt="2026-02-06T10:35:28.373" v="269" actId="1076"/>
          <ac:spMkLst>
            <pc:docMk/>
            <pc:sldMk cId="2962691459" sldId="515"/>
            <ac:spMk id="8" creationId="{48665B7D-B46B-BD83-97DE-91FD2B2941FF}"/>
          </ac:spMkLst>
        </pc:spChg>
      </pc:sldChg>
      <pc:sldChg chg="modSp">
        <pc:chgData name="Kanyarat &lt;Poon&gt; Sirathananan" userId="S::kanyaratmangk@cpall.co.th::2e7efd98-0b09-4d16-b39d-fc9529b97342" providerId="AD" clId="Web-{42CE86C1-487C-BF34-981D-D03EF9A29EE2}" dt="2026-02-06T09:39:37.664" v="79" actId="1076"/>
        <pc:sldMkLst>
          <pc:docMk/>
          <pc:sldMk cId="4105795666" sldId="518"/>
        </pc:sldMkLst>
        <pc:spChg chg="mod">
          <ac:chgData name="Kanyarat &lt;Poon&gt; Sirathananan" userId="S::kanyaratmangk@cpall.co.th::2e7efd98-0b09-4d16-b39d-fc9529b97342" providerId="AD" clId="Web-{42CE86C1-487C-BF34-981D-D03EF9A29EE2}" dt="2026-02-06T09:39:31.226" v="76" actId="20577"/>
          <ac:spMkLst>
            <pc:docMk/>
            <pc:sldMk cId="4105795666" sldId="518"/>
            <ac:spMk id="2" creationId="{04AC2602-F69F-9256-51AE-4EFCD4E83176}"/>
          </ac:spMkLst>
        </pc:spChg>
        <pc:spChg chg="mod">
          <ac:chgData name="Kanyarat &lt;Poon&gt; Sirathananan" userId="S::kanyaratmangk@cpall.co.th::2e7efd98-0b09-4d16-b39d-fc9529b97342" providerId="AD" clId="Web-{42CE86C1-487C-BF34-981D-D03EF9A29EE2}" dt="2026-02-06T09:39:37.633" v="77" actId="1076"/>
          <ac:spMkLst>
            <pc:docMk/>
            <pc:sldMk cId="4105795666" sldId="518"/>
            <ac:spMk id="5" creationId="{43CAD0D1-A825-EA18-0A63-DD47DB9F34F5}"/>
          </ac:spMkLst>
        </pc:spChg>
        <pc:spChg chg="mod">
          <ac:chgData name="Kanyarat &lt;Poon&gt; Sirathananan" userId="S::kanyaratmangk@cpall.co.th::2e7efd98-0b09-4d16-b39d-fc9529b97342" providerId="AD" clId="Web-{42CE86C1-487C-BF34-981D-D03EF9A29EE2}" dt="2026-02-06T09:39:37.664" v="79" actId="1076"/>
          <ac:spMkLst>
            <pc:docMk/>
            <pc:sldMk cId="4105795666" sldId="518"/>
            <ac:spMk id="10" creationId="{39657D60-38BF-E76C-2B71-60048FEC5B3B}"/>
          </ac:spMkLst>
        </pc:spChg>
        <pc:picChg chg="mod">
          <ac:chgData name="Kanyarat &lt;Poon&gt; Sirathananan" userId="S::kanyaratmangk@cpall.co.th::2e7efd98-0b09-4d16-b39d-fc9529b97342" providerId="AD" clId="Web-{42CE86C1-487C-BF34-981D-D03EF9A29EE2}" dt="2026-02-06T09:39:37.649" v="78" actId="1076"/>
          <ac:picMkLst>
            <pc:docMk/>
            <pc:sldMk cId="4105795666" sldId="518"/>
            <ac:picMk id="8" creationId="{FABC7BFF-A4BD-96D7-59D7-8875A16270D8}"/>
          </ac:picMkLst>
        </pc:picChg>
      </pc:sldChg>
      <pc:sldChg chg="modSp">
        <pc:chgData name="Kanyarat &lt;Poon&gt; Sirathananan" userId="S::kanyaratmangk@cpall.co.th::2e7efd98-0b09-4d16-b39d-fc9529b97342" providerId="AD" clId="Web-{42CE86C1-487C-BF34-981D-D03EF9A29EE2}" dt="2026-02-06T10:45:40.565" v="406" actId="1076"/>
        <pc:sldMkLst>
          <pc:docMk/>
          <pc:sldMk cId="919155251" sldId="525"/>
        </pc:sldMkLst>
        <pc:spChg chg="mod">
          <ac:chgData name="Kanyarat &lt;Poon&gt; Sirathananan" userId="S::kanyaratmangk@cpall.co.th::2e7efd98-0b09-4d16-b39d-fc9529b97342" providerId="AD" clId="Web-{42CE86C1-487C-BF34-981D-D03EF9A29EE2}" dt="2026-02-06T10:45:18.581" v="404" actId="20577"/>
          <ac:spMkLst>
            <pc:docMk/>
            <pc:sldMk cId="919155251" sldId="525"/>
            <ac:spMk id="2" creationId="{125D8DB2-2960-C441-1133-2268FBDD48D7}"/>
          </ac:spMkLst>
        </pc:spChg>
        <pc:spChg chg="mod">
          <ac:chgData name="Kanyarat &lt;Poon&gt; Sirathananan" userId="S::kanyaratmangk@cpall.co.th::2e7efd98-0b09-4d16-b39d-fc9529b97342" providerId="AD" clId="Web-{42CE86C1-487C-BF34-981D-D03EF9A29EE2}" dt="2026-02-06T10:45:40.565" v="406" actId="1076"/>
          <ac:spMkLst>
            <pc:docMk/>
            <pc:sldMk cId="919155251" sldId="525"/>
            <ac:spMk id="6" creationId="{F460AEB4-84CC-8C83-A515-9FA8F84849E9}"/>
          </ac:spMkLst>
        </pc:spChg>
      </pc:sldChg>
      <pc:sldChg chg="addSp">
        <pc:chgData name="Kanyarat &lt;Poon&gt; Sirathananan" userId="S::kanyaratmangk@cpall.co.th::2e7efd98-0b09-4d16-b39d-fc9529b97342" providerId="AD" clId="Web-{42CE86C1-487C-BF34-981D-D03EF9A29EE2}" dt="2026-02-06T10:49:35.506" v="459"/>
        <pc:sldMkLst>
          <pc:docMk/>
          <pc:sldMk cId="4170133137" sldId="540"/>
        </pc:sldMkLst>
      </pc:sldChg>
      <pc:sldChg chg="addSp">
        <pc:chgData name="Kanyarat &lt;Poon&gt; Sirathananan" userId="S::kanyaratmangk@cpall.co.th::2e7efd98-0b09-4d16-b39d-fc9529b97342" providerId="AD" clId="Web-{42CE86C1-487C-BF34-981D-D03EF9A29EE2}" dt="2026-02-06T11:03:34.582" v="619"/>
        <pc:sldMkLst>
          <pc:docMk/>
          <pc:sldMk cId="296303415" sldId="541"/>
        </pc:sldMkLst>
      </pc:sldChg>
      <pc:sldChg chg="addSp delSp modSp">
        <pc:chgData name="Kanyarat &lt;Poon&gt; Sirathananan" userId="S::kanyaratmangk@cpall.co.th::2e7efd98-0b09-4d16-b39d-fc9529b97342" providerId="AD" clId="Web-{42CE86C1-487C-BF34-981D-D03EF9A29EE2}" dt="2026-02-06T10:46:01.425" v="412" actId="1076"/>
        <pc:sldMkLst>
          <pc:docMk/>
          <pc:sldMk cId="2988184462" sldId="545"/>
        </pc:sldMkLst>
        <pc:spChg chg="mod">
          <ac:chgData name="Kanyarat &lt;Poon&gt; Sirathananan" userId="S::kanyaratmangk@cpall.co.th::2e7efd98-0b09-4d16-b39d-fc9529b97342" providerId="AD" clId="Web-{42CE86C1-487C-BF34-981D-D03EF9A29EE2}" dt="2026-02-06T10:46:01.425" v="412" actId="1076"/>
          <ac:spMkLst>
            <pc:docMk/>
            <pc:sldMk cId="2988184462" sldId="545"/>
            <ac:spMk id="6" creationId="{7662B4D9-474A-9A78-153D-499E992CEF3B}"/>
          </ac:spMkLst>
        </pc:spChg>
        <pc:spChg chg="add">
          <ac:chgData name="Kanyarat &lt;Poon&gt; Sirathananan" userId="S::kanyaratmangk@cpall.co.th::2e7efd98-0b09-4d16-b39d-fc9529b97342" providerId="AD" clId="Web-{42CE86C1-487C-BF34-981D-D03EF9A29EE2}" dt="2026-02-06T10:45:54.097" v="411"/>
          <ac:spMkLst>
            <pc:docMk/>
            <pc:sldMk cId="2988184462" sldId="545"/>
            <ac:spMk id="9" creationId="{4BDD64DC-6A00-1CE9-262C-EC56F2A55ED4}"/>
          </ac:spMkLst>
        </pc:spChg>
      </pc:sldChg>
      <pc:sldChg chg="addSp">
        <pc:chgData name="Kanyarat &lt;Poon&gt; Sirathananan" userId="S::kanyaratmangk@cpall.co.th::2e7efd98-0b09-4d16-b39d-fc9529b97342" providerId="AD" clId="Web-{42CE86C1-487C-BF34-981D-D03EF9A29EE2}" dt="2026-02-06T11:04:16.010" v="620"/>
        <pc:sldMkLst>
          <pc:docMk/>
          <pc:sldMk cId="3330108789" sldId="548"/>
        </pc:sldMkLst>
      </pc:sldChg>
      <pc:sldChg chg="addSp delSp modSp">
        <pc:chgData name="Kanyarat &lt;Poon&gt; Sirathananan" userId="S::kanyaratmangk@cpall.co.th::2e7efd98-0b09-4d16-b39d-fc9529b97342" providerId="AD" clId="Web-{42CE86C1-487C-BF34-981D-D03EF9A29EE2}" dt="2026-02-06T10:48:40.381" v="458" actId="20577"/>
        <pc:sldMkLst>
          <pc:docMk/>
          <pc:sldMk cId="920615987" sldId="549"/>
        </pc:sldMkLst>
        <pc:spChg chg="mod">
          <ac:chgData name="Kanyarat &lt;Poon&gt; Sirathananan" userId="S::kanyaratmangk@cpall.co.th::2e7efd98-0b09-4d16-b39d-fc9529b97342" providerId="AD" clId="Web-{42CE86C1-487C-BF34-981D-D03EF9A29EE2}" dt="2026-02-06T10:45:37.003" v="405" actId="1076"/>
          <ac:spMkLst>
            <pc:docMk/>
            <pc:sldMk cId="920615987" sldId="549"/>
            <ac:spMk id="6" creationId="{10B351CB-B76F-C2F4-55A4-3180D37359BF}"/>
          </ac:spMkLst>
        </pc:spChg>
        <pc:spChg chg="add">
          <ac:chgData name="Kanyarat &lt;Poon&gt; Sirathananan" userId="S::kanyaratmangk@cpall.co.th::2e7efd98-0b09-4d16-b39d-fc9529b97342" providerId="AD" clId="Web-{42CE86C1-487C-BF34-981D-D03EF9A29EE2}" dt="2026-02-06T10:45:44.706" v="408"/>
          <ac:spMkLst>
            <pc:docMk/>
            <pc:sldMk cId="920615987" sldId="549"/>
            <ac:spMk id="8" creationId="{4A829BE6-866D-B2F7-DFAA-C3B097EC0411}"/>
          </ac:spMkLst>
        </pc:spChg>
        <pc:spChg chg="add mod">
          <ac:chgData name="Kanyarat &lt;Poon&gt; Sirathananan" userId="S::kanyaratmangk@cpall.co.th::2e7efd98-0b09-4d16-b39d-fc9529b97342" providerId="AD" clId="Web-{42CE86C1-487C-BF34-981D-D03EF9A29EE2}" dt="2026-02-06T10:48:40.381" v="458" actId="20577"/>
          <ac:spMkLst>
            <pc:docMk/>
            <pc:sldMk cId="920615987" sldId="549"/>
            <ac:spMk id="9" creationId="{2081A5E8-2B12-651F-7897-04DB8E5CB148}"/>
          </ac:spMkLst>
        </pc:spChg>
        <pc:spChg chg="mod">
          <ac:chgData name="Kanyarat &lt;Poon&gt; Sirathananan" userId="S::kanyaratmangk@cpall.co.th::2e7efd98-0b09-4d16-b39d-fc9529b97342" providerId="AD" clId="Web-{42CE86C1-487C-BF34-981D-D03EF9A29EE2}" dt="2026-02-06T10:47:29.036" v="431" actId="20577"/>
          <ac:spMkLst>
            <pc:docMk/>
            <pc:sldMk cId="920615987" sldId="549"/>
            <ac:spMk id="20" creationId="{51805969-A91B-D51B-7CA8-FCDE01B3EA37}"/>
          </ac:spMkLst>
        </pc:spChg>
      </pc:sldChg>
      <pc:sldChg chg="addSp modSp">
        <pc:chgData name="Kanyarat &lt;Poon&gt; Sirathananan" userId="S::kanyaratmangk@cpall.co.th::2e7efd98-0b09-4d16-b39d-fc9529b97342" providerId="AD" clId="Web-{42CE86C1-487C-BF34-981D-D03EF9A29EE2}" dt="2026-02-06T11:00:23.973" v="618"/>
        <pc:sldMkLst>
          <pc:docMk/>
          <pc:sldMk cId="582573493" sldId="550"/>
        </pc:sldMkLst>
        <pc:spChg chg="add mod">
          <ac:chgData name="Kanyarat &lt;Poon&gt; Sirathananan" userId="S::kanyaratmangk@cpall.co.th::2e7efd98-0b09-4d16-b39d-fc9529b97342" providerId="AD" clId="Web-{42CE86C1-487C-BF34-981D-D03EF9A29EE2}" dt="2026-02-06T11:00:23.973" v="618"/>
          <ac:spMkLst>
            <pc:docMk/>
            <pc:sldMk cId="582573493" sldId="550"/>
            <ac:spMk id="3" creationId="{499AD164-0D62-837E-4067-F6F635285657}"/>
          </ac:spMkLst>
        </pc:spChg>
        <pc:spChg chg="mod">
          <ac:chgData name="Kanyarat &lt;Poon&gt; Sirathananan" userId="S::kanyaratmangk@cpall.co.th::2e7efd98-0b09-4d16-b39d-fc9529b97342" providerId="AD" clId="Web-{42CE86C1-487C-BF34-981D-D03EF9A29EE2}" dt="2026-02-06T10:50:44.478" v="469" actId="20577"/>
          <ac:spMkLst>
            <pc:docMk/>
            <pc:sldMk cId="582573493" sldId="550"/>
            <ac:spMk id="16" creationId="{880C1B3A-0713-B23B-F929-A5628E20B785}"/>
          </ac:spMkLst>
        </pc:spChg>
        <pc:spChg chg="mod">
          <ac:chgData name="Kanyarat &lt;Poon&gt; Sirathananan" userId="S::kanyaratmangk@cpall.co.th::2e7efd98-0b09-4d16-b39d-fc9529b97342" providerId="AD" clId="Web-{42CE86C1-487C-BF34-981D-D03EF9A29EE2}" dt="2026-02-06T10:59:32.238" v="597" actId="20577"/>
          <ac:spMkLst>
            <pc:docMk/>
            <pc:sldMk cId="582573493" sldId="550"/>
            <ac:spMk id="18" creationId="{8EF48DBA-02E7-AA4C-3BE7-5822A898BF07}"/>
          </ac:spMkLst>
        </pc:spChg>
      </pc:sldChg>
      <pc:sldChg chg="modSp add ord replId">
        <pc:chgData name="Kanyarat &lt;Poon&gt; Sirathananan" userId="S::kanyaratmangk@cpall.co.th::2e7efd98-0b09-4d16-b39d-fc9529b97342" providerId="AD" clId="Web-{42CE86C1-487C-BF34-981D-D03EF9A29EE2}" dt="2026-02-06T11:17:11.356" v="711" actId="20577"/>
        <pc:sldMkLst>
          <pc:docMk/>
          <pc:sldMk cId="3896913692" sldId="557"/>
        </pc:sldMkLst>
        <pc:spChg chg="mod">
          <ac:chgData name="Kanyarat &lt;Poon&gt; Sirathananan" userId="S::kanyaratmangk@cpall.co.th::2e7efd98-0b09-4d16-b39d-fc9529b97342" providerId="AD" clId="Web-{42CE86C1-487C-BF34-981D-D03EF9A29EE2}" dt="2026-02-06T11:17:11.356" v="711" actId="20577"/>
          <ac:spMkLst>
            <pc:docMk/>
            <pc:sldMk cId="3896913692" sldId="557"/>
            <ac:spMk id="3" creationId="{B092C8AA-E701-A793-5417-8D0053EC44AD}"/>
          </ac:spMkLst>
        </pc:spChg>
      </pc:sldChg>
    </pc:docChg>
  </pc:docChgLst>
  <pc:docChgLst>
    <pc:chgData name="Kanyarat &lt;Poon&gt; Sirathananan" userId="S::kanyaratmangk@cpall.co.th::2e7efd98-0b09-4d16-b39d-fc9529b97342" providerId="AD" clId="Web-{F770B6C5-C663-7821-AA5D-9C04FF52900E}"/>
    <pc:docChg chg="addSld modSld modSection">
      <pc:chgData name="Kanyarat &lt;Poon&gt; Sirathananan" userId="S::kanyaratmangk@cpall.co.th::2e7efd98-0b09-4d16-b39d-fc9529b97342" providerId="AD" clId="Web-{F770B6C5-C663-7821-AA5D-9C04FF52900E}" dt="2026-02-24T02:58:58.274" v="64"/>
      <pc:docMkLst>
        <pc:docMk/>
      </pc:docMkLst>
      <pc:sldChg chg="modSp">
        <pc:chgData name="Kanyarat &lt;Poon&gt; Sirathananan" userId="S::kanyaratmangk@cpall.co.th::2e7efd98-0b09-4d16-b39d-fc9529b97342" providerId="AD" clId="Web-{F770B6C5-C663-7821-AA5D-9C04FF52900E}" dt="2026-02-24T02:54:08.418" v="56" actId="20577"/>
        <pc:sldMkLst>
          <pc:docMk/>
          <pc:sldMk cId="0" sldId="256"/>
        </pc:sldMkLst>
        <pc:spChg chg="mod">
          <ac:chgData name="Kanyarat &lt;Poon&gt; Sirathananan" userId="S::kanyaratmangk@cpall.co.th::2e7efd98-0b09-4d16-b39d-fc9529b97342" providerId="AD" clId="Web-{F770B6C5-C663-7821-AA5D-9C04FF52900E}" dt="2026-02-24T02:54:08.418" v="56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delSp modSp">
        <pc:chgData name="Kanyarat &lt;Poon&gt; Sirathananan" userId="S::kanyaratmangk@cpall.co.th::2e7efd98-0b09-4d16-b39d-fc9529b97342" providerId="AD" clId="Web-{F770B6C5-C663-7821-AA5D-9C04FF52900E}" dt="2026-02-24T02:52:01.799" v="55" actId="20577"/>
        <pc:sldMkLst>
          <pc:docMk/>
          <pc:sldMk cId="583975524" sldId="553"/>
        </pc:sldMkLst>
        <pc:spChg chg="add mod">
          <ac:chgData name="Kanyarat &lt;Poon&gt; Sirathananan" userId="S::kanyaratmangk@cpall.co.th::2e7efd98-0b09-4d16-b39d-fc9529b97342" providerId="AD" clId="Web-{F770B6C5-C663-7821-AA5D-9C04FF52900E}" dt="2026-02-24T02:52:01.799" v="55" actId="20577"/>
          <ac:spMkLst>
            <pc:docMk/>
            <pc:sldMk cId="583975524" sldId="553"/>
            <ac:spMk id="8" creationId="{D8A4A199-8A26-DD38-CD7F-CCE5C9093345}"/>
          </ac:spMkLst>
        </pc:spChg>
        <pc:picChg chg="add mod">
          <ac:chgData name="Kanyarat &lt;Poon&gt; Sirathananan" userId="S::kanyaratmangk@cpall.co.th::2e7efd98-0b09-4d16-b39d-fc9529b97342" providerId="AD" clId="Web-{F770B6C5-C663-7821-AA5D-9C04FF52900E}" dt="2026-02-24T02:50:36.554" v="10" actId="1076"/>
          <ac:picMkLst>
            <pc:docMk/>
            <pc:sldMk cId="583975524" sldId="553"/>
            <ac:picMk id="2" creationId="{14895C30-737A-B409-19C1-44F2DAFC7D90}"/>
          </ac:picMkLst>
        </pc:picChg>
      </pc:sldChg>
      <pc:sldChg chg="modSp">
        <pc:chgData name="Kanyarat &lt;Poon&gt; Sirathananan" userId="S::kanyaratmangk@cpall.co.th::2e7efd98-0b09-4d16-b39d-fc9529b97342" providerId="AD" clId="Web-{F770B6C5-C663-7821-AA5D-9C04FF52900E}" dt="2026-02-24T02:58:58.274" v="64"/>
        <pc:sldMkLst>
          <pc:docMk/>
          <pc:sldMk cId="1996038634" sldId="559"/>
        </pc:sldMkLst>
        <pc:graphicFrameChg chg="mod modGraphic">
          <ac:chgData name="Kanyarat &lt;Poon&gt; Sirathananan" userId="S::kanyaratmangk@cpall.co.th::2e7efd98-0b09-4d16-b39d-fc9529b97342" providerId="AD" clId="Web-{F770B6C5-C663-7821-AA5D-9C04FF52900E}" dt="2026-02-24T02:58:58.274" v="64"/>
          <ac:graphicFrameMkLst>
            <pc:docMk/>
            <pc:sldMk cId="1996038634" sldId="559"/>
            <ac:graphicFrameMk id="14" creationId="{554FA275-1DBE-2F5B-5D8C-1A815A28985A}"/>
          </ac:graphicFrameMkLst>
        </pc:graphicFrameChg>
      </pc:sldChg>
      <pc:sldChg chg="addSp delSp modSp add replId">
        <pc:chgData name="Kanyarat &lt;Poon&gt; Sirathananan" userId="S::kanyaratmangk@cpall.co.th::2e7efd98-0b09-4d16-b39d-fc9529b97342" providerId="AD" clId="Web-{F770B6C5-C663-7821-AA5D-9C04FF52900E}" dt="2026-02-24T02:50:01.018" v="7"/>
        <pc:sldMkLst>
          <pc:docMk/>
          <pc:sldMk cId="2507605367" sldId="564"/>
        </pc:sldMkLst>
        <pc:picChg chg="add mod">
          <ac:chgData name="Kanyarat &lt;Poon&gt; Sirathananan" userId="S::kanyaratmangk@cpall.co.th::2e7efd98-0b09-4d16-b39d-fc9529b97342" providerId="AD" clId="Web-{F770B6C5-C663-7821-AA5D-9C04FF52900E}" dt="2026-02-24T02:50:01.018" v="7"/>
          <ac:picMkLst>
            <pc:docMk/>
            <pc:sldMk cId="2507605367" sldId="564"/>
            <ac:picMk id="7" creationId="{10854514-EB45-5216-8449-612B61FC3A18}"/>
          </ac:picMkLst>
        </pc:picChg>
      </pc:sldChg>
    </pc:docChg>
  </pc:docChgLst>
  <pc:docChgLst>
    <pc:chgData name="Kanyarat &lt;Poon&gt; Sirathananan" userId="S::kanyaratmangk@cpall.co.th::2e7efd98-0b09-4d16-b39d-fc9529b97342" providerId="AD" clId="Web-{F0D7E3FF-E69E-1949-052E-DA94FC01174D}"/>
    <pc:docChg chg="modSld">
      <pc:chgData name="Kanyarat &lt;Poon&gt; Sirathananan" userId="S::kanyaratmangk@cpall.co.th::2e7efd98-0b09-4d16-b39d-fc9529b97342" providerId="AD" clId="Web-{F0D7E3FF-E69E-1949-052E-DA94FC01174D}" dt="2026-02-04T02:39:12.586" v="2" actId="14100"/>
      <pc:docMkLst>
        <pc:docMk/>
      </pc:docMkLst>
      <pc:sldChg chg="addSp modSp">
        <pc:chgData name="Kanyarat &lt;Poon&gt; Sirathananan" userId="S::kanyaratmangk@cpall.co.th::2e7efd98-0b09-4d16-b39d-fc9529b97342" providerId="AD" clId="Web-{F0D7E3FF-E69E-1949-052E-DA94FC01174D}" dt="2026-02-04T02:39:12.586" v="2" actId="14100"/>
        <pc:sldMkLst>
          <pc:docMk/>
          <pc:sldMk cId="2964631754" sldId="544"/>
        </pc:sldMkLst>
        <pc:picChg chg="add mod">
          <ac:chgData name="Kanyarat &lt;Poon&gt; Sirathananan" userId="S::kanyaratmangk@cpall.co.th::2e7efd98-0b09-4d16-b39d-fc9529b97342" providerId="AD" clId="Web-{F0D7E3FF-E69E-1949-052E-DA94FC01174D}" dt="2026-02-04T02:39:12.586" v="2" actId="14100"/>
          <ac:picMkLst>
            <pc:docMk/>
            <pc:sldMk cId="2964631754" sldId="544"/>
            <ac:picMk id="57" creationId="{ADD206B7-B5C3-EDB9-C488-46DC6597C9FA}"/>
          </ac:picMkLst>
        </pc:picChg>
      </pc:sldChg>
    </pc:docChg>
  </pc:docChgLst>
  <pc:docChgLst>
    <pc:chgData name="Kanyarat &lt;Poon&gt; Sirathananan" userId="S::kanyaratmangk@cpall.co.th::2e7efd98-0b09-4d16-b39d-fc9529b97342" providerId="AD" clId="Web-{2BEFB1DD-48DF-0197-B088-1D9CA9B70C8C}"/>
    <pc:docChg chg="addSld delSld modSld sldOrd addSection delSection modSection">
      <pc:chgData name="Kanyarat &lt;Poon&gt; Sirathananan" userId="S::kanyaratmangk@cpall.co.th::2e7efd98-0b09-4d16-b39d-fc9529b97342" providerId="AD" clId="Web-{2BEFB1DD-48DF-0197-B088-1D9CA9B70C8C}" dt="2026-02-12T07:48:42.057" v="1043" actId="20577"/>
      <pc:docMkLst>
        <pc:docMk/>
      </pc:docMkLst>
      <pc:sldChg chg="modSp">
        <pc:chgData name="Kanyarat &lt;Poon&gt; Sirathananan" userId="S::kanyaratmangk@cpall.co.th::2e7efd98-0b09-4d16-b39d-fc9529b97342" providerId="AD" clId="Web-{2BEFB1DD-48DF-0197-B088-1D9CA9B70C8C}" dt="2026-02-12T02:02:36.032" v="2" actId="20577"/>
        <pc:sldMkLst>
          <pc:docMk/>
          <pc:sldMk cId="0" sldId="256"/>
        </pc:sldMkLst>
        <pc:spChg chg="mod">
          <ac:chgData name="Kanyarat &lt;Poon&gt; Sirathananan" userId="S::kanyaratmangk@cpall.co.th::2e7efd98-0b09-4d16-b39d-fc9529b97342" providerId="AD" clId="Web-{2BEFB1DD-48DF-0197-B088-1D9CA9B70C8C}" dt="2026-02-12T02:02:36.032" v="2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delSp modSp">
        <pc:chgData name="Kanyarat &lt;Poon&gt; Sirathananan" userId="S::kanyaratmangk@cpall.co.th::2e7efd98-0b09-4d16-b39d-fc9529b97342" providerId="AD" clId="Web-{2BEFB1DD-48DF-0197-B088-1D9CA9B70C8C}" dt="2026-02-12T03:34:23.217" v="992" actId="20577"/>
        <pc:sldMkLst>
          <pc:docMk/>
          <pc:sldMk cId="496265058" sldId="477"/>
        </pc:sldMkLst>
        <pc:spChg chg="mod">
          <ac:chgData name="Kanyarat &lt;Poon&gt; Sirathananan" userId="S::kanyaratmangk@cpall.co.th::2e7efd98-0b09-4d16-b39d-fc9529b97342" providerId="AD" clId="Web-{2BEFB1DD-48DF-0197-B088-1D9CA9B70C8C}" dt="2026-02-12T03:34:23.217" v="992" actId="20577"/>
          <ac:spMkLst>
            <pc:docMk/>
            <pc:sldMk cId="496265058" sldId="477"/>
            <ac:spMk id="3" creationId="{B81A5C48-5E2F-C330-F60B-27C555533A86}"/>
          </ac:spMkLst>
        </pc:spChg>
        <pc:graphicFrameChg chg="add mod modGraphic">
          <ac:chgData name="Kanyarat &lt;Poon&gt; Sirathananan" userId="S::kanyaratmangk@cpall.co.th::2e7efd98-0b09-4d16-b39d-fc9529b97342" providerId="AD" clId="Web-{2BEFB1DD-48DF-0197-B088-1D9CA9B70C8C}" dt="2026-02-12T03:28:36.868" v="916" actId="1076"/>
          <ac:graphicFrameMkLst>
            <pc:docMk/>
            <pc:sldMk cId="496265058" sldId="477"/>
            <ac:graphicFrameMk id="6" creationId="{B7EC694C-D3A8-835B-673B-8F294327163B}"/>
          </ac:graphicFrameMkLst>
        </pc:graphicFrameChg>
      </pc:sldChg>
      <pc:sldChg chg="modSp">
        <pc:chgData name="Kanyarat &lt;Poon&gt; Sirathananan" userId="S::kanyaratmangk@cpall.co.th::2e7efd98-0b09-4d16-b39d-fc9529b97342" providerId="AD" clId="Web-{2BEFB1DD-48DF-0197-B088-1D9CA9B70C8C}" dt="2026-02-12T02:22:35.766" v="88" actId="20577"/>
        <pc:sldMkLst>
          <pc:docMk/>
          <pc:sldMk cId="2962691459" sldId="515"/>
        </pc:sldMkLst>
        <pc:spChg chg="mod">
          <ac:chgData name="Kanyarat &lt;Poon&gt; Sirathananan" userId="S::kanyaratmangk@cpall.co.th::2e7efd98-0b09-4d16-b39d-fc9529b97342" providerId="AD" clId="Web-{2BEFB1DD-48DF-0197-B088-1D9CA9B70C8C}" dt="2026-02-12T02:20:20.263" v="20" actId="1076"/>
          <ac:spMkLst>
            <pc:docMk/>
            <pc:sldMk cId="2962691459" sldId="515"/>
            <ac:spMk id="2" creationId="{3B3E8D4B-B0BD-F5E8-7E27-4AD756581946}"/>
          </ac:spMkLst>
        </pc:spChg>
        <pc:spChg chg="mod">
          <ac:chgData name="Kanyarat &lt;Poon&gt; Sirathananan" userId="S::kanyaratmangk@cpall.co.th::2e7efd98-0b09-4d16-b39d-fc9529b97342" providerId="AD" clId="Web-{2BEFB1DD-48DF-0197-B088-1D9CA9B70C8C}" dt="2026-02-12T02:20:20.294" v="21" actId="1076"/>
          <ac:spMkLst>
            <pc:docMk/>
            <pc:sldMk cId="2962691459" sldId="515"/>
            <ac:spMk id="3" creationId="{D0B790CC-366C-7A57-5F4F-E0B4AEB5F284}"/>
          </ac:spMkLst>
        </pc:spChg>
        <pc:spChg chg="mod">
          <ac:chgData name="Kanyarat &lt;Poon&gt; Sirathananan" userId="S::kanyaratmangk@cpall.co.th::2e7efd98-0b09-4d16-b39d-fc9529b97342" providerId="AD" clId="Web-{2BEFB1DD-48DF-0197-B088-1D9CA9B70C8C}" dt="2026-02-12T02:22:35.766" v="88" actId="20577"/>
          <ac:spMkLst>
            <pc:docMk/>
            <pc:sldMk cId="2962691459" sldId="515"/>
            <ac:spMk id="4" creationId="{8331F23B-0B2D-310E-B472-B2E12CA5379A}"/>
          </ac:spMkLst>
        </pc:spChg>
        <pc:spChg chg="mod">
          <ac:chgData name="Kanyarat &lt;Poon&gt; Sirathananan" userId="S::kanyaratmangk@cpall.co.th::2e7efd98-0b09-4d16-b39d-fc9529b97342" providerId="AD" clId="Web-{2BEFB1DD-48DF-0197-B088-1D9CA9B70C8C}" dt="2026-02-12T02:20:20.325" v="22" actId="1076"/>
          <ac:spMkLst>
            <pc:docMk/>
            <pc:sldMk cId="2962691459" sldId="515"/>
            <ac:spMk id="6" creationId="{AE6636ED-B926-2EFE-808E-B3050EA49C2E}"/>
          </ac:spMkLst>
        </pc:spChg>
        <pc:spChg chg="mod">
          <ac:chgData name="Kanyarat &lt;Poon&gt; Sirathananan" userId="S::kanyaratmangk@cpall.co.th::2e7efd98-0b09-4d16-b39d-fc9529b97342" providerId="AD" clId="Web-{2BEFB1DD-48DF-0197-B088-1D9CA9B70C8C}" dt="2026-02-12T02:20:20.356" v="23" actId="1076"/>
          <ac:spMkLst>
            <pc:docMk/>
            <pc:sldMk cId="2962691459" sldId="515"/>
            <ac:spMk id="8" creationId="{48665B7D-B46B-BD83-97DE-91FD2B2941FF}"/>
          </ac:spMkLst>
        </pc:spChg>
      </pc:sldChg>
      <pc:sldChg chg="modSp">
        <pc:chgData name="Kanyarat &lt;Poon&gt; Sirathananan" userId="S::kanyaratmangk@cpall.co.th::2e7efd98-0b09-4d16-b39d-fc9529b97342" providerId="AD" clId="Web-{2BEFB1DD-48DF-0197-B088-1D9CA9B70C8C}" dt="2026-02-12T07:48:42.057" v="1043" actId="20577"/>
        <pc:sldMkLst>
          <pc:docMk/>
          <pc:sldMk cId="3549705248" sldId="529"/>
        </pc:sldMkLst>
        <pc:spChg chg="mod">
          <ac:chgData name="Kanyarat &lt;Poon&gt; Sirathananan" userId="S::kanyaratmangk@cpall.co.th::2e7efd98-0b09-4d16-b39d-fc9529b97342" providerId="AD" clId="Web-{2BEFB1DD-48DF-0197-B088-1D9CA9B70C8C}" dt="2026-02-12T07:48:42.057" v="1043" actId="20577"/>
          <ac:spMkLst>
            <pc:docMk/>
            <pc:sldMk cId="3549705248" sldId="529"/>
            <ac:spMk id="2" creationId="{8AA1D012-9D64-888D-BDF9-CA2CBE6F7A4B}"/>
          </ac:spMkLst>
        </pc:spChg>
      </pc:sldChg>
      <pc:sldChg chg="modSp">
        <pc:chgData name="Kanyarat &lt;Poon&gt; Sirathananan" userId="S::kanyaratmangk@cpall.co.th::2e7efd98-0b09-4d16-b39d-fc9529b97342" providerId="AD" clId="Web-{2BEFB1DD-48DF-0197-B088-1D9CA9B70C8C}" dt="2026-02-12T02:32:13.911" v="114" actId="20577"/>
        <pc:sldMkLst>
          <pc:docMk/>
          <pc:sldMk cId="2530294809" sldId="532"/>
        </pc:sldMkLst>
        <pc:spChg chg="mod">
          <ac:chgData name="Kanyarat &lt;Poon&gt; Sirathananan" userId="S::kanyaratmangk@cpall.co.th::2e7efd98-0b09-4d16-b39d-fc9529b97342" providerId="AD" clId="Web-{2BEFB1DD-48DF-0197-B088-1D9CA9B70C8C}" dt="2026-02-12T02:32:13.911" v="114" actId="20577"/>
          <ac:spMkLst>
            <pc:docMk/>
            <pc:sldMk cId="2530294809" sldId="532"/>
            <ac:spMk id="2" creationId="{4E748782-06B3-BC39-7FC8-E185262BEE76}"/>
          </ac:spMkLst>
        </pc:spChg>
      </pc:sldChg>
      <pc:sldChg chg="addSp modSp ord">
        <pc:chgData name="Kanyarat &lt;Poon&gt; Sirathananan" userId="S::kanyaratmangk@cpall.co.th::2e7efd98-0b09-4d16-b39d-fc9529b97342" providerId="AD" clId="Web-{2BEFB1DD-48DF-0197-B088-1D9CA9B70C8C}" dt="2026-02-12T02:58:26.992" v="542" actId="20577"/>
        <pc:sldMkLst>
          <pc:docMk/>
          <pc:sldMk cId="1176418525" sldId="538"/>
        </pc:sldMkLst>
        <pc:spChg chg="add mod">
          <ac:chgData name="Kanyarat &lt;Poon&gt; Sirathananan" userId="S::kanyaratmangk@cpall.co.th::2e7efd98-0b09-4d16-b39d-fc9529b97342" providerId="AD" clId="Web-{2BEFB1DD-48DF-0197-B088-1D9CA9B70C8C}" dt="2026-02-12T02:58:26.992" v="542" actId="20577"/>
          <ac:spMkLst>
            <pc:docMk/>
            <pc:sldMk cId="1176418525" sldId="538"/>
            <ac:spMk id="2" creationId="{2DBB0940-B983-3ECD-0AD1-D5EFC0319415}"/>
          </ac:spMkLst>
        </pc:spChg>
        <pc:spChg chg="mod">
          <ac:chgData name="Kanyarat &lt;Poon&gt; Sirathananan" userId="S::kanyaratmangk@cpall.co.th::2e7efd98-0b09-4d16-b39d-fc9529b97342" providerId="AD" clId="Web-{2BEFB1DD-48DF-0197-B088-1D9CA9B70C8C}" dt="2026-02-12T02:57:31.647" v="526" actId="20577"/>
          <ac:spMkLst>
            <pc:docMk/>
            <pc:sldMk cId="1176418525" sldId="538"/>
            <ac:spMk id="7" creationId="{C987C85B-288B-EA61-8744-082650DC7414}"/>
          </ac:spMkLst>
        </pc:spChg>
        <pc:spChg chg="mod">
          <ac:chgData name="Kanyarat &lt;Poon&gt; Sirathananan" userId="S::kanyaratmangk@cpall.co.th::2e7efd98-0b09-4d16-b39d-fc9529b97342" providerId="AD" clId="Web-{2BEFB1DD-48DF-0197-B088-1D9CA9B70C8C}" dt="2026-02-12T02:57:44.882" v="530" actId="1076"/>
          <ac:spMkLst>
            <pc:docMk/>
            <pc:sldMk cId="1176418525" sldId="538"/>
            <ac:spMk id="9" creationId="{F199ECBE-0693-8566-58A1-135C671D61CE}"/>
          </ac:spMkLst>
        </pc:spChg>
        <pc:spChg chg="mod">
          <ac:chgData name="Kanyarat &lt;Poon&gt; Sirathananan" userId="S::kanyaratmangk@cpall.co.th::2e7efd98-0b09-4d16-b39d-fc9529b97342" providerId="AD" clId="Web-{2BEFB1DD-48DF-0197-B088-1D9CA9B70C8C}" dt="2026-02-12T02:57:44.913" v="532" actId="1076"/>
          <ac:spMkLst>
            <pc:docMk/>
            <pc:sldMk cId="1176418525" sldId="538"/>
            <ac:spMk id="15" creationId="{A3DD1913-7720-C74A-1C2A-667E3D68C9B1}"/>
          </ac:spMkLst>
        </pc:spChg>
        <pc:graphicFrameChg chg="mod">
          <ac:chgData name="Kanyarat &lt;Poon&gt; Sirathananan" userId="S::kanyaratmangk@cpall.co.th::2e7efd98-0b09-4d16-b39d-fc9529b97342" providerId="AD" clId="Web-{2BEFB1DD-48DF-0197-B088-1D9CA9B70C8C}" dt="2026-02-12T02:57:44.897" v="531" actId="1076"/>
          <ac:graphicFrameMkLst>
            <pc:docMk/>
            <pc:sldMk cId="1176418525" sldId="538"/>
            <ac:graphicFrameMk id="13" creationId="{2D38803D-64F1-86D6-3EE4-68CA80DFFBA2}"/>
          </ac:graphicFrameMkLst>
        </pc:graphicFrameChg>
      </pc:sldChg>
      <pc:sldChg chg="addSp delSp modSp">
        <pc:chgData name="Kanyarat &lt;Poon&gt; Sirathananan" userId="S::kanyaratmangk@cpall.co.th::2e7efd98-0b09-4d16-b39d-fc9529b97342" providerId="AD" clId="Web-{2BEFB1DD-48DF-0197-B088-1D9CA9B70C8C}" dt="2026-02-12T02:37:30.742" v="167"/>
        <pc:sldMkLst>
          <pc:docMk/>
          <pc:sldMk cId="4170133137" sldId="540"/>
        </pc:sldMkLst>
        <pc:spChg chg="mod">
          <ac:chgData name="Kanyarat &lt;Poon&gt; Sirathananan" userId="S::kanyaratmangk@cpall.co.th::2e7efd98-0b09-4d16-b39d-fc9529b97342" providerId="AD" clId="Web-{2BEFB1DD-48DF-0197-B088-1D9CA9B70C8C}" dt="2026-02-12T02:36:13.974" v="140" actId="20577"/>
          <ac:spMkLst>
            <pc:docMk/>
            <pc:sldMk cId="4170133137" sldId="540"/>
            <ac:spMk id="7" creationId="{28AC41B1-0F0C-4DBB-699D-D6B12C888326}"/>
          </ac:spMkLst>
        </pc:spChg>
        <pc:spChg chg="mod">
          <ac:chgData name="Kanyarat &lt;Poon&gt; Sirathananan" userId="S::kanyaratmangk@cpall.co.th::2e7efd98-0b09-4d16-b39d-fc9529b97342" providerId="AD" clId="Web-{2BEFB1DD-48DF-0197-B088-1D9CA9B70C8C}" dt="2026-02-12T02:35:12.458" v="117" actId="1076"/>
          <ac:spMkLst>
            <pc:docMk/>
            <pc:sldMk cId="4170133137" sldId="540"/>
            <ac:spMk id="12" creationId="{489AE056-01FE-5600-1CAB-396131B16215}"/>
          </ac:spMkLst>
        </pc:spChg>
        <pc:spChg chg="add mod">
          <ac:chgData name="Kanyarat &lt;Poon&gt; Sirathananan" userId="S::kanyaratmangk@cpall.co.th::2e7efd98-0b09-4d16-b39d-fc9529b97342" providerId="AD" clId="Web-{2BEFB1DD-48DF-0197-B088-1D9CA9B70C8C}" dt="2026-02-12T02:37:19.023" v="166" actId="20577"/>
          <ac:spMkLst>
            <pc:docMk/>
            <pc:sldMk cId="4170133137" sldId="540"/>
            <ac:spMk id="16" creationId="{AD7A932D-00DA-3DCF-D640-AEDEFB4695D7}"/>
          </ac:spMkLst>
        </pc:spChg>
      </pc:sldChg>
      <pc:sldChg chg="addSp delSp modSp">
        <pc:chgData name="Kanyarat &lt;Poon&gt; Sirathananan" userId="S::kanyaratmangk@cpall.co.th::2e7efd98-0b09-4d16-b39d-fc9529b97342" providerId="AD" clId="Web-{2BEFB1DD-48DF-0197-B088-1D9CA9B70C8C}" dt="2026-02-12T03:05:47.401" v="647" actId="20577"/>
        <pc:sldMkLst>
          <pc:docMk/>
          <pc:sldMk cId="296303415" sldId="541"/>
        </pc:sldMkLst>
        <pc:spChg chg="mod">
          <ac:chgData name="Kanyarat &lt;Poon&gt; Sirathananan" userId="S::kanyaratmangk@cpall.co.th::2e7efd98-0b09-4d16-b39d-fc9529b97342" providerId="AD" clId="Web-{2BEFB1DD-48DF-0197-B088-1D9CA9B70C8C}" dt="2026-02-12T02:42:57.701" v="204" actId="20577"/>
          <ac:spMkLst>
            <pc:docMk/>
            <pc:sldMk cId="296303415" sldId="541"/>
            <ac:spMk id="2" creationId="{F078D6E3-CD5A-C2F7-D41B-9D73B75CB378}"/>
          </ac:spMkLst>
        </pc:spChg>
        <pc:spChg chg="mod">
          <ac:chgData name="Kanyarat &lt;Poon&gt; Sirathananan" userId="S::kanyaratmangk@cpall.co.th::2e7efd98-0b09-4d16-b39d-fc9529b97342" providerId="AD" clId="Web-{2BEFB1DD-48DF-0197-B088-1D9CA9B70C8C}" dt="2026-02-12T03:05:47.401" v="647" actId="20577"/>
          <ac:spMkLst>
            <pc:docMk/>
            <pc:sldMk cId="296303415" sldId="541"/>
            <ac:spMk id="4" creationId="{E3E44838-D4CD-F1B2-B853-7AABF3458E3F}"/>
          </ac:spMkLst>
        </pc:spChg>
        <pc:spChg chg="add mod">
          <ac:chgData name="Kanyarat &lt;Poon&gt; Sirathananan" userId="S::kanyaratmangk@cpall.co.th::2e7efd98-0b09-4d16-b39d-fc9529b97342" providerId="AD" clId="Web-{2BEFB1DD-48DF-0197-B088-1D9CA9B70C8C}" dt="2026-02-12T02:41:40.747" v="184"/>
          <ac:spMkLst>
            <pc:docMk/>
            <pc:sldMk cId="296303415" sldId="541"/>
            <ac:spMk id="8" creationId="{1ABCC261-C052-898A-B513-13C89EBC8B5F}"/>
          </ac:spMkLst>
        </pc:spChg>
        <pc:spChg chg="mod">
          <ac:chgData name="Kanyarat &lt;Poon&gt; Sirathananan" userId="S::kanyaratmangk@cpall.co.th::2e7efd98-0b09-4d16-b39d-fc9529b97342" providerId="AD" clId="Web-{2BEFB1DD-48DF-0197-B088-1D9CA9B70C8C}" dt="2026-02-12T02:44:48.483" v="216" actId="20577"/>
          <ac:spMkLst>
            <pc:docMk/>
            <pc:sldMk cId="296303415" sldId="541"/>
            <ac:spMk id="16" creationId="{69395487-4D33-3568-D125-68C813366FB9}"/>
          </ac:spMkLst>
        </pc:spChg>
      </pc:sldChg>
      <pc:sldChg chg="addSp delSp modSp">
        <pc:chgData name="Kanyarat &lt;Poon&gt; Sirathananan" userId="S::kanyaratmangk@cpall.co.th::2e7efd98-0b09-4d16-b39d-fc9529b97342" providerId="AD" clId="Web-{2BEFB1DD-48DF-0197-B088-1D9CA9B70C8C}" dt="2026-02-12T03:36:08.093" v="1019"/>
        <pc:sldMkLst>
          <pc:docMk/>
          <pc:sldMk cId="1817721009" sldId="547"/>
        </pc:sldMkLst>
        <pc:spChg chg="add mod">
          <ac:chgData name="Kanyarat &lt;Poon&gt; Sirathananan" userId="S::kanyaratmangk@cpall.co.th::2e7efd98-0b09-4d16-b39d-fc9529b97342" providerId="AD" clId="Web-{2BEFB1DD-48DF-0197-B088-1D9CA9B70C8C}" dt="2026-02-12T02:17:41.260" v="12" actId="1076"/>
          <ac:spMkLst>
            <pc:docMk/>
            <pc:sldMk cId="1817721009" sldId="547"/>
            <ac:spMk id="3" creationId="{AF17A7BB-84A8-09CB-3937-DAD1CE3FD591}"/>
          </ac:spMkLst>
        </pc:spChg>
        <pc:picChg chg="add mod">
          <ac:chgData name="Kanyarat &lt;Poon&gt; Sirathananan" userId="S::kanyaratmangk@cpall.co.th::2e7efd98-0b09-4d16-b39d-fc9529b97342" providerId="AD" clId="Web-{2BEFB1DD-48DF-0197-B088-1D9CA9B70C8C}" dt="2026-02-12T02:15:08.432" v="8" actId="14100"/>
          <ac:picMkLst>
            <pc:docMk/>
            <pc:sldMk cId="1817721009" sldId="547"/>
            <ac:picMk id="2" creationId="{358FC604-5328-CF96-B608-087DE257BDF5}"/>
          </ac:picMkLst>
        </pc:picChg>
      </pc:sldChg>
      <pc:sldChg chg="addSp delSp modSp">
        <pc:chgData name="Kanyarat &lt;Poon&gt; Sirathananan" userId="S::kanyaratmangk@cpall.co.th::2e7efd98-0b09-4d16-b39d-fc9529b97342" providerId="AD" clId="Web-{2BEFB1DD-48DF-0197-B088-1D9CA9B70C8C}" dt="2026-02-12T03:10:20.027" v="724" actId="1076"/>
        <pc:sldMkLst>
          <pc:docMk/>
          <pc:sldMk cId="3330108789" sldId="548"/>
        </pc:sldMkLst>
        <pc:spChg chg="add mod">
          <ac:chgData name="Kanyarat &lt;Poon&gt; Sirathananan" userId="S::kanyaratmangk@cpall.co.th::2e7efd98-0b09-4d16-b39d-fc9529b97342" providerId="AD" clId="Web-{2BEFB1DD-48DF-0197-B088-1D9CA9B70C8C}" dt="2026-02-12T03:10:20.027" v="724" actId="1076"/>
          <ac:spMkLst>
            <pc:docMk/>
            <pc:sldMk cId="3330108789" sldId="548"/>
            <ac:spMk id="2" creationId="{CFD1E56F-1365-2F80-7934-941F45E01F76}"/>
          </ac:spMkLst>
        </pc:spChg>
        <pc:spChg chg="mod">
          <ac:chgData name="Kanyarat &lt;Poon&gt; Sirathananan" userId="S::kanyaratmangk@cpall.co.th::2e7efd98-0b09-4d16-b39d-fc9529b97342" providerId="AD" clId="Web-{2BEFB1DD-48DF-0197-B088-1D9CA9B70C8C}" dt="2026-02-12T03:09:24.714" v="717" actId="20577"/>
          <ac:spMkLst>
            <pc:docMk/>
            <pc:sldMk cId="3330108789" sldId="548"/>
            <ac:spMk id="4" creationId="{60745095-2300-DF50-AC0C-920596CBCAE9}"/>
          </ac:spMkLst>
        </pc:spChg>
        <pc:spChg chg="mod">
          <ac:chgData name="Kanyarat &lt;Poon&gt; Sirathananan" userId="S::kanyaratmangk@cpall.co.th::2e7efd98-0b09-4d16-b39d-fc9529b97342" providerId="AD" clId="Web-{2BEFB1DD-48DF-0197-B088-1D9CA9B70C8C}" dt="2026-02-12T03:09:55.917" v="718" actId="1076"/>
          <ac:spMkLst>
            <pc:docMk/>
            <pc:sldMk cId="3330108789" sldId="548"/>
            <ac:spMk id="6" creationId="{0A2E02B9-40EF-A9B8-7AED-7219CC75058E}"/>
          </ac:spMkLst>
        </pc:spChg>
        <pc:spChg chg="mod">
          <ac:chgData name="Kanyarat &lt;Poon&gt; Sirathananan" userId="S::kanyaratmangk@cpall.co.th::2e7efd98-0b09-4d16-b39d-fc9529b97342" providerId="AD" clId="Web-{2BEFB1DD-48DF-0197-B088-1D9CA9B70C8C}" dt="2026-02-12T03:10:05.699" v="720" actId="1076"/>
          <ac:spMkLst>
            <pc:docMk/>
            <pc:sldMk cId="3330108789" sldId="548"/>
            <ac:spMk id="8" creationId="{C6982D3B-FBA4-1F18-0512-EDBDACE54416}"/>
          </ac:spMkLst>
        </pc:spChg>
        <pc:spChg chg="mod">
          <ac:chgData name="Kanyarat &lt;Poon&gt; Sirathananan" userId="S::kanyaratmangk@cpall.co.th::2e7efd98-0b09-4d16-b39d-fc9529b97342" providerId="AD" clId="Web-{2BEFB1DD-48DF-0197-B088-1D9CA9B70C8C}" dt="2026-02-12T03:10:00.792" v="719" actId="1076"/>
          <ac:spMkLst>
            <pc:docMk/>
            <pc:sldMk cId="3330108789" sldId="548"/>
            <ac:spMk id="12" creationId="{C9828767-3001-56D1-AF9F-376887270C7C}"/>
          </ac:spMkLst>
        </pc:spChg>
        <pc:graphicFrameChg chg="mod">
          <ac:chgData name="Kanyarat &lt;Poon&gt; Sirathananan" userId="S::kanyaratmangk@cpall.co.th::2e7efd98-0b09-4d16-b39d-fc9529b97342" providerId="AD" clId="Web-{2BEFB1DD-48DF-0197-B088-1D9CA9B70C8C}" dt="2026-02-12T03:10:09.605" v="721" actId="1076"/>
          <ac:graphicFrameMkLst>
            <pc:docMk/>
            <pc:sldMk cId="3330108789" sldId="548"/>
            <ac:graphicFrameMk id="10" creationId="{013B90A9-3B4B-3800-B434-E43ACF62CFEB}"/>
          </ac:graphicFrameMkLst>
        </pc:graphicFrameChg>
      </pc:sldChg>
      <pc:sldChg chg="modSp">
        <pc:chgData name="Kanyarat &lt;Poon&gt; Sirathananan" userId="S::kanyaratmangk@cpall.co.th::2e7efd98-0b09-4d16-b39d-fc9529b97342" providerId="AD" clId="Web-{2BEFB1DD-48DF-0197-B088-1D9CA9B70C8C}" dt="2026-02-12T02:26:29.503" v="96" actId="20577"/>
        <pc:sldMkLst>
          <pc:docMk/>
          <pc:sldMk cId="920615987" sldId="549"/>
        </pc:sldMkLst>
        <pc:spChg chg="mod">
          <ac:chgData name="Kanyarat &lt;Poon&gt; Sirathananan" userId="S::kanyaratmangk@cpall.co.th::2e7efd98-0b09-4d16-b39d-fc9529b97342" providerId="AD" clId="Web-{2BEFB1DD-48DF-0197-B088-1D9CA9B70C8C}" dt="2026-02-12T02:26:29.503" v="96" actId="20577"/>
          <ac:spMkLst>
            <pc:docMk/>
            <pc:sldMk cId="920615987" sldId="549"/>
            <ac:spMk id="20" creationId="{51805969-A91B-D51B-7CA8-FCDE01B3EA37}"/>
          </ac:spMkLst>
        </pc:spChg>
      </pc:sldChg>
      <pc:sldChg chg="modSp">
        <pc:chgData name="Kanyarat &lt;Poon&gt; Sirathananan" userId="S::kanyaratmangk@cpall.co.th::2e7efd98-0b09-4d16-b39d-fc9529b97342" providerId="AD" clId="Web-{2BEFB1DD-48DF-0197-B088-1D9CA9B70C8C}" dt="2026-02-12T02:40:05.777" v="178" actId="20577"/>
        <pc:sldMkLst>
          <pc:docMk/>
          <pc:sldMk cId="582573493" sldId="550"/>
        </pc:sldMkLst>
        <pc:spChg chg="mod">
          <ac:chgData name="Kanyarat &lt;Poon&gt; Sirathananan" userId="S::kanyaratmangk@cpall.co.th::2e7efd98-0b09-4d16-b39d-fc9529b97342" providerId="AD" clId="Web-{2BEFB1DD-48DF-0197-B088-1D9CA9B70C8C}" dt="2026-02-12T02:38:29.259" v="171" actId="1076"/>
          <ac:spMkLst>
            <pc:docMk/>
            <pc:sldMk cId="582573493" sldId="550"/>
            <ac:spMk id="3" creationId="{499AD164-0D62-837E-4067-F6F635285657}"/>
          </ac:spMkLst>
        </pc:spChg>
        <pc:spChg chg="mod">
          <ac:chgData name="Kanyarat &lt;Poon&gt; Sirathananan" userId="S::kanyaratmangk@cpall.co.th::2e7efd98-0b09-4d16-b39d-fc9529b97342" providerId="AD" clId="Web-{2BEFB1DD-48DF-0197-B088-1D9CA9B70C8C}" dt="2026-02-12T02:38:16.384" v="170" actId="20577"/>
          <ac:spMkLst>
            <pc:docMk/>
            <pc:sldMk cId="582573493" sldId="550"/>
            <ac:spMk id="7" creationId="{D1821CCE-3820-85B8-CC73-1610DE9AD40C}"/>
          </ac:spMkLst>
        </pc:spChg>
        <pc:spChg chg="mod">
          <ac:chgData name="Kanyarat &lt;Poon&gt; Sirathananan" userId="S::kanyaratmangk@cpall.co.th::2e7efd98-0b09-4d16-b39d-fc9529b97342" providerId="AD" clId="Web-{2BEFB1DD-48DF-0197-B088-1D9CA9B70C8C}" dt="2026-02-12T02:40:05.777" v="178" actId="20577"/>
          <ac:spMkLst>
            <pc:docMk/>
            <pc:sldMk cId="582573493" sldId="550"/>
            <ac:spMk id="16" creationId="{880C1B3A-0713-B23B-F929-A5628E20B785}"/>
          </ac:spMkLst>
        </pc:spChg>
      </pc:sldChg>
      <pc:sldChg chg="modSp">
        <pc:chgData name="Kanyarat &lt;Poon&gt; Sirathananan" userId="S::kanyaratmangk@cpall.co.th::2e7efd98-0b09-4d16-b39d-fc9529b97342" providerId="AD" clId="Web-{2BEFB1DD-48DF-0197-B088-1D9CA9B70C8C}" dt="2026-02-12T03:22:35.662" v="780" actId="20577"/>
        <pc:sldMkLst>
          <pc:docMk/>
          <pc:sldMk cId="583975524" sldId="553"/>
        </pc:sldMkLst>
      </pc:sldChg>
      <pc:sldChg chg="modSp">
        <pc:chgData name="Kanyarat &lt;Poon&gt; Sirathananan" userId="S::kanyaratmangk@cpall.co.th::2e7efd98-0b09-4d16-b39d-fc9529b97342" providerId="AD" clId="Web-{2BEFB1DD-48DF-0197-B088-1D9CA9B70C8C}" dt="2026-02-12T03:34:34.905" v="993" actId="20577"/>
        <pc:sldMkLst>
          <pc:docMk/>
          <pc:sldMk cId="3896913692" sldId="557"/>
        </pc:sldMkLst>
        <pc:spChg chg="mod">
          <ac:chgData name="Kanyarat &lt;Poon&gt; Sirathananan" userId="S::kanyaratmangk@cpall.co.th::2e7efd98-0b09-4d16-b39d-fc9529b97342" providerId="AD" clId="Web-{2BEFB1DD-48DF-0197-B088-1D9CA9B70C8C}" dt="2026-02-12T03:34:34.905" v="993" actId="20577"/>
          <ac:spMkLst>
            <pc:docMk/>
            <pc:sldMk cId="3896913692" sldId="557"/>
            <ac:spMk id="3" creationId="{B092C8AA-E701-A793-5417-8D0053EC44AD}"/>
          </ac:spMkLst>
        </pc:spChg>
      </pc:sldChg>
      <pc:sldChg chg="addSp delSp modSp add replId">
        <pc:chgData name="Kanyarat &lt;Poon&gt; Sirathananan" userId="S::kanyaratmangk@cpall.co.th::2e7efd98-0b09-4d16-b39d-fc9529b97342" providerId="AD" clId="Web-{2BEFB1DD-48DF-0197-B088-1D9CA9B70C8C}" dt="2026-02-12T07:45:53.413" v="1034" actId="20577"/>
        <pc:sldMkLst>
          <pc:docMk/>
          <pc:sldMk cId="3232995431" sldId="558"/>
        </pc:sldMkLst>
        <pc:spChg chg="add mod">
          <ac:chgData name="Kanyarat &lt;Poon&gt; Sirathananan" userId="S::kanyaratmangk@cpall.co.th::2e7efd98-0b09-4d16-b39d-fc9529b97342" providerId="AD" clId="Web-{2BEFB1DD-48DF-0197-B088-1D9CA9B70C8C}" dt="2026-02-12T07:45:53.413" v="1034" actId="20577"/>
          <ac:spMkLst>
            <pc:docMk/>
            <pc:sldMk cId="3232995431" sldId="558"/>
            <ac:spMk id="3" creationId="{969BD159-E331-B4EC-745C-608038DBC4D4}"/>
          </ac:spMkLst>
        </pc:spChg>
        <pc:spChg chg="mod">
          <ac:chgData name="Kanyarat &lt;Poon&gt; Sirathananan" userId="S::kanyaratmangk@cpall.co.th::2e7efd98-0b09-4d16-b39d-fc9529b97342" providerId="AD" clId="Web-{2BEFB1DD-48DF-0197-B088-1D9CA9B70C8C}" dt="2026-02-12T03:06:07.885" v="650" actId="20577"/>
          <ac:spMkLst>
            <pc:docMk/>
            <pc:sldMk cId="3232995431" sldId="558"/>
            <ac:spMk id="4" creationId="{D0CBD05B-EEE3-AB38-DD30-9E5ADC5C72DE}"/>
          </ac:spMkLst>
        </pc:spChg>
        <pc:spChg chg="add mod">
          <ac:chgData name="Kanyarat &lt;Poon&gt; Sirathananan" userId="S::kanyaratmangk@cpall.co.th::2e7efd98-0b09-4d16-b39d-fc9529b97342" providerId="AD" clId="Web-{2BEFB1DD-48DF-0197-B088-1D9CA9B70C8C}" dt="2026-02-12T02:45:32.030" v="236" actId="1076"/>
          <ac:spMkLst>
            <pc:docMk/>
            <pc:sldMk cId="3232995431" sldId="558"/>
            <ac:spMk id="9" creationId="{569DA2F3-CB50-3529-46CC-DE0970111AB8}"/>
          </ac:spMkLst>
        </pc:spChg>
        <pc:spChg chg="add mod">
          <ac:chgData name="Kanyarat &lt;Poon&gt; Sirathananan" userId="S::kanyaratmangk@cpall.co.th::2e7efd98-0b09-4d16-b39d-fc9529b97342" providerId="AD" clId="Web-{2BEFB1DD-48DF-0197-B088-1D9CA9B70C8C}" dt="2026-02-12T02:45:05.780" v="227" actId="1076"/>
          <ac:spMkLst>
            <pc:docMk/>
            <pc:sldMk cId="3232995431" sldId="558"/>
            <ac:spMk id="10" creationId="{1B3CA071-92BE-A424-9539-2125AF387E2D}"/>
          </ac:spMkLst>
        </pc:spChg>
        <pc:spChg chg="add mod">
          <ac:chgData name="Kanyarat &lt;Poon&gt; Sirathananan" userId="S::kanyaratmangk@cpall.co.th::2e7efd98-0b09-4d16-b39d-fc9529b97342" providerId="AD" clId="Web-{2BEFB1DD-48DF-0197-B088-1D9CA9B70C8C}" dt="2026-02-12T02:45:05.842" v="228" actId="1076"/>
          <ac:spMkLst>
            <pc:docMk/>
            <pc:sldMk cId="3232995431" sldId="558"/>
            <ac:spMk id="11" creationId="{9788693D-B061-8625-B55A-B01A91CB2954}"/>
          </ac:spMkLst>
        </pc:spChg>
        <pc:spChg chg="add mod">
          <ac:chgData name="Kanyarat &lt;Poon&gt; Sirathananan" userId="S::kanyaratmangk@cpall.co.th::2e7efd98-0b09-4d16-b39d-fc9529b97342" providerId="AD" clId="Web-{2BEFB1DD-48DF-0197-B088-1D9CA9B70C8C}" dt="2026-02-12T02:45:40.405" v="237" actId="20577"/>
          <ac:spMkLst>
            <pc:docMk/>
            <pc:sldMk cId="3232995431" sldId="558"/>
            <ac:spMk id="12" creationId="{7E237225-508E-FBAF-7E67-803B2801C65B}"/>
          </ac:spMkLst>
        </pc:spChg>
        <pc:picChg chg="add mod">
          <ac:chgData name="Kanyarat &lt;Poon&gt; Sirathananan" userId="S::kanyaratmangk@cpall.co.th::2e7efd98-0b09-4d16-b39d-fc9529b97342" providerId="AD" clId="Web-{2BEFB1DD-48DF-0197-B088-1D9CA9B70C8C}" dt="2026-02-12T02:45:05.717" v="225" actId="1076"/>
          <ac:picMkLst>
            <pc:docMk/>
            <pc:sldMk cId="3232995431" sldId="558"/>
            <ac:picMk id="7" creationId="{E0401C35-0D81-ACE9-5776-6D71247076BF}"/>
          </ac:picMkLst>
        </pc:picChg>
      </pc:sldChg>
      <pc:sldChg chg="addSp delSp modSp add replId">
        <pc:chgData name="Kanyarat &lt;Poon&gt; Sirathananan" userId="S::kanyaratmangk@cpall.co.th::2e7efd98-0b09-4d16-b39d-fc9529b97342" providerId="AD" clId="Web-{2BEFB1DD-48DF-0197-B088-1D9CA9B70C8C}" dt="2026-02-12T07:46:26.117" v="1037" actId="20577"/>
        <pc:sldMkLst>
          <pc:docMk/>
          <pc:sldMk cId="1996038634" sldId="559"/>
        </pc:sldMkLst>
        <pc:spChg chg="mod">
          <ac:chgData name="Kanyarat &lt;Poon&gt; Sirathananan" userId="S::kanyaratmangk@cpall.co.th::2e7efd98-0b09-4d16-b39d-fc9529b97342" providerId="AD" clId="Web-{2BEFB1DD-48DF-0197-B088-1D9CA9B70C8C}" dt="2026-02-12T03:06:16.010" v="652" actId="20577"/>
          <ac:spMkLst>
            <pc:docMk/>
            <pc:sldMk cId="1996038634" sldId="559"/>
            <ac:spMk id="4" creationId="{CE7C9B45-6841-7C06-B1FD-2CC0F1D72D28}"/>
          </ac:spMkLst>
        </pc:spChg>
        <pc:spChg chg="add mod">
          <ac:chgData name="Kanyarat &lt;Poon&gt; Sirathananan" userId="S::kanyaratmangk@cpall.co.th::2e7efd98-0b09-4d16-b39d-fc9529b97342" providerId="AD" clId="Web-{2BEFB1DD-48DF-0197-B088-1D9CA9B70C8C}" dt="2026-02-12T07:46:26.117" v="1037" actId="20577"/>
          <ac:spMkLst>
            <pc:docMk/>
            <pc:sldMk cId="1996038634" sldId="559"/>
            <ac:spMk id="16" creationId="{D4AAF20C-84B9-6478-3A7C-D0CC7C63F451}"/>
          </ac:spMkLst>
        </pc:spChg>
        <pc:graphicFrameChg chg="mod modGraphic">
          <ac:chgData name="Kanyarat &lt;Poon&gt; Sirathananan" userId="S::kanyaratmangk@cpall.co.th::2e7efd98-0b09-4d16-b39d-fc9529b97342" providerId="AD" clId="Web-{2BEFB1DD-48DF-0197-B088-1D9CA9B70C8C}" dt="2026-02-12T03:08:21.839" v="716" actId="1076"/>
          <ac:graphicFrameMkLst>
            <pc:docMk/>
            <pc:sldMk cId="1996038634" sldId="559"/>
            <ac:graphicFrameMk id="14" creationId="{554FA275-1DBE-2F5B-5D8C-1A815A28985A}"/>
          </ac:graphicFrameMkLst>
        </pc:graphicFrameChg>
      </pc:sldChg>
      <pc:sldChg chg="addSp delSp modSp add ord replId">
        <pc:chgData name="Kanyarat &lt;Poon&gt; Sirathananan" userId="S::kanyaratmangk@cpall.co.th::2e7efd98-0b09-4d16-b39d-fc9529b97342" providerId="AD" clId="Web-{2BEFB1DD-48DF-0197-B088-1D9CA9B70C8C}" dt="2026-02-12T03:05:11.776" v="645" actId="20577"/>
        <pc:sldMkLst>
          <pc:docMk/>
          <pc:sldMk cId="4006391067" sldId="561"/>
        </pc:sldMkLst>
        <pc:spChg chg="add mod">
          <ac:chgData name="Kanyarat &lt;Poon&gt; Sirathananan" userId="S::kanyaratmangk@cpall.co.th::2e7efd98-0b09-4d16-b39d-fc9529b97342" providerId="AD" clId="Web-{2BEFB1DD-48DF-0197-B088-1D9CA9B70C8C}" dt="2026-02-12T03:05:11.776" v="645" actId="20577"/>
          <ac:spMkLst>
            <pc:docMk/>
            <pc:sldMk cId="4006391067" sldId="561"/>
            <ac:spMk id="2" creationId="{5C3CF4A9-663E-EA3B-DD56-38AED33554E0}"/>
          </ac:spMkLst>
        </pc:spChg>
        <pc:spChg chg="add mod">
          <ac:chgData name="Kanyarat &lt;Poon&gt; Sirathananan" userId="S::kanyaratmangk@cpall.co.th::2e7efd98-0b09-4d16-b39d-fc9529b97342" providerId="AD" clId="Web-{2BEFB1DD-48DF-0197-B088-1D9CA9B70C8C}" dt="2026-02-12T03:04:53.026" v="635" actId="20577"/>
          <ac:spMkLst>
            <pc:docMk/>
            <pc:sldMk cId="4006391067" sldId="561"/>
            <ac:spMk id="6" creationId="{2EF1993D-8D4B-43AC-9888-39260F33F3DE}"/>
          </ac:spMkLst>
        </pc:spChg>
        <pc:spChg chg="mod">
          <ac:chgData name="Kanyarat &lt;Poon&gt; Sirathananan" userId="S::kanyaratmangk@cpall.co.th::2e7efd98-0b09-4d16-b39d-fc9529b97342" providerId="AD" clId="Web-{2BEFB1DD-48DF-0197-B088-1D9CA9B70C8C}" dt="2026-02-12T02:57:35.163" v="528" actId="20577"/>
          <ac:spMkLst>
            <pc:docMk/>
            <pc:sldMk cId="4006391067" sldId="561"/>
            <ac:spMk id="7" creationId="{0BDAA32A-D385-B5F6-26B0-CA6C8E386FFD}"/>
          </ac:spMkLst>
        </pc:spChg>
      </pc:sldChg>
      <pc:sldChg chg="addSp delSp modSp add replId">
        <pc:chgData name="Kanyarat &lt;Poon&gt; Sirathananan" userId="S::kanyaratmangk@cpall.co.th::2e7efd98-0b09-4d16-b39d-fc9529b97342" providerId="AD" clId="Web-{2BEFB1DD-48DF-0197-B088-1D9CA9B70C8C}" dt="2026-02-12T03:36:48.093" v="1024" actId="1076"/>
        <pc:sldMkLst>
          <pc:docMk/>
          <pc:sldMk cId="2745609807" sldId="562"/>
        </pc:sldMkLst>
        <pc:spChg chg="add mod">
          <ac:chgData name="Kanyarat &lt;Poon&gt; Sirathananan" userId="S::kanyaratmangk@cpall.co.th::2e7efd98-0b09-4d16-b39d-fc9529b97342" providerId="AD" clId="Web-{2BEFB1DD-48DF-0197-B088-1D9CA9B70C8C}" dt="2026-02-12T03:11:07.653" v="730" actId="1076"/>
          <ac:spMkLst>
            <pc:docMk/>
            <pc:sldMk cId="2745609807" sldId="562"/>
            <ac:spMk id="2" creationId="{20336291-0010-4E81-CC62-833D9B5DFACA}"/>
          </ac:spMkLst>
        </pc:spChg>
        <pc:spChg chg="add mod">
          <ac:chgData name="Kanyarat &lt;Poon&gt; Sirathananan" userId="S::kanyaratmangk@cpall.co.th::2e7efd98-0b09-4d16-b39d-fc9529b97342" providerId="AD" clId="Web-{2BEFB1DD-48DF-0197-B088-1D9CA9B70C8C}" dt="2026-02-12T03:23:10.255" v="785" actId="20577"/>
          <ac:spMkLst>
            <pc:docMk/>
            <pc:sldMk cId="2745609807" sldId="562"/>
            <ac:spMk id="8" creationId="{C8F0D0EE-79DB-BD00-7B66-7636F5B956CF}"/>
          </ac:spMkLst>
        </pc:spChg>
        <pc:picChg chg="add mod">
          <ac:chgData name="Kanyarat &lt;Poon&gt; Sirathananan" userId="S::kanyaratmangk@cpall.co.th::2e7efd98-0b09-4d16-b39d-fc9529b97342" providerId="AD" clId="Web-{2BEFB1DD-48DF-0197-B088-1D9CA9B70C8C}" dt="2026-02-12T03:36:48.093" v="1024" actId="1076"/>
          <ac:picMkLst>
            <pc:docMk/>
            <pc:sldMk cId="2745609807" sldId="562"/>
            <ac:picMk id="9" creationId="{124BF206-111F-FC2A-7650-DC340566D864}"/>
          </ac:picMkLst>
        </pc:picChg>
      </pc:sldChg>
      <pc:sldChg chg="delSp modSp add replId">
        <pc:chgData name="Kanyarat &lt;Poon&gt; Sirathananan" userId="S::kanyaratmangk@cpall.co.th::2e7efd98-0b09-4d16-b39d-fc9529b97342" providerId="AD" clId="Web-{2BEFB1DD-48DF-0197-B088-1D9CA9B70C8C}" dt="2026-02-12T03:35:46.233" v="1018" actId="20577"/>
        <pc:sldMkLst>
          <pc:docMk/>
          <pc:sldMk cId="1182666195" sldId="563"/>
        </pc:sldMkLst>
        <pc:spChg chg="mod">
          <ac:chgData name="Kanyarat &lt;Poon&gt; Sirathananan" userId="S::kanyaratmangk@cpall.co.th::2e7efd98-0b09-4d16-b39d-fc9529b97342" providerId="AD" clId="Web-{2BEFB1DD-48DF-0197-B088-1D9CA9B70C8C}" dt="2026-02-12T03:35:46.233" v="1018" actId="20577"/>
          <ac:spMkLst>
            <pc:docMk/>
            <pc:sldMk cId="1182666195" sldId="563"/>
            <ac:spMk id="3" creationId="{EC9BF4ED-75BF-CCF8-C53C-D57D16129975}"/>
          </ac:spMkLst>
        </pc:spChg>
      </pc:sldChg>
    </pc:docChg>
  </pc:docChgLst>
  <pc:docChgLst>
    <pc:chgData name="Kanyarat &lt;Poon&gt; Sirathananan" userId="S::kanyaratmangk@cpall.co.th::2e7efd98-0b09-4d16-b39d-fc9529b97342" providerId="AD" clId="Web-{F5B56F48-E2CF-8F89-6742-A6BA821AA1D7}"/>
    <pc:docChg chg="addSld delSld modSld modSection">
      <pc:chgData name="Kanyarat &lt;Poon&gt; Sirathananan" userId="S::kanyaratmangk@cpall.co.th::2e7efd98-0b09-4d16-b39d-fc9529b97342" providerId="AD" clId="Web-{F5B56F48-E2CF-8F89-6742-A6BA821AA1D7}" dt="2026-02-03T07:19:19.867" v="101" actId="14100"/>
      <pc:docMkLst>
        <pc:docMk/>
      </pc:docMkLst>
      <pc:sldChg chg="addSp modSp">
        <pc:chgData name="Kanyarat &lt;Poon&gt; Sirathananan" userId="S::kanyaratmangk@cpall.co.th::2e7efd98-0b09-4d16-b39d-fc9529b97342" providerId="AD" clId="Web-{F5B56F48-E2CF-8F89-6742-A6BA821AA1D7}" dt="2026-02-03T07:17:24.828" v="97" actId="1076"/>
        <pc:sldMkLst>
          <pc:docMk/>
          <pc:sldMk cId="1065806199" sldId="542"/>
        </pc:sldMkLst>
        <pc:spChg chg="add mod">
          <ac:chgData name="Kanyarat &lt;Poon&gt; Sirathananan" userId="S::kanyaratmangk@cpall.co.th::2e7efd98-0b09-4d16-b39d-fc9529b97342" providerId="AD" clId="Web-{F5B56F48-E2CF-8F89-6742-A6BA821AA1D7}" dt="2026-02-03T07:17:24.828" v="97" actId="1076"/>
          <ac:spMkLst>
            <pc:docMk/>
            <pc:sldMk cId="1065806199" sldId="542"/>
            <ac:spMk id="7" creationId="{C6C702C7-3225-3156-9762-214AF4DE446B}"/>
          </ac:spMkLst>
        </pc:spChg>
        <pc:picChg chg="add mod">
          <ac:chgData name="Kanyarat &lt;Poon&gt; Sirathananan" userId="S::kanyaratmangk@cpall.co.th::2e7efd98-0b09-4d16-b39d-fc9529b97342" providerId="AD" clId="Web-{F5B56F48-E2CF-8F89-6742-A6BA821AA1D7}" dt="2026-02-03T07:09:44.422" v="90" actId="14100"/>
          <ac:picMkLst>
            <pc:docMk/>
            <pc:sldMk cId="1065806199" sldId="542"/>
            <ac:picMk id="4" creationId="{DCB2313A-BCB5-9CA0-346F-91EA3E171D34}"/>
          </ac:picMkLst>
        </pc:picChg>
      </pc:sldChg>
      <pc:sldChg chg="addSp delSp modSp add del">
        <pc:chgData name="Kanyarat &lt;Poon&gt; Sirathananan" userId="S::kanyaratmangk@cpall.co.th::2e7efd98-0b09-4d16-b39d-fc9529b97342" providerId="AD" clId="Web-{F5B56F48-E2CF-8F89-6742-A6BA821AA1D7}" dt="2026-02-03T07:17:01.763" v="93" actId="1076"/>
        <pc:sldMkLst>
          <pc:docMk/>
          <pc:sldMk cId="1817145734" sldId="543"/>
        </pc:sldMkLst>
        <pc:spChg chg="mod">
          <ac:chgData name="Kanyarat &lt;Poon&gt; Sirathananan" userId="S::kanyaratmangk@cpall.co.th::2e7efd98-0b09-4d16-b39d-fc9529b97342" providerId="AD" clId="Web-{F5B56F48-E2CF-8F89-6742-A6BA821AA1D7}" dt="2026-02-03T07:16:00.678" v="92"/>
          <ac:spMkLst>
            <pc:docMk/>
            <pc:sldMk cId="1817145734" sldId="543"/>
            <ac:spMk id="10" creationId="{64CE4854-17D3-99CE-F3AC-9FF2447D12D3}"/>
          </ac:spMkLst>
        </pc:spChg>
        <pc:spChg chg="mod">
          <ac:chgData name="Kanyarat &lt;Poon&gt; Sirathananan" userId="S::kanyaratmangk@cpall.co.th::2e7efd98-0b09-4d16-b39d-fc9529b97342" providerId="AD" clId="Web-{F5B56F48-E2CF-8F89-6742-A6BA821AA1D7}" dt="2026-02-03T07:02:58.441" v="38" actId="1076"/>
          <ac:spMkLst>
            <pc:docMk/>
            <pc:sldMk cId="1817145734" sldId="543"/>
            <ac:spMk id="11" creationId="{CD4B3CEB-C07A-C90C-259A-CDC7A0B78392}"/>
          </ac:spMkLst>
        </pc:spChg>
        <pc:spChg chg="mod">
          <ac:chgData name="Kanyarat &lt;Poon&gt; Sirathananan" userId="S::kanyaratmangk@cpall.co.th::2e7efd98-0b09-4d16-b39d-fc9529b97342" providerId="AD" clId="Web-{F5B56F48-E2CF-8F89-6742-A6BA821AA1D7}" dt="2026-02-03T07:04:54.758" v="63" actId="20577"/>
          <ac:spMkLst>
            <pc:docMk/>
            <pc:sldMk cId="1817145734" sldId="543"/>
            <ac:spMk id="12" creationId="{15B379C8-13E1-B75F-B39F-7A3DA6C5B8ED}"/>
          </ac:spMkLst>
        </pc:spChg>
        <pc:spChg chg="mod">
          <ac:chgData name="Kanyarat &lt;Poon&gt; Sirathananan" userId="S::kanyaratmangk@cpall.co.th::2e7efd98-0b09-4d16-b39d-fc9529b97342" providerId="AD" clId="Web-{F5B56F48-E2CF-8F89-6742-A6BA821AA1D7}" dt="2026-02-03T07:17:01.763" v="93" actId="1076"/>
          <ac:spMkLst>
            <pc:docMk/>
            <pc:sldMk cId="1817145734" sldId="543"/>
            <ac:spMk id="39" creationId="{E8F5F6A1-04DD-7251-80A9-E96ED2B20F3A}"/>
          </ac:spMkLst>
        </pc:spChg>
        <pc:spChg chg="mod">
          <ac:chgData name="Kanyarat &lt;Poon&gt; Sirathananan" userId="S::kanyaratmangk@cpall.co.th::2e7efd98-0b09-4d16-b39d-fc9529b97342" providerId="AD" clId="Web-{F5B56F48-E2CF-8F89-6742-A6BA821AA1D7}" dt="2026-02-03T07:08:42.124" v="83" actId="20577"/>
          <ac:spMkLst>
            <pc:docMk/>
            <pc:sldMk cId="1817145734" sldId="543"/>
            <ac:spMk id="51" creationId="{2F3E06CA-B56C-FAE2-50B4-93F6F193D370}"/>
          </ac:spMkLst>
        </pc:spChg>
      </pc:sldChg>
      <pc:sldChg chg="modSp">
        <pc:chgData name="Kanyarat &lt;Poon&gt; Sirathananan" userId="S::kanyaratmangk@cpall.co.th::2e7efd98-0b09-4d16-b39d-fc9529b97342" providerId="AD" clId="Web-{F5B56F48-E2CF-8F89-6742-A6BA821AA1D7}" dt="2026-02-03T06:59:38.223" v="5" actId="20577"/>
        <pc:sldMkLst>
          <pc:docMk/>
          <pc:sldMk cId="3330108789" sldId="548"/>
        </pc:sldMkLst>
        <pc:spChg chg="mod">
          <ac:chgData name="Kanyarat &lt;Poon&gt; Sirathananan" userId="S::kanyaratmangk@cpall.co.th::2e7efd98-0b09-4d16-b39d-fc9529b97342" providerId="AD" clId="Web-{F5B56F48-E2CF-8F89-6742-A6BA821AA1D7}" dt="2026-02-03T06:59:37.613" v="3" actId="20577"/>
          <ac:spMkLst>
            <pc:docMk/>
            <pc:sldMk cId="3330108789" sldId="548"/>
            <ac:spMk id="8" creationId="{C6982D3B-FBA4-1F18-0512-EDBDACE54416}"/>
          </ac:spMkLst>
        </pc:spChg>
        <pc:spChg chg="mod">
          <ac:chgData name="Kanyarat &lt;Poon&gt; Sirathananan" userId="S::kanyaratmangk@cpall.co.th::2e7efd98-0b09-4d16-b39d-fc9529b97342" providerId="AD" clId="Web-{F5B56F48-E2CF-8F89-6742-A6BA821AA1D7}" dt="2026-02-03T06:59:38.223" v="5" actId="20577"/>
          <ac:spMkLst>
            <pc:docMk/>
            <pc:sldMk cId="3330108789" sldId="548"/>
            <ac:spMk id="12" creationId="{C9828767-3001-56D1-AF9F-376887270C7C}"/>
          </ac:spMkLst>
        </pc:spChg>
      </pc:sldChg>
      <pc:sldChg chg="modSp">
        <pc:chgData name="Kanyarat &lt;Poon&gt; Sirathananan" userId="S::kanyaratmangk@cpall.co.th::2e7efd98-0b09-4d16-b39d-fc9529b97342" providerId="AD" clId="Web-{F5B56F48-E2CF-8F89-6742-A6BA821AA1D7}" dt="2026-02-03T07:19:19.867" v="101" actId="14100"/>
        <pc:sldMkLst>
          <pc:docMk/>
          <pc:sldMk cId="1392360510" sldId="556"/>
        </pc:sldMkLst>
        <pc:spChg chg="mod">
          <ac:chgData name="Kanyarat &lt;Poon&gt; Sirathananan" userId="S::kanyaratmangk@cpall.co.th::2e7efd98-0b09-4d16-b39d-fc9529b97342" providerId="AD" clId="Web-{F5B56F48-E2CF-8F89-6742-A6BA821AA1D7}" dt="2026-02-03T07:19:19.867" v="101" actId="14100"/>
          <ac:spMkLst>
            <pc:docMk/>
            <pc:sldMk cId="1392360510" sldId="556"/>
            <ac:spMk id="51" creationId="{841EC7D8-6090-B867-059E-EB5FE18D71C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  <a:cs typeface="Angsana New" pitchFamily="18" charset="-34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pitchFamily="34" charset="0"/>
                <a:cs typeface="Angsana New" pitchFamily="18" charset="-34"/>
              </a:defRPr>
            </a:lvl1pPr>
          </a:lstStyle>
          <a:p>
            <a:pPr>
              <a:defRPr/>
            </a:pPr>
            <a:fld id="{3ED93569-3034-44BE-AE3D-B005DA67C1A0}" type="datetimeFigureOut">
              <a:rPr lang="th-TH"/>
              <a:pPr>
                <a:defRPr/>
              </a:pPr>
              <a:t>04/03/69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th-TH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th-TH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  <a:cs typeface="Angsana New" pitchFamily="18" charset="-34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latin typeface="Arial" pitchFamily="34" charset="0"/>
                <a:cs typeface="Angsana New" pitchFamily="18" charset="-34"/>
              </a:defRPr>
            </a:lvl1pPr>
          </a:lstStyle>
          <a:p>
            <a:pPr>
              <a:defRPr/>
            </a:pPr>
            <a:fld id="{24434DB5-92B0-44DB-A371-F4B5C1F59CFB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333778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434DB5-92B0-44DB-A371-F4B5C1F59CFB}" type="slidenum">
              <a:rPr lang="th-TH" smtClean="0"/>
              <a:pPr>
                <a:defRPr/>
              </a:pPr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85709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th-TH" altLang="th-TH"/>
              <a:t>จัดทำโดย </a:t>
            </a:r>
            <a:r>
              <a:rPr lang="en-US" altLang="th-TH"/>
              <a:t>ISS</a:t>
            </a:r>
            <a:endParaRPr lang="th-TH" altLang="th-TH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D0904265-0575-48E2-822F-E3A887EE7215}" type="slidenum">
              <a:rPr lang="en-US" altLang="th-TH" sz="1200"/>
              <a:pPr eaLnBrk="1" hangingPunct="1"/>
              <a:t>3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459128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th-TH" altLang="th-TH"/>
              <a:t>จัดทำโดย</a:t>
            </a:r>
            <a:r>
              <a:rPr lang="en-US" altLang="th-TH"/>
              <a:t>: ISS  </a:t>
            </a:r>
            <a:r>
              <a:rPr lang="th-TH" altLang="th-TH"/>
              <a:t>โดยใช้ข้อมูลจาก </a:t>
            </a:r>
            <a:r>
              <a:rPr lang="en-US" altLang="th-TH"/>
              <a:t>UR </a:t>
            </a:r>
            <a:r>
              <a:rPr lang="th-TH" altLang="th-TH"/>
              <a:t>และเพิ่มเติมรายละเอียดให้ชัดเจน มากขึ้น </a:t>
            </a:r>
          </a:p>
          <a:p>
            <a:r>
              <a:rPr lang="th-TH" altLang="th-TH"/>
              <a:t>กระบวนการเดิมทำงานกันอย่างไร ถ้าทำแล้วจะมีผลอย่างไร หรือถ้าไม่ทำจะมีผลอย่างไร</a:t>
            </a: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A602A804-172B-4AFA-B3CA-00AA0905A555}" type="slidenum">
              <a:rPr lang="en-US" altLang="th-TH" sz="1200"/>
              <a:pPr eaLnBrk="1" hangingPunct="1"/>
              <a:t>4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914292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th-TH" altLang="th-TH"/>
              <a:t>จัดทำโดย</a:t>
            </a:r>
            <a:r>
              <a:rPr lang="en-US" altLang="th-TH"/>
              <a:t>: ISS  </a:t>
            </a:r>
            <a:r>
              <a:rPr lang="th-TH" altLang="th-TH"/>
              <a:t>โดยใช้ข้อมูลจาก </a:t>
            </a:r>
            <a:r>
              <a:rPr lang="en-US" altLang="th-TH"/>
              <a:t>UR </a:t>
            </a:r>
            <a:r>
              <a:rPr lang="th-TH" altLang="th-TH"/>
              <a:t>และเพิ่มเติมรายละเอียดให้ชัดเจน มากขึ้น วัดผลอย่างไร</a:t>
            </a: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A602A804-172B-4AFA-B3CA-00AA0905A555}" type="slidenum">
              <a:rPr lang="en-US" altLang="th-TH" sz="1200"/>
              <a:pPr eaLnBrk="1" hangingPunct="1"/>
              <a:t>5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899661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th-TH" altLang="th-TH"/>
              <a:t>จัดทำโดย</a:t>
            </a:r>
            <a:r>
              <a:rPr lang="en-US" altLang="th-TH"/>
              <a:t>: ISS  </a:t>
            </a:r>
            <a:r>
              <a:rPr lang="th-TH" altLang="th-TH"/>
              <a:t>โดยใช้ข้อมูลจาก </a:t>
            </a:r>
            <a:r>
              <a:rPr lang="en-US" altLang="th-TH"/>
              <a:t>UR </a:t>
            </a:r>
            <a:r>
              <a:rPr lang="th-TH" altLang="th-TH"/>
              <a:t>และเพิ่มเติมรายละเอียดให้ชัดเจน มากขึ้น วัดผลอย่างไร</a:t>
            </a: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A602A804-172B-4AFA-B3CA-00AA0905A555}" type="slidenum">
              <a:rPr lang="en-US" altLang="th-TH" sz="1200"/>
              <a:pPr eaLnBrk="1" hangingPunct="1"/>
              <a:t>6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306455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th-TH" altLang="th-TH"/>
              <a:t>จัดทำโดย</a:t>
            </a:r>
            <a:r>
              <a:rPr lang="en-US" altLang="th-TH"/>
              <a:t>: ISS  </a:t>
            </a:r>
            <a:r>
              <a:rPr lang="th-TH" altLang="th-TH"/>
              <a:t>โดยใช้ข้อมูลจาก </a:t>
            </a:r>
            <a:r>
              <a:rPr lang="en-US" altLang="th-TH"/>
              <a:t>UR </a:t>
            </a:r>
            <a:r>
              <a:rPr lang="th-TH" altLang="th-TH"/>
              <a:t>และเพิ่มเติมรายละเอียดให้ชัดเจน มากขึ้น วัดผลอย่างไร</a:t>
            </a: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A602A804-172B-4AFA-B3CA-00AA0905A555}" type="slidenum">
              <a:rPr lang="en-US" altLang="th-TH" sz="1200"/>
              <a:pPr eaLnBrk="1" hangingPunct="1"/>
              <a:t>7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081050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th-TH" altLang="th-TH"/>
              <a:t>จัดทำโดย</a:t>
            </a:r>
            <a:r>
              <a:rPr lang="en-US" altLang="th-TH"/>
              <a:t>: ISS  </a:t>
            </a:r>
            <a:r>
              <a:rPr lang="th-TH" altLang="th-TH"/>
              <a:t>โดยใช้ข้อมูลจาก </a:t>
            </a:r>
            <a:r>
              <a:rPr lang="en-US" altLang="th-TH"/>
              <a:t>UR </a:t>
            </a:r>
            <a:r>
              <a:rPr lang="th-TH" altLang="th-TH"/>
              <a:t>และเพิ่มเติมรายละเอียดให้ชัดเจน มากขึ้น วัดผลอย่างไร</a:t>
            </a:r>
          </a:p>
          <a:p>
            <a:endParaRPr lang="th-TH" altLang="th-TH"/>
          </a:p>
          <a:p>
            <a:endParaRPr lang="th-TH" altLang="th-TH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A602A804-172B-4AFA-B3CA-00AA0905A555}" type="slidenum">
              <a:rPr lang="en-US" altLang="th-TH" sz="1200"/>
              <a:pPr eaLnBrk="1" hangingPunct="1"/>
              <a:t>8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275022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th-TH" altLang="th-TH"/>
              <a:t>จัดทำโดย</a:t>
            </a:r>
            <a:r>
              <a:rPr lang="en-US" altLang="th-TH"/>
              <a:t>: ISS</a:t>
            </a: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22DA3CFB-AB73-4D9A-A1DA-9CE086C6B219}" type="slidenum">
              <a:rPr lang="en-US" altLang="th-TH" sz="1200"/>
              <a:pPr eaLnBrk="1" hangingPunct="1"/>
              <a:t>9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1831611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th-TH" altLang="th-TH"/>
              <a:t>จัดทำโดย</a:t>
            </a:r>
            <a:r>
              <a:rPr lang="en-US" altLang="th-TH"/>
              <a:t>: ISS </a:t>
            </a:r>
            <a:endParaRPr lang="th-TH" altLang="th-TH"/>
          </a:p>
          <a:p>
            <a:endParaRPr lang="th-TH" altLang="th-TH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515063A-A0B4-4306-A692-4E719E547175}" type="slidenum">
              <a:rPr lang="en-US" altLang="th-TH" sz="1200"/>
              <a:pPr eaLnBrk="1" hangingPunct="1"/>
              <a:t>10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98656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11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0347251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th-TH"/>
              <a:t>Critical Level Definition :</a:t>
            </a:r>
          </a:p>
          <a:p>
            <a:r>
              <a:rPr lang="en-US" altLang="th-TH"/>
              <a:t>- Critical: Function </a:t>
            </a:r>
            <a:r>
              <a:rPr lang="th-TH" altLang="th-TH"/>
              <a:t>ที่มีกระทบกับการขาย สั่ง, ส่ง และกระทบโดยตรงรายได้ของบริษัทฯ</a:t>
            </a:r>
          </a:p>
          <a:p>
            <a:pPr>
              <a:buFontTx/>
              <a:buChar char="-"/>
            </a:pPr>
            <a:r>
              <a:rPr lang="en-US" altLang="th-TH"/>
              <a:t> Major: Function </a:t>
            </a:r>
            <a:r>
              <a:rPr lang="th-TH" altLang="th-TH"/>
              <a:t>ที่สนับสนุนการขาย สั่ง, ส่ง และกระทบทางอ้อมรายได้ของบริษัทฯ</a:t>
            </a:r>
          </a:p>
          <a:p>
            <a:pPr>
              <a:buFontTx/>
              <a:buChar char="-"/>
            </a:pPr>
            <a:r>
              <a:rPr lang="th-TH" altLang="th-TH"/>
              <a:t> </a:t>
            </a:r>
            <a:r>
              <a:rPr lang="en-US" altLang="th-TH"/>
              <a:t>Minor: Function </a:t>
            </a:r>
            <a:r>
              <a:rPr lang="th-TH" altLang="th-TH"/>
              <a:t>ที่ไม่กระทบกับการขาย สั่ง, ส่ง และรายได้ของบริษัทฯ</a:t>
            </a:r>
          </a:p>
          <a:p>
            <a:pPr>
              <a:buFontTx/>
              <a:buChar char="-"/>
            </a:pPr>
            <a:r>
              <a:rPr lang="th-TH" altLang="th-TH"/>
              <a:t> </a:t>
            </a:r>
            <a:r>
              <a:rPr lang="en-US" altLang="th-TH"/>
              <a:t>General : Function </a:t>
            </a:r>
            <a:r>
              <a:rPr lang="th-TH" altLang="th-TH"/>
              <a:t>ที่กระทบกับการทำงานเพียงเล็กน้อย และสามารถใช้ </a:t>
            </a:r>
            <a:r>
              <a:rPr lang="en-US" altLang="th-TH"/>
              <a:t>Function </a:t>
            </a:r>
            <a:r>
              <a:rPr lang="th-TH" altLang="th-TH"/>
              <a:t>อื่นทดแทนได้</a:t>
            </a:r>
            <a:endParaRPr lang="en-US" altLang="th-TH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F577B1B4-3461-4563-B373-CDD6F5D7BD48}" type="slidenum">
              <a:rPr lang="en-US" altLang="th-TH" sz="1200"/>
              <a:pPr eaLnBrk="1" hangingPunct="1"/>
              <a:t>12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651131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A4152-6974-CE77-010F-2C9A03DAA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>
            <a:extLst>
              <a:ext uri="{FF2B5EF4-FFF2-40B4-BE49-F238E27FC236}">
                <a16:creationId xmlns:a16="http://schemas.microsoft.com/office/drawing/2014/main" id="{F46080EA-963F-1BB4-F568-28DCE89C94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>
            <a:extLst>
              <a:ext uri="{FF2B5EF4-FFF2-40B4-BE49-F238E27FC236}">
                <a16:creationId xmlns:a16="http://schemas.microsoft.com/office/drawing/2014/main" id="{064C2928-2FC0-9EF9-64FD-70200868F9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th-TH"/>
              <a:t>Critical Level Definition :</a:t>
            </a:r>
          </a:p>
          <a:p>
            <a:r>
              <a:rPr lang="en-US" altLang="th-TH"/>
              <a:t>- Critical: Function </a:t>
            </a:r>
            <a:r>
              <a:rPr lang="th-TH" altLang="th-TH"/>
              <a:t>ที่มีกระทบกับการขาย สั่ง, ส่ง และกระทบโดยตรงรายได้ของบริษัทฯ</a:t>
            </a:r>
          </a:p>
          <a:p>
            <a:pPr>
              <a:buFontTx/>
              <a:buChar char="-"/>
            </a:pPr>
            <a:r>
              <a:rPr lang="en-US" altLang="th-TH"/>
              <a:t> Major: Function </a:t>
            </a:r>
            <a:r>
              <a:rPr lang="th-TH" altLang="th-TH"/>
              <a:t>ที่สนับสนุนการขาย สั่ง, ส่ง และกระทบทางอ้อมรายได้ของบริษัทฯ</a:t>
            </a:r>
          </a:p>
          <a:p>
            <a:pPr>
              <a:buFontTx/>
              <a:buChar char="-"/>
            </a:pPr>
            <a:r>
              <a:rPr lang="th-TH" altLang="th-TH"/>
              <a:t> </a:t>
            </a:r>
            <a:r>
              <a:rPr lang="en-US" altLang="th-TH"/>
              <a:t>Minor: Function </a:t>
            </a:r>
            <a:r>
              <a:rPr lang="th-TH" altLang="th-TH"/>
              <a:t>ที่ไม่กระทบกับการขาย สั่ง, ส่ง และรายได้ของบริษัทฯ</a:t>
            </a:r>
          </a:p>
          <a:p>
            <a:pPr>
              <a:buFontTx/>
              <a:buChar char="-"/>
            </a:pPr>
            <a:r>
              <a:rPr lang="th-TH" altLang="th-TH"/>
              <a:t> </a:t>
            </a:r>
            <a:r>
              <a:rPr lang="en-US" altLang="th-TH"/>
              <a:t>General : Function </a:t>
            </a:r>
            <a:r>
              <a:rPr lang="th-TH" altLang="th-TH"/>
              <a:t>ที่กระทบกับการทำงานเพียงเล็กน้อย และสามารถใช้ </a:t>
            </a:r>
            <a:r>
              <a:rPr lang="en-US" altLang="th-TH"/>
              <a:t>Function </a:t>
            </a:r>
            <a:r>
              <a:rPr lang="th-TH" altLang="th-TH"/>
              <a:t>อื่นทดแทนได้</a:t>
            </a:r>
            <a:endParaRPr lang="en-US" altLang="th-TH"/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78168DE0-4AE5-69E6-52F3-7D1ED42D86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F577B1B4-3461-4563-B373-CDD6F5D7BD48}" type="slidenum">
              <a:rPr lang="en-US" altLang="th-TH" sz="1200"/>
              <a:pPr eaLnBrk="1" hangingPunct="1"/>
              <a:t>13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9020337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F3AB0-8E54-4A38-94A2-5C8664269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3E7B530A-63A6-1344-F3D9-A5A2FD13C4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DA15F82B-B355-6923-49E9-0376525004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2140FE73-ED46-CB57-012A-533EC135F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14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904142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F3AB0-8E54-4A38-94A2-5C8664269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3E7B530A-63A6-1344-F3D9-A5A2FD13C4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DA15F82B-B355-6923-49E9-0376525004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2140FE73-ED46-CB57-012A-533EC135F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15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72075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83864-02FF-1338-1AF1-5EF03CB09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4C5A57B5-32AD-C526-223D-A1A294D611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A08EA5D5-06DD-D291-6052-D46450CB2E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4592AF32-970B-BC59-4C98-99F55FA7BC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16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1391086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ED1B3-026F-880F-F888-B8C6AF116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20163FDB-603F-6926-705D-9E2A9DE12A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2093C262-9992-6AC1-9865-93A51C7123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2CA60949-F468-BADF-FF50-5EF634805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17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8070645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76639-705D-32A1-9349-61B45C7E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C6978475-6A57-C8EC-E8BD-3DF65C13A9E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7D60FBF0-F906-F6B3-26AC-AFFBDF92BF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3187CA87-09A5-7BC6-138D-73B067214D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18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0362751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3DE17-6340-DF44-5392-880B176C9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1E18ADB7-E77B-3E17-9AAB-343812E295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F26D015B-822E-9163-B2A5-7AD9BDA4DF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47B6DDCB-6667-80B8-22F0-E27AD7314F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19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5344146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84A81-00D4-E8E4-2004-5CB593EF4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11BB7623-8DDB-A47C-21FD-B3F645B38E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1D16B225-BB1A-C1A6-C4A0-6AC3F7A86DB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4770932D-8DE3-6F0D-8F4C-F2E4C4200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20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0025403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2127A-7627-D515-D9C8-EA13DA31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5C4A178B-F430-6626-D22B-E4B18A16F5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06651CD8-9E95-82C1-85E0-FB2A0F5476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9E2310AA-54FD-39C8-92B4-D4F504944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21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9796214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D6295-A76E-A05A-3EDE-EC6C1B84E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C7DE328D-A3E8-3FFB-B898-E7CFAB7BEB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DECCE7E4-6EB4-F564-CE6B-D9794E4C33C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B49B8E4C-056D-0445-3E77-80258E3F7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22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2758353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C04A2-0CA3-D655-FC6F-E6EA66655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B80C9ADA-CA45-5A3C-822B-6209E0D0B5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0B2803E8-020F-C68E-569C-33EEA6BF79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DF3F7F51-2227-CFF3-49FF-CDEF15EBC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23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31799873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C9289-073C-0453-7CFC-8B3E31E9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4B134D94-4FC6-A087-106B-B5A325EA54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DB9E52D1-4CF9-9102-2AAB-96CA067ACA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0F5D6A0F-B5BD-CE7B-1842-0E0B574D2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24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7519471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B926E-1614-34FD-CA8B-831DF8A3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3B65F5CC-D68A-847A-C9FF-95157C4EAFE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7A4A3466-ADED-851E-C6AD-89706FFDE9C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4A9BE1D1-B33A-6507-2254-1C14335D4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25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7675659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50A94-7967-E5BC-6831-C8FB5A446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519309B9-7613-CA3D-BA99-A915AA0DAFA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F984F8BA-FF18-5723-0072-54DBCA7488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375B4878-5F85-D747-3CAF-A9A89BDDD3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26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880970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82D0D-C3F4-545C-60E7-3A14EB530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30211438-5F08-F376-5AAF-5BABF557DB2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C92BBCC6-3132-EF39-C72F-3398553B195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B625C753-8D59-6D46-0BF0-D936065AD0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27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34253728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F3AB0-8E54-4A38-94A2-5C8664269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3E7B530A-63A6-1344-F3D9-A5A2FD13C4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DA15F82B-B355-6923-49E9-0376525004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2140FE73-ED46-CB57-012A-533EC135F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28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7001423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F3AB0-8E54-4A38-94A2-5C8664269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3E7B530A-63A6-1344-F3D9-A5A2FD13C4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DA15F82B-B355-6923-49E9-0376525004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2140FE73-ED46-CB57-012A-533EC135F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29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7032420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F3AB0-8E54-4A38-94A2-5C8664269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3E7B530A-63A6-1344-F3D9-A5A2FD13C4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DA15F82B-B355-6923-49E9-0376525004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2140FE73-ED46-CB57-012A-533EC135F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30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3768846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F3AB0-8E54-4A38-94A2-5C8664269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3E7B530A-63A6-1344-F3D9-A5A2FD13C4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DA15F82B-B355-6923-49E9-0376525004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2140FE73-ED46-CB57-012A-533EC135F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31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42197500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8875D-E1C9-B4F8-1DC4-238E91323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C798407E-E56D-ADFD-ED81-8B603E19BD0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E79AF612-9DBA-66DA-1BB9-D8A32B19A2B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909AA131-D245-4F1B-1346-7E51B68C4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38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5111794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6F6CB-3639-2E59-17FB-0B9D42E34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354B9EAA-7D00-2474-99CB-F6176F8291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68C55485-A684-5FFF-1FDB-3A689DA2E7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8A3B104C-C79E-25B7-7C1D-16B8112D4F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39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5845140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7F38-8F8C-B533-9E24-AB151EB44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635CBAEE-D9FD-99B0-3EA0-7A50E3D70B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31E51D3D-7851-F750-DBA2-CAE4E116AA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4A5D34BD-FD2C-EB76-8B2F-398803AC8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40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7000340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3354E-26AB-6930-FB38-82D8D2738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F19064E7-4268-578D-FEB2-D1FEA8AEFC8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1B32FB6B-88C0-3A18-0F60-47A30F2A382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81E8715F-F261-BCEF-C285-367BFD8D1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41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5434401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47D6D-5C77-9620-C7EC-22525FFCF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96147324-C584-8D8B-8A5B-DBA7456A37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3B3F6FDF-B144-DFD5-C7CB-FEC65512044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F3987D28-6728-9D31-D803-661F2F0A0A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42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6933811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F3AB0-8E54-4A38-94A2-5C8664269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3E7B530A-63A6-1344-F3D9-A5A2FD13C4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DA15F82B-B355-6923-49E9-0376525004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2140FE73-ED46-CB57-012A-533EC135F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43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9254827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44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39180871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3066B-D6B4-5BCE-315D-041BB6376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D5624B1E-8826-5416-6BDF-FD6AE3DAE3E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B1FF0F83-C992-F97C-A7F8-783F358701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16B50979-036D-17F2-16E5-1FCC0A030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45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3699525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46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08241049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47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36824774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6F457-1CFE-F904-DBC1-1773EAB2A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14C58375-FA99-9160-85E4-BADB6FE46E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CA13708E-1EAD-AFEE-7E04-75E4FB11864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86D90341-025E-8DC1-1040-21D4303E70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48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2064069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F3E1A-3F79-367B-7184-58F906513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A56303E8-AE0C-9784-D159-2A8F4C9923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5682495B-6E5E-561F-26F5-F76DBB6209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17BDA52B-FF2D-1F1A-D049-C5F7D9BCE0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49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5374073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2090D-300E-1505-ED7A-8F1DBDD1C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BB1D4040-7D5E-3F2D-B731-4526C35115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84AE6645-1FF2-3F8F-B690-317DC69FEB5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C61CBFE5-FACC-1180-311A-7B69777EE5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50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67448150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5A9EE-7BC1-F9F2-8199-E37B0DC7F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08E63E2F-398E-DB17-64E5-69BD1272B2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D9DD2267-07EC-D547-A6D5-B8B80B0E1E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CF3F9E39-0A1B-64FC-2D8A-BF465C680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51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40510592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B8C5B-87FA-BED0-C9D4-210929330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7F94D1BD-2E29-CC37-91C9-8F8DBC92C77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78E3DD1E-83FA-39E2-A8FA-F6F97CA5B6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E012DDC0-D1D0-E860-8B0D-C026CEE22F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52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9186621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5CA53-440F-87C0-7961-93489981D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20F74124-A3C2-D0DC-C252-387BAFF2D9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622006FE-E6AA-24A9-535E-CA69565CDF7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21F3A2DD-61CA-EE8C-2F82-14A00DFDF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53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95875789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F9CC0-592E-8890-2B80-1D700557D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26925526-96C6-2F17-8CEC-4499AFCE791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D6CB99FB-0B34-D294-DB9B-0F301F07BC9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9900FA35-EEAD-A332-8F1A-45C8D57EB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54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55516167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2AC81-58BD-88EE-DDF9-E329D63A6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C2994698-3C2A-67B6-A925-24AAE689DE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F4396530-8092-171B-C6CB-EE5375EE3D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D5484D7C-5F0D-7DD1-6FC1-5A69F6413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55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306204368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D062D-B504-06F6-73AF-FDDB5CBE7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4AFD401B-958B-9621-8309-D83E8D0098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6F10C51D-0D12-2143-4366-E16E6660C5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25D5B836-DA92-9BE0-330E-438836AC8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56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57719682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B2786-13B6-3FCE-3BD5-9B4C89B8C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FB49A0FC-AC56-F10B-1089-C6D248370E2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BD29F8EE-817B-E91C-3B89-0A3194DC99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391C10D8-073D-E6D2-57B1-D8CA47D96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57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97873924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F5AF3-A678-3AF9-84E0-CF6D1038B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6AAF49FD-9295-31C3-EE48-F6A4FEE3890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BA530076-E847-5E4F-8689-44C17E4C1F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1A1595DD-316E-1795-9ADD-A611B1941B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58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45788212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EC5B4-196B-7FB4-3E16-A6F92A6CC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730ECAE5-673B-165B-25F2-F0F6523A42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135261B5-96CF-66F7-11A7-4C4692BA45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A913429E-4267-6B71-0887-B3288AAE3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59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61398593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BADD5-7DC9-8C62-6C6B-82850AA91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A5CDBABC-E946-4C8A-C064-AE3299775C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D2A33972-64A4-30D1-73CA-F9C8D66B4D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72F217E9-BBFA-F979-4671-E500BE12B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60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313179839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35007-2F12-7750-2783-AB55BB701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3F927017-11DC-7090-EAEF-4CCC7AF361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14330441-86A2-AFCE-8267-5387DF8247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59161AFC-0D1F-BCA0-672C-A48D1CAD5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61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413246588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08101-2685-BD9D-D27A-9BA3CBA58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9EFE8167-7BBA-E239-A240-3A1A7B9CB3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DA60ECF5-9123-E491-3746-FEBD633C906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80428D0C-2CAF-FE4F-B134-ED9695C99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62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56104100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th-TH"/>
              <a:t>Critical Level Definition :</a:t>
            </a:r>
          </a:p>
          <a:p>
            <a:r>
              <a:rPr lang="en-US" altLang="th-TH"/>
              <a:t>- Critical: Function </a:t>
            </a:r>
            <a:r>
              <a:rPr lang="th-TH" altLang="th-TH"/>
              <a:t>ที่มีกระทบกับการขาย สั่ง, ส่ง และกระทบโดยตรงรายได้ของบริษัทฯ</a:t>
            </a:r>
          </a:p>
          <a:p>
            <a:pPr>
              <a:buFontTx/>
              <a:buChar char="-"/>
            </a:pPr>
            <a:r>
              <a:rPr lang="en-US" altLang="th-TH"/>
              <a:t> Major: Function </a:t>
            </a:r>
            <a:r>
              <a:rPr lang="th-TH" altLang="th-TH"/>
              <a:t>ที่สนับสนุนการขาย สั่ง, ส่ง และกระทบทางอ้อมรายได้ของบริษัทฯ</a:t>
            </a:r>
          </a:p>
          <a:p>
            <a:pPr>
              <a:buFontTx/>
              <a:buChar char="-"/>
            </a:pPr>
            <a:r>
              <a:rPr lang="th-TH" altLang="th-TH"/>
              <a:t> </a:t>
            </a:r>
            <a:r>
              <a:rPr lang="en-US" altLang="th-TH"/>
              <a:t>Minor: Function </a:t>
            </a:r>
            <a:r>
              <a:rPr lang="th-TH" altLang="th-TH"/>
              <a:t>ที่ไม่กระทบกับการขาย สั่ง, ส่ง และรายได้ของบริษัทฯ</a:t>
            </a:r>
          </a:p>
          <a:p>
            <a:pPr>
              <a:buFontTx/>
              <a:buChar char="-"/>
            </a:pPr>
            <a:r>
              <a:rPr lang="th-TH" altLang="th-TH"/>
              <a:t> </a:t>
            </a:r>
            <a:r>
              <a:rPr lang="en-US" altLang="th-TH"/>
              <a:t>General : Function </a:t>
            </a:r>
            <a:r>
              <a:rPr lang="th-TH" altLang="th-TH"/>
              <a:t>ที่กระทบกับการทำงานเพียงเล็กน้อย และสามารถใช้ </a:t>
            </a:r>
            <a:r>
              <a:rPr lang="en-US" altLang="th-TH"/>
              <a:t>Function </a:t>
            </a:r>
            <a:r>
              <a:rPr lang="th-TH" altLang="th-TH"/>
              <a:t>อื่นทดแทนได้</a:t>
            </a:r>
            <a:endParaRPr lang="en-US" altLang="th-TH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F577B1B4-3461-4563-B373-CDD6F5D7BD48}" type="slidenum">
              <a:rPr lang="en-US" altLang="th-TH" sz="1200"/>
              <a:pPr eaLnBrk="1" hangingPunct="1"/>
              <a:t>63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48543608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D043A-DE3A-9CEB-79D0-F904DBFBA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53719828-A352-DD45-5829-523BF1487DE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F9F06FAF-1ECE-6BC4-D195-D10D2B509A7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B818BB4C-D773-B974-D1BF-462B8619C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64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16510508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65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68922098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B8065-CECB-74ED-2F4E-F73744E9A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4C833C53-8A48-7214-8B9E-6E76173ABC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479B9716-3A82-9B1C-98A2-F363D785F26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th-TH" altLang="th-TH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9B8B84F6-3291-1C8B-8C50-DF15C806E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75BD0C3-471C-48F2-957C-FD7DB38F73C2}" type="slidenum">
              <a:rPr lang="en-US" altLang="th-TH" sz="1200"/>
              <a:pPr eaLnBrk="1" hangingPunct="1"/>
              <a:t>66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98027552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th-TH" sz="3200"/>
              <a:t>จัดทำโดย </a:t>
            </a:r>
            <a:r>
              <a:rPr lang="en-US" sz="3200"/>
              <a:t>ISS </a:t>
            </a:r>
            <a:r>
              <a:rPr lang="th-TH" sz="3200"/>
              <a:t>โดยระบุ </a:t>
            </a:r>
            <a:r>
              <a:rPr lang="en-US" sz="3200"/>
              <a:t>Business Scenario </a:t>
            </a:r>
            <a:r>
              <a:rPr lang="th-TH" sz="3200"/>
              <a:t>สำคัญๆ ที่ต้องการให้ </a:t>
            </a:r>
            <a:r>
              <a:rPr lang="en-US" sz="3200"/>
              <a:t>Focus </a:t>
            </a:r>
            <a:r>
              <a:rPr lang="th-TH" sz="3200"/>
              <a:t>เรื่อง </a:t>
            </a:r>
            <a:r>
              <a:rPr lang="en-US" sz="3200"/>
              <a:t>Performance</a:t>
            </a:r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4BCAC202-AC7A-4ABC-A557-7AA019EA8FC0}" type="slidenum">
              <a:rPr lang="en-US" altLang="th-TH" sz="1200"/>
              <a:pPr eaLnBrk="1" hangingPunct="1"/>
              <a:t>67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185768561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th-TH" sz="3200"/>
              <a:t>จัดทำโดย </a:t>
            </a:r>
            <a:r>
              <a:rPr lang="en-US" sz="3200"/>
              <a:t>ISS </a:t>
            </a:r>
            <a:r>
              <a:rPr lang="th-TH" sz="3200"/>
              <a:t>โดยระบุ </a:t>
            </a:r>
            <a:r>
              <a:rPr lang="en-US" sz="3200"/>
              <a:t>Business Scenario </a:t>
            </a:r>
            <a:r>
              <a:rPr lang="th-TH" sz="3200"/>
              <a:t>สำคัญๆ ที่ต้องการให้ </a:t>
            </a:r>
            <a:r>
              <a:rPr lang="en-US" sz="3200"/>
              <a:t>Focus </a:t>
            </a:r>
            <a:r>
              <a:rPr lang="th-TH" sz="3200"/>
              <a:t>เรื่อง </a:t>
            </a:r>
            <a:r>
              <a:rPr lang="en-US" sz="3200"/>
              <a:t>Performance</a:t>
            </a:r>
            <a:endParaRPr lang="th-TH" sz="3200"/>
          </a:p>
          <a:p>
            <a:pPr>
              <a:defRPr/>
            </a:pPr>
            <a:r>
              <a:rPr lang="en-US" sz="3200"/>
              <a:t>Acceptance Criteria</a:t>
            </a:r>
            <a:r>
              <a:rPr lang="th-TH" sz="3200"/>
              <a:t> เพื่อเตรียมทดสอบ</a:t>
            </a:r>
            <a:r>
              <a:rPr lang="en-US" sz="3200"/>
              <a:t> Performance (Non-Functional) </a:t>
            </a:r>
            <a:r>
              <a:rPr lang="th-TH" sz="3200"/>
              <a:t>เช่น </a:t>
            </a:r>
            <a:endParaRPr lang="en-US" sz="3200"/>
          </a:p>
          <a:p>
            <a:pPr>
              <a:defRPr/>
            </a:pPr>
            <a:endParaRPr lang="en-US" sz="320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4BCAC202-AC7A-4ABC-A557-7AA019EA8FC0}" type="slidenum">
              <a:rPr lang="en-US" altLang="th-TH" sz="1200"/>
              <a:pPr eaLnBrk="1" hangingPunct="1"/>
              <a:t>68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96508936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th-TH" sz="3200"/>
              <a:t>จัดทำโดย </a:t>
            </a:r>
            <a:r>
              <a:rPr lang="en-US" sz="3200"/>
              <a:t>ISS </a:t>
            </a:r>
            <a:r>
              <a:rPr lang="th-TH" sz="3200"/>
              <a:t>โดยระบุ </a:t>
            </a:r>
            <a:r>
              <a:rPr lang="en-US" sz="3200"/>
              <a:t>Business Scenario </a:t>
            </a:r>
            <a:r>
              <a:rPr lang="th-TH" sz="3200"/>
              <a:t>สำคัญๆ ที่ต้องการให้ </a:t>
            </a:r>
            <a:r>
              <a:rPr lang="en-US" sz="3200"/>
              <a:t>Focus </a:t>
            </a:r>
            <a:r>
              <a:rPr lang="th-TH" sz="3200"/>
              <a:t>เรื่อง </a:t>
            </a:r>
            <a:r>
              <a:rPr lang="en-US" sz="3200"/>
              <a:t>Performance</a:t>
            </a:r>
            <a:br>
              <a:rPr lang="th-TH" sz="3200"/>
            </a:br>
            <a:r>
              <a:rPr lang="en-US" sz="3200" err="1"/>
              <a:t>Authen</a:t>
            </a:r>
            <a:r>
              <a:rPr lang="en-US" sz="3200"/>
              <a:t> – </a:t>
            </a:r>
            <a:r>
              <a:rPr lang="th-TH" sz="3200"/>
              <a:t>เข้าระบบได้</a:t>
            </a:r>
          </a:p>
          <a:p>
            <a:pPr>
              <a:defRPr/>
            </a:pPr>
            <a:r>
              <a:rPr lang="en-US" sz="3200"/>
              <a:t>Authorize – </a:t>
            </a:r>
            <a:r>
              <a:rPr lang="th-TH" sz="3200"/>
              <a:t>ได้รับ</a:t>
            </a:r>
            <a:r>
              <a:rPr lang="en-US" sz="3200"/>
              <a:t> role</a:t>
            </a:r>
            <a:r>
              <a:rPr lang="th-TH" sz="3200"/>
              <a:t> อะไรบ้าง</a:t>
            </a:r>
            <a:endParaRPr lang="en-US" sz="3200"/>
          </a:p>
          <a:p>
            <a:pPr>
              <a:defRPr/>
            </a:pPr>
            <a:r>
              <a:rPr lang="en-US" sz="3200"/>
              <a:t>Backup – </a:t>
            </a:r>
            <a:r>
              <a:rPr lang="th-TH" sz="3200"/>
              <a:t>เปลี่ยนแปลงระบบแล้ว จะ</a:t>
            </a:r>
            <a:r>
              <a:rPr lang="en-US" sz="3200"/>
              <a:t>backup</a:t>
            </a:r>
            <a:r>
              <a:rPr lang="th-TH" sz="3200"/>
              <a:t>ข้อมูลเก่าไว้ และเก็บไว้นานแค่ไหน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th-TH" sz="3200">
                <a:latin typeface="CordiaUPC"/>
                <a:ea typeface="Tahoma"/>
                <a:cs typeface="CordiaUPC"/>
              </a:rPr>
              <a:t>Service Level </a:t>
            </a:r>
            <a:r>
              <a:rPr lang="th-TH" altLang="th-TH" sz="3200">
                <a:latin typeface="CordiaUPC"/>
                <a:ea typeface="Tahoma"/>
                <a:cs typeface="CordiaUPC"/>
              </a:rPr>
              <a:t> </a:t>
            </a:r>
            <a:r>
              <a:rPr lang="en-US" altLang="th-TH" sz="3200">
                <a:latin typeface="CordiaUPC"/>
                <a:ea typeface="Tahoma"/>
                <a:cs typeface="CordiaUPC"/>
              </a:rPr>
              <a:t>- impact level </a:t>
            </a:r>
            <a:r>
              <a:rPr lang="th-TH" altLang="th-TH" sz="3200">
                <a:latin typeface="CordiaUPC"/>
                <a:ea typeface="Tahoma"/>
                <a:cs typeface="CordiaUPC"/>
              </a:rPr>
              <a:t>ถ้าทำไม่ได้เกิดอะไรขึ้น</a:t>
            </a:r>
            <a:endParaRPr lang="en-US" altLang="th-TH" sz="3200">
              <a:latin typeface="CordiaUPC"/>
              <a:ea typeface="Tahoma"/>
              <a:cs typeface="CordiaUPC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>
                <a:latin typeface="CordiaUPC"/>
                <a:ea typeface="Tahoma"/>
                <a:cs typeface="CordiaUPC"/>
              </a:rPr>
              <a:t>Penetration - </a:t>
            </a:r>
            <a:r>
              <a:rPr lang="th-TH" sz="3200">
                <a:latin typeface="CordiaUPC"/>
                <a:ea typeface="Tahoma"/>
                <a:cs typeface="CordiaUPC"/>
              </a:rPr>
              <a:t>ทดสอบช่องโหว่ของระหว่าง</a:t>
            </a:r>
            <a:endParaRPr lang="en-US" altLang="th-TH" sz="3200">
              <a:latin typeface="CordiaUPC"/>
              <a:ea typeface="Tahoma"/>
              <a:cs typeface="CordiaUPC"/>
            </a:endParaRPr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4BCAC202-AC7A-4ABC-A557-7AA019EA8FC0}" type="slidenum">
              <a:rPr lang="en-US" altLang="th-TH" sz="1200"/>
              <a:pPr eaLnBrk="1" hangingPunct="1"/>
              <a:t>69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259203571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th-TH" altLang="th-TH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fld id="{93CFC7DA-DDFF-4650-9F06-698D70F6683F}" type="slidenum">
              <a:rPr lang="en-US" altLang="th-TH" sz="1200"/>
              <a:pPr eaLnBrk="1" hangingPunct="1"/>
              <a:t>70</a:t>
            </a:fld>
            <a:endParaRPr lang="en-US" altLang="th-TH" sz="1200"/>
          </a:p>
        </p:txBody>
      </p:sp>
    </p:spTree>
    <p:extLst>
      <p:ext uri="{BB962C8B-B14F-4D97-AF65-F5344CB8AC3E}">
        <p14:creationId xmlns:p14="http://schemas.microsoft.com/office/powerpoint/2010/main" val="328405860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th-TH" altLang="th-TH"/>
              <a:t>จัดทำโดย </a:t>
            </a:r>
            <a:r>
              <a:rPr lang="en-US" altLang="th-TH"/>
              <a:t>Gosoft</a:t>
            </a:r>
            <a:r>
              <a:rPr lang="th-TH" altLang="th-TH"/>
              <a:t> </a:t>
            </a:r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B89C8E-49D5-4583-AE1D-E5C47D8B9BCE}" type="slidenum">
              <a:rPr kumimoji="0" lang="en-US" altLang="th-TH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ngsana New" panose="02020603050405020304" pitchFamily="18" charset="-34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altLang="th-TH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1477893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th-TH" altLang="th-TH"/>
              <a:t>จัดทำโดย</a:t>
            </a:r>
            <a:r>
              <a:rPr lang="en-US" altLang="th-TH"/>
              <a:t>: Gosoft: Service</a:t>
            </a:r>
          </a:p>
          <a:p>
            <a:r>
              <a:rPr lang="en-US" altLang="th-TH"/>
              <a:t>List Solution </a:t>
            </a:r>
            <a:r>
              <a:rPr lang="th-TH" altLang="th-TH"/>
              <a:t>ทางเลือกที่คิดได้มาทั้งหมด โดยกำหนดชื่อให้ครอบคลุมถึงภาพรวมของ แต่ละ </a:t>
            </a:r>
            <a:r>
              <a:rPr lang="en-US" altLang="th-TH"/>
              <a:t>Solution </a:t>
            </a:r>
            <a:r>
              <a:rPr lang="th-TH" altLang="th-TH"/>
              <a:t>และ ข้อแตกต่างของแต่ละ </a:t>
            </a:r>
            <a:r>
              <a:rPr lang="en-US" altLang="th-TH"/>
              <a:t>Solution</a:t>
            </a:r>
            <a:endParaRPr lang="th-TH" altLang="th-TH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B85C0E-E4B0-492B-BDC5-BF009224CD1A}" type="slidenum">
              <a:rPr kumimoji="0" lang="en-US" altLang="th-TH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ngsana New" panose="02020603050405020304" pitchFamily="18" charset="-34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altLang="th-TH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7964317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ในกรณีที่ ต้องไปเกี่ยวข้องกับระบบเดิม</a:t>
            </a:r>
          </a:p>
          <a:p>
            <a:pPr marL="0" indent="0">
              <a:buNone/>
            </a:pP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ซึ่งจะแบ่งไว้คือ</a:t>
            </a:r>
          </a:p>
          <a:p>
            <a:pPr marL="0" indent="0">
              <a:buNone/>
            </a:pPr>
            <a:endParaRPr lang="th-TH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New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คือการแก้ใหม่ทั้งหมด หรือ เขียนใหม่เลย</a:t>
            </a: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Change 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คือแก้ไขบางส่วน </a:t>
            </a: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</a:t>
            </a:r>
            <a:r>
              <a:rPr lang="en-US" sz="12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คือแค่ </a:t>
            </a:r>
            <a:r>
              <a:rPr lang="en-US" sz="12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ก็สามารถทำงานได้ 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(case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นี้ถือว่าง่าย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th-TH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FD2348-0CE7-4B65-93CC-687CFE8F5AD2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ngsana New" pitchFamily="18" charset="-34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20304720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ในกรณีที่ ต้องไปเกี่ยวข้องกับระบบเดิม</a:t>
            </a:r>
          </a:p>
          <a:p>
            <a:pPr marL="0" indent="0">
              <a:buNone/>
            </a:pP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ซึ่งจะแบ่งไว้คือ</a:t>
            </a:r>
          </a:p>
          <a:p>
            <a:pPr marL="0" indent="0">
              <a:buNone/>
            </a:pPr>
            <a:endParaRPr lang="th-TH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New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คือการแก้ใหม่ทั้งหมด หรือ เขียนใหม่เลย</a:t>
            </a: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Change 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คือแก้ไขบางส่วน </a:t>
            </a: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</a:t>
            </a:r>
            <a:r>
              <a:rPr lang="en-US" sz="12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คือแค่ </a:t>
            </a:r>
            <a:r>
              <a:rPr lang="en-US" sz="12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ก็สามารถทำงานได้ 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(case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นี้ถือว่าง่าย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th-TH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FD2348-0CE7-4B65-93CC-687CFE8F5AD2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ngsana New" pitchFamily="18" charset="-34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7519747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ในกรณีที่ ต้องไปเกี่ยวข้องกับระบบเดิม</a:t>
            </a:r>
          </a:p>
          <a:p>
            <a:pPr marL="0" indent="0">
              <a:buNone/>
            </a:pP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ซึ่งจะแบ่งไว้คือ</a:t>
            </a:r>
          </a:p>
          <a:p>
            <a:pPr marL="0" indent="0">
              <a:buNone/>
            </a:pPr>
            <a:endParaRPr lang="th-TH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New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คือการแก้ใหม่ทั้งหมด หรือ เขียนใหม่เลย</a:t>
            </a: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Change 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คือแก้ไขบางส่วน </a:t>
            </a: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</a:t>
            </a:r>
            <a:r>
              <a:rPr lang="en-US" sz="12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คือแค่ </a:t>
            </a:r>
            <a:r>
              <a:rPr lang="en-US" sz="12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ก็สามารถทำงานได้ 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(case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นี้ถือว่าง่าย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th-TH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FD2348-0CE7-4B65-93CC-687CFE8F5AD2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ngsana New" pitchFamily="18" charset="-34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21531916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ในกรณีที่ ต้องไปเกี่ยวข้องกับระบบเดิม</a:t>
            </a:r>
          </a:p>
          <a:p>
            <a:pPr marL="0" indent="0">
              <a:buNone/>
            </a:pP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ซึ่งจะแบ่งไว้คือ</a:t>
            </a:r>
          </a:p>
          <a:p>
            <a:pPr marL="0" indent="0">
              <a:buNone/>
            </a:pPr>
            <a:endParaRPr lang="th-TH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New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คือการแก้ใหม่ทั้งหมด หรือ เขียนใหม่เลย</a:t>
            </a: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Change 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คือแก้ไขบางส่วน </a:t>
            </a: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</a:t>
            </a:r>
            <a:r>
              <a:rPr lang="en-US" sz="12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คือแค่ </a:t>
            </a:r>
            <a:r>
              <a:rPr lang="en-US" sz="12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ก็สามารถทำงานได้ 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(case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นี้ถือว่าง่าย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th-TH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FD2348-0CE7-4B65-93CC-687CFE8F5AD2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ngsana New" pitchFamily="18" charset="-34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5832455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ในกรณีที่ ต้องไปเกี่ยวข้องกับระบบเดิม</a:t>
            </a:r>
          </a:p>
          <a:p>
            <a:pPr marL="0" indent="0">
              <a:buNone/>
            </a:pP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ซึ่งจะแบ่งไว้คือ</a:t>
            </a:r>
          </a:p>
          <a:p>
            <a:pPr marL="0" indent="0">
              <a:buNone/>
            </a:pPr>
            <a:endParaRPr lang="th-TH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New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คือการแก้ใหม่ทั้งหมด หรือ เขียนใหม่เลย</a:t>
            </a: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Change 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คือแก้ไขบางส่วน </a:t>
            </a: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</a:t>
            </a:r>
            <a:r>
              <a:rPr lang="en-US" sz="12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คือแค่ </a:t>
            </a:r>
            <a:r>
              <a:rPr lang="en-US" sz="12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ก็สามารถทำงานได้ 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(case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นี้ถือว่าง่าย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th-TH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FD2348-0CE7-4B65-93CC-687CFE8F5AD2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ngsana New" pitchFamily="18" charset="-34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3766396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ในกรณีที่ ต้องไปเกี่ยวข้องกับระบบเดิม</a:t>
            </a:r>
          </a:p>
          <a:p>
            <a:pPr marL="0" indent="0">
              <a:buNone/>
            </a:pP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ซึ่งจะแบ่งไว้คือ</a:t>
            </a:r>
          </a:p>
          <a:p>
            <a:pPr marL="0" indent="0">
              <a:buNone/>
            </a:pPr>
            <a:endParaRPr lang="th-TH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New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คือการแก้ใหม่ทั้งหมด หรือ เขียนใหม่เลย</a:t>
            </a: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Change 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คือแก้ไขบางส่วน </a:t>
            </a: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</a:t>
            </a:r>
            <a:r>
              <a:rPr lang="en-US" sz="12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คือแค่ </a:t>
            </a:r>
            <a:r>
              <a:rPr lang="en-US" sz="12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ก็สามารถทำงานได้ 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(case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นี้ถือว่าง่าย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th-TH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FD2348-0CE7-4B65-93CC-687CFE8F5AD2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ngsana New" pitchFamily="18" charset="-34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2037644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ในกรณีที่ ต้องไปเกี่ยวข้องกับระบบเดิม</a:t>
            </a:r>
          </a:p>
          <a:p>
            <a:pPr marL="0" indent="0">
              <a:buNone/>
            </a:pP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ซึ่งจะแบ่งไว้คือ</a:t>
            </a:r>
          </a:p>
          <a:p>
            <a:pPr marL="0" indent="0">
              <a:buNone/>
            </a:pPr>
            <a:endParaRPr lang="th-TH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New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คือการแก้ใหม่ทั้งหมด หรือ เขียนใหม่เลย</a:t>
            </a: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Change 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คือแก้ไขบางส่วน </a:t>
            </a: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</a:t>
            </a:r>
            <a:r>
              <a:rPr lang="en-US" sz="12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คือแค่ </a:t>
            </a:r>
            <a:r>
              <a:rPr lang="en-US" sz="12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ก็สามารถทำงานได้ 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(case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นี้ถือว่าง่าย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th-TH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FD2348-0CE7-4B65-93CC-687CFE8F5AD2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ngsana New" pitchFamily="18" charset="-34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27773998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ในกรณีที่ ต้องไปเกี่ยวข้องกับระบบเดิม</a:t>
            </a:r>
          </a:p>
          <a:p>
            <a:pPr marL="0" indent="0">
              <a:buNone/>
            </a:pP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ซึ่งจะแบ่งไว้คือ</a:t>
            </a:r>
          </a:p>
          <a:p>
            <a:pPr marL="0" indent="0">
              <a:buNone/>
            </a:pPr>
            <a:endParaRPr lang="th-TH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New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คือการแก้ใหม่ทั้งหมด หรือ เขียนใหม่เลย</a:t>
            </a: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Change 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คือแก้ไขบางส่วน </a:t>
            </a:r>
          </a:p>
          <a:p>
            <a:pPr marL="0" indent="0">
              <a:buNone/>
            </a:pP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</a:t>
            </a:r>
            <a:r>
              <a:rPr lang="en-US" sz="12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คือแค่ </a:t>
            </a:r>
            <a:r>
              <a:rPr lang="en-US" sz="12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ก็สามารถทำงานได้ 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(case </a:t>
            </a:r>
            <a:r>
              <a:rPr lang="th-TH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นี้ถือว่าง่าย</a:t>
            </a:r>
            <a:r>
              <a:rPr lang="en-US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th-TH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FD2348-0CE7-4B65-93CC-687CFE8F5AD2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ngsana New" pitchFamily="18" charset="-34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36126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Picture1.jpg">
            <a:extLst>
              <a:ext uri="{FF2B5EF4-FFF2-40B4-BE49-F238E27FC236}">
                <a16:creationId xmlns:a16="http://schemas.microsoft.com/office/drawing/2014/main" id="{495325D3-0417-498A-A76F-A53762D42E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t="14723" b="1036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9C79B0-3B07-4C84-A5DF-0E6F9F3414BB}"/>
              </a:ext>
            </a:extLst>
          </p:cNvPr>
          <p:cNvSpPr/>
          <p:nvPr userDrawn="1"/>
        </p:nvSpPr>
        <p:spPr>
          <a:xfrm>
            <a:off x="9433560" y="6172200"/>
            <a:ext cx="25450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/>
          </a:p>
        </p:txBody>
      </p:sp>
      <p:pic>
        <p:nvPicPr>
          <p:cNvPr id="13" name="Picture 2" descr="ซีพี ออลล์ - วิกิพีเดีย">
            <a:extLst>
              <a:ext uri="{FF2B5EF4-FFF2-40B4-BE49-F238E27FC236}">
                <a16:creationId xmlns:a16="http://schemas.microsoft.com/office/drawing/2014/main" id="{3538DEE9-2BF1-49AE-83EC-990B7D334C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1054" y="5921379"/>
            <a:ext cx="1030711" cy="68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34BA20-A386-4AF0-8E36-FD80B0E7BB9F}" type="datetimeFigureOut">
              <a:rPr lang="th-TH"/>
              <a:pPr>
                <a:defRPr/>
              </a:pPr>
              <a:t>04/03/69</a:t>
            </a:fld>
            <a:endParaRPr lang="th-TH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C40B8B-A2C4-4789-B1AE-E5BC7CA20DF6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5;p11">
            <a:extLst>
              <a:ext uri="{FF2B5EF4-FFF2-40B4-BE49-F238E27FC236}">
                <a16:creationId xmlns:a16="http://schemas.microsoft.com/office/drawing/2014/main" id="{CD8F4AC5-502A-462A-9307-ACD281B77890}"/>
              </a:ext>
            </a:extLst>
          </p:cNvPr>
          <p:cNvSpPr/>
          <p:nvPr userDrawn="1"/>
        </p:nvSpPr>
        <p:spPr>
          <a:xfrm>
            <a:off x="0" y="383150"/>
            <a:ext cx="12192000" cy="925975"/>
          </a:xfrm>
          <a:prstGeom prst="rect">
            <a:avLst/>
          </a:prstGeom>
          <a:solidFill>
            <a:srgbClr val="14459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3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A8BF67-3092-4595-AF3E-D5BC96F3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279D2C-0F54-4A51-AF5D-589951B43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FBBBEE0-2FBF-4969-814A-68D91B28CE1B}" type="datetime1">
              <a:rPr lang="th-TH" smtClean="0"/>
              <a:pPr>
                <a:defRPr/>
              </a:pPr>
              <a:t>04/03/69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742A5-FE5F-4E6F-8A64-6831D1A4D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CFA31-83D8-4FA4-92DF-1892B7547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A49FB-517C-4413-996D-64EE5079F14D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9571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8BF67-3092-4595-AF3E-D5BC96F3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279D2C-0F54-4A51-AF5D-589951B43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FBBBEE0-2FBF-4969-814A-68D91B28CE1B}" type="datetime1">
              <a:rPr lang="th-TH" smtClean="0"/>
              <a:pPr>
                <a:defRPr/>
              </a:pPr>
              <a:t>04/03/69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742A5-FE5F-4E6F-8A64-6831D1A4D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CFA31-83D8-4FA4-92DF-1892B7547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A49FB-517C-4413-996D-64EE5079F14D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74196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8BF67-3092-4595-AF3E-D5BC96F3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279D2C-0F54-4A51-AF5D-589951B43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FBBBEE0-2FBF-4969-814A-68D91B28CE1B}" type="datetime1">
              <a:rPr lang="th-TH" smtClean="0"/>
              <a:pPr>
                <a:defRPr/>
              </a:pPr>
              <a:t>04/03/69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742A5-FE5F-4E6F-8A64-6831D1A4D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CFA31-83D8-4FA4-92DF-1892B7547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A49FB-517C-4413-996D-64EE5079F14D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  <p:sp>
        <p:nvSpPr>
          <p:cNvPr id="8" name="Google Shape;50;p8">
            <a:extLst>
              <a:ext uri="{FF2B5EF4-FFF2-40B4-BE49-F238E27FC236}">
                <a16:creationId xmlns:a16="http://schemas.microsoft.com/office/drawing/2014/main" id="{28E9F5FB-41B0-493A-80DB-D8A82034FFD6}"/>
              </a:ext>
            </a:extLst>
          </p:cNvPr>
          <p:cNvSpPr/>
          <p:nvPr userDrawn="1"/>
        </p:nvSpPr>
        <p:spPr>
          <a:xfrm>
            <a:off x="0" y="0"/>
            <a:ext cx="713100" cy="7236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1;p8">
            <a:extLst>
              <a:ext uri="{FF2B5EF4-FFF2-40B4-BE49-F238E27FC236}">
                <a16:creationId xmlns:a16="http://schemas.microsoft.com/office/drawing/2014/main" id="{42DEC7DF-8F7A-40D2-BDF8-A27F3BCC4139}"/>
              </a:ext>
            </a:extLst>
          </p:cNvPr>
          <p:cNvSpPr/>
          <p:nvPr userDrawn="1"/>
        </p:nvSpPr>
        <p:spPr>
          <a:xfrm>
            <a:off x="9901800" y="5458977"/>
            <a:ext cx="2290200" cy="723600"/>
          </a:xfrm>
          <a:prstGeom prst="rect">
            <a:avLst/>
          </a:prstGeom>
          <a:solidFill>
            <a:srgbClr val="1445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7292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fld id="{B62268E6-18B8-435A-B313-C1A4B886093F}" type="datetime1">
              <a:rPr lang="th-TH"/>
              <a:pPr>
                <a:defRPr/>
              </a:pPr>
              <a:t>04/03/69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fld id="{4C49C46D-26FA-4EDD-8516-CE6B1BB74FD3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95DFE-708D-4992-A6C7-45436F84471C}" type="datetime1">
              <a:rPr lang="th-TH"/>
              <a:pPr>
                <a:defRPr/>
              </a:pPr>
              <a:t>04/03/69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142205-433A-4032-8224-A1C7FF0814A0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fld id="{C2E571DF-AAE6-418B-B3FA-148B240B9ADC}" type="datetime1">
              <a:rPr lang="th-TH"/>
              <a:pPr>
                <a:defRPr/>
              </a:pPr>
              <a:t>04/03/69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fld id="{17DD9A60-56B0-4B39-AC7E-E21E0B950136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1C2C6-5533-40AE-A98E-9589C856FB0F}" type="datetime1">
              <a:rPr lang="th-TH"/>
              <a:pPr>
                <a:defRPr/>
              </a:pPr>
              <a:t>04/03/69</a:t>
            </a:fld>
            <a:endParaRPr lang="th-TH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F0AFC-753E-453B-8B09-98000279D36F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71FB32-5E86-4432-8449-FDF890EBD7DE}" type="datetime1">
              <a:rPr lang="th-TH"/>
              <a:pPr>
                <a:defRPr/>
              </a:pPr>
              <a:t>04/03/69</a:t>
            </a:fld>
            <a:endParaRPr lang="th-TH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1919DE-C063-484F-A1A8-02BEDC1BCB94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5B4DC6-6492-469F-9352-C8B63E75F6A8}" type="datetime1">
              <a:rPr lang="th-TH"/>
              <a:pPr>
                <a:defRPr/>
              </a:pPr>
              <a:t>04/03/69</a:t>
            </a:fld>
            <a:endParaRPr lang="th-TH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C40ADC-6D8B-4DD4-B7C2-397B44D9609D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th-TH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ECDAA-1C4F-43CC-9799-632B576E481A}" type="datetime1">
              <a:rPr lang="th-TH"/>
              <a:pPr>
                <a:defRPr/>
              </a:pPr>
              <a:t>04/03/69</a:t>
            </a:fld>
            <a:endParaRPr lang="th-TH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7E2B0-E65F-42BF-B2C6-FA613F71A5B2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Picture1.jpg">
            <a:extLst>
              <a:ext uri="{FF2B5EF4-FFF2-40B4-BE49-F238E27FC236}">
                <a16:creationId xmlns:a16="http://schemas.microsoft.com/office/drawing/2014/main" id="{5E036375-160F-491E-B9B7-35E7D4E363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t="14723" b="1036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FEEFCB-33F3-4D6D-A6C0-8D9FCC04A64A}"/>
              </a:ext>
            </a:extLst>
          </p:cNvPr>
          <p:cNvSpPr/>
          <p:nvPr userDrawn="1"/>
        </p:nvSpPr>
        <p:spPr>
          <a:xfrm>
            <a:off x="9433560" y="6172200"/>
            <a:ext cx="25450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/>
          </a:p>
        </p:txBody>
      </p:sp>
      <p:pic>
        <p:nvPicPr>
          <p:cNvPr id="10" name="Picture 2" descr="ซีพี ออลล์ - วิกิพีเดีย">
            <a:extLst>
              <a:ext uri="{FF2B5EF4-FFF2-40B4-BE49-F238E27FC236}">
                <a16:creationId xmlns:a16="http://schemas.microsoft.com/office/drawing/2014/main" id="{4F83A320-8CF8-496A-A62F-BF17010E83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1054" y="5921379"/>
            <a:ext cx="1030711" cy="68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34BA20-A386-4AF0-8E36-FD80B0E7BB9F}" type="datetimeFigureOut">
              <a:rPr lang="th-TH"/>
              <a:pPr>
                <a:defRPr/>
              </a:pPr>
              <a:t>04/03/69</a:t>
            </a:fld>
            <a:endParaRPr lang="th-TH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A34C50-D526-4893-9A5A-DC7B61164A7A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TEXT">
  <p:cSld name="TITLE +TEX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 flipH="1">
            <a:off x="1185800" y="1373400"/>
            <a:ext cx="9878800" cy="38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Josefin Slab"/>
              <a:buAutoNum type="arabicPeriod"/>
              <a:defRPr sz="14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lphaL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romanL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rabi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lphaL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romanL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rabi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lphaL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romanL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6907533" y="609733"/>
            <a:ext cx="4259600" cy="64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95403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A8BB025-190C-4AFB-A154-9A98D5A861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1625" y="6140450"/>
            <a:ext cx="16684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40040-3BA7-488A-99B6-D07272008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fld id="{1CF35914-B23A-4EC7-80F7-28F7B0913157}" type="datetime1">
              <a:rPr lang="th-TH" smtClean="0"/>
              <a:t>04/03/69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5D062-9464-4430-914B-7F0FCE2E6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C6838-BF89-4D5B-8175-BE21FD104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4C49C46D-26FA-4EDD-8516-CE6B1BB74FD3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CBDA5A-43F0-47C5-9155-BACC896B6F13}"/>
              </a:ext>
            </a:extLst>
          </p:cNvPr>
          <p:cNvSpPr/>
          <p:nvPr userDrawn="1"/>
        </p:nvSpPr>
        <p:spPr>
          <a:xfrm>
            <a:off x="0" y="6619875"/>
            <a:ext cx="10512425" cy="2333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prstClr val="white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CBDBD3FC-203A-4DDB-A32E-62631D6A4B26}"/>
              </a:ext>
            </a:extLst>
          </p:cNvPr>
          <p:cNvSpPr/>
          <p:nvPr userDrawn="1"/>
        </p:nvSpPr>
        <p:spPr>
          <a:xfrm>
            <a:off x="14288" y="31750"/>
            <a:ext cx="12168187" cy="7842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prstClr val="white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50949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74C5BE9B-2811-4E78-A8A7-49B51354B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1625" y="6140450"/>
            <a:ext cx="16684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B473E147-A1F2-4FE4-A11E-6DCEEE4D7BBB}"/>
              </a:ext>
            </a:extLst>
          </p:cNvPr>
          <p:cNvSpPr/>
          <p:nvPr/>
        </p:nvSpPr>
        <p:spPr>
          <a:xfrm>
            <a:off x="0" y="6619875"/>
            <a:ext cx="10512425" cy="2333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prstClr val="white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AB947E31-00A0-405D-A932-B6EA29258F02}"/>
              </a:ext>
            </a:extLst>
          </p:cNvPr>
          <p:cNvSpPr/>
          <p:nvPr/>
        </p:nvSpPr>
        <p:spPr>
          <a:xfrm>
            <a:off x="14288" y="31750"/>
            <a:ext cx="12168187" cy="7842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prstClr val="white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83908"/>
            <a:ext cx="10972800" cy="4942256"/>
          </a:xfrm>
        </p:spPr>
        <p:txBody>
          <a:bodyPr/>
          <a:lstStyle>
            <a:lvl1pPr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  <a:lvl2pPr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2pPr>
            <a:lvl3pPr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3pPr>
            <a:lvl4pPr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4pPr>
            <a:lvl5pPr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A178EFED-7CBF-4C5F-B891-CE303B38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176637FD-4F3D-4AD0-A6B9-C703B4D3C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70C82E-C552-4BCB-8367-AA3DD05EB683}" type="datetime1">
              <a:rPr lang="th-TH" smtClean="0"/>
              <a:t>04/03/69</a:t>
            </a:fld>
            <a:endParaRPr lang="th-TH"/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A99BF10D-966C-4F20-BDF8-5C98A705E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8EE49916-3200-4865-9FBB-DE6C21B45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A49FB-517C-4413-996D-64EE5079F14D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7092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C15BB7-4F79-4434-8686-A1590CF578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1625" y="6140450"/>
            <a:ext cx="16684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</p:spPr>
        <p:txBody>
          <a:bodyPr anchor="t"/>
          <a:lstStyle>
            <a:lvl1pPr algn="l">
              <a:defRPr sz="4000" b="1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5A758-19AD-4425-A48A-2373868EF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fld id="{62564EAE-AB76-4340-B479-DE77B4F4A8B6}" type="datetime1">
              <a:rPr lang="th-TH" smtClean="0"/>
              <a:t>04/03/69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44A63-E1E6-4C31-A293-4EDA21DDA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E7F20-D960-4880-B061-A2D7A613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17DD9A60-56B0-4B39-AC7E-E21E0B950136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D7A2C2-ADBB-459D-A4E0-911DDBFC2313}"/>
              </a:ext>
            </a:extLst>
          </p:cNvPr>
          <p:cNvSpPr/>
          <p:nvPr userDrawn="1"/>
        </p:nvSpPr>
        <p:spPr>
          <a:xfrm>
            <a:off x="0" y="6619875"/>
            <a:ext cx="10512425" cy="2333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prstClr val="white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F2D10A-CECD-4FB5-BCB6-F4785CC9406A}"/>
              </a:ext>
            </a:extLst>
          </p:cNvPr>
          <p:cNvSpPr/>
          <p:nvPr userDrawn="1"/>
        </p:nvSpPr>
        <p:spPr>
          <a:xfrm>
            <a:off x="14288" y="31750"/>
            <a:ext cx="12168187" cy="7842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schemeClr val="bg1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66883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BFE5ABA4-7ED0-4A4F-8E55-2DC433677589}"/>
              </a:ext>
            </a:extLst>
          </p:cNvPr>
          <p:cNvSpPr/>
          <p:nvPr userDrawn="1"/>
        </p:nvSpPr>
        <p:spPr>
          <a:xfrm>
            <a:off x="14288" y="31750"/>
            <a:ext cx="12168187" cy="7842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prstClr val="white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274CC508-89A4-4F13-926C-B82C56C7A9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1625" y="6140450"/>
            <a:ext cx="16684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333500"/>
            <a:ext cx="5384800" cy="47320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33501"/>
            <a:ext cx="5384800" cy="473201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017F3-22AC-44CC-A1D8-EB382B418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fld id="{37E7BC2A-F2E2-41E2-A27C-F1AE5DA6F05C}" type="datetime1">
              <a:rPr lang="th-TH" smtClean="0"/>
              <a:t>04/03/69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00CE2-DD8F-423C-857E-6E7AEA6C3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EEB233-2C3E-4D04-B2B2-421309E9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1B4F0AFC-753E-453B-8B09-98000279D36F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8C2E28D-0E1D-492A-A470-DB93B4F59198}"/>
              </a:ext>
            </a:extLst>
          </p:cNvPr>
          <p:cNvSpPr/>
          <p:nvPr userDrawn="1"/>
        </p:nvSpPr>
        <p:spPr>
          <a:xfrm>
            <a:off x="0" y="6619875"/>
            <a:ext cx="10512425" cy="2333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prstClr val="white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5029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>
            <a:extLst>
              <a:ext uri="{FF2B5EF4-FFF2-40B4-BE49-F238E27FC236}">
                <a16:creationId xmlns:a16="http://schemas.microsoft.com/office/drawing/2014/main" id="{A57C1AA5-1942-40CA-ACE1-947B01489D40}"/>
              </a:ext>
            </a:extLst>
          </p:cNvPr>
          <p:cNvSpPr/>
          <p:nvPr userDrawn="1"/>
        </p:nvSpPr>
        <p:spPr>
          <a:xfrm>
            <a:off x="14288" y="31750"/>
            <a:ext cx="12168187" cy="7842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prstClr val="white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890A51F6-11A9-4AC0-B073-82F4D3162D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1625" y="6140450"/>
            <a:ext cx="16684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464"/>
            <a:ext cx="10972800" cy="7985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27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66874"/>
            <a:ext cx="5386917" cy="44735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027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1666874"/>
            <a:ext cx="5389033" cy="4486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CD8118-A353-4E69-8184-3F7D0143B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fld id="{8058D9BB-95C5-4165-9A59-0E89EF31E0F7}" type="datetime1">
              <a:rPr lang="th-TH" smtClean="0"/>
              <a:t>04/03/69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AC2E13-6A11-4289-B753-7A763127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6336E2-9DB2-428C-8A11-991E96BB1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D81919DE-C063-484F-A1A8-02BEDC1BCB94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DF83A70B-2ABB-4E3C-91A5-35432A2EA999}"/>
              </a:ext>
            </a:extLst>
          </p:cNvPr>
          <p:cNvSpPr/>
          <p:nvPr userDrawn="1"/>
        </p:nvSpPr>
        <p:spPr>
          <a:xfrm>
            <a:off x="0" y="6619875"/>
            <a:ext cx="10512425" cy="2333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prstClr val="white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424691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E87AB4-DE47-4D13-A4A7-65572E532C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1625" y="6140450"/>
            <a:ext cx="16684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0AD6D8-F2BA-4782-ABDB-32E8CF0471DA}"/>
              </a:ext>
            </a:extLst>
          </p:cNvPr>
          <p:cNvSpPr/>
          <p:nvPr userDrawn="1"/>
        </p:nvSpPr>
        <p:spPr>
          <a:xfrm>
            <a:off x="0" y="6619875"/>
            <a:ext cx="10512425" cy="2333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prstClr val="white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DD721-96F6-44D1-87CB-877150AC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fld id="{C40B709E-5CBE-40BB-A5CB-E2D64B95F0BA}" type="datetime1">
              <a:rPr lang="th-TH" smtClean="0"/>
              <a:t>04/03/69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E352C4-7B80-4D43-B0DE-4DF3F4BCA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C6492-9C39-44E2-9594-66D659E3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9BDA49FB-517C-4413-996D-64EE5079F14D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FBB92DD-6B6F-4530-867C-0DA12A98E7FA}"/>
              </a:ext>
            </a:extLst>
          </p:cNvPr>
          <p:cNvSpPr/>
          <p:nvPr userDrawn="1"/>
        </p:nvSpPr>
        <p:spPr>
          <a:xfrm>
            <a:off x="14288" y="31750"/>
            <a:ext cx="12168187" cy="7842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sz="2800">
              <a:solidFill>
                <a:prstClr val="white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1750"/>
            <a:ext cx="10972800" cy="7842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68225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8A0487-E562-4AFE-961E-826B6E438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fld id="{D639C660-A67D-43D3-B0D9-98CBEF882BDF}" type="datetime1">
              <a:rPr lang="th-TH" smtClean="0"/>
              <a:t>04/03/69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ADDF4-7EB8-4AED-B491-DBE3B6142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D8395-C30D-4148-957F-D7845765F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9BDA49FB-517C-4413-996D-64EE5079F14D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33682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52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2E31E-C812-4D0D-83C6-5CF64CE93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fld id="{90AC013A-DD80-4F2C-917F-7786246276CD}" type="datetime1">
              <a:rPr lang="th-TH" smtClean="0"/>
              <a:t>04/03/69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25F3F-2648-4AD0-93ED-E32842B9B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95B75-B761-4D96-8303-06178C333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84C40ADC-6D8B-4DD4-B7C2-397B44D9609D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598850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th-TH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729C3-61C8-420C-A721-BB2FCAA6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fld id="{90D14F53-4509-4700-A606-9E4561EBE8E7}" type="datetime1">
              <a:rPr lang="th-TH" smtClean="0"/>
              <a:t>04/03/69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4497C-0641-4F70-8D5A-587001636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651FC-7537-4A02-A327-B0E59E73A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0157E2B0-E65F-42BF-B2C6-FA613F71A5B2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488825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E4A3E-9005-48C7-9F93-4DCFC9CD0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fld id="{7AC04E24-05B1-4AA6-9583-1B6CCE78A8D3}" type="datetime1">
              <a:rPr lang="th-TH" smtClean="0"/>
              <a:t>04/03/69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064AD-CEE0-49F1-96F6-5F96E9113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89E82-878B-4A22-8AC7-D7E081A6E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9BDA49FB-517C-4413-996D-64EE5079F14D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12790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28600"/>
            <a:ext cx="2743200" cy="4876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8026400" cy="4876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802A9-4C67-4946-9E10-55A9398BB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fld id="{45FFFFD9-CCEF-4495-B073-C610D90DC446}" type="datetime1">
              <a:rPr lang="th-TH" smtClean="0"/>
              <a:t>04/03/69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3EE51-BC62-4DFC-8FB5-DAAE70856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87ABB-D3E0-41BB-A1D4-2B2615525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9BDA49FB-517C-4413-996D-64EE5079F14D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22627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91EF8B9-4A69-48CA-B53B-4ABA88CE2ABD}"/>
              </a:ext>
            </a:extLst>
          </p:cNvPr>
          <p:cNvGrpSpPr/>
          <p:nvPr userDrawn="1"/>
        </p:nvGrpSpPr>
        <p:grpSpPr>
          <a:xfrm>
            <a:off x="827654" y="5969478"/>
            <a:ext cx="1492852" cy="613884"/>
            <a:chOff x="827654" y="5969478"/>
            <a:chExt cx="1492852" cy="61388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823F72F-8C92-4D6A-B4E5-DB518187849B}"/>
                </a:ext>
              </a:extLst>
            </p:cNvPr>
            <p:cNvSpPr/>
            <p:nvPr userDrawn="1"/>
          </p:nvSpPr>
          <p:spPr>
            <a:xfrm>
              <a:off x="1170940" y="5969478"/>
              <a:ext cx="1149566" cy="6138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2" descr="ซีพี ออลล์ - วิกิพีเดีย">
              <a:extLst>
                <a:ext uri="{FF2B5EF4-FFF2-40B4-BE49-F238E27FC236}">
                  <a16:creationId xmlns:a16="http://schemas.microsoft.com/office/drawing/2014/main" id="{EC385FF0-8F03-436D-84BB-B8E44C07F36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654" y="6082093"/>
              <a:ext cx="686571" cy="45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50" smtClean="0">
                <a:solidFill>
                  <a:srgbClr val="898989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0FBBBEE0-2FBF-4969-814A-68D91B28CE1B}" type="datetime1">
              <a:rPr lang="th-TH"/>
              <a:pPr>
                <a:defRPr/>
              </a:pPr>
              <a:t>04/03/69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50">
                <a:solidFill>
                  <a:srgbClr val="898989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50" smtClean="0">
                <a:solidFill>
                  <a:srgbClr val="898989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9BDA49FB-517C-4413-996D-64EE5079F14D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7" r:id="rId2"/>
    <p:sldLayoutId id="2147483830" r:id="rId3"/>
    <p:sldLayoutId id="2147483829" r:id="rId4"/>
    <p:sldLayoutId id="2147483824" r:id="rId5"/>
    <p:sldLayoutId id="2147483813" r:id="rId6"/>
    <p:sldLayoutId id="2147483825" r:id="rId7"/>
    <p:sldLayoutId id="2147483814" r:id="rId8"/>
    <p:sldLayoutId id="2147483815" r:id="rId9"/>
    <p:sldLayoutId id="2147483818" r:id="rId10"/>
    <p:sldLayoutId id="2147483819" r:id="rId11"/>
    <p:sldLayoutId id="2147483826" r:id="rId12"/>
    <p:sldLayoutId id="2147483855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Browallia New" panose="020B0604020202020204" pitchFamily="34" charset="-34"/>
          <a:ea typeface="Tahoma" pitchFamily="34" charset="0"/>
          <a:cs typeface="Browallia New" panose="020B0604020202020204" pitchFamily="34" charset="-34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ahoma" pitchFamily="34" charset="0"/>
          <a:ea typeface="MS PGothic" pitchFamily="34" charset="-128"/>
          <a:cs typeface="Tahom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ngsana New" pitchFamily="-60" charset="0"/>
          <a:ea typeface="ＭＳ Ｐゴシック" pitchFamily="-60" charset="-128"/>
          <a:cs typeface="ＭＳ Ｐゴシック" pitchFamily="-6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ngsana New" pitchFamily="-60" charset="0"/>
          <a:ea typeface="ＭＳ Ｐゴシック" pitchFamily="-60" charset="-128"/>
          <a:cs typeface="ＭＳ Ｐゴシック" pitchFamily="-6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ngsana New" pitchFamily="-60" charset="0"/>
          <a:ea typeface="ＭＳ Ｐゴシック" pitchFamily="-60" charset="-128"/>
          <a:cs typeface="ＭＳ Ｐゴシック" pitchFamily="-6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ngsana New" pitchFamily="-60" charset="0"/>
          <a:ea typeface="ＭＳ Ｐゴシック" pitchFamily="-60" charset="-128"/>
          <a:cs typeface="ＭＳ Ｐゴシック" pitchFamily="-6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Browallia New" panose="020B0604020202020204" pitchFamily="34" charset="-34"/>
          <a:ea typeface="Tahoma" pitchFamily="34" charset="0"/>
          <a:cs typeface="Browallia New" panose="020B0604020202020204" pitchFamily="34" charset="-34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Browallia New" panose="020B0604020202020204" pitchFamily="34" charset="-34"/>
          <a:ea typeface="Tahoma" pitchFamily="34" charset="0"/>
          <a:cs typeface="Browallia New" panose="020B0604020202020204" pitchFamily="34" charset="-34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Browallia New" panose="020B0604020202020204" pitchFamily="34" charset="-34"/>
          <a:ea typeface="Tahoma" pitchFamily="34" charset="0"/>
          <a:cs typeface="Browallia New" panose="020B0604020202020204" pitchFamily="34" charset="-34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Browallia New" panose="020B0604020202020204" pitchFamily="34" charset="-34"/>
          <a:ea typeface="Tahoma" pitchFamily="34" charset="0"/>
          <a:cs typeface="Browallia New" panose="020B0604020202020204" pitchFamily="34" charset="-34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Browallia New" panose="020B0604020202020204" pitchFamily="34" charset="-34"/>
          <a:ea typeface="Tahoma" pitchFamily="34" charset="0"/>
          <a:cs typeface="Browallia New" panose="020B0604020202020204" pitchFamily="34" charset="-3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02081FA1-255C-4621-9046-3DE1D04D74F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193533"/>
            <a:ext cx="10972800" cy="4932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h-TH"/>
              <a:t>Click to edit Master text styles</a:t>
            </a:r>
          </a:p>
          <a:p>
            <a:pPr lvl="1"/>
            <a:r>
              <a:rPr lang="en-US" altLang="th-TH"/>
              <a:t>Second level</a:t>
            </a:r>
          </a:p>
          <a:p>
            <a:pPr lvl="2"/>
            <a:r>
              <a:rPr lang="en-US" altLang="th-TH"/>
              <a:t>Third level</a:t>
            </a:r>
          </a:p>
          <a:p>
            <a:pPr lvl="3"/>
            <a:r>
              <a:rPr lang="en-US" altLang="th-TH"/>
              <a:t>Fourth level</a:t>
            </a:r>
          </a:p>
          <a:p>
            <a:pPr lvl="4"/>
            <a:r>
              <a:rPr lang="en-US" altLang="th-TH"/>
              <a:t>Fifth level</a:t>
            </a:r>
            <a:endParaRPr lang="th-TH" alt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51398-A9D3-4965-839D-02BA1710C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7DC79980-AB99-40C1-BE51-3F476AB7DFD5}" type="datetime1">
              <a:rPr lang="th-TH" smtClean="0"/>
              <a:t>04/03/69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825EC-2603-4B97-AB98-9C961118DD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F9EF0-513A-4CF7-9C92-9C43CE27BE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2039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chemeClr val="tx1"/>
                </a:solidFill>
                <a:latin typeface="Browallia New" panose="020B0604020202020204" pitchFamily="34" charset="-34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9BDA49FB-517C-4413-996D-64EE5079F14D}" type="slidenum">
              <a:rPr lang="en-US" smtClean="0"/>
              <a:pPr>
                <a:defRPr/>
              </a:pPr>
              <a:t>‹#›</a:t>
            </a:fld>
            <a:endParaRPr lang="th-TH"/>
          </a:p>
        </p:txBody>
      </p:sp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627D420E-AED0-4779-B925-43863FC0130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31750"/>
            <a:ext cx="1097280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h-TH"/>
              <a:t>Click to edit Master title style</a:t>
            </a:r>
            <a:endParaRPr lang="th-TH" altLang="th-TH"/>
          </a:p>
        </p:txBody>
      </p:sp>
    </p:spTree>
    <p:extLst>
      <p:ext uri="{BB962C8B-B14F-4D97-AF65-F5344CB8AC3E}">
        <p14:creationId xmlns:p14="http://schemas.microsoft.com/office/powerpoint/2010/main" val="3351083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Browallia New" panose="020B0604020202020204" pitchFamily="34" charset="-34"/>
          <a:ea typeface="+mj-ea"/>
          <a:cs typeface="Browallia New" panose="020B0604020202020204" pitchFamily="34" charset="-34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ngsana New" panose="02020603050405020304" pitchFamily="18" charset="-34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ngsana New" panose="02020603050405020304" pitchFamily="18" charset="-34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ngsana New" panose="02020603050405020304" pitchFamily="18" charset="-34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ngsana New" panose="02020603050405020304" pitchFamily="18" charset="-34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ngsana New" panose="02020603050405020304" pitchFamily="18" charset="-34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ngsana New" panose="02020603050405020304" pitchFamily="18" charset="-34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ngsana New" panose="02020603050405020304" pitchFamily="18" charset="-34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ngsana New" panose="02020603050405020304" pitchFamily="18" charset="-34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pallgroup-my.sharepoint.com/:x:/g/personal/kanyaratmangk_cpall_co_th/EQ1TRbmj3fNOn8eGac6BTFEB8fblyIhUqLR3S4MRWfabGQ?e=Ex90nc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cpallgroup-my.sharepoint.com/:u:/g/personal/kanyaratmangk_cpall_co_th/IQA6iJYMbGwKRLH_lLi27V9BAbiLKV1XyZ7xNxsaO1ninX8?e=fYNFvT" TargetMode="External"/><Relationship Id="rId4" Type="http://schemas.openxmlformats.org/officeDocument/2006/relationships/image" Target="../media/image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cpallgroup.sharepoint.com/:u:/s/BizSolTeam/IQBJoz3_YwCISq9ghWjUyQ4bAbQ1s3FEAw8kSwm3QqfTy5Y?e=rfI6qJ" TargetMode="External"/><Relationship Id="rId4" Type="http://schemas.openxmlformats.org/officeDocument/2006/relationships/image" Target="../media/image11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hyperlink" Target="https://cpallgroup.sharepoint.com/:x:/s/BizSolTeam/IQDE93lTwTdxSbEOEpLxHhOfAfvGu6-0WJMxYIw-IiTstIs?e=HsJ8e4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hyperlink" Target="https://cpallgroup.sharepoint.com/:x:/s/BizSolTeam/IQDE93lTwTdxSbEOEpLxHhOfAfvGu6-0WJMxYIw-IiTstIs?e=HsJ8e4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hyperlink" Target="https://cpallgroup.sharepoint.com/:x:/s/BizSolTeam/IQDE93lTwTdxSbEOEpLxHhOfAfvGu6-0WJMxYIw-IiTstIs?e=HsJ8e4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hyperlink" Target="https://cpallgroup.sharepoint.com/:x:/s/BizSolTeam/IQDE93lTwTdxSbEOEpLxHhOfAfvGu6-0WJMxYIw-IiTstIs?e=HsJ8e4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hyperlink" Target="https://cpallgroup.sharepoint.com/:x:/s/BizSolTeam/IQDE93lTwTdxSbEOEpLxHhOfAfvGu6-0WJMxYIw-IiTstIs?e=HsJ8e4" TargetMode="Externa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hyperlink" Target="https://cpallgroup.sharepoint.com/:x:/s/BizSolTeam/IQDE93lTwTdxSbEOEpLxHhOfAfvGu6-0WJMxYIw-IiTstIs?e=HsJ8e4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cpallgroup.sharepoint.com/:x:/s/BizSolTeam/IQDE93lTwTdxSbEOEpLxHhOfAfvGu6-0WJMxYIw-IiTstIs?e=HsJ8e4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cpallgroup.sharepoint.com/:x:/s/BizSolTeam/IQDE93lTwTdxSbEOEpLxHhOfAfvGu6-0WJMxYIw-IiTstIs?e=HsJ8e4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cpallgroup.sharepoint.com/:x:/s/BizSolTeam/IQDE93lTwTdxSbEOEpLxHhOfAfvGu6-0WJMxYIw-IiTstIs?e=HsJ8e4" TargetMode="Externa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cpallgroup.sharepoint.com/:x:/s/BizSolTeam/IQDE93lTwTdxSbEOEpLxHhOfAfvGu6-0WJMxYIw-IiTstIs?e=HsJ8e4" TargetMode="Externa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cpallgroup.sharepoint.com/:x:/s/BizSolTeam/IQDE93lTwTdxSbEOEpLxHhOfAfvGu6-0WJMxYIw-IiTstIs?e=HsJ8e4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cpallgroup.sharepoint.com/:x:/s/BizSolTeam/IQDE93lTwTdxSbEOEpLxHhOfAfvGu6-0WJMxYIw-IiTstIs?e=HsJ8e4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cpallgroup.sharepoint.com/:x:/s/BizSolTeam/IQDE93lTwTdxSbEOEpLxHhOfAfvGu6-0WJMxYIw-IiTstIs?e=HsJ8e4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cpallgroup.sharepoint.com/:x:/s/BizSolTeam/IQDE93lTwTdxSbEOEpLxHhOfAfvGu6-0WJMxYIw-IiTstIs?e=HsJ8e4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cpallgroup.sharepoint.com/:x:/s/BizSolTeam/IQDE93lTwTdxSbEOEpLxHhOfAfvGu6-0WJMxYIw-IiTstIs?e=HsJ8e4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cpallgroup.sharepoint.com/:x:/s/BizSolTeam/IQDE93lTwTdxSbEOEpLxHhOfAfvGu6-0WJMxYIw-IiTstIs?e=HsJ8e4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cpallgroup.sharepoint.com/:x:/s/BizSolTeam/IQDE93lTwTdxSbEOEpLxHhOfAfvGu6-0WJMxYIw-IiTstIs?e=HsJ8e4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cpallgroup.sharepoint.com/:x:/s/BizSolTeam/IQDE93lTwTdxSbEOEpLxHhOfAfvGu6-0WJMxYIw-IiTstIs?e=HsJ8e4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cpallgroup.sharepoint.com/:x:/s/BizSolTeam/IQDE93lTwTdxSbEOEpLxHhOfAfvGu6-0WJMxYIw-IiTstIs?e=HsJ8e4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cpallgroup.sharepoint.com/:x:/s/BizSolTeam/IQDE93lTwTdxSbEOEpLxHhOfAfvGu6-0WJMxYIw-IiTstIs?e=HsJ8e4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cpallgroup.sharepoint.com/:x:/s/BizSolTeam/IQDE93lTwTdxSbEOEpLxHhOfAfvGu6-0WJMxYIw-IiTstIs?e=HsJ8e4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cpallgroup.sharepoint.com/:x:/s/BizSolTeam/IQDE93lTwTdxSbEOEpLxHhOfAfvGu6-0WJMxYIw-IiTstIs?e=HsJ8e4" TargetMode="Externa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cpallgroup.sharepoint.com/:x:/s/BizSolTeam/IQDE93lTwTdxSbEOEpLxHhOfAfvGu6-0WJMxYIw-IiTstIs?e=HsJ8e4" TargetMode="External"/><Relationship Id="rId4" Type="http://schemas.openxmlformats.org/officeDocument/2006/relationships/image" Target="../media/image2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cpallgroup.sharepoint.com/:x:/s/BizSolTeam/IQDE93lTwTdxSbEOEpLxHhOfAfvGu6-0WJMxYIw-IiTstIs?e=HsJ8e4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cpallgroup.sharepoint.com/:u:/s/BizSolTeam/IQDx6zkveSqES6KBI3MkcBsdASZtQni7Ht2sfAGTcxzWrMQ?e=0qJ9o4" TargetMode="External"/><Relationship Id="rId4" Type="http://schemas.openxmlformats.org/officeDocument/2006/relationships/image" Target="../media/image41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cpallgroup.sharepoint.com/:u:/s/BizSolTeam/IQDfvGIhbNnvTZ4J7Thbv-Z-AStFHQ7LkJ08rKQs7126M28?e=QRXdNc" TargetMode="External"/><Relationship Id="rId4" Type="http://schemas.openxmlformats.org/officeDocument/2006/relationships/image" Target="../media/image43.sv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cpallgroup.sharepoint.com/:x:/s/BizSolTeam/IQDE93lTwTdxSbEOEpLxHhOfAfvGu6-0WJMxYIw-IiTstIs?e=HsJ8e4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cpallgroup.sharepoint.com/:x:/s/BizSolTeam/IQDE93lTwTdxSbEOEpLxHhOfAfvGu6-0WJMxYIw-IiTstIs?e=HsJ8e4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cpallgroup.sharepoint.com/:x:/s/BizSolTeam/IQDE93lTwTdxSbEOEpLxHhOfAfvGu6-0WJMxYIw-IiTstIs?e=HsJ8e4" TargetMode="External"/><Relationship Id="rId4" Type="http://schemas.openxmlformats.org/officeDocument/2006/relationships/image" Target="../media/image4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cpallgroup.sharepoint.com/:x:/s/BizSolTeam/IQDE93lTwTdxSbEOEpLxHhOfAfvGu6-0WJMxYIw-IiTstIs?e=HsJ8e4" TargetMode="External"/><Relationship Id="rId5" Type="http://schemas.openxmlformats.org/officeDocument/2006/relationships/image" Target="../media/image46.png"/><Relationship Id="rId4" Type="http://schemas.openxmlformats.org/officeDocument/2006/relationships/image" Target="../media/image1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cpallgroup.sharepoint.com/:x:/s/BizSolTeam/IQDE93lTwTdxSbEOEpLxHhOfAfvGu6-0WJMxYIw-IiTstIs?e=HsJ8e4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cpallgroup.sharepoint.com/:x:/s/BizSolTeam/IQDE93lTwTdxSbEOEpLxHhOfAfvGu6-0WJMxYIw-IiTstIs?e=HsJ8e4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cpallgroup.sharepoint.com/:x:/s/BizSolTeam/IQDE93lTwTdxSbEOEpLxHhOfAfvGu6-0WJMxYIw-IiTstIs?e=HsJ8e4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cpallgroup.sharepoint.com/:x:/s/BizSolTeam/IQDE93lTwTdxSbEOEpLxHhOfAfvGu6-0WJMxYIw-IiTstIs?e=HsJ8e4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cpallgroup.sharepoint.com/:x:/s/BizSolTeam/IQDE93lTwTdxSbEOEpLxHhOfAfvGu6-0WJMxYIw-IiTstIs?e=HsJ8e4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cpallgroup.sharepoint.com/:x:/s/BizSolTeam/IQDE93lTwTdxSbEOEpLxHhOfAfvGu6-0WJMxYIw-IiTstIs?e=HsJ8e4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cpallgroup.sharepoint.com/:x:/s/BizSolTeam/IQDE93lTwTdxSbEOEpLxHhOfAfvGu6-0WJMxYIw-IiTstIs?e=HsJ8e4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cpallgroup.sharepoint.com/:x:/s/BizSolTeam/IQDE93lTwTdxSbEOEpLxHhOfAfvGu6-0WJMxYIw-IiTstIs?e=HsJ8e4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hyperlink" Target="https://cpallgroup.sharepoint.com/:x:/s/BizSolTeam/Ef4jQntsYJRCvOonKiLqMgcBIZ2xE1ZxwQuEuOty42LpVA?e=rDT3K5" TargetMode="External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1.png"/><Relationship Id="rId4" Type="http://schemas.openxmlformats.org/officeDocument/2006/relationships/image" Target="../media/image56.png"/><Relationship Id="rId9" Type="http://schemas.openxmlformats.org/officeDocument/2006/relationships/image" Target="../media/image6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cpallgroup.sharepoint.com/:x:/s/BizSolTeam/Ef4jQntsYJRCvOonKiLqMgcBIZ2xE1ZxwQuEuOty42LpVA?e=rDT3K5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6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hyperlink" Target="https://cpallgroup.sharepoint.com/:x:/s/BizSolTeam/Ef4jQntsYJRCvOonKiLqMgcBIZ2xE1ZxwQuEuOty42LpVA?e=rDT3K5" TargetMode="External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55.png"/><Relationship Id="rId4" Type="http://schemas.openxmlformats.org/officeDocument/2006/relationships/image" Target="../media/image56.png"/><Relationship Id="rId9" Type="http://schemas.openxmlformats.org/officeDocument/2006/relationships/image" Target="../media/image5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teams.microsoft.com/l/file/B9D95BAA-C266-415B-8A0E-58AEAEAF68F6?tenantId=0e837ccb-289e-45c4-8f1e-e283bb7f6289&amp;fileType=xlsx&amp;objectUrl=https://cpallgroup.sharepoint.com/sites/BizSolTeam/Shared%20Documents/Biz%20Sol%20Document/BA%20Template%20Document/PDPA%20Requirement%20(%E0%B8%95%E0%B8%B1%E0%B9%89%E0%B8%87%E0%B8%8A%E0%B8%B7%E0%B9%88%E0%B8%AD%20Project).xlsx&amp;baseUrl=https://cpallgroup.sharepoint.com/sites/BizSolTeam&amp;serviceName=teams&amp;threadId=19:4c843124954f41c4b9875245faf71914@thread.tacv2&amp;groupId=abdea486-0d0c-47ce-8f73-95033c2b238b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9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4"/>
          <p:cNvSpPr txBox="1">
            <a:spLocks/>
          </p:cNvSpPr>
          <p:nvPr/>
        </p:nvSpPr>
        <p:spPr bwMode="auto">
          <a:xfrm>
            <a:off x="4150360" y="4287520"/>
            <a:ext cx="69342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>
                    <a:tint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th-TH" sz="2000" b="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ISS: </a:t>
            </a:r>
            <a:r>
              <a:rPr lang="en-US" altLang="th-TH" sz="2000" b="0" dirty="0" err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Kanyarat</a:t>
            </a:r>
            <a:r>
              <a:rPr lang="en-US" altLang="th-TH" sz="2000" b="0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 Si. </a:t>
            </a:r>
            <a:endParaRPr lang="en-US" altLang="th-TH" sz="2000" b="0" dirty="0">
              <a:solidFill>
                <a:schemeClr val="bg1"/>
              </a:solidFill>
            </a:endParaRPr>
          </a:p>
          <a:p>
            <a:pPr algn="r"/>
            <a:r>
              <a:rPr lang="en-US" altLang="th-TH" sz="2000" b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Update: 24/2/2026</a:t>
            </a:r>
            <a:endParaRPr lang="en-US" altLang="th-TH" sz="2000" b="0" dirty="0">
              <a:solidFill>
                <a:schemeClr val="bg1"/>
              </a:solidFill>
            </a:endParaRPr>
          </a:p>
          <a:p>
            <a:pPr algn="r"/>
            <a:endParaRPr lang="en-US" altLang="th-TH" sz="2000" b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21827" y="6448406"/>
            <a:ext cx="253522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u="sng">
                <a:latin typeface="CordiaUPC"/>
                <a:cs typeface="CordiaUPC"/>
              </a:rPr>
              <a:t>Document Version 7.5</a:t>
            </a:r>
            <a:endParaRPr lang="th-TH" sz="2400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7E3158F-E858-4D4C-91EA-15AE680FD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9943" y="910916"/>
            <a:ext cx="8501743" cy="2968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r>
              <a:rPr lang="en-US" altLang="th-TH" sz="6000" b="1">
                <a:solidFill>
                  <a:schemeClr val="bg1"/>
                </a:solidFill>
                <a:latin typeface="CordiaUPC"/>
                <a:ea typeface="Tahoma"/>
                <a:cs typeface="CordiaUPC"/>
              </a:rPr>
              <a:t>Solution Document</a:t>
            </a:r>
          </a:p>
          <a:p>
            <a:r>
              <a:rPr lang="en-US" err="1">
                <a:solidFill>
                  <a:schemeClr val="bg1"/>
                </a:solidFill>
                <a:latin typeface="BrowalliaUPC"/>
                <a:ea typeface="Tahoma"/>
                <a:cs typeface="Tahoma"/>
              </a:rPr>
              <a:t>ปรับปรุงการชดเชยรายได้ในระบบ</a:t>
            </a:r>
            <a:r>
              <a:rPr lang="en-US">
                <a:solidFill>
                  <a:schemeClr val="bg1"/>
                </a:solidFill>
                <a:latin typeface="BrowalliaUPC"/>
                <a:ea typeface="Tahoma"/>
                <a:cs typeface="Tahoma"/>
              </a:rPr>
              <a:t> SBP GI</a:t>
            </a:r>
          </a:p>
          <a:p>
            <a:pPr marL="457200" indent="-457200" algn="l">
              <a:buAutoNum type="arabicPeriod"/>
            </a:pPr>
            <a:endParaRPr lang="en-US" sz="2400">
              <a:solidFill>
                <a:schemeClr val="bg1"/>
              </a:solidFill>
              <a:latin typeface="BrowalliaUPC"/>
              <a:cs typeface="BrowalliaUP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E8B93C9-D715-4818-A824-2E239DBCC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z="4000" err="1">
                <a:latin typeface="Cordia New" panose="020B0304020202020204" pitchFamily="34" charset="-34"/>
                <a:ea typeface="Tahoma"/>
                <a:cs typeface="Cordia New" panose="020B0304020202020204" pitchFamily="34" charset="-34"/>
              </a:rPr>
              <a:t>Activity</a:t>
            </a:r>
            <a:r>
              <a:rPr lang="th-TH" sz="4000">
                <a:latin typeface="Cordia New" panose="020B0304020202020204" pitchFamily="34" charset="-34"/>
                <a:ea typeface="Tahoma"/>
                <a:cs typeface="Cordia New" panose="020B0304020202020204" pitchFamily="34" charset="-34"/>
              </a:rPr>
              <a:t> </a:t>
            </a:r>
            <a:r>
              <a:rPr lang="th-TH" sz="4000" err="1">
                <a:latin typeface="Cordia New" panose="020B0304020202020204" pitchFamily="34" charset="-34"/>
                <a:ea typeface="Tahoma"/>
                <a:cs typeface="Cordia New" panose="020B0304020202020204" pitchFamily="34" charset="-34"/>
              </a:rPr>
              <a:t>Log</a:t>
            </a:r>
            <a:endParaRPr lang="th-TH" sz="4000" err="1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graphicFrame>
        <p:nvGraphicFramePr>
          <p:cNvPr id="4" name="ตาราง 4">
            <a:extLst>
              <a:ext uri="{FF2B5EF4-FFF2-40B4-BE49-F238E27FC236}">
                <a16:creationId xmlns:a16="http://schemas.microsoft.com/office/drawing/2014/main" id="{69E21062-072A-4D53-B5D5-BD64BB6248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2186323"/>
              </p:ext>
            </p:extLst>
          </p:nvPr>
        </p:nvGraphicFramePr>
        <p:xfrm>
          <a:off x="1981200" y="1600200"/>
          <a:ext cx="8229596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4833">
                  <a:extLst>
                    <a:ext uri="{9D8B030D-6E8A-4147-A177-3AD203B41FA5}">
                      <a16:colId xmlns:a16="http://schemas.microsoft.com/office/drawing/2014/main" val="2379173364"/>
                    </a:ext>
                  </a:extLst>
                </a:gridCol>
                <a:gridCol w="1680939">
                  <a:extLst>
                    <a:ext uri="{9D8B030D-6E8A-4147-A177-3AD203B41FA5}">
                      <a16:colId xmlns:a16="http://schemas.microsoft.com/office/drawing/2014/main" val="9422921"/>
                    </a:ext>
                  </a:extLst>
                </a:gridCol>
                <a:gridCol w="1806424">
                  <a:extLst>
                    <a:ext uri="{9D8B030D-6E8A-4147-A177-3AD203B41FA5}">
                      <a16:colId xmlns:a16="http://schemas.microsoft.com/office/drawing/2014/main" val="11461987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0147627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sz="2400" b="1" err="1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Activity</a:t>
                      </a:r>
                      <a:endParaRPr lang="th-TH" sz="2400" b="1" err="1">
                        <a:latin typeface="CordiaUPC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400" b="1" err="1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Date</a:t>
                      </a:r>
                      <a:endParaRPr lang="th-TH" sz="2400" b="1" err="1">
                        <a:latin typeface="CordiaUPC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400" b="1" err="1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By</a:t>
                      </a:r>
                      <a:endParaRPr lang="th-TH" sz="2400" b="1" err="1">
                        <a:latin typeface="CordiaUPC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400" b="1" err="1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Remark</a:t>
                      </a:r>
                      <a:endParaRPr lang="th-TH" sz="2400" b="1" err="1">
                        <a:latin typeface="CordiaUPC"/>
                        <a:cs typeface="CordiaUP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292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400" err="1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Initial</a:t>
                      </a:r>
                      <a:endParaRPr lang="th-TH" sz="2400" err="1">
                        <a:latin typeface="CordiaUPC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2400" dirty="0">
                          <a:latin typeface="CordiaUPC"/>
                          <a:cs typeface="CordiaUPC"/>
                        </a:rPr>
                        <a:t>18/12/2023</a:t>
                      </a:r>
                      <a:endParaRPr lang="th-TH" sz="2400" dirty="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2400" dirty="0" err="1">
                          <a:latin typeface="CordiaUPC"/>
                          <a:cs typeface="CordiaUPC"/>
                        </a:rPr>
                        <a:t>Kanyarat</a:t>
                      </a:r>
                      <a:r>
                        <a:rPr lang="th-TH" sz="2400" dirty="0">
                          <a:latin typeface="CordiaUPC"/>
                          <a:cs typeface="CordiaUPC"/>
                        </a:rPr>
                        <a:t> </a:t>
                      </a:r>
                      <a:r>
                        <a:rPr lang="th-TH" sz="2400" dirty="0" err="1">
                          <a:latin typeface="CordiaUPC"/>
                          <a:cs typeface="CordiaUPC"/>
                        </a:rPr>
                        <a:t>Si</a:t>
                      </a:r>
                      <a:r>
                        <a:rPr lang="th-TH" sz="2400" dirty="0">
                          <a:latin typeface="CordiaUPC"/>
                          <a:cs typeface="CordiaUPC"/>
                        </a:rPr>
                        <a:t>.</a:t>
                      </a:r>
                      <a:endParaRPr lang="th-TH" sz="2400" dirty="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13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400" err="1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Update</a:t>
                      </a:r>
                      <a:endParaRPr lang="th-TH" sz="2400" err="1">
                        <a:latin typeface="CordiaUPC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2400" dirty="0">
                          <a:latin typeface="CordiaUPC"/>
                          <a:cs typeface="CordiaUPC"/>
                        </a:rPr>
                        <a:t>6/2/2026</a:t>
                      </a:r>
                    </a:p>
                    <a:p>
                      <a:pPr lvl="0">
                        <a:buNone/>
                      </a:pPr>
                      <a:r>
                        <a:rPr lang="th-TH" sz="2400" dirty="0">
                          <a:latin typeface="CordiaUPC"/>
                          <a:cs typeface="CordiaUPC"/>
                        </a:rPr>
                        <a:t>3/2/2026</a:t>
                      </a:r>
                    </a:p>
                    <a:p>
                      <a:pPr lvl="0">
                        <a:buNone/>
                      </a:pPr>
                      <a:r>
                        <a:rPr lang="th-TH" sz="2400">
                          <a:latin typeface="CordiaUPC"/>
                          <a:cs typeface="CordiaUPC"/>
                        </a:rPr>
                        <a:t>28/1/2026</a:t>
                      </a:r>
                    </a:p>
                    <a:p>
                      <a:pPr lvl="0">
                        <a:buNone/>
                      </a:pPr>
                      <a:r>
                        <a:rPr lang="th-TH" sz="2400" dirty="0">
                          <a:latin typeface="CordiaUPC"/>
                          <a:cs typeface="CordiaUPC"/>
                        </a:rPr>
                        <a:t>6/1/2026</a:t>
                      </a:r>
                    </a:p>
                    <a:p>
                      <a:pPr lvl="0">
                        <a:buNone/>
                      </a:pPr>
                      <a:r>
                        <a:rPr lang="th-TH" sz="2400" dirty="0">
                          <a:latin typeface="CordiaUPC"/>
                          <a:cs typeface="CordiaUPC"/>
                        </a:rPr>
                        <a:t>2/1/2026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2400" dirty="0" err="1">
                          <a:latin typeface="CordiaUPC"/>
                          <a:cs typeface="CordiaUPC"/>
                        </a:rPr>
                        <a:t>Kanyarat</a:t>
                      </a:r>
                      <a:r>
                        <a:rPr lang="th-TH" sz="2400" dirty="0">
                          <a:latin typeface="CordiaUPC"/>
                          <a:cs typeface="CordiaUPC"/>
                        </a:rPr>
                        <a:t> </a:t>
                      </a:r>
                      <a:r>
                        <a:rPr lang="th-TH" sz="2400" dirty="0" err="1">
                          <a:latin typeface="CordiaUPC"/>
                          <a:cs typeface="CordiaUPC"/>
                        </a:rPr>
                        <a:t>Si</a:t>
                      </a:r>
                      <a:r>
                        <a:rPr lang="th-TH" sz="2400" dirty="0">
                          <a:latin typeface="CordiaUPC"/>
                          <a:cs typeface="CordiaUPC"/>
                        </a:rPr>
                        <a:t>.</a:t>
                      </a:r>
                      <a:endParaRPr lang="th-TH" sz="2400" dirty="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260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400" err="1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Review</a:t>
                      </a:r>
                      <a:endParaRPr lang="th-TH" sz="2400" err="1">
                        <a:latin typeface="CordiaUPC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19804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2400" dirty="0" err="1">
                          <a:latin typeface="CordiaUPC"/>
                          <a:cs typeface="CordiaUPC"/>
                        </a:rPr>
                        <a:t>Submit</a:t>
                      </a:r>
                      <a:r>
                        <a:rPr lang="th-TH" sz="2400" dirty="0">
                          <a:latin typeface="CordiaUPC"/>
                          <a:cs typeface="CordiaUPC"/>
                        </a:rPr>
                        <a:t> </a:t>
                      </a:r>
                      <a:r>
                        <a:rPr lang="th-TH" sz="2400" dirty="0" err="1">
                          <a:latin typeface="CordiaUPC"/>
                          <a:cs typeface="CordiaUPC"/>
                        </a:rPr>
                        <a:t>to</a:t>
                      </a:r>
                      <a:r>
                        <a:rPr lang="th-TH" sz="2400" dirty="0">
                          <a:latin typeface="CordiaUPC"/>
                          <a:cs typeface="CordiaUPC"/>
                        </a:rPr>
                        <a:t> </a:t>
                      </a:r>
                      <a:r>
                        <a:rPr lang="th-TH" sz="2400" dirty="0" err="1">
                          <a:latin typeface="CordiaUPC"/>
                          <a:cs typeface="CordiaUPC"/>
                        </a:rPr>
                        <a:t>Solution</a:t>
                      </a:r>
                      <a:r>
                        <a:rPr lang="th-TH" sz="2400" dirty="0">
                          <a:latin typeface="CordiaUPC"/>
                          <a:cs typeface="CordiaUPC"/>
                        </a:rPr>
                        <a:t> </a:t>
                      </a:r>
                      <a:r>
                        <a:rPr lang="th-TH" sz="2400" dirty="0" err="1">
                          <a:latin typeface="CordiaUPC"/>
                          <a:cs typeface="CordiaUPC"/>
                        </a:rPr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th-TH" sz="24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459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546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3"/>
          <p:cNvSpPr>
            <a:spLocks noGrp="1"/>
          </p:cNvSpPr>
          <p:nvPr>
            <p:ph type="ctrTitle" sz="quarter"/>
          </p:nvPr>
        </p:nvSpPr>
        <p:spPr>
          <a:xfrm>
            <a:off x="914400" y="1958975"/>
            <a:ext cx="10363200" cy="1470025"/>
          </a:xfrm>
        </p:spPr>
        <p:txBody>
          <a:bodyPr/>
          <a:lstStyle/>
          <a:p>
            <a:r>
              <a:rPr lang="en-US" altLang="th-TH" sz="6000" b="1" u="sng">
                <a:latin typeface="CordiaUPC" panose="020B0304020202020204" pitchFamily="34" charset="-34"/>
                <a:cs typeface="CordiaUPC" panose="020B0304020202020204" pitchFamily="34" charset="-34"/>
              </a:rPr>
              <a:t>1. Business Requirement</a:t>
            </a:r>
          </a:p>
        </p:txBody>
      </p:sp>
    </p:spTree>
    <p:extLst>
      <p:ext uri="{BB962C8B-B14F-4D97-AF65-F5344CB8AC3E}">
        <p14:creationId xmlns:p14="http://schemas.microsoft.com/office/powerpoint/2010/main" val="3926961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 txBox="1">
            <a:spLocks/>
          </p:cNvSpPr>
          <p:nvPr/>
        </p:nvSpPr>
        <p:spPr bwMode="auto">
          <a:xfrm>
            <a:off x="621254" y="1103032"/>
            <a:ext cx="10914563" cy="4634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 anchor="t"/>
          <a:lstStyle/>
          <a:p>
            <a:pPr marL="342900" indent="-342900" algn="just" eaLnBrk="0" hangingPunct="0">
              <a:lnSpc>
                <a:spcPct val="80000"/>
              </a:lnSpc>
              <a:spcBef>
                <a:spcPct val="20000"/>
              </a:spcBef>
              <a:buClr>
                <a:srgbClr val="003300"/>
              </a:buClr>
              <a:defRPr/>
            </a:pPr>
            <a:r>
              <a:rPr lang="th-TH" altLang="en-US" sz="2800" kern="0" dirty="0">
                <a:solidFill>
                  <a:srgbClr val="09357A"/>
                </a:solidFill>
                <a:latin typeface="CordiaUPC"/>
                <a:cs typeface="CordiaUPC"/>
              </a:rPr>
              <a:t>ที่มา</a:t>
            </a:r>
            <a:r>
              <a:rPr lang="en-US" altLang="en-US" sz="2800" kern="0" dirty="0">
                <a:solidFill>
                  <a:srgbClr val="09357A"/>
                </a:solidFill>
                <a:latin typeface="CordiaUPC"/>
                <a:cs typeface="CordiaUPC"/>
              </a:rPr>
              <a:t> </a:t>
            </a:r>
            <a:endParaRPr lang="en-US" altLang="en-US" sz="2400" kern="0" dirty="0">
              <a:solidFill>
                <a:srgbClr val="09357A"/>
              </a:solidFill>
              <a:latin typeface="BrowalliaUPC"/>
              <a:cs typeface="CordiaUPC" panose="020B0304020202020204" pitchFamily="34" charset="-34"/>
            </a:endParaRP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b="0" kern="0" dirty="0">
                <a:solidFill>
                  <a:srgbClr val="000000"/>
                </a:solidFill>
                <a:latin typeface="BrowalliaUPC"/>
                <a:cs typeface="BrowalliaUPC"/>
              </a:rPr>
              <a:t> </a:t>
            </a:r>
            <a:r>
              <a:rPr lang="en-US" sz="2400" b="0" kern="0" dirty="0" err="1">
                <a:solidFill>
                  <a:srgbClr val="000000"/>
                </a:solidFill>
                <a:latin typeface="BrowalliaUPC"/>
                <a:cs typeface="BrowalliaUPC"/>
              </a:rPr>
              <a:t>ปัจจุบันระบบ</a:t>
            </a:r>
            <a:r>
              <a:rPr lang="en-US" sz="2400" b="0" kern="0" dirty="0">
                <a:solidFill>
                  <a:srgbClr val="000000"/>
                </a:solidFill>
                <a:latin typeface="BrowalliaUPC"/>
                <a:cs typeface="BrowalliaUPC"/>
              </a:rPr>
              <a:t> SBP GI </a:t>
            </a:r>
            <a:r>
              <a:rPr lang="en-US" sz="2400" b="0" kern="0" dirty="0" err="1">
                <a:solidFill>
                  <a:srgbClr val="000000"/>
                </a:solidFill>
                <a:latin typeface="BrowalliaUPC"/>
                <a:cs typeface="BrowalliaUPC"/>
              </a:rPr>
              <a:t>พบปัญหาภายในระบบต่างๆ</a:t>
            </a:r>
            <a:r>
              <a:rPr lang="en-US" sz="2400" b="0" kern="0" dirty="0">
                <a:solidFill>
                  <a:srgbClr val="000000"/>
                </a:solidFill>
                <a:latin typeface="BrowalliaUPC"/>
                <a:cs typeface="BrowalliaUPC"/>
              </a:rPr>
              <a:t> </a:t>
            </a:r>
            <a:r>
              <a:rPr lang="en-US" sz="2400" b="0" kern="0" dirty="0" err="1">
                <a:solidFill>
                  <a:srgbClr val="000000"/>
                </a:solidFill>
                <a:latin typeface="BrowalliaUPC"/>
                <a:cs typeface="BrowalliaUPC"/>
              </a:rPr>
              <a:t>ทำให้ไม่สามารถสร้างการชดเชยรายได้ในระบบ</a:t>
            </a:r>
            <a:r>
              <a:rPr lang="en-US" sz="2400" b="0" kern="0" dirty="0">
                <a:solidFill>
                  <a:srgbClr val="000000"/>
                </a:solidFill>
                <a:latin typeface="BrowalliaUPC"/>
                <a:cs typeface="BrowalliaUPC"/>
              </a:rPr>
              <a:t> SBP GI </a:t>
            </a:r>
            <a:r>
              <a:rPr lang="en-US" sz="2400" b="0" kern="0" dirty="0" err="1">
                <a:solidFill>
                  <a:srgbClr val="000000"/>
                </a:solidFill>
                <a:latin typeface="BrowalliaUPC"/>
                <a:cs typeface="BrowalliaUPC"/>
              </a:rPr>
              <a:t>ได้</a:t>
            </a:r>
            <a:r>
              <a:rPr lang="en-US" sz="2400" b="0" kern="0" dirty="0">
                <a:solidFill>
                  <a:srgbClr val="000000"/>
                </a:solidFill>
                <a:latin typeface="BrowalliaUPC"/>
                <a:cs typeface="BrowalliaUPC"/>
              </a:rPr>
              <a:t> </a:t>
            </a:r>
            <a:r>
              <a:rPr lang="en-US" sz="2400" b="0" kern="0" dirty="0" err="1">
                <a:solidFill>
                  <a:srgbClr val="000000"/>
                </a:solidFill>
                <a:latin typeface="BrowalliaUPC"/>
                <a:cs typeface="BrowalliaUPC"/>
              </a:rPr>
              <a:t>ดังนี้</a:t>
            </a:r>
            <a:endParaRPr lang="en-US" sz="2400" b="0" kern="0" dirty="0">
              <a:latin typeface="BrowalliaUPC"/>
              <a:cs typeface="BrowalliaUPC"/>
            </a:endParaRPr>
          </a:p>
          <a:p>
            <a:pPr marL="457200" indent="-457200" algn="just">
              <a:lnSpc>
                <a:spcPct val="80000"/>
              </a:lnSpc>
              <a:spcBef>
                <a:spcPts val="20"/>
              </a:spcBef>
              <a:buFont typeface="Arial"/>
              <a:buChar char="•"/>
              <a:defRPr/>
            </a:pPr>
            <a:r>
              <a:rPr lang="en-US" sz="2400" b="0" kern="0" dirty="0" err="1">
                <a:solidFill>
                  <a:srgbClr val="000000"/>
                </a:solidFill>
                <a:latin typeface="BrowalliaUPC"/>
                <a:cs typeface="BrowalliaUPC"/>
              </a:rPr>
              <a:t>กรณีมีการไม่อนุมัติประกันรายได้</a:t>
            </a:r>
            <a:r>
              <a:rPr lang="en-US" sz="2400" b="0" kern="0" dirty="0">
                <a:solidFill>
                  <a:srgbClr val="000000"/>
                </a:solidFill>
                <a:latin typeface="BrowalliaUPC"/>
                <a:cs typeface="BrowalliaUPC"/>
              </a:rPr>
              <a:t> </a:t>
            </a:r>
            <a:r>
              <a:rPr lang="en-US" sz="2400" b="0" kern="0" dirty="0" err="1">
                <a:solidFill>
                  <a:srgbClr val="000000"/>
                </a:solidFill>
                <a:latin typeface="BrowalliaUPC"/>
                <a:cs typeface="BrowalliaUPC"/>
              </a:rPr>
              <a:t>ทำให้ไม่สามารถดำเนินการสร้างชดเชยรายได้ได้ใหม่</a:t>
            </a:r>
            <a:endParaRPr lang="en-US" sz="2400" b="0" kern="0" dirty="0">
              <a:solidFill>
                <a:srgbClr val="000000"/>
              </a:solidFill>
              <a:latin typeface="BrowalliaUPC"/>
              <a:cs typeface="BrowalliaUPC"/>
            </a:endParaRPr>
          </a:p>
          <a:p>
            <a:pPr algn="just">
              <a:lnSpc>
                <a:spcPct val="80000"/>
              </a:lnSpc>
              <a:spcBef>
                <a:spcPts val="20"/>
              </a:spcBef>
              <a:defRPr/>
            </a:pPr>
            <a:endParaRPr lang="en-US" sz="2400" b="0" kern="0">
              <a:latin typeface="BrowalliaUPC"/>
              <a:cs typeface="BrowalliaUPC"/>
            </a:endParaRPr>
          </a:p>
          <a:p>
            <a:pPr marL="457200" indent="-457200" algn="just">
              <a:lnSpc>
                <a:spcPct val="80000"/>
              </a:lnSpc>
              <a:spcBef>
                <a:spcPts val="20"/>
              </a:spcBef>
              <a:buFont typeface="Arial"/>
              <a:buChar char="•"/>
              <a:defRPr/>
            </a:pPr>
            <a:endParaRPr lang="en-US" sz="2400" b="0" kern="0">
              <a:latin typeface="BrowalliaUPC"/>
              <a:cs typeface="BrowalliaUPC"/>
            </a:endParaRPr>
          </a:p>
          <a:p>
            <a:pPr algn="just">
              <a:defRPr/>
            </a:pPr>
            <a:r>
              <a:rPr lang="th-TH" sz="2400" b="0" kern="0" dirty="0">
                <a:solidFill>
                  <a:srgbClr val="000000"/>
                </a:solidFill>
                <a:latin typeface="BrowalliaUPC"/>
                <a:cs typeface="BrowalliaUPC"/>
              </a:rPr>
              <a:t> ปัญหาดังกล่าว ไม่สามารถสร้างชดเชยรายได้ ได้เอง  จึงต้องเปิด SR ให้กับ </a:t>
            </a:r>
            <a:r>
              <a:rPr lang="th-TH" sz="2400" b="0" kern="0" dirty="0" err="1">
                <a:solidFill>
                  <a:srgbClr val="000000"/>
                </a:solidFill>
                <a:latin typeface="BrowalliaUPC"/>
                <a:cs typeface="BrowalliaUPC"/>
              </a:rPr>
              <a:t>Gosoft</a:t>
            </a:r>
            <a:r>
              <a:rPr lang="th-TH" sz="2400" b="0" kern="0" dirty="0">
                <a:solidFill>
                  <a:srgbClr val="000000"/>
                </a:solidFill>
                <a:latin typeface="BrowalliaUPC"/>
                <a:cs typeface="BrowalliaUPC"/>
              </a:rPr>
              <a:t> ดำเนินการ ซึ่งจะมีค่าใช้จ่ายในการเปิด </a:t>
            </a:r>
            <a:r>
              <a:rPr lang="en-US" sz="2400" b="0" kern="0" dirty="0">
                <a:solidFill>
                  <a:srgbClr val="000000"/>
                </a:solidFill>
                <a:latin typeface="BrowalliaUPC"/>
                <a:cs typeface="Segoe UI"/>
              </a:rPr>
              <a:t> SR </a:t>
            </a:r>
            <a:r>
              <a:rPr lang="th-TH" sz="2400" b="0" kern="0" dirty="0">
                <a:solidFill>
                  <a:srgbClr val="000000"/>
                </a:solidFill>
                <a:latin typeface="BrowalliaUPC"/>
                <a:cs typeface="BrowalliaUPC"/>
              </a:rPr>
              <a:t>ประมาณ </a:t>
            </a:r>
            <a:r>
              <a:rPr lang="en-US" sz="2400" b="0" kern="0" dirty="0">
                <a:solidFill>
                  <a:srgbClr val="000000"/>
                </a:solidFill>
                <a:latin typeface="BrowalliaUPC"/>
                <a:cs typeface="Segoe UI"/>
              </a:rPr>
              <a:t>20</a:t>
            </a:r>
            <a:r>
              <a:rPr lang="th-TH" sz="2400" b="0" kern="0" dirty="0">
                <a:solidFill>
                  <a:srgbClr val="000000"/>
                </a:solidFill>
                <a:latin typeface="BrowalliaUPC"/>
                <a:cs typeface="BrowalliaUPC"/>
              </a:rPr>
              <a:t>,</a:t>
            </a:r>
            <a:r>
              <a:rPr lang="en-US" sz="2400" b="0" kern="0" dirty="0">
                <a:solidFill>
                  <a:srgbClr val="000000"/>
                </a:solidFill>
                <a:latin typeface="BrowalliaUPC"/>
                <a:cs typeface="Segoe UI"/>
              </a:rPr>
              <a:t>0</a:t>
            </a:r>
            <a:r>
              <a:rPr lang="th-TH" sz="2400" b="0" kern="0" dirty="0">
                <a:solidFill>
                  <a:srgbClr val="000000"/>
                </a:solidFill>
                <a:latin typeface="BrowalliaUPC"/>
                <a:cs typeface="BrowalliaUPC"/>
              </a:rPr>
              <a:t>00 บาท/เดือน จึงต้องการลดค่าใช้จ่ายดังกล่าว โดยขอให้แก้ไขหรือเพิ่มเงื่อนไขของระบบ เพื่อให้สามารถดำเนินการสร้างชดเชยรายได้ได้เองภายในระบบ รวมถึงกระบวนการต่างๆของระบบชดเชยรายได้ ภายใต้โครงการ SBP </a:t>
            </a:r>
            <a:r>
              <a:rPr lang="th-TH" sz="2400" b="0" kern="0" dirty="0" err="1">
                <a:solidFill>
                  <a:srgbClr val="000000"/>
                </a:solidFill>
                <a:latin typeface="BrowalliaUPC"/>
                <a:cs typeface="BrowalliaUPC"/>
              </a:rPr>
              <a:t>Replacement</a:t>
            </a:r>
          </a:p>
          <a:p>
            <a:pPr algn="just">
              <a:defRPr/>
            </a:pPr>
            <a:endParaRPr lang="th-TH" sz="2400" b="0" kern="0">
              <a:solidFill>
                <a:srgbClr val="000000"/>
              </a:solidFill>
              <a:latin typeface="BrowalliaUPC"/>
              <a:cs typeface="BrowalliaUPC"/>
            </a:endParaRPr>
          </a:p>
          <a:p>
            <a:pPr algn="just">
              <a:defRPr/>
            </a:pPr>
            <a:endParaRPr lang="th-TH" sz="2400" b="0" kern="0">
              <a:latin typeface="BrowalliaUPC"/>
              <a:cs typeface="BrowalliaUPC"/>
            </a:endParaRPr>
          </a:p>
          <a:p>
            <a:pPr algn="just">
              <a:defRPr/>
            </a:pPr>
            <a:endParaRPr lang="th-TH" sz="2400" b="0" kern="0">
              <a:solidFill>
                <a:srgbClr val="000000"/>
              </a:solidFill>
              <a:latin typeface="BrowalliaUPC"/>
              <a:cs typeface="BrowalliaUPC"/>
            </a:endParaRPr>
          </a:p>
          <a:p>
            <a:pPr algn="just">
              <a:defRPr/>
            </a:pPr>
            <a:endParaRPr lang="th-TH" sz="2400" b="0" kern="0">
              <a:solidFill>
                <a:srgbClr val="000000"/>
              </a:solidFill>
              <a:latin typeface="BrowalliaUPC"/>
              <a:cs typeface="BrowalliaUPC"/>
            </a:endParaRPr>
          </a:p>
          <a:p>
            <a:pPr algn="just">
              <a:defRPr/>
            </a:pPr>
            <a:endParaRPr lang="th-TH" sz="2400" b="0" kern="0">
              <a:solidFill>
                <a:srgbClr val="000000"/>
              </a:solidFill>
              <a:latin typeface="BrowalliaUPC"/>
              <a:cs typeface="BrowalliaUPC"/>
            </a:endParaRPr>
          </a:p>
          <a:p>
            <a:pPr algn="just">
              <a:defRPr/>
            </a:pPr>
            <a:endParaRPr lang="th-TH" sz="2800" b="0" kern="0">
              <a:solidFill>
                <a:srgbClr val="FF0000"/>
              </a:solidFill>
              <a:latin typeface="BrowalliaUPC"/>
              <a:cs typeface="BrowalliaUPC"/>
            </a:endParaRPr>
          </a:p>
          <a:p>
            <a:pPr>
              <a:defRPr/>
            </a:pPr>
            <a:endParaRPr lang="th-TH" sz="2800" b="0" kern="0">
              <a:latin typeface="BrowalliaUPC"/>
              <a:cs typeface="BrowalliaUPC"/>
            </a:endParaRPr>
          </a:p>
          <a:p>
            <a:pPr>
              <a:defRPr/>
            </a:pPr>
            <a:endParaRPr lang="th-TH" sz="2800" b="0" kern="0">
              <a:latin typeface="BrowalliaUPC"/>
              <a:cs typeface="BrowalliaUPC"/>
            </a:endParaRPr>
          </a:p>
          <a:p>
            <a:pPr>
              <a:defRPr/>
            </a:pPr>
            <a:endParaRPr lang="th-TH" sz="2800" b="0" kern="0">
              <a:cs typeface="BrowalliaUPC"/>
            </a:endParaRPr>
          </a:p>
          <a:p>
            <a:pPr>
              <a:defRPr/>
            </a:pPr>
            <a:endParaRPr lang="th-TH"/>
          </a:p>
          <a:p>
            <a:pPr>
              <a:defRPr/>
            </a:pPr>
            <a:br>
              <a:rPr lang="en-US" dirty="0"/>
            </a:br>
            <a:endParaRPr lang="en-US"/>
          </a:p>
          <a:p>
            <a:pPr>
              <a:defRPr/>
            </a:pPr>
            <a:endParaRPr lang="th-TH" sz="2800" b="0" kern="0">
              <a:latin typeface="BrowalliaUPC"/>
              <a:cs typeface="BrowalliaUPC"/>
            </a:endParaRPr>
          </a:p>
          <a:p>
            <a:pPr>
              <a:defRPr/>
            </a:pPr>
            <a:endParaRPr lang="th-TH" sz="2800" b="0" kern="0">
              <a:latin typeface="Times New Roman"/>
              <a:cs typeface="CordiaUPC" panose="020B0304020202020204" pitchFamily="34" charset="-34"/>
            </a:endParaRPr>
          </a:p>
          <a:p>
            <a:pPr>
              <a:defRPr/>
            </a:pPr>
            <a:br>
              <a:rPr lang="en-US" dirty="0"/>
            </a:br>
            <a:endParaRPr lang="en-US"/>
          </a:p>
          <a:p>
            <a:pPr>
              <a:defRPr/>
            </a:pPr>
            <a:endParaRPr lang="th-TH" sz="2800" b="0" kern="0">
              <a:solidFill>
                <a:srgbClr val="000000"/>
              </a:solidFill>
              <a:latin typeface="Times New Roman"/>
              <a:cs typeface="CordiaUPC" panose="020B0304020202020204" pitchFamily="34" charset="-34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defRPr/>
            </a:pPr>
            <a:endParaRPr lang="th-TH" altLang="en-US" sz="2800" b="0" kern="0">
              <a:solidFill>
                <a:srgbClr val="1F497D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457200" lvl="1" eaLnBrk="0" hangingPunct="0">
              <a:lnSpc>
                <a:spcPct val="80000"/>
              </a:lnSpc>
              <a:spcBef>
                <a:spcPct val="20000"/>
              </a:spcBef>
              <a:buClr>
                <a:srgbClr val="003300"/>
              </a:buClr>
              <a:defRPr/>
            </a:pPr>
            <a:endParaRPr lang="en-US" altLang="en-US" sz="2800" b="0" kern="0">
              <a:solidFill>
                <a:srgbClr val="09357A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457200" indent="-457200" eaLnBrk="0" hangingPunct="0">
              <a:lnSpc>
                <a:spcPct val="80000"/>
              </a:lnSpc>
              <a:spcBef>
                <a:spcPct val="20000"/>
              </a:spcBef>
              <a:buClr>
                <a:srgbClr val="003300"/>
              </a:buClr>
              <a:buFont typeface="Arial"/>
              <a:buChar char="•"/>
              <a:defRPr/>
            </a:pPr>
            <a:endParaRPr lang="en-US" altLang="en-US" sz="2800" b="0" kern="0">
              <a:solidFill>
                <a:srgbClr val="09357A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rgbClr val="003300"/>
              </a:buClr>
              <a:defRPr/>
            </a:pPr>
            <a:endParaRPr lang="en-US" altLang="en-US" sz="2800" b="0" kern="0">
              <a:solidFill>
                <a:srgbClr val="09357A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rgbClr val="003300"/>
              </a:buClr>
              <a:defRPr/>
            </a:pPr>
            <a:endParaRPr lang="en-US" altLang="en-US" sz="2800" b="0" kern="0">
              <a:solidFill>
                <a:srgbClr val="09357A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lvl="1" eaLnBrk="0" hangingPunct="0">
              <a:lnSpc>
                <a:spcPct val="80000"/>
              </a:lnSpc>
              <a:spcBef>
                <a:spcPct val="20000"/>
              </a:spcBef>
              <a:buClr>
                <a:srgbClr val="008000"/>
              </a:buClr>
              <a:defRPr/>
            </a:pPr>
            <a:endParaRPr lang="en-US" altLang="en-US" sz="2800" b="0" kern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lvl="1" eaLnBrk="0" hangingPunct="0">
              <a:lnSpc>
                <a:spcPct val="80000"/>
              </a:lnSpc>
              <a:spcBef>
                <a:spcPct val="20000"/>
              </a:spcBef>
              <a:buClr>
                <a:srgbClr val="008000"/>
              </a:buClr>
              <a:defRPr/>
            </a:pPr>
            <a:endParaRPr lang="th-TH" altLang="en-US" sz="2800" b="0" kern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742950" lvl="1" indent="-285750" eaLnBrk="0" hangingPunct="0">
              <a:lnSpc>
                <a:spcPct val="80000"/>
              </a:lnSpc>
              <a:spcBef>
                <a:spcPct val="20000"/>
              </a:spcBef>
              <a:buClr>
                <a:srgbClr val="008000"/>
              </a:buClr>
              <a:buFont typeface="Wingdings" pitchFamily="2" charset="2"/>
              <a:buChar char="§"/>
              <a:defRPr/>
            </a:pPr>
            <a:endParaRPr lang="en-US" altLang="en-US" sz="2800" b="0" kern="0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14339" name="Title 1"/>
          <p:cNvSpPr>
            <a:spLocks noGrp="1"/>
          </p:cNvSpPr>
          <p:nvPr>
            <p:ph type="title"/>
          </p:nvPr>
        </p:nvSpPr>
        <p:spPr>
          <a:xfrm>
            <a:off x="621254" y="325158"/>
            <a:ext cx="10910220" cy="777875"/>
          </a:xfrm>
        </p:spPr>
        <p:txBody>
          <a:bodyPr/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b="1" u="sng">
                <a:latin typeface="CordiaUPC"/>
                <a:ea typeface="Tahoma"/>
                <a:cs typeface="CordiaUPC"/>
              </a:rPr>
              <a:t>1.1 Current Situation Analysis</a:t>
            </a:r>
            <a:r>
              <a:rPr lang="th-TH" altLang="en-US" b="1" u="sng">
                <a:latin typeface="CordiaUPC"/>
                <a:ea typeface="Tahoma"/>
                <a:cs typeface="CordiaUPC"/>
              </a:rPr>
              <a:t> 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/ Problem Statement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74772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 txBox="1">
            <a:spLocks/>
          </p:cNvSpPr>
          <p:nvPr/>
        </p:nvSpPr>
        <p:spPr bwMode="auto">
          <a:xfrm>
            <a:off x="1836868" y="1062691"/>
            <a:ext cx="82296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rgbClr val="003300"/>
              </a:buClr>
              <a:defRPr/>
            </a:pPr>
            <a:endParaRPr lang="en-US" altLang="en-US" sz="2400" b="0" kern="0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63389" y="1009570"/>
            <a:ext cx="75408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th-TH" altLang="en-US" sz="2800" kern="0">
                <a:solidFill>
                  <a:srgbClr val="09357A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วัตถุประสงค์ </a:t>
            </a:r>
            <a:r>
              <a:rPr lang="en-US" altLang="en-US" sz="2800" b="0" kern="0">
                <a:solidFill>
                  <a:srgbClr val="09357A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(</a:t>
            </a:r>
            <a:r>
              <a:rPr lang="th-TH" altLang="en-US" sz="2800" b="0" kern="0">
                <a:solidFill>
                  <a:schemeClr val="tx2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บอกวัตถุประสงค์ โดยนำหลัก </a:t>
            </a:r>
            <a:r>
              <a:rPr lang="en-US" altLang="en-US" sz="2800" b="0" kern="0">
                <a:solidFill>
                  <a:schemeClr val="tx2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SMART </a:t>
            </a:r>
            <a:r>
              <a:rPr lang="th-TH" altLang="en-US" sz="2800" b="0" kern="0">
                <a:solidFill>
                  <a:schemeClr val="tx2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มาใช้</a:t>
            </a:r>
            <a:r>
              <a:rPr lang="en-US" altLang="en-US" sz="2800" b="0" kern="0">
                <a:solidFill>
                  <a:schemeClr val="tx2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, </a:t>
            </a:r>
            <a:r>
              <a:rPr lang="th-TH" altLang="en-US" sz="2800" b="0" kern="0">
                <a:solidFill>
                  <a:schemeClr val="tx2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ทำไปเพื่ออะไร</a:t>
            </a:r>
            <a:r>
              <a:rPr lang="en-US" altLang="en-US" sz="2800" b="0" kern="0">
                <a:solidFill>
                  <a:srgbClr val="09357A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)</a:t>
            </a:r>
            <a:endParaRPr lang="th-TH" altLang="en-US" sz="2800" kern="0">
              <a:solidFill>
                <a:srgbClr val="09357A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endParaRPr lang="th-TH" sz="200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9C73B47-CB3E-4A35-8C14-CE2EC75E2BEB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1091022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 panose="020B0304020202020204" pitchFamily="34" charset="-34"/>
                <a:cs typeface="CordiaUPC" panose="020B0304020202020204" pitchFamily="34" charset="-34"/>
              </a:rPr>
              <a:t>1.2.</a:t>
            </a:r>
            <a:r>
              <a:rPr lang="en-US" altLang="en-US" b="1" u="sng">
                <a:latin typeface="CordiaUPC" panose="020B0304020202020204" pitchFamily="34" charset="-34"/>
                <a:cs typeface="CordiaUPC" panose="020B0304020202020204" pitchFamily="34" charset="-34"/>
              </a:rPr>
              <a:t> Objective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3D314-555F-7709-0C08-BF999F9D0B79}"/>
              </a:ext>
            </a:extLst>
          </p:cNvPr>
          <p:cNvSpPr txBox="1"/>
          <p:nvPr/>
        </p:nvSpPr>
        <p:spPr>
          <a:xfrm>
            <a:off x="793568" y="1660615"/>
            <a:ext cx="9787345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0">
                <a:latin typeface="BrowalliaUPC"/>
                <a:cs typeface="BrowalliaUPC"/>
              </a:rPr>
              <a:t>1. </a:t>
            </a:r>
            <a:r>
              <a:rPr lang="en-US" sz="2800" b="0" err="1">
                <a:latin typeface="BrowalliaUPC"/>
                <a:cs typeface="BrowalliaUPC"/>
              </a:rPr>
              <a:t>เพื่อให้ระบบดำเนินต่อไปได้อย่างต่อเนื่อง</a:t>
            </a:r>
            <a:endParaRPr lang="en-US" sz="2800" b="0">
              <a:latin typeface="BrowalliaUPC"/>
              <a:cs typeface="BrowalliaUPC"/>
            </a:endParaRPr>
          </a:p>
          <a:p>
            <a:r>
              <a:rPr lang="en-US" sz="2800" b="0">
                <a:latin typeface="BrowalliaUPC"/>
                <a:cs typeface="BrowalliaUPC"/>
              </a:rPr>
              <a:t>2. </a:t>
            </a:r>
            <a:r>
              <a:rPr lang="en-US" sz="2800" b="0" err="1">
                <a:latin typeface="BrowalliaUPC"/>
                <a:cs typeface="BrowalliaUPC"/>
              </a:rPr>
              <a:t>เพื่อลดค่าใช้จ่ายในการเปิด</a:t>
            </a:r>
            <a:r>
              <a:rPr lang="en-US" sz="2800" b="0">
                <a:latin typeface="BrowalliaUPC"/>
                <a:cs typeface="BrowalliaUPC"/>
              </a:rPr>
              <a:t> SR </a:t>
            </a:r>
            <a:r>
              <a:rPr lang="en-US" sz="2800" b="0" err="1">
                <a:latin typeface="BrowalliaUPC"/>
                <a:cs typeface="BrowalliaUPC"/>
              </a:rPr>
              <a:t>แต่ละครั้ง</a:t>
            </a:r>
            <a:endParaRPr lang="en-US" sz="2800" b="0">
              <a:latin typeface="BrowalliaUPC"/>
              <a:cs typeface="BrowalliaUPC"/>
            </a:endParaRPr>
          </a:p>
          <a:p>
            <a:r>
              <a:rPr lang="en-US" sz="2800" b="0">
                <a:latin typeface="BrowalliaUPC"/>
                <a:cs typeface="BrowalliaUPC"/>
              </a:rPr>
              <a:t>3. </a:t>
            </a:r>
            <a:r>
              <a:rPr lang="en-US" sz="2800" b="0" err="1">
                <a:latin typeface="BrowalliaUPC"/>
                <a:cs typeface="BrowalliaUPC"/>
              </a:rPr>
              <a:t>เพื่อให้ลูกค้าได้รับเงิน</a:t>
            </a:r>
            <a:r>
              <a:rPr lang="th-TH" sz="2800" b="0">
                <a:latin typeface="BrowalliaUPC"/>
                <a:cs typeface="BrowalliaUPC"/>
              </a:rPr>
              <a:t>ชดเชย</a:t>
            </a:r>
            <a:r>
              <a:rPr lang="en-US" sz="2800" b="0" err="1">
                <a:latin typeface="BrowalliaUPC"/>
                <a:cs typeface="BrowalliaUPC"/>
              </a:rPr>
              <a:t>ทันรอบ</a:t>
            </a:r>
            <a:r>
              <a:rPr lang="en-US" sz="2800" b="0">
                <a:latin typeface="BrowalliaUPC"/>
                <a:cs typeface="BrowalliaUPC"/>
              </a:rPr>
              <a:t> Statement </a:t>
            </a:r>
            <a:r>
              <a:rPr lang="th-TH" sz="2800" b="0">
                <a:latin typeface="BrowalliaUPC"/>
                <a:cs typeface="BrowalliaUPC"/>
              </a:rPr>
              <a:t>บัญชี</a:t>
            </a:r>
            <a:endParaRPr lang="en-US" sz="2800" b="0">
              <a:latin typeface="BrowalliaUPC"/>
              <a:cs typeface="BrowalliaUPC"/>
            </a:endParaRPr>
          </a:p>
          <a:p>
            <a:r>
              <a:rPr lang="en-US" sz="2800" b="0">
                <a:latin typeface="BrowalliaUPC"/>
                <a:cs typeface="BrowalliaUPC"/>
              </a:rPr>
              <a:t>4. </a:t>
            </a:r>
            <a:r>
              <a:rPr lang="th-TH" sz="2800" b="0">
                <a:latin typeface="BrowalliaUPC"/>
                <a:cs typeface="BrowalliaUPC"/>
              </a:rPr>
              <a:t>เพื่อลดข้อร้องเรียนจากลูกค้า</a:t>
            </a:r>
            <a:endParaRPr lang="en-US">
              <a:latin typeface="BrowalliaUPC"/>
              <a:cs typeface="BrowalliaUPC"/>
            </a:endParaRPr>
          </a:p>
        </p:txBody>
      </p:sp>
    </p:spTree>
    <p:extLst>
      <p:ext uri="{BB962C8B-B14F-4D97-AF65-F5344CB8AC3E}">
        <p14:creationId xmlns:p14="http://schemas.microsoft.com/office/powerpoint/2010/main" val="1413245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9C73B47-CB3E-4A35-8C14-CE2EC75E2BEB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1091022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th-TH" altLang="en-US" u="sng">
                <a:latin typeface="CordiaUPC" panose="020B0304020202020204" pitchFamily="34" charset="-34"/>
                <a:cs typeface="CordiaUPC" panose="020B0304020202020204" pitchFamily="34" charset="-34"/>
              </a:rPr>
              <a:t>การ</a:t>
            </a:r>
            <a:r>
              <a:rPr lang="th-TH" altLang="en-US" b="1" u="sng">
                <a:latin typeface="CordiaUPC" panose="020B0304020202020204" pitchFamily="34" charset="-34"/>
                <a:cs typeface="CordiaUPC" panose="020B0304020202020204" pitchFamily="34" charset="-34"/>
              </a:rPr>
              <a:t>ประกันรายได้กรณีปกติ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3D314-555F-7709-0C08-BF999F9D0B79}"/>
              </a:ext>
            </a:extLst>
          </p:cNvPr>
          <p:cNvSpPr txBox="1"/>
          <p:nvPr/>
        </p:nvSpPr>
        <p:spPr>
          <a:xfrm>
            <a:off x="621254" y="1109020"/>
            <a:ext cx="101454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0">
                <a:latin typeface="CordiaUPC"/>
                <a:cs typeface="BrowalliaUPC"/>
              </a:rPr>
              <a:t>1. </a:t>
            </a:r>
            <a:r>
              <a:rPr lang="th-TH" sz="2800" b="0">
                <a:latin typeface="CordiaUPC"/>
                <a:cs typeface="BrowalliaUPC"/>
              </a:rPr>
              <a:t>ร้าน </a:t>
            </a:r>
            <a:r>
              <a:rPr lang="en-US" sz="2800" b="0">
                <a:latin typeface="CordiaUPC"/>
                <a:cs typeface="BrowalliaUPC"/>
              </a:rPr>
              <a:t>SBP </a:t>
            </a:r>
            <a:r>
              <a:rPr lang="th-TH" sz="2800" b="0">
                <a:latin typeface="CordiaUPC"/>
                <a:cs typeface="BrowalliaUPC"/>
              </a:rPr>
              <a:t>ได้รับผลกระทบจากการเปิดร้าน </a:t>
            </a:r>
            <a:r>
              <a:rPr lang="en-US" sz="2800" b="0">
                <a:latin typeface="CordiaUPC"/>
                <a:cs typeface="BrowalliaUPC"/>
              </a:rPr>
              <a:t>7-11 </a:t>
            </a:r>
            <a:r>
              <a:rPr lang="th-TH" sz="2800" b="0">
                <a:latin typeface="CordiaUPC"/>
                <a:cs typeface="BrowalliaUPC"/>
              </a:rPr>
              <a:t>ใหม่ และ ไม่มีข้อมูลสาขาเดิมค้างในระบบ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5B6FC53-842E-7AAF-97A3-49E4A5CB03EC}"/>
              </a:ext>
            </a:extLst>
          </p:cNvPr>
          <p:cNvGrpSpPr/>
          <p:nvPr/>
        </p:nvGrpSpPr>
        <p:grpSpPr>
          <a:xfrm>
            <a:off x="1425261" y="1722281"/>
            <a:ext cx="8269124" cy="4329943"/>
            <a:chOff x="70338" y="1966913"/>
            <a:chExt cx="5967047" cy="3322761"/>
          </a:xfrm>
        </p:grpSpPr>
        <p:pic>
          <p:nvPicPr>
            <p:cNvPr id="6" name="Picture 5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33C4DE76-5F43-F962-BE85-D6232DBA3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338" y="1966913"/>
              <a:ext cx="5967047" cy="332276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69AB6B2-6B59-BC6C-ADDA-BBBEFEC6B158}"/>
                </a:ext>
              </a:extLst>
            </p:cNvPr>
            <p:cNvSpPr txBox="1"/>
            <p:nvPr/>
          </p:nvSpPr>
          <p:spPr>
            <a:xfrm>
              <a:off x="2980354" y="3528139"/>
              <a:ext cx="487492" cy="8863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18228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04AC2602-F69F-9256-51AE-4EFCD4E83176}"/>
              </a:ext>
            </a:extLst>
          </p:cNvPr>
          <p:cNvSpPr txBox="1"/>
          <p:nvPr/>
        </p:nvSpPr>
        <p:spPr>
          <a:xfrm>
            <a:off x="896252" y="441269"/>
            <a:ext cx="10397772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400" u="sng">
                <a:latin typeface="BrowalliaUPC"/>
                <a:cs typeface="BrowalliaUPC"/>
              </a:rPr>
              <a:t>เอกสารแจ้งมีร้านอื่นที่เปิดกระทบเพิ่มจากร้านเดิม </a:t>
            </a:r>
            <a:r>
              <a:rPr lang="th-TH" sz="2400">
                <a:latin typeface="BrowalliaUPC"/>
                <a:cs typeface="BrowalliaUPC"/>
              </a:rPr>
              <a:t>: </a:t>
            </a:r>
            <a:r>
              <a:rPr lang="th-TH" sz="2400" b="0">
                <a:latin typeface="BrowalliaUPC"/>
                <a:cs typeface="BrowalliaUPC"/>
              </a:rPr>
              <a:t>ส่งเสริมมีการกรอกข้อมูลร้านที่กระทบให้กับ SBP</a:t>
            </a:r>
            <a:endParaRPr lang="th-TH"/>
          </a:p>
          <a:p>
            <a:r>
              <a:rPr lang="th-TH" sz="2400" b="0" dirty="0" err="1">
                <a:latin typeface="BrowalliaUPC"/>
                <a:cs typeface="BrowalliaUPC"/>
              </a:rPr>
              <a:t>Link</a:t>
            </a:r>
            <a:r>
              <a:rPr lang="th-TH" sz="2400" b="0" dirty="0">
                <a:latin typeface="BrowalliaUPC"/>
                <a:cs typeface="BrowalliaUPC"/>
              </a:rPr>
              <a:t> เอกสาร : </a:t>
            </a:r>
          </a:p>
          <a:p>
            <a:endParaRPr lang="th-TH" b="0">
              <a:latin typeface="BrowalliaUPC"/>
              <a:cs typeface="BrowalliaUPC"/>
            </a:endParaRPr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43CAD0D1-A825-EA18-0A63-DD47DB9F34F5}"/>
              </a:ext>
            </a:extLst>
          </p:cNvPr>
          <p:cNvSpPr txBox="1"/>
          <p:nvPr/>
        </p:nvSpPr>
        <p:spPr>
          <a:xfrm>
            <a:off x="2161309" y="859559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3"/>
              </a:rPr>
              <a:t>ตัวอย่างแบบฟอร์ม แจ้งมีร้านเปิดกระทบ</a:t>
            </a:r>
            <a:endParaRPr lang="en-US"/>
          </a:p>
        </p:txBody>
      </p:sp>
      <p:pic>
        <p:nvPicPr>
          <p:cNvPr id="8" name="รูปภาพ 7" descr="รูปภาพประกอบด้วย ข้อความ, ภาพหน้าจอ, ตัวอักษร, จำนวน&#10;&#10;คำอธิบายจะถูกสร้างขึ้นโดยอัตโนมัติ">
            <a:extLst>
              <a:ext uri="{FF2B5EF4-FFF2-40B4-BE49-F238E27FC236}">
                <a16:creationId xmlns:a16="http://schemas.microsoft.com/office/drawing/2014/main" id="{FABC7BFF-A4BD-96D7-59D7-8875A1627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02431"/>
            <a:ext cx="12192000" cy="1157638"/>
          </a:xfrm>
          <a:prstGeom prst="rect">
            <a:avLst/>
          </a:prstGeom>
        </p:spPr>
      </p:pic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39657D60-38BF-E76C-2B71-60048FEC5B3B}"/>
              </a:ext>
            </a:extLst>
          </p:cNvPr>
          <p:cNvSpPr txBox="1"/>
          <p:nvPr/>
        </p:nvSpPr>
        <p:spPr>
          <a:xfrm>
            <a:off x="261252" y="1427973"/>
            <a:ext cx="50635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h-TH" sz="1800" u="sng">
                <a:latin typeface="BrowalliaUPC"/>
                <a:cs typeface="BrowalliaUPC"/>
              </a:rPr>
              <a:t>ตัวอย่างข้อมูลเอกสารแจ้งมีร้านเปิดกระทบเพิ่มจากร้านเดิม</a:t>
            </a:r>
          </a:p>
        </p:txBody>
      </p:sp>
    </p:spTree>
    <p:extLst>
      <p:ext uri="{BB962C8B-B14F-4D97-AF65-F5344CB8AC3E}">
        <p14:creationId xmlns:p14="http://schemas.microsoft.com/office/powerpoint/2010/main" val="4105795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 txBox="1">
            <a:spLocks/>
          </p:cNvSpPr>
          <p:nvPr/>
        </p:nvSpPr>
        <p:spPr bwMode="auto">
          <a:xfrm>
            <a:off x="1836868" y="1062691"/>
            <a:ext cx="82296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rgbClr val="003300"/>
              </a:buClr>
              <a:defRPr/>
            </a:pPr>
            <a:endParaRPr lang="en-US" altLang="en-US" sz="2400" b="0" kern="0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97255"/>
              </p:ext>
            </p:extLst>
          </p:nvPr>
        </p:nvGraphicFramePr>
        <p:xfrm>
          <a:off x="663389" y="1610891"/>
          <a:ext cx="10980744" cy="4130462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096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2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51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1756">
                <a:tc>
                  <a:txBody>
                    <a:bodyPr/>
                    <a:lstStyle/>
                    <a:p>
                      <a:pPr algn="ctr"/>
                      <a:r>
                        <a:rPr lang="th-TH" sz="3600" b="0">
                          <a:latin typeface="CordiaUPC"/>
                          <a:cs typeface="CordiaUPC"/>
                        </a:rPr>
                        <a:t>ตัวชี้วัด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3600" b="0" i="1">
                        <a:solidFill>
                          <a:srgbClr val="FF0000"/>
                        </a:solidFill>
                        <a:latin typeface="CordiaUPC" panose="020B0304020202020204" pitchFamily="34" charset="-34"/>
                        <a:ea typeface="Tahoma" pitchFamily="34" charset="0"/>
                        <a:cs typeface="CordiaUPC" panose="020B0304020202020204" pitchFamily="34" charset="-34"/>
                      </a:endParaRPr>
                    </a:p>
                  </a:txBody>
                  <a:tcPr marL="120351" marR="120351" marT="60176" marB="601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3600" b="0">
                          <a:latin typeface="CordiaUPC"/>
                          <a:cs typeface="CordiaUPC"/>
                        </a:rPr>
                        <a:t>ประโยชน์ (เพิ่ม</a:t>
                      </a:r>
                      <a:r>
                        <a:rPr lang="en-US" sz="3600" b="0">
                          <a:latin typeface="CordiaUPC"/>
                          <a:cs typeface="CordiaUPC"/>
                        </a:rPr>
                        <a:t>/</a:t>
                      </a:r>
                      <a:r>
                        <a:rPr lang="th-TH" sz="3600" b="0">
                          <a:latin typeface="CordiaUPC"/>
                          <a:cs typeface="CordiaUPC"/>
                        </a:rPr>
                        <a:t>ลด)</a:t>
                      </a:r>
                      <a:endParaRPr lang="th-TH" sz="3600" b="0">
                        <a:solidFill>
                          <a:schemeClr val="tx1"/>
                        </a:solidFill>
                        <a:latin typeface="CordiaUPC"/>
                        <a:ea typeface="Tahoma" pitchFamily="34" charset="0"/>
                        <a:cs typeface="CordiaUPC"/>
                      </a:endParaRPr>
                    </a:p>
                  </a:txBody>
                  <a:tcPr marL="120351" marR="120351" marT="60176" marB="601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3600" b="0">
                          <a:latin typeface="CordiaUPC"/>
                          <a:cs typeface="CordiaUPC"/>
                        </a:rPr>
                        <a:t>ปัจจุบัน</a:t>
                      </a:r>
                      <a:endParaRPr lang="th-TH" sz="3600" b="0">
                        <a:solidFill>
                          <a:schemeClr val="tx1"/>
                        </a:solidFill>
                        <a:latin typeface="CordiaUPC"/>
                        <a:ea typeface="Tahoma" pitchFamily="34" charset="0"/>
                        <a:cs typeface="CordiaUPC"/>
                      </a:endParaRPr>
                    </a:p>
                  </a:txBody>
                  <a:tcPr marL="120351" marR="120351" marT="60176" marB="6017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3600" b="0">
                          <a:latin typeface="CordiaUPC"/>
                          <a:cs typeface="CordiaUPC"/>
                        </a:rPr>
                        <a:t>เป้าหมาย</a:t>
                      </a:r>
                    </a:p>
                    <a:p>
                      <a:pPr algn="ctr"/>
                      <a:endParaRPr lang="th-TH" sz="3600" b="0" i="1">
                        <a:solidFill>
                          <a:srgbClr val="FF0000"/>
                        </a:solidFill>
                        <a:latin typeface="CordiaUPC" panose="020B0304020202020204" pitchFamily="34" charset="-34"/>
                        <a:ea typeface="Tahoma" pitchFamily="34" charset="0"/>
                        <a:cs typeface="CordiaUPC" panose="020B0304020202020204" pitchFamily="34" charset="-34"/>
                      </a:endParaRPr>
                    </a:p>
                  </a:txBody>
                  <a:tcPr marL="120351" marR="120351" marT="60176" marB="601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089">
                <a:tc>
                  <a:txBody>
                    <a:bodyPr/>
                    <a:lstStyle/>
                    <a:p>
                      <a:pPr algn="ctr" fontAlgn="t"/>
                      <a:r>
                        <a:rPr lang="th-TH" sz="2400" b="0" i="0" u="none" strike="noStrike">
                          <a:solidFill>
                            <a:srgbClr val="000000"/>
                          </a:solidFill>
                          <a:latin typeface="CordiaUPC"/>
                          <a:ea typeface="Tahoma"/>
                          <a:cs typeface="CordiaUPC"/>
                        </a:rPr>
                        <a:t>ระเบียบ/</a:t>
                      </a:r>
                      <a:r>
                        <a:rPr lang="th-TH" sz="2400" b="0" i="0" u="none" strike="noStrike" err="1">
                          <a:solidFill>
                            <a:srgbClr val="000000"/>
                          </a:solidFill>
                          <a:latin typeface="CordiaUPC"/>
                          <a:ea typeface="Tahoma"/>
                          <a:cs typeface="CordiaUPC"/>
                        </a:rPr>
                        <a:t>กฏหมาย</a:t>
                      </a:r>
                      <a:r>
                        <a:rPr lang="th-TH" sz="2400" b="0" i="0" u="none" strike="noStrike" baseline="0">
                          <a:solidFill>
                            <a:srgbClr val="000000"/>
                          </a:solidFill>
                          <a:latin typeface="CordiaUPC"/>
                          <a:ea typeface="Tahoma"/>
                          <a:cs typeface="CordiaUPC"/>
                        </a:rPr>
                        <a:t> </a:t>
                      </a:r>
                      <a:endParaRPr lang="th-TH" sz="2400" b="0" i="0" u="none" strike="noStrike" baseline="0">
                        <a:solidFill>
                          <a:srgbClr val="000000"/>
                        </a:solidFill>
                        <a:latin typeface="CordiaUPC" panose="020B0304020202020204" pitchFamily="34" charset="-34"/>
                        <a:ea typeface="Tahoma" pitchFamily="34" charset="0"/>
                        <a:cs typeface="CordiaUPC" panose="020B0304020202020204" pitchFamily="34" charset="-34"/>
                      </a:endParaRPr>
                    </a:p>
                    <a:p>
                      <a:pPr algn="ctr" fontAlgn="t"/>
                      <a:r>
                        <a:rPr lang="th-TH" sz="2400" b="0" i="0" u="none" strike="noStrike" baseline="0">
                          <a:solidFill>
                            <a:srgbClr val="000000"/>
                          </a:solidFill>
                          <a:latin typeface="CordiaUPC"/>
                          <a:ea typeface="Tahoma"/>
                          <a:cs typeface="CordiaUPC"/>
                        </a:rPr>
                        <a:t>(มีข้อบังคับหรือไม่)</a:t>
                      </a:r>
                      <a:endParaRPr lang="th-TH" sz="2400" b="0" i="0" u="none" strike="noStrike">
                        <a:solidFill>
                          <a:srgbClr val="000000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 marL="12537" marR="12537" marT="12537" marB="0"/>
                </a:tc>
                <a:tc>
                  <a:txBody>
                    <a:bodyPr/>
                    <a:lstStyle/>
                    <a:p>
                      <a:r>
                        <a:rPr lang="th-TH" sz="2000" b="1">
                          <a:solidFill>
                            <a:schemeClr val="tx1"/>
                          </a:solidFill>
                          <a:latin typeface="BrowalliaUPC"/>
                          <a:ea typeface="Tahoma"/>
                          <a:cs typeface="BrowalliaUPC"/>
                        </a:rPr>
                        <a:t>-</a:t>
                      </a:r>
                    </a:p>
                  </a:txBody>
                  <a:tcPr marL="120351" marR="120351" marT="60176" marB="60176"/>
                </a:tc>
                <a:tc>
                  <a:txBody>
                    <a:bodyPr/>
                    <a:lstStyle/>
                    <a:p>
                      <a:r>
                        <a:rPr lang="th-TH" sz="2000" b="1">
                          <a:solidFill>
                            <a:schemeClr val="tx1"/>
                          </a:solidFill>
                          <a:latin typeface="BrowalliaUPC"/>
                          <a:ea typeface="Tahoma"/>
                          <a:cs typeface="BrowalliaUPC"/>
                        </a:rPr>
                        <a:t>-</a:t>
                      </a:r>
                    </a:p>
                  </a:txBody>
                  <a:tcPr marL="120351" marR="120351" marT="60176" marB="60176"/>
                </a:tc>
                <a:tc>
                  <a:txBody>
                    <a:bodyPr/>
                    <a:lstStyle/>
                    <a:p>
                      <a:r>
                        <a:rPr lang="th-TH" sz="2000" b="1">
                          <a:solidFill>
                            <a:schemeClr val="tx1"/>
                          </a:solidFill>
                          <a:latin typeface="BrowalliaUPC"/>
                          <a:ea typeface="Tahoma"/>
                          <a:cs typeface="BrowalliaUPC"/>
                        </a:rPr>
                        <a:t>-</a:t>
                      </a:r>
                    </a:p>
                  </a:txBody>
                  <a:tcPr marL="120351" marR="120351" marT="60176" marB="601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717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u="none" strike="noStrike" err="1">
                          <a:latin typeface="CordiaUPC"/>
                          <a:cs typeface="CordiaUPC"/>
                        </a:rPr>
                        <a:t>ยอดขาย</a:t>
                      </a:r>
                      <a:r>
                        <a:rPr lang="th-TH" sz="2400" b="0" u="none" strike="noStrike">
                          <a:latin typeface="CordiaUPC"/>
                          <a:cs typeface="CordiaUPC"/>
                        </a:rPr>
                        <a:t> </a:t>
                      </a:r>
                      <a:endParaRPr lang="th-TH" sz="2400" b="0" u="none" strike="noStrike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  <a:p>
                      <a:pPr algn="ctr" fontAlgn="t"/>
                      <a:r>
                        <a:rPr lang="th-TH" sz="2400" b="0" u="none" strike="noStrike">
                          <a:latin typeface="CordiaUPC"/>
                          <a:cs typeface="CordiaUPC"/>
                        </a:rPr>
                        <a:t>(เพิ่มขึ้นหรือไม่)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latin typeface="CordiaUPC"/>
                        <a:ea typeface="Tahoma" pitchFamily="34" charset="0"/>
                        <a:cs typeface="CordiaUPC"/>
                      </a:endParaRPr>
                    </a:p>
                  </a:txBody>
                  <a:tcPr marL="12537" marR="12537" marT="12537" marB="0"/>
                </a:tc>
                <a:tc>
                  <a:txBody>
                    <a:bodyPr/>
                    <a:lstStyle/>
                    <a:p>
                      <a:r>
                        <a:rPr lang="th-TH" sz="2000" b="1">
                          <a:solidFill>
                            <a:schemeClr val="tx1"/>
                          </a:solidFill>
                          <a:latin typeface="BrowalliaUPC"/>
                          <a:ea typeface="Tahoma"/>
                          <a:cs typeface="BrowalliaUPC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2000" b="1">
                          <a:solidFill>
                            <a:schemeClr val="tx1"/>
                          </a:solidFill>
                          <a:latin typeface="BrowalliaUPC"/>
                          <a:ea typeface="Tahoma"/>
                          <a:cs typeface="BrowalliaUPC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chemeClr val="tx1"/>
                          </a:solidFill>
                          <a:latin typeface="BrowalliaUPC"/>
                          <a:ea typeface="Tahoma"/>
                          <a:cs typeface="CordiaUPC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2420">
                <a:tc>
                  <a:txBody>
                    <a:bodyPr/>
                    <a:lstStyle/>
                    <a:p>
                      <a:pPr algn="ctr" fontAlgn="t"/>
                      <a:r>
                        <a:rPr lang="th-TH" sz="2400" b="0" u="none" strike="noStrike">
                          <a:latin typeface="CordiaUPC"/>
                          <a:cs typeface="CordiaUPC"/>
                        </a:rPr>
                        <a:t>ต้นทุนใน</a:t>
                      </a:r>
                      <a:r>
                        <a:rPr lang="th-TH" sz="2400" b="0" u="none" strike="noStrike" err="1">
                          <a:latin typeface="CordiaUPC"/>
                          <a:cs typeface="CordiaUPC"/>
                        </a:rPr>
                        <a:t>การทำ</a:t>
                      </a:r>
                      <a:r>
                        <a:rPr lang="th-TH" sz="2400" b="0" u="none" strike="noStrike">
                          <a:latin typeface="CordiaUPC"/>
                          <a:cs typeface="CordiaUPC"/>
                        </a:rPr>
                        <a:t>ธุรกิจ</a:t>
                      </a:r>
                      <a:br>
                        <a:rPr lang="th-TH" sz="2400" b="0" u="none" strike="noStrike">
                          <a:latin typeface="CordiaUPC"/>
                          <a:cs typeface="CordiaUPC"/>
                        </a:rPr>
                      </a:br>
                      <a:r>
                        <a:rPr lang="th-TH" sz="2400" b="0" u="none" strike="noStrike">
                          <a:latin typeface="CordiaUPC"/>
                          <a:cs typeface="CordiaUPC"/>
                        </a:rPr>
                        <a:t>(ลดลงหรือไม่)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latin typeface="CordiaUPC"/>
                        <a:ea typeface="Tahoma" pitchFamily="34" charset="0"/>
                        <a:cs typeface="CordiaUPC"/>
                      </a:endParaRPr>
                    </a:p>
                  </a:txBody>
                  <a:tcPr marL="12537" marR="12537" marT="12537" marB="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2400" b="0" i="0" u="none" strike="noStrike" noProof="0">
                          <a:solidFill>
                            <a:schemeClr val="tx1"/>
                          </a:solidFill>
                          <a:latin typeface="CordiaUPC"/>
                          <a:cs typeface="CordiaUPC"/>
                        </a:rPr>
                        <a:t>ลดค่าใช้จ่ายในการเปิด </a:t>
                      </a: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CordiaUPC"/>
                        </a:rPr>
                        <a:t>SR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i="0" u="none" strike="noStrike" noProof="0" err="1">
                          <a:solidFill>
                            <a:schemeClr val="tx1"/>
                          </a:solidFill>
                          <a:latin typeface="CordiaUPC"/>
                        </a:rPr>
                        <a:t>ประมาณ</a:t>
                      </a: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CordiaUPC"/>
                        </a:rPr>
                        <a:t> 20,000</a:t>
                      </a:r>
                      <a:r>
                        <a:rPr lang="th-TH" sz="2400" b="0" i="0" u="none" strike="noStrike" noProof="0">
                          <a:solidFill>
                            <a:schemeClr val="tx1"/>
                          </a:solidFill>
                          <a:latin typeface="CordiaUPC"/>
                          <a:cs typeface="CordiaUPC"/>
                        </a:rPr>
                        <a:t> บาท</a:t>
                      </a: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CordiaUPC"/>
                        </a:rPr>
                        <a:t>/</a:t>
                      </a:r>
                      <a:r>
                        <a:rPr lang="th-TH" sz="2400" b="0" i="0" u="none" strike="noStrike" noProof="0">
                          <a:solidFill>
                            <a:schemeClr val="tx1"/>
                          </a:solidFill>
                          <a:latin typeface="CordiaUPC"/>
                          <a:cs typeface="CordiaUPC"/>
                        </a:rPr>
                        <a:t>เดือน</a:t>
                      </a:r>
                      <a:endParaRPr lang="th-TH" sz="2400" b="0">
                        <a:solidFill>
                          <a:schemeClr val="tx1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2400" b="0">
                          <a:solidFill>
                            <a:schemeClr val="tx1"/>
                          </a:solidFill>
                          <a:latin typeface="CordiaUPC"/>
                          <a:ea typeface="Tahoma"/>
                          <a:cs typeface="CordiaUPC"/>
                        </a:rPr>
                        <a:t>ลดลง 100%</a:t>
                      </a:r>
                      <a:endParaRPr lang="th-TH" sz="2400" b="0" baseline="0">
                        <a:solidFill>
                          <a:schemeClr val="tx1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75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b="0" u="none" strike="noStrike" err="1">
                          <a:latin typeface="CordiaUPC"/>
                          <a:cs typeface="CordiaUPC"/>
                        </a:rPr>
                        <a:t>อื่นๆ</a:t>
                      </a:r>
                      <a:r>
                        <a:rPr lang="en-US" sz="2400" b="0" u="none" strike="noStrike">
                          <a:latin typeface="CordiaUPC"/>
                          <a:cs typeface="CordiaUPC"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latin typeface="CordiaUPC" panose="020B0304020202020204" pitchFamily="34" charset="-34"/>
                        <a:ea typeface="Tahoma" pitchFamily="34" charset="0"/>
                        <a:cs typeface="CordiaUPC" panose="020B0304020202020204" pitchFamily="34" charset="-34"/>
                      </a:endParaRPr>
                    </a:p>
                  </a:txBody>
                  <a:tcPr marL="12537" marR="12537" marT="12537" marB="0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th-TH" sz="2400" b="0">
                        <a:solidFill>
                          <a:schemeClr val="tx1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endParaRPr lang="th-TH" sz="2400" b="0">
                        <a:solidFill>
                          <a:schemeClr val="tx1"/>
                        </a:solidFill>
                        <a:latin typeface="CordiaUPC"/>
                        <a:ea typeface="Tahoma"/>
                        <a:cs typeface="CordiaUPC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endParaRPr lang="en-US" sz="2400" b="0" i="0" u="none" strike="noStrike" noProof="0">
                        <a:solidFill>
                          <a:schemeClr val="tx1"/>
                        </a:solidFill>
                        <a:latin typeface="CordiaUP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63389" y="1009570"/>
            <a:ext cx="82413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th-TH" altLang="en-US" sz="2800" kern="0">
                <a:solidFill>
                  <a:srgbClr val="09357A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ผลประโยชน์ทางธุรกิจ </a:t>
            </a:r>
            <a:r>
              <a:rPr lang="en-US" altLang="en-US" sz="2800" b="0" kern="0">
                <a:solidFill>
                  <a:srgbClr val="09357A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(</a:t>
            </a:r>
            <a:r>
              <a:rPr lang="th-TH" altLang="en-US" sz="2800" b="0" kern="0">
                <a:solidFill>
                  <a:schemeClr val="tx2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บอกตัวชี้วัด</a:t>
            </a:r>
            <a:r>
              <a:rPr lang="en-US" altLang="en-US" sz="2800" b="0" kern="0">
                <a:solidFill>
                  <a:schemeClr val="tx2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, </a:t>
            </a:r>
            <a:r>
              <a:rPr lang="th-TH" altLang="en-US" sz="2800" b="0" kern="0">
                <a:solidFill>
                  <a:schemeClr val="tx2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ประโยชน์</a:t>
            </a:r>
            <a:r>
              <a:rPr lang="en-US" altLang="en-US" sz="2800" b="0" kern="0">
                <a:solidFill>
                  <a:schemeClr val="tx2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, </a:t>
            </a:r>
            <a:r>
              <a:rPr lang="th-TH" altLang="en-US" sz="2800" b="0" kern="0">
                <a:solidFill>
                  <a:schemeClr val="tx2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เป้าหมาย โดยนำ</a:t>
            </a:r>
            <a:r>
              <a:rPr lang="en-US" altLang="en-US" sz="2800" b="0" kern="0">
                <a:solidFill>
                  <a:schemeClr val="tx2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 SMART </a:t>
            </a:r>
            <a:r>
              <a:rPr lang="th-TH" altLang="en-US" sz="2800" b="0" kern="0">
                <a:solidFill>
                  <a:schemeClr val="tx2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มาใช้</a:t>
            </a:r>
            <a:r>
              <a:rPr lang="en-US" altLang="en-US" sz="2800" b="0" kern="0">
                <a:solidFill>
                  <a:srgbClr val="FF0000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 </a:t>
            </a:r>
            <a:r>
              <a:rPr lang="en-US" altLang="en-US" sz="2800" b="0" kern="0">
                <a:solidFill>
                  <a:srgbClr val="09357A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)</a:t>
            </a:r>
            <a:endParaRPr lang="th-TH" altLang="en-US" sz="2800" kern="0">
              <a:solidFill>
                <a:srgbClr val="09357A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endParaRPr lang="th-TH" sz="200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9C73B47-CB3E-4A35-8C14-CE2EC75E2BEB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1091022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b="1" u="sng">
                <a:latin typeface="CordiaUPC"/>
                <a:ea typeface="Tahoma"/>
                <a:cs typeface="CordiaUPC"/>
              </a:rPr>
              <a:t>1.3 Business Benefit &amp; Goal</a:t>
            </a:r>
            <a:endParaRPr lang="en-US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64739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943295"/>
              </p:ext>
            </p:extLst>
          </p:nvPr>
        </p:nvGraphicFramePr>
        <p:xfrm>
          <a:off x="762001" y="904874"/>
          <a:ext cx="10564031" cy="5867347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50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2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657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ordiaUPC"/>
                          <a:cs typeface="CordiaUPC"/>
                        </a:rPr>
                        <a:t>Roles</a:t>
                      </a:r>
                      <a:endParaRPr lang="th-TH" sz="2000">
                        <a:latin typeface="CordiaUPC"/>
                        <a:cs typeface="CordiaUPC"/>
                      </a:endParaRPr>
                    </a:p>
                  </a:txBody>
                  <a:tcPr marL="120732" marR="120732" marT="60365" marB="6036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ordiaUPC"/>
                          <a:cs typeface="CordiaUPC"/>
                        </a:rPr>
                        <a:t>Name</a:t>
                      </a:r>
                      <a:endParaRPr lang="th-TH" sz="2000">
                        <a:latin typeface="CordiaUPC"/>
                        <a:cs typeface="CordiaUPC"/>
                      </a:endParaRPr>
                    </a:p>
                  </a:txBody>
                  <a:tcPr marL="120732" marR="120732" marT="60365" marB="6036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CordiaUPC"/>
                          <a:cs typeface="CordiaUPC"/>
                        </a:rPr>
                        <a:t>Department</a:t>
                      </a:r>
                      <a:endParaRPr lang="th-TH" sz="2000">
                        <a:latin typeface="CordiaUPC"/>
                        <a:cs typeface="CordiaUPC"/>
                      </a:endParaRPr>
                    </a:p>
                  </a:txBody>
                  <a:tcPr marL="120732" marR="120732" marT="60365" marB="6036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65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u="none">
                          <a:solidFill>
                            <a:srgbClr val="000010"/>
                          </a:solidFill>
                          <a:latin typeface="CordiaUPC"/>
                          <a:cs typeface="CordiaUPC"/>
                        </a:rPr>
                        <a:t>Project Sponsor</a:t>
                      </a:r>
                    </a:p>
                  </a:txBody>
                  <a:tcPr marL="120732" marR="120732" marT="60365" marB="6036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วรเดช  เลิศโรจน์ปัญญา</a:t>
                      </a:r>
                      <a:endParaRPr lang="en-US" sz="20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สำนักบริหาร 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</a:rPr>
                        <a:t>Store Business Partner</a:t>
                      </a:r>
                      <a:endParaRPr lang="en-US" sz="200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u="none">
                          <a:solidFill>
                            <a:srgbClr val="000010"/>
                          </a:solidFill>
                          <a:latin typeface="CordiaUPC"/>
                          <a:cs typeface="CordiaUPC"/>
                        </a:rPr>
                        <a:t>Project Owner</a:t>
                      </a:r>
                    </a:p>
                  </a:txBody>
                  <a:tcPr marL="120732" marR="120732" marT="60365" marB="6036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ชาญชัย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</a:rPr>
                        <a:t>  </a:t>
                      </a:r>
                      <a:r>
                        <a:rPr lang="th-TH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วัชระรัตนาวลี</a:t>
                      </a:r>
                      <a:endParaRPr lang="en-US" sz="20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สำนักบริหาร 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</a:rPr>
                        <a:t>Store Business Partner</a:t>
                      </a:r>
                      <a:endParaRPr lang="en-US" sz="200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u="none">
                          <a:solidFill>
                            <a:srgbClr val="000010"/>
                          </a:solidFill>
                          <a:latin typeface="CordiaUPC"/>
                          <a:cs typeface="CordiaUPC"/>
                        </a:rPr>
                        <a:t>Business Project Manager</a:t>
                      </a:r>
                    </a:p>
                  </a:txBody>
                  <a:tcPr marL="120732" marR="120732" marT="60365" marB="6036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ศิริพร  เหล่าวิวัฒน์เกษม</a:t>
                      </a:r>
                      <a:endParaRPr lang="en-US" sz="2000" b="0" i="0" u="none" strike="noStrike" noProof="0">
                        <a:solidFill>
                          <a:srgbClr val="000000"/>
                        </a:solidFill>
                        <a:latin typeface="CordiaUPC"/>
                        <a:cs typeface="Segoe UI"/>
                      </a:endParaRPr>
                    </a:p>
                    <a:p>
                      <a:pPr lvl="0">
                        <a:buNone/>
                      </a:pPr>
                      <a:r>
                        <a:rPr lang="th-TH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เจษฎา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Segoe UI"/>
                        </a:rPr>
                        <a:t> </a:t>
                      </a:r>
                      <a:r>
                        <a:rPr lang="th-TH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 สิน</a:t>
                      </a:r>
                      <a:r>
                        <a:rPr lang="th-TH" sz="2000" b="0" i="0" u="none" strike="noStrike" noProof="0" err="1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ธวิ</a:t>
                      </a:r>
                      <a:r>
                        <a:rPr lang="th-TH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ชัย</a:t>
                      </a:r>
                      <a:endParaRPr lang="th-TH" sz="2000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2000" b="0" i="0" u="none" strike="noStrike" noProof="0">
                          <a:solidFill>
                            <a:schemeClr val="tx1"/>
                          </a:solidFill>
                          <a:latin typeface="CordiaUPC"/>
                          <a:cs typeface="CordiaUPC"/>
                        </a:rPr>
                        <a:t>สำนักบัญชี </a:t>
                      </a: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CordiaUPC"/>
                        </a:rPr>
                        <a:t>Business Partner </a:t>
                      </a:r>
                      <a:r>
                        <a:rPr lang="th-TH" sz="2000" b="0" i="0" u="none" strike="noStrike" noProof="0">
                          <a:solidFill>
                            <a:schemeClr val="tx1"/>
                          </a:solidFill>
                          <a:latin typeface="CordiaUPC"/>
                          <a:cs typeface="CordiaUPC"/>
                        </a:rPr>
                        <a:t>ธุรกิจค้าปลีก</a:t>
                      </a:r>
                    </a:p>
                    <a:p>
                      <a:pPr lvl="0">
                        <a:buNone/>
                      </a:pPr>
                      <a:r>
                        <a:rPr lang="th-TH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สำนักบริหาร 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</a:rPr>
                        <a:t>Store Business Partner</a:t>
                      </a:r>
                      <a:endParaRPr lang="th-TH" sz="200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65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u="none">
                          <a:solidFill>
                            <a:srgbClr val="000010"/>
                          </a:solidFill>
                          <a:latin typeface="CordiaUPC"/>
                          <a:cs typeface="CordiaUPC"/>
                        </a:rPr>
                        <a:t>Business User</a:t>
                      </a:r>
                      <a:endParaRPr lang="th-TH" sz="2000" b="0" u="none">
                        <a:solidFill>
                          <a:srgbClr val="000010"/>
                        </a:solidFill>
                        <a:latin typeface="CordiaUPC"/>
                        <a:cs typeface="CordiaUPC"/>
                      </a:endParaRPr>
                    </a:p>
                  </a:txBody>
                  <a:tcPr marL="120732" marR="120732" marT="60365" marB="6036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0" i="0" u="none" strike="noStrike" noProof="0">
                          <a:solidFill>
                            <a:schemeClr val="tx1"/>
                          </a:solidFill>
                          <a:latin typeface="CordiaUPC"/>
                          <a:cs typeface="CordiaUPC"/>
                        </a:rPr>
                        <a:t>วารุณี แย้มสุข</a:t>
                      </a:r>
                      <a:endParaRPr lang="en-US" sz="2000" b="0" i="0" u="none" strike="noStrike" noProof="0">
                        <a:solidFill>
                          <a:srgbClr val="000000"/>
                        </a:solidFill>
                        <a:latin typeface="CordiaUPC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หน่วยงานส่งเสริมธุรกิจ 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</a:rPr>
                        <a:t>SBP</a:t>
                      </a:r>
                      <a:r>
                        <a:rPr lang="th-TH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(ตำแหน่งฝ่าย และ 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</a:rPr>
                        <a:t>GM</a:t>
                      </a:r>
                      <a:r>
                        <a:rPr lang="th-TH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)</a:t>
                      </a:r>
                      <a:br>
                        <a:rPr lang="th-TH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</a:br>
                      <a:r>
                        <a:rPr lang="th-TH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พาสน์ณรงค์  นิธิคุณิตานันท์</a:t>
                      </a:r>
                      <a:endParaRPr lang="en-US" sz="2000" b="0" i="0" u="none" strike="noStrike" noProof="0">
                        <a:solidFill>
                          <a:srgbClr val="000000"/>
                        </a:solidFill>
                        <a:latin typeface="CordiaUPC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0" i="0" u="none" strike="noStrike" noProof="0">
                          <a:solidFill>
                            <a:schemeClr val="tx1"/>
                          </a:solidFill>
                          <a:latin typeface="CordiaUPC"/>
                          <a:cs typeface="CordiaUPC"/>
                        </a:rPr>
                        <a:t>เสาวคนธ์  ป้านสะอาด</a:t>
                      </a:r>
                      <a:endParaRPr lang="en-US" sz="2000" b="0" i="0" u="none" strike="noStrike" noProof="0">
                        <a:solidFill>
                          <a:srgbClr val="000000"/>
                        </a:solidFill>
                        <a:latin typeface="CordiaUPC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0" i="0" u="none" strike="noStrike" noProof="0">
                          <a:solidFill>
                            <a:schemeClr val="tx1"/>
                          </a:solidFill>
                          <a:latin typeface="CordiaUPC"/>
                          <a:cs typeface="CordiaUPC"/>
                        </a:rPr>
                        <a:t>ศิริเกศ  กิจบุรี</a:t>
                      </a:r>
                      <a:endParaRPr lang="en-US" sz="2000" b="0" i="0" u="none" strike="noStrike" noProof="0">
                        <a:solidFill>
                          <a:srgbClr val="000000"/>
                        </a:solidFill>
                        <a:latin typeface="CordiaUPC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000" b="0" i="0" u="none" strike="noStrike" noProof="0" err="1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ญา</a:t>
                      </a:r>
                      <a:r>
                        <a:rPr lang="th-TH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นิศา  กามุณี</a:t>
                      </a:r>
                      <a:endParaRPr lang="en-US" sz="2000">
                        <a:latin typeface="CordiaUPC"/>
                        <a:cs typeface="CordiaUPC"/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2000" b="0" i="0" u="none" strike="noStrike" noProof="0">
                          <a:solidFill>
                            <a:schemeClr val="tx1"/>
                          </a:solidFill>
                          <a:latin typeface="CordiaUPC"/>
                          <a:cs typeface="CordiaUPC"/>
                        </a:rPr>
                        <a:t>สำนักบัญชี </a:t>
                      </a:r>
                      <a:r>
                        <a:rPr lang="en-US" sz="2000" b="0" i="0" u="none" strike="noStrike" noProof="0">
                          <a:solidFill>
                            <a:schemeClr val="tx1"/>
                          </a:solidFill>
                          <a:latin typeface="CordiaUPC"/>
                        </a:rPr>
                        <a:t>Business Partner </a:t>
                      </a:r>
                      <a:r>
                        <a:rPr lang="th-TH" sz="2000" b="0" i="0" u="none" strike="noStrike" noProof="0">
                          <a:solidFill>
                            <a:schemeClr val="tx1"/>
                          </a:solidFill>
                          <a:latin typeface="CordiaUPC"/>
                          <a:cs typeface="CordiaUPC"/>
                        </a:rPr>
                        <a:t>ธุรกิจค้าปลีก</a:t>
                      </a:r>
                    </a:p>
                    <a:p>
                      <a:pPr lvl="0">
                        <a:buNone/>
                      </a:pPr>
                      <a:r>
                        <a:rPr lang="th-TH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สำนักบริหาร 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</a:rPr>
                        <a:t>Store Business Partner</a:t>
                      </a:r>
                    </a:p>
                    <a:p>
                      <a:pPr lvl="0">
                        <a:buNone/>
                      </a:pPr>
                      <a:r>
                        <a:rPr lang="th-TH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สำนักบริหาร 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</a:rPr>
                        <a:t>Store Business Partner</a:t>
                      </a:r>
                    </a:p>
                    <a:p>
                      <a:pPr lvl="0">
                        <a:buNone/>
                      </a:pPr>
                      <a:r>
                        <a:rPr lang="th-TH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สำนักบริหาร 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</a:rPr>
                        <a:t>Store Business Partner</a:t>
                      </a:r>
                    </a:p>
                    <a:p>
                      <a:pPr lvl="0">
                        <a:buNone/>
                      </a:pPr>
                      <a:r>
                        <a:rPr lang="th-TH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สำนักบริหาร 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</a:rPr>
                        <a:t>Store Business Partner</a:t>
                      </a:r>
                    </a:p>
                    <a:p>
                      <a:pPr lvl="0">
                        <a:buNone/>
                      </a:pPr>
                      <a:r>
                        <a:rPr lang="th-TH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สำนักบริหาร 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ordiaUPC"/>
                        </a:rPr>
                        <a:t>Store Business Partner</a:t>
                      </a:r>
                      <a:endParaRPr lang="en-US" sz="200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65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u="none">
                          <a:solidFill>
                            <a:srgbClr val="000010"/>
                          </a:solidFill>
                          <a:latin typeface="CordiaUPC"/>
                          <a:cs typeface="CordiaUPC"/>
                        </a:rPr>
                        <a:t>Business</a:t>
                      </a:r>
                      <a:r>
                        <a:rPr lang="en-US" sz="2000" b="0" u="none" baseline="0">
                          <a:solidFill>
                            <a:srgbClr val="000010"/>
                          </a:solidFill>
                          <a:latin typeface="CordiaUPC"/>
                          <a:cs typeface="CordiaUPC"/>
                        </a:rPr>
                        <a:t> Analyst</a:t>
                      </a:r>
                      <a:endParaRPr lang="th-TH" sz="2000" b="0" u="none">
                        <a:solidFill>
                          <a:srgbClr val="000010"/>
                        </a:solidFill>
                        <a:latin typeface="CordiaUPC"/>
                        <a:cs typeface="CordiaUPC"/>
                      </a:endParaRPr>
                    </a:p>
                  </a:txBody>
                  <a:tcPr marL="120732" marR="120732" marT="60365" marB="60365"/>
                </a:tc>
                <a:tc>
                  <a:txBody>
                    <a:bodyPr/>
                    <a:lstStyle/>
                    <a:p>
                      <a:r>
                        <a:rPr lang="th-TH" sz="2000">
                          <a:latin typeface="CordiaUPC"/>
                          <a:cs typeface="CordiaUPC"/>
                        </a:rPr>
                        <a:t>กัญญารัตน์ สิรธนานันท์</a:t>
                      </a:r>
                    </a:p>
                    <a:p>
                      <a:pPr lvl="0">
                        <a:buNone/>
                      </a:pPr>
                      <a:r>
                        <a:rPr lang="th-TH" sz="2000" b="0" i="0" u="none" strike="noStrike" baseline="0" noProof="0">
                          <a:solidFill>
                            <a:srgbClr val="000000"/>
                          </a:solidFill>
                          <a:latin typeface="CordiaUPC"/>
                          <a:cs typeface="CordiaUPC"/>
                        </a:rPr>
                        <a:t>อาทิตย์ สุวรรณชัย</a:t>
                      </a:r>
                      <a:endParaRPr lang="th-TH"/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th-TH" sz="2000">
                          <a:latin typeface="CordiaUPC"/>
                          <a:cs typeface="CordiaUPC"/>
                        </a:rPr>
                        <a:t>Digital Solution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65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u="none">
                          <a:solidFill>
                            <a:srgbClr val="000010"/>
                          </a:solidFill>
                          <a:latin typeface="CordiaUPC"/>
                          <a:cs typeface="CordiaUPC"/>
                        </a:rPr>
                        <a:t>Solution Architect</a:t>
                      </a:r>
                      <a:endParaRPr lang="th-TH" sz="2000" b="0" u="none">
                        <a:solidFill>
                          <a:srgbClr val="000010"/>
                        </a:solidFill>
                        <a:latin typeface="CordiaUPC"/>
                        <a:cs typeface="CordiaUPC"/>
                      </a:endParaRPr>
                    </a:p>
                  </a:txBody>
                  <a:tcPr marL="120732" marR="120732" marT="60365" marB="60365"/>
                </a:tc>
                <a:tc>
                  <a:txBody>
                    <a:bodyPr/>
                    <a:lstStyle/>
                    <a:p>
                      <a:endParaRPr lang="th-TH" sz="2400">
                        <a:latin typeface="CordiaUPC"/>
                        <a:cs typeface="CordiaUPC"/>
                      </a:endParaRP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endParaRPr lang="th-TH" sz="2400">
                        <a:latin typeface="CordiaUPC"/>
                        <a:cs typeface="CordiaUPC"/>
                      </a:endParaRP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BDB147D7-4646-40D5-9946-83BA4323E9A0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1091022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1.6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Stakeholder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</p:spTree>
    <p:extLst>
      <p:ext uri="{BB962C8B-B14F-4D97-AF65-F5344CB8AC3E}">
        <p14:creationId xmlns:p14="http://schemas.microsoft.com/office/powerpoint/2010/main" val="777378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999565" y="1017868"/>
            <a:ext cx="11194904" cy="5621172"/>
          </a:xfrm>
          <a:solidFill>
            <a:srgbClr val="FFFFFF"/>
          </a:solidFill>
        </p:spPr>
        <p:txBody>
          <a:bodyPr/>
          <a:lstStyle/>
          <a:p>
            <a:r>
              <a:rPr lang="en-US" altLang="th-TH" sz="2800">
                <a:latin typeface="CordiaUPC"/>
                <a:ea typeface="Tahoma"/>
                <a:cs typeface="CordiaUPC"/>
              </a:rPr>
              <a:t>Timing Constraint</a:t>
            </a:r>
            <a:r>
              <a:rPr lang="th-TH" altLang="th-TH" sz="2800">
                <a:latin typeface="CordiaUPC"/>
                <a:ea typeface="Tahoma"/>
                <a:cs typeface="CordiaUPC"/>
              </a:rPr>
              <a:t> </a:t>
            </a:r>
            <a:r>
              <a:rPr lang="th-TH" altLang="th-TH" sz="2800" i="1">
                <a:solidFill>
                  <a:srgbClr val="0070C0"/>
                </a:solidFill>
                <a:latin typeface="CordiaUPC"/>
                <a:ea typeface="Tahoma"/>
                <a:cs typeface="CordiaUPC"/>
              </a:rPr>
              <a:t>(เช่น จำเป็นต้องเสร็จภายในเมื่อไหร่เพื่ออะไร) </a:t>
            </a:r>
            <a:endParaRPr lang="en-US" altLang="th-TH" sz="2800" i="1">
              <a:solidFill>
                <a:srgbClr val="0070C0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0" indent="0">
              <a:buNone/>
            </a:pPr>
            <a:endParaRPr lang="th-TH" sz="2800">
              <a:solidFill>
                <a:srgbClr val="FF0000"/>
              </a:solidFill>
              <a:latin typeface="CordiaUPC"/>
              <a:ea typeface="Tahoma"/>
              <a:cs typeface="CordiaUPC"/>
            </a:endParaRPr>
          </a:p>
          <a:p>
            <a:pPr marL="0" indent="0">
              <a:buNone/>
            </a:pPr>
            <a:endParaRPr lang="th-TH" sz="2800">
              <a:latin typeface="CordiaUPC"/>
              <a:ea typeface="Tahoma"/>
              <a:cs typeface="CordiaUPC"/>
            </a:endParaRPr>
          </a:p>
          <a:p>
            <a:r>
              <a:rPr lang="en-US" altLang="th-TH" sz="2800">
                <a:latin typeface="CordiaUPC"/>
                <a:ea typeface="Tahoma"/>
                <a:cs typeface="CordiaUPC"/>
              </a:rPr>
              <a:t>Resource: </a:t>
            </a:r>
            <a:r>
              <a:rPr lang="en-US" altLang="th-TH" sz="2800" i="1">
                <a:solidFill>
                  <a:srgbClr val="0070C0"/>
                </a:solidFill>
                <a:latin typeface="CordiaUPC"/>
                <a:ea typeface="Tahoma"/>
                <a:cs typeface="CordiaUPC"/>
              </a:rPr>
              <a:t>(</a:t>
            </a:r>
            <a:r>
              <a:rPr lang="th-TH" altLang="th-TH" sz="2800" i="1">
                <a:solidFill>
                  <a:srgbClr val="0070C0"/>
                </a:solidFill>
                <a:latin typeface="CordiaUPC"/>
                <a:ea typeface="Tahoma"/>
                <a:cs typeface="CordiaUPC"/>
              </a:rPr>
              <a:t>เช่น มีข้อจำกัดเรื่องคนที่เข้ามาทำงานในกระบวนการ)</a:t>
            </a:r>
            <a:endParaRPr lang="en-US" altLang="th-TH" sz="2800" i="1">
              <a:solidFill>
                <a:srgbClr val="0070C0"/>
              </a:solidFill>
              <a:latin typeface="CordiaUPC"/>
              <a:ea typeface="Tahoma"/>
              <a:cs typeface="CordiaUPC"/>
            </a:endParaRPr>
          </a:p>
          <a:p>
            <a:pPr marL="0" indent="0">
              <a:buNone/>
            </a:pPr>
            <a:r>
              <a:rPr lang="th-TH" sz="2800">
                <a:latin typeface="CordiaUPC"/>
                <a:ea typeface="Tahoma"/>
                <a:cs typeface="CordiaUPC"/>
              </a:rPr>
              <a:t>ในตำแหน่ง (รักษาการ) ผู้จัดการฝ่าย ระบบไม่สามารถ </a:t>
            </a:r>
            <a:r>
              <a:rPr lang="en-US" sz="2800">
                <a:latin typeface="CordiaUPC"/>
                <a:ea typeface="Tahoma"/>
                <a:cs typeface="Arial"/>
              </a:rPr>
              <a:t>set </a:t>
            </a:r>
            <a:r>
              <a:rPr lang="th-TH" sz="2800">
                <a:latin typeface="CordiaUPC"/>
                <a:ea typeface="Tahoma"/>
                <a:cs typeface="CordiaUPC"/>
              </a:rPr>
              <a:t>ให้เป็นผู้อนุมัติได้ เพราะระบบยึดตำแหน่งจากระบบ </a:t>
            </a:r>
            <a:r>
              <a:rPr lang="en-US" sz="2800">
                <a:latin typeface="CordiaUPC"/>
                <a:ea typeface="Tahoma"/>
                <a:cs typeface="Arial"/>
              </a:rPr>
              <a:t>HR Connect</a:t>
            </a:r>
            <a:endParaRPr lang="th-TH">
              <a:latin typeface="CordiaUPC"/>
              <a:ea typeface="Tahoma"/>
            </a:endParaRPr>
          </a:p>
          <a:p>
            <a:pPr marL="0" indent="0">
              <a:buNone/>
            </a:pPr>
            <a:endParaRPr lang="en-US" sz="2800">
              <a:latin typeface="CordiaUPC"/>
              <a:ea typeface="Tahoma"/>
              <a:cs typeface="Arial"/>
            </a:endParaRPr>
          </a:p>
          <a:p>
            <a:r>
              <a:rPr lang="en-US" altLang="th-TH" sz="2800">
                <a:latin typeface="CordiaUPC"/>
                <a:ea typeface="Tahoma"/>
                <a:cs typeface="CordiaUPC"/>
              </a:rPr>
              <a:t>Budget: </a:t>
            </a:r>
            <a:r>
              <a:rPr lang="en-US" altLang="th-TH" sz="2800" i="1">
                <a:solidFill>
                  <a:srgbClr val="0070C0"/>
                </a:solidFill>
                <a:latin typeface="CordiaUPC"/>
                <a:ea typeface="Tahoma"/>
                <a:cs typeface="CordiaUPC"/>
              </a:rPr>
              <a:t>(</a:t>
            </a:r>
            <a:r>
              <a:rPr lang="th-TH" altLang="th-TH" sz="2800" i="1">
                <a:solidFill>
                  <a:srgbClr val="0070C0"/>
                </a:solidFill>
                <a:latin typeface="CordiaUPC"/>
                <a:ea typeface="Tahoma"/>
                <a:cs typeface="CordiaUPC"/>
              </a:rPr>
              <a:t>ข้อจำกัดเรื่องงบประมาณ)</a:t>
            </a:r>
            <a:endParaRPr lang="en-US" altLang="th-TH" sz="2800" i="1">
              <a:solidFill>
                <a:srgbClr val="0070C0"/>
              </a:solidFill>
              <a:latin typeface="CordiaUPC"/>
              <a:ea typeface="Tahoma"/>
              <a:cs typeface="CordiaUPC"/>
            </a:endParaRPr>
          </a:p>
          <a:p>
            <a:pPr marL="0" indent="0">
              <a:buNone/>
            </a:pPr>
            <a:endParaRPr lang="th-TH" sz="2800">
              <a:solidFill>
                <a:srgbClr val="FF0000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>
              <a:buNone/>
            </a:pPr>
            <a:endParaRPr lang="th-TH" altLang="th-TH" sz="2000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3AA42F-81EB-4DC5-BA77-75D1E97B907D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1091022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th-TH" u="sng">
                <a:latin typeface="CordiaUPC"/>
                <a:ea typeface="Tahoma"/>
                <a:cs typeface="CordiaUPC"/>
              </a:rPr>
              <a:t>1.5</a:t>
            </a:r>
            <a:r>
              <a:rPr lang="en-US" altLang="th-TH" b="1" u="sng">
                <a:latin typeface="CordiaUPC"/>
                <a:ea typeface="Tahoma"/>
                <a:cs typeface="CordiaUPC"/>
              </a:rPr>
              <a:t> Business Constraint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</p:spTree>
    <p:extLst>
      <p:ext uri="{BB962C8B-B14F-4D97-AF65-F5344CB8AC3E}">
        <p14:creationId xmlns:p14="http://schemas.microsoft.com/office/powerpoint/2010/main" val="1140324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907996-4F6B-47B0-BA98-4844791050A1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u="sng">
                <a:latin typeface="CordiaUPC"/>
                <a:ea typeface="Tahoma"/>
                <a:cs typeface="CordiaUPC"/>
              </a:rPr>
              <a:t>1.7 </a:t>
            </a:r>
            <a:r>
              <a:rPr lang="en-US" b="1" u="sng">
                <a:latin typeface="CordiaUPC"/>
                <a:ea typeface="Tahoma"/>
                <a:cs typeface="CordiaUPC"/>
              </a:rPr>
              <a:t>Business Process</a:t>
            </a:r>
            <a:r>
              <a:rPr lang="en-US" u="sng">
                <a:latin typeface="CordiaUPC"/>
                <a:ea typeface="Tahoma"/>
                <a:cs typeface="CordiaUPC"/>
              </a:rPr>
              <a:t> List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B951FE-B5F0-5D17-C9A0-BA37EC0F800B}"/>
              </a:ext>
            </a:extLst>
          </p:cNvPr>
          <p:cNvSpPr txBox="1"/>
          <p:nvPr/>
        </p:nvSpPr>
        <p:spPr>
          <a:xfrm>
            <a:off x="602481" y="1097808"/>
            <a:ext cx="10771093" cy="49552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indent="-514350">
              <a:buAutoNum type="arabicPeriod"/>
            </a:pPr>
            <a:r>
              <a:rPr lang="en-US" sz="2400" b="0" err="1">
                <a:latin typeface="BrowalliaUPC"/>
                <a:cs typeface="Times New Roman"/>
              </a:rPr>
              <a:t>ระบบ</a:t>
            </a:r>
            <a:r>
              <a:rPr lang="en-US" sz="2400" b="0">
                <a:latin typeface="BrowalliaUPC"/>
                <a:cs typeface="Times New Roman"/>
              </a:rPr>
              <a:t> </a:t>
            </a:r>
            <a:r>
              <a:rPr lang="en-US" sz="2400" b="0" err="1">
                <a:latin typeface="BrowalliaUPC"/>
                <a:cs typeface="Times New Roman"/>
              </a:rPr>
              <a:t>AllMap</a:t>
            </a:r>
            <a:r>
              <a:rPr lang="en-US" sz="2400" b="0">
                <a:latin typeface="BrowalliaUPC"/>
                <a:cs typeface="Times New Roman"/>
              </a:rPr>
              <a:t> </a:t>
            </a:r>
            <a:r>
              <a:rPr lang="en-US" sz="2400" b="0" err="1">
                <a:latin typeface="BrowalliaUPC"/>
                <a:cs typeface="Times New Roman"/>
              </a:rPr>
              <a:t>ดึงข้อมูลตามรัศมี</a:t>
            </a:r>
            <a:r>
              <a:rPr lang="en-US" sz="2400" b="0">
                <a:latin typeface="BrowalliaUPC"/>
                <a:cs typeface="Times New Roman"/>
              </a:rPr>
              <a:t> 1-2 </a:t>
            </a:r>
            <a:r>
              <a:rPr lang="en-US" sz="2400" b="0" err="1">
                <a:latin typeface="BrowalliaUPC"/>
                <a:cs typeface="Times New Roman"/>
              </a:rPr>
              <a:t>กม</a:t>
            </a:r>
            <a:r>
              <a:rPr lang="en-US" sz="2400" b="0">
                <a:latin typeface="BrowalliaUPC"/>
                <a:cs typeface="Times New Roman"/>
              </a:rPr>
              <a:t> (</a:t>
            </a:r>
            <a:r>
              <a:rPr lang="en-US" sz="2400" b="0" err="1">
                <a:latin typeface="BrowalliaUPC"/>
                <a:cs typeface="Times New Roman"/>
              </a:rPr>
              <a:t>กทม</a:t>
            </a:r>
            <a:r>
              <a:rPr lang="en-US" sz="2400" b="0">
                <a:latin typeface="BrowalliaUPC"/>
                <a:cs typeface="Times New Roman"/>
              </a:rPr>
              <a:t> 1 </a:t>
            </a:r>
            <a:r>
              <a:rPr lang="en-US" sz="2400" b="0" err="1">
                <a:latin typeface="BrowalliaUPC"/>
                <a:cs typeface="Times New Roman"/>
              </a:rPr>
              <a:t>กม</a:t>
            </a:r>
            <a:r>
              <a:rPr lang="en-US" sz="2400" b="0">
                <a:latin typeface="BrowalliaUPC"/>
                <a:cs typeface="Times New Roman"/>
              </a:rPr>
              <a:t>) </a:t>
            </a:r>
            <a:r>
              <a:rPr lang="th-TH" sz="2400" b="0">
                <a:latin typeface="BrowalliaUPC"/>
                <a:cs typeface="BrowalliaUPC"/>
              </a:rPr>
              <a:t>(มณฑล </a:t>
            </a:r>
            <a:r>
              <a:rPr lang="en-US" sz="2400" b="0">
                <a:latin typeface="BrowalliaUPC"/>
                <a:cs typeface="BrowalliaUPC"/>
              </a:rPr>
              <a:t>2 </a:t>
            </a:r>
            <a:r>
              <a:rPr lang="th-TH" sz="2400" b="0">
                <a:latin typeface="BrowalliaUPC"/>
                <a:cs typeface="BrowalliaUPC"/>
              </a:rPr>
              <a:t>กม)</a:t>
            </a:r>
            <a:r>
              <a:rPr lang="en-US" sz="2400" b="0">
                <a:latin typeface="BrowalliaUPC"/>
                <a:cs typeface="Times New Roman"/>
              </a:rPr>
              <a:t> ----&gt; </a:t>
            </a:r>
            <a:r>
              <a:rPr lang="en-US" sz="2400" b="0" err="1">
                <a:latin typeface="BrowalliaUPC"/>
                <a:cs typeface="Times New Roman"/>
              </a:rPr>
              <a:t>ระบบทำแบบ</a:t>
            </a:r>
            <a:r>
              <a:rPr lang="en-US" sz="2400" b="0">
                <a:latin typeface="BrowalliaUPC"/>
                <a:cs typeface="Times New Roman"/>
              </a:rPr>
              <a:t> Auto </a:t>
            </a:r>
            <a:endParaRPr lang="en-US" sz="2400" b="0">
              <a:latin typeface="BrowalliaUPC"/>
              <a:cs typeface="BrowalliaUPC"/>
            </a:endParaRPr>
          </a:p>
          <a:p>
            <a:pPr marL="514350" indent="-514350">
              <a:buAutoNum type="arabicPeriod"/>
            </a:pPr>
            <a:r>
              <a:rPr lang="en-US" sz="2400" b="0">
                <a:latin typeface="BrowalliaUPC"/>
                <a:cs typeface="Times New Roman"/>
              </a:rPr>
              <a:t>SBP </a:t>
            </a:r>
            <a:r>
              <a:rPr lang="en-US" sz="2400" b="0" err="1">
                <a:latin typeface="BrowalliaUPC"/>
                <a:cs typeface="Times New Roman"/>
              </a:rPr>
              <a:t>เปิดเรื่องเพื่อทำการชดเชยประกันรายได้</a:t>
            </a:r>
            <a:endParaRPr lang="en-US" sz="2400" b="0">
              <a:latin typeface="BrowalliaUPC"/>
              <a:cs typeface="Times New Roman"/>
            </a:endParaRPr>
          </a:p>
          <a:p>
            <a:pPr marL="514350" indent="-514350">
              <a:buAutoNum type="arabicPeriod"/>
            </a:pPr>
            <a:r>
              <a:rPr lang="en-US" sz="2400" b="0" err="1">
                <a:latin typeface="BrowalliaUPC"/>
                <a:cs typeface="Times New Roman"/>
              </a:rPr>
              <a:t>ผู้บริหาร</a:t>
            </a:r>
            <a:r>
              <a:rPr lang="en-US" sz="2400" b="0">
                <a:latin typeface="BrowalliaUPC"/>
                <a:cs typeface="Times New Roman"/>
              </a:rPr>
              <a:t> </a:t>
            </a:r>
            <a:r>
              <a:rPr lang="en-US" sz="2400" b="0" err="1">
                <a:latin typeface="BrowalliaUPC"/>
                <a:cs typeface="Times New Roman"/>
              </a:rPr>
              <a:t>ทำการอนุมัติ</a:t>
            </a:r>
            <a:r>
              <a:rPr lang="en-US" sz="2400" b="0">
                <a:latin typeface="BrowalliaUPC"/>
                <a:cs typeface="Times New Roman"/>
              </a:rPr>
              <a:t> </a:t>
            </a:r>
            <a:r>
              <a:rPr lang="en-US" sz="2400" b="0" err="1">
                <a:latin typeface="BrowalliaUPC"/>
                <a:cs typeface="Times New Roman"/>
              </a:rPr>
              <a:t>เพื่อทำการชดเชยประกันรายได้</a:t>
            </a:r>
            <a:endParaRPr lang="en-US" sz="2400" b="0">
              <a:latin typeface="BrowalliaUPC"/>
              <a:cs typeface="Times New Roman"/>
            </a:endParaRPr>
          </a:p>
          <a:p>
            <a:pPr marL="514350" indent="-514350">
              <a:buAutoNum type="arabicPeriod"/>
            </a:pPr>
            <a:r>
              <a:rPr lang="en-US" sz="2400" b="0" err="1">
                <a:latin typeface="BrowalliaUPC"/>
                <a:cs typeface="Times New Roman"/>
              </a:rPr>
              <a:t>หน่วยงาน</a:t>
            </a:r>
            <a:r>
              <a:rPr lang="en-US" sz="2400" b="0">
                <a:latin typeface="BrowalliaUPC"/>
                <a:cs typeface="Times New Roman"/>
              </a:rPr>
              <a:t> Store Retention </a:t>
            </a:r>
            <a:r>
              <a:rPr lang="en-US" sz="2400" b="0" err="1">
                <a:latin typeface="BrowalliaUPC"/>
                <a:cs typeface="Times New Roman"/>
              </a:rPr>
              <a:t>คำนวณผลกระทบ</a:t>
            </a:r>
            <a:r>
              <a:rPr lang="en-US" sz="2400" b="0">
                <a:latin typeface="BrowalliaUPC"/>
                <a:cs typeface="Times New Roman"/>
              </a:rPr>
              <a:t> (</a:t>
            </a:r>
            <a:r>
              <a:rPr lang="en-US" sz="2400" b="0" err="1">
                <a:latin typeface="BrowalliaUPC"/>
                <a:cs typeface="Times New Roman"/>
              </a:rPr>
              <a:t>คำนวณยอดขาย</a:t>
            </a:r>
            <a:r>
              <a:rPr lang="en-US" sz="2400" b="0">
                <a:latin typeface="BrowalliaUPC"/>
                <a:cs typeface="Times New Roman"/>
              </a:rPr>
              <a:t> 15 </a:t>
            </a:r>
            <a:r>
              <a:rPr lang="en-US" sz="2400" b="0" err="1">
                <a:latin typeface="BrowalliaUPC"/>
                <a:cs typeface="Times New Roman"/>
              </a:rPr>
              <a:t>วันหลังร้านเปิด</a:t>
            </a:r>
            <a:r>
              <a:rPr lang="en-US" sz="2400" b="0">
                <a:latin typeface="BrowalliaUPC"/>
                <a:cs typeface="Times New Roman"/>
              </a:rPr>
              <a:t>)</a:t>
            </a:r>
            <a:endParaRPr lang="en-US" sz="2400">
              <a:latin typeface="BrowalliaUPC"/>
            </a:endParaRPr>
          </a:p>
          <a:p>
            <a:pPr marL="514350" indent="-514350">
              <a:buAutoNum type="arabicPeriod"/>
            </a:pPr>
            <a:r>
              <a:rPr lang="en-US" sz="2400" b="0" err="1">
                <a:latin typeface="BrowalliaUPC"/>
                <a:cs typeface="Times New Roman"/>
              </a:rPr>
              <a:t>หน่วยงาน</a:t>
            </a:r>
            <a:r>
              <a:rPr lang="en-US" sz="2400" b="0">
                <a:latin typeface="BrowalliaUPC"/>
                <a:cs typeface="Times New Roman"/>
              </a:rPr>
              <a:t> Finance &amp; Account </a:t>
            </a:r>
            <a:r>
              <a:rPr lang="en-US" sz="2400" b="0" err="1">
                <a:latin typeface="BrowalliaUPC"/>
                <a:cs typeface="Times New Roman"/>
              </a:rPr>
              <a:t>คำนวณยอดเงินประกัน</a:t>
            </a:r>
            <a:endParaRPr lang="en-US" sz="2400">
              <a:latin typeface="BrowalliaUPC"/>
            </a:endParaRPr>
          </a:p>
          <a:p>
            <a:pPr marL="514350" indent="-514350">
              <a:buAutoNum type="arabicPeriod"/>
            </a:pPr>
            <a:r>
              <a:rPr lang="en-US" sz="2400" b="0" err="1">
                <a:latin typeface="BrowalliaUPC"/>
                <a:cs typeface="Times New Roman"/>
              </a:rPr>
              <a:t>สำนัก</a:t>
            </a:r>
            <a:r>
              <a:rPr lang="en-US" sz="2400" b="0">
                <a:latin typeface="BrowalliaUPC"/>
                <a:cs typeface="Times New Roman"/>
              </a:rPr>
              <a:t> SBPM </a:t>
            </a:r>
            <a:r>
              <a:rPr lang="en-US" sz="2400" b="0" err="1">
                <a:latin typeface="BrowalliaUPC"/>
                <a:cs typeface="Times New Roman"/>
              </a:rPr>
              <a:t>ตรวจสอบข้อมูลภายใน</a:t>
            </a:r>
            <a:r>
              <a:rPr lang="en-US" sz="2400" b="0">
                <a:latin typeface="BrowalliaUPC"/>
                <a:cs typeface="Times New Roman"/>
              </a:rPr>
              <a:t> </a:t>
            </a:r>
            <a:r>
              <a:rPr lang="en-US" sz="2400" b="0" err="1">
                <a:latin typeface="BrowalliaUPC"/>
                <a:cs typeface="Times New Roman"/>
              </a:rPr>
              <a:t>AllMap</a:t>
            </a:r>
            <a:r>
              <a:rPr lang="en-US" sz="2400" b="0">
                <a:latin typeface="BrowalliaUPC"/>
                <a:cs typeface="Times New Roman"/>
              </a:rPr>
              <a:t> (</a:t>
            </a:r>
            <a:r>
              <a:rPr lang="en-US" sz="2400" b="0" err="1">
                <a:latin typeface="BrowalliaUPC"/>
                <a:cs typeface="BrowalliaUPC"/>
              </a:rPr>
              <a:t>หน่วยงานวิเคราะห์ข้อมูล</a:t>
            </a:r>
            <a:r>
              <a:rPr lang="en-US" sz="2400" b="0">
                <a:latin typeface="BrowalliaUPC"/>
                <a:cs typeface="Times New Roman"/>
              </a:rPr>
              <a:t>) </a:t>
            </a:r>
            <a:endParaRPr lang="en-US" sz="2400">
              <a:latin typeface="BrowalliaUPC"/>
            </a:endParaRPr>
          </a:p>
          <a:p>
            <a:pPr marL="514350" indent="-514350">
              <a:buAutoNum type="arabicPeriod"/>
            </a:pPr>
            <a:r>
              <a:rPr lang="en-US" sz="2400" b="0" err="1">
                <a:latin typeface="BrowalliaUPC"/>
                <a:cs typeface="Times New Roman"/>
              </a:rPr>
              <a:t>หน่วยงานบัญชีชดเชยผลกระทบให้ร้าน</a:t>
            </a:r>
            <a:r>
              <a:rPr lang="en-US" sz="2400" b="0">
                <a:latin typeface="BrowalliaUPC"/>
                <a:cs typeface="Times New Roman"/>
              </a:rPr>
              <a:t> SBP</a:t>
            </a:r>
            <a:br>
              <a:rPr lang="en-US" sz="2400" b="0">
                <a:latin typeface="BrowalliaUPC"/>
                <a:cs typeface="Times New Roman"/>
              </a:rPr>
            </a:br>
            <a:endParaRPr lang="en-US" sz="2400" b="0">
              <a:latin typeface="BrowalliaUPC"/>
              <a:cs typeface="Times New Roman"/>
            </a:endParaRPr>
          </a:p>
          <a:p>
            <a:r>
              <a:rPr lang="en-US" sz="2400" err="1">
                <a:latin typeface="BrowalliaUPC"/>
                <a:cs typeface="Times New Roman"/>
              </a:rPr>
              <a:t>หน่วยงานที่ทำ</a:t>
            </a:r>
            <a:endParaRPr lang="en-US" sz="2400">
              <a:latin typeface="BrowalliaUPC"/>
            </a:endParaRPr>
          </a:p>
          <a:p>
            <a:pPr marL="285750" indent="-285750">
              <a:buAutoNum type="arabicPeriod"/>
            </a:pPr>
            <a:r>
              <a:rPr lang="en-US" sz="2400" b="0" err="1">
                <a:latin typeface="BrowalliaUPC"/>
                <a:cs typeface="Times New Roman"/>
              </a:rPr>
              <a:t>หน่วยงานวิเคราะห์ข้อมูล</a:t>
            </a:r>
            <a:r>
              <a:rPr lang="en-US" sz="2400" b="0">
                <a:latin typeface="BrowalliaUPC"/>
                <a:cs typeface="Times New Roman"/>
              </a:rPr>
              <a:t> </a:t>
            </a:r>
            <a:r>
              <a:rPr lang="en-US" sz="2400" b="0" err="1">
                <a:latin typeface="BrowalliaUPC"/>
                <a:cs typeface="Times New Roman"/>
              </a:rPr>
              <a:t>และ</a:t>
            </a:r>
            <a:r>
              <a:rPr lang="en-US" sz="2400" b="0">
                <a:latin typeface="BrowalliaUPC"/>
                <a:cs typeface="Times New Roman"/>
              </a:rPr>
              <a:t> </a:t>
            </a:r>
            <a:r>
              <a:rPr lang="en-US" sz="2400" b="0" err="1">
                <a:latin typeface="BrowalliaUPC"/>
                <a:cs typeface="Times New Roman"/>
              </a:rPr>
              <a:t>ระบบ</a:t>
            </a:r>
            <a:r>
              <a:rPr lang="en-US" sz="2400" b="0">
                <a:latin typeface="BrowalliaUPC"/>
                <a:cs typeface="Times New Roman"/>
              </a:rPr>
              <a:t> SBP</a:t>
            </a:r>
            <a:endParaRPr lang="en-US" sz="2400">
              <a:latin typeface="BrowalliaUPC"/>
            </a:endParaRPr>
          </a:p>
          <a:p>
            <a:pPr marL="285750" indent="-285750">
              <a:buAutoNum type="arabicPeriod"/>
            </a:pPr>
            <a:r>
              <a:rPr lang="en-US" sz="2400" b="0" err="1">
                <a:latin typeface="BrowalliaUPC"/>
                <a:cs typeface="Times New Roman"/>
              </a:rPr>
              <a:t>หน่วยงานส่งเสริม</a:t>
            </a:r>
            <a:endParaRPr lang="en-US" sz="2400">
              <a:latin typeface="BrowalliaUPC"/>
            </a:endParaRPr>
          </a:p>
          <a:p>
            <a:pPr marL="285750" indent="-285750">
              <a:buAutoNum type="arabicPeriod"/>
            </a:pPr>
            <a:r>
              <a:rPr lang="en-US" sz="2400" b="0" err="1">
                <a:latin typeface="BrowalliaUPC"/>
                <a:cs typeface="Times New Roman"/>
              </a:rPr>
              <a:t>หน่วยงานบัญชี</a:t>
            </a:r>
            <a:endParaRPr lang="en-US" sz="2400">
              <a:latin typeface="BrowalliaUPC"/>
            </a:endParaRPr>
          </a:p>
          <a:p>
            <a:pPr algn="l"/>
            <a:endParaRPr lang="en-US" sz="2800">
              <a:latin typeface="BrowalliaUPC"/>
            </a:endParaRPr>
          </a:p>
        </p:txBody>
      </p:sp>
    </p:spTree>
    <p:extLst>
      <p:ext uri="{BB962C8B-B14F-4D97-AF65-F5344CB8AC3E}">
        <p14:creationId xmlns:p14="http://schemas.microsoft.com/office/powerpoint/2010/main" val="3738324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81566D4-6E83-4850-953C-AD6DB7F0588B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1091022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1.7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 List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555BF0D1-54E9-D6D0-6704-72D2922C48B6}"/>
              </a:ext>
            </a:extLst>
          </p:cNvPr>
          <p:cNvSpPr txBox="1"/>
          <p:nvPr/>
        </p:nvSpPr>
        <p:spPr>
          <a:xfrm>
            <a:off x="654844" y="833437"/>
            <a:ext cx="10918030" cy="5911875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CordiaUPC"/>
                <a:cs typeface="CordiaUPC"/>
              </a:rPr>
              <a:t>สร้างเอกสารเรื่องชดเชยรายได้ </a:t>
            </a:r>
          </a:p>
          <a:p>
            <a:pPr marL="457200" indent="-457200">
              <a:buAutoNum type="arabicPeriod"/>
            </a:pPr>
            <a:r>
              <a:rPr lang="en-US" sz="2000" b="0">
                <a:latin typeface="CordiaUPC"/>
                <a:cs typeface="CordiaUPC"/>
              </a:rPr>
              <a:t>สร้างเรื่องชดเชยรายได้ --&gt; </a:t>
            </a:r>
            <a:r>
              <a:rPr lang="en-US" sz="2000" b="0" err="1">
                <a:latin typeface="CordiaUPC"/>
                <a:cs typeface="CordiaUPC"/>
              </a:rPr>
              <a:t>ผู้บริหาร</a:t>
            </a:r>
            <a:r>
              <a:rPr lang="en-US" sz="2000" b="0">
                <a:latin typeface="CordiaUPC"/>
                <a:cs typeface="CordiaUPC"/>
              </a:rPr>
              <a:t> SBP Approve ---&gt; </a:t>
            </a:r>
            <a:r>
              <a:rPr lang="en-US" sz="2000" b="0" err="1">
                <a:latin typeface="CordiaUPC"/>
                <a:cs typeface="CordiaUPC"/>
              </a:rPr>
              <a:t>เปิดเรื่องได้</a:t>
            </a:r>
            <a:r>
              <a:rPr lang="en-US" sz="2000" b="0">
                <a:latin typeface="CordiaUPC"/>
                <a:cs typeface="CordiaUPC"/>
              </a:rPr>
              <a:t> </a:t>
            </a:r>
          </a:p>
          <a:p>
            <a:pPr marL="457200" indent="-457200">
              <a:buAutoNum type="arabicPeriod"/>
            </a:pPr>
            <a:r>
              <a:rPr lang="en-US" sz="2000" b="0">
                <a:latin typeface="CordiaUPC"/>
                <a:cs typeface="CordiaUPC"/>
              </a:rPr>
              <a:t>สร้างเรื่องชดเชยรายได้ --&gt; </a:t>
            </a:r>
            <a:r>
              <a:rPr lang="en-US" sz="2000" b="0" err="1">
                <a:latin typeface="CordiaUPC"/>
                <a:cs typeface="CordiaUPC"/>
              </a:rPr>
              <a:t>ผู้บริหาร</a:t>
            </a:r>
            <a:r>
              <a:rPr lang="en-US" sz="2000" b="0">
                <a:latin typeface="CordiaUPC"/>
                <a:cs typeface="CordiaUPC"/>
              </a:rPr>
              <a:t> SBP </a:t>
            </a:r>
            <a:r>
              <a:rPr lang="en-US" sz="2000" b="0" err="1">
                <a:latin typeface="CordiaUPC"/>
                <a:cs typeface="CordiaUPC"/>
              </a:rPr>
              <a:t>หยุดชดเชย</a:t>
            </a:r>
            <a:r>
              <a:rPr lang="en-US" sz="2000" b="0">
                <a:latin typeface="CordiaUPC"/>
                <a:cs typeface="CordiaUPC"/>
              </a:rPr>
              <a:t> --&gt; </a:t>
            </a:r>
            <a:r>
              <a:rPr lang="en-US" sz="2000" b="0" err="1">
                <a:latin typeface="CordiaUPC"/>
                <a:cs typeface="CordiaUPC"/>
              </a:rPr>
              <a:t>เปิดเรื่องไม่ได้</a:t>
            </a:r>
            <a:r>
              <a:rPr lang="en-US" sz="2000" b="0">
                <a:latin typeface="CordiaUPC"/>
                <a:cs typeface="CordiaUPC"/>
              </a:rPr>
              <a:t>  </a:t>
            </a:r>
          </a:p>
          <a:p>
            <a:r>
              <a:rPr lang="en-US" sz="2000" b="0">
                <a:latin typeface="CordiaUPC"/>
                <a:cs typeface="CordiaUPC"/>
              </a:rPr>
              <a:t> </a:t>
            </a:r>
            <a:r>
              <a:rPr lang="en-US" sz="2000" b="0" err="1">
                <a:latin typeface="CordiaUPC"/>
                <a:cs typeface="CordiaUPC"/>
              </a:rPr>
              <a:t>กรณีต้องการเปิดเรื่องซ้ำอีก</a:t>
            </a:r>
            <a:r>
              <a:rPr lang="en-US" sz="2000" b="0">
                <a:latin typeface="CordiaUPC"/>
                <a:cs typeface="CordiaUPC"/>
              </a:rPr>
              <a:t> --&gt; </a:t>
            </a:r>
            <a:r>
              <a:rPr lang="en-US" sz="2000" b="0" err="1">
                <a:latin typeface="CordiaUPC"/>
                <a:cs typeface="CordiaUPC"/>
              </a:rPr>
              <a:t>ไม่สามารถเปิดซ้ำในร้านเดิมได้</a:t>
            </a:r>
            <a:r>
              <a:rPr lang="en-US" sz="2000" b="0">
                <a:latin typeface="CordiaUPC"/>
                <a:cs typeface="CordiaUPC"/>
              </a:rPr>
              <a:t>--&gt; </a:t>
            </a:r>
            <a:r>
              <a:rPr lang="en-US" sz="2000" b="0" err="1">
                <a:latin typeface="CordiaUPC"/>
                <a:cs typeface="CordiaUPC"/>
              </a:rPr>
              <a:t>เปิด</a:t>
            </a:r>
            <a:r>
              <a:rPr lang="en-US" sz="2000" b="0">
                <a:latin typeface="CordiaUPC"/>
                <a:cs typeface="CordiaUPC"/>
              </a:rPr>
              <a:t> BSR ??/Incident?? </a:t>
            </a:r>
          </a:p>
          <a:p>
            <a:r>
              <a:rPr lang="en-US" sz="2000" err="1">
                <a:latin typeface="CordiaUPC"/>
                <a:cs typeface="CordiaUPC"/>
              </a:rPr>
              <a:t>ตรวจสอบยอดเงินประกันรายได้</a:t>
            </a:r>
            <a:r>
              <a:rPr lang="en-US" sz="2000">
                <a:latin typeface="CordiaUPC"/>
                <a:cs typeface="CordiaUPC"/>
              </a:rPr>
              <a:t> </a:t>
            </a:r>
            <a:r>
              <a:rPr lang="en-US" sz="2000" err="1">
                <a:latin typeface="CordiaUPC"/>
                <a:cs typeface="CordiaUPC"/>
              </a:rPr>
              <a:t>หลัง</a:t>
            </a:r>
            <a:r>
              <a:rPr lang="en-US" sz="2000">
                <a:latin typeface="CordiaUPC"/>
                <a:cs typeface="CordiaUPC"/>
              </a:rPr>
              <a:t> Approve </a:t>
            </a:r>
            <a:r>
              <a:rPr lang="en-US" sz="2000" err="1">
                <a:latin typeface="CordiaUPC"/>
                <a:cs typeface="CordiaUPC"/>
              </a:rPr>
              <a:t>เปิดเรื่องชดเชยรายได้</a:t>
            </a:r>
            <a:r>
              <a:rPr lang="en-US" sz="2000">
                <a:latin typeface="CordiaUPC"/>
                <a:cs typeface="CordiaUPC"/>
              </a:rPr>
              <a:t> </a:t>
            </a:r>
          </a:p>
          <a:p>
            <a:pPr marL="457200" indent="-457200">
              <a:buAutoNum type="arabicPeriod"/>
            </a:pPr>
            <a:r>
              <a:rPr lang="en-US" sz="2000" b="0" err="1">
                <a:latin typeface="CordiaUPC"/>
                <a:cs typeface="CordiaUPC"/>
              </a:rPr>
              <a:t>ผู้บริหาร</a:t>
            </a:r>
            <a:r>
              <a:rPr lang="en-US" sz="2000" b="0">
                <a:latin typeface="CordiaUPC"/>
                <a:cs typeface="CordiaUPC"/>
              </a:rPr>
              <a:t> SBP </a:t>
            </a:r>
            <a:r>
              <a:rPr lang="en-US" sz="2000" b="0" err="1">
                <a:latin typeface="CordiaUPC"/>
                <a:cs typeface="CordiaUPC"/>
              </a:rPr>
              <a:t>ส่งต่อมอบหมายงาน</a:t>
            </a:r>
            <a:r>
              <a:rPr lang="en-US" sz="2000" b="0">
                <a:latin typeface="CordiaUPC"/>
                <a:cs typeface="CordiaUPC"/>
              </a:rPr>
              <a:t> </a:t>
            </a:r>
          </a:p>
          <a:p>
            <a:pPr marL="457200" indent="-457200">
              <a:buAutoNum type="arabicPeriod"/>
            </a:pPr>
            <a:r>
              <a:rPr lang="en-US" sz="2000" b="0" err="1">
                <a:latin typeface="CordiaUPC"/>
                <a:cs typeface="CordiaUPC"/>
              </a:rPr>
              <a:t>ทีมวิเคราะห์</a:t>
            </a:r>
            <a:r>
              <a:rPr lang="en-US" sz="2000" b="0">
                <a:latin typeface="CordiaUPC"/>
                <a:cs typeface="CordiaUPC"/>
              </a:rPr>
              <a:t> SBP </a:t>
            </a:r>
            <a:r>
              <a:rPr lang="en-US" sz="2000" b="0" err="1">
                <a:latin typeface="CordiaUPC"/>
                <a:cs typeface="CordiaUPC"/>
              </a:rPr>
              <a:t>ตรวจสอบและคำนวณยอดเงินชดเชยรายได้</a:t>
            </a:r>
            <a:r>
              <a:rPr lang="en-US" sz="2000" b="0">
                <a:latin typeface="CordiaUPC"/>
                <a:cs typeface="CordiaUPC"/>
              </a:rPr>
              <a:t> 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000" b="0" err="1">
                <a:latin typeface="CordiaUPC"/>
                <a:cs typeface="CordiaUPC"/>
              </a:rPr>
              <a:t>แก้ไขยอดเงินชดเชยประกันรายได้</a:t>
            </a:r>
            <a:r>
              <a:rPr lang="en-US" sz="2000" b="0">
                <a:latin typeface="CordiaUPC"/>
                <a:cs typeface="CordiaUPC"/>
              </a:rPr>
              <a:t> </a:t>
            </a:r>
          </a:p>
          <a:p>
            <a:pPr marL="457200" indent="-457200">
              <a:buAutoNum type="arabicPeriod"/>
            </a:pPr>
            <a:r>
              <a:rPr lang="en-US" sz="2000" b="0" err="1">
                <a:latin typeface="CordiaUPC"/>
                <a:cs typeface="CordiaUPC"/>
              </a:rPr>
              <a:t>ผู้บริหาร</a:t>
            </a:r>
            <a:r>
              <a:rPr lang="en-US" sz="2000" b="0">
                <a:latin typeface="CordiaUPC"/>
                <a:cs typeface="CordiaUPC"/>
              </a:rPr>
              <a:t> SBP </a:t>
            </a:r>
            <a:r>
              <a:rPr lang="en-US" sz="2000" b="0" err="1">
                <a:latin typeface="CordiaUPC"/>
                <a:cs typeface="CordiaUPC"/>
              </a:rPr>
              <a:t>ได้รับยอดเงิน</a:t>
            </a:r>
            <a:r>
              <a:rPr lang="en-US" sz="2000" b="0">
                <a:latin typeface="CordiaUPC"/>
                <a:cs typeface="CordiaUPC"/>
              </a:rPr>
              <a:t> </a:t>
            </a:r>
            <a:r>
              <a:rPr lang="en-US" sz="2000" b="0" err="1">
                <a:latin typeface="CordiaUPC"/>
                <a:cs typeface="CordiaUPC"/>
              </a:rPr>
              <a:t>และส่งต่อยอดเงิน</a:t>
            </a:r>
            <a:r>
              <a:rPr lang="en-US" sz="2000" b="0">
                <a:latin typeface="CordiaUPC"/>
                <a:cs typeface="CordiaUPC"/>
              </a:rPr>
              <a:t> </a:t>
            </a:r>
          </a:p>
          <a:p>
            <a:pPr marL="457200" indent="-457200">
              <a:buAutoNum type="arabicPeriod"/>
            </a:pPr>
            <a:r>
              <a:rPr lang="en-US" sz="2000" b="0" err="1">
                <a:latin typeface="CordiaUPC"/>
                <a:cs typeface="CordiaUPC"/>
              </a:rPr>
              <a:t>ฝ่ายส่งเสริม</a:t>
            </a:r>
            <a:r>
              <a:rPr lang="en-US" sz="2000" b="0">
                <a:latin typeface="CordiaUPC"/>
                <a:cs typeface="CordiaUPC"/>
              </a:rPr>
              <a:t> </a:t>
            </a:r>
            <a:r>
              <a:rPr lang="en-US" sz="2000" b="0" err="1">
                <a:latin typeface="CordiaUPC"/>
                <a:cs typeface="CordiaUPC"/>
              </a:rPr>
              <a:t>ตรวจสอบ</a:t>
            </a:r>
            <a:r>
              <a:rPr lang="en-US" sz="2000" b="0">
                <a:latin typeface="CordiaUPC"/>
                <a:cs typeface="CordiaUPC"/>
              </a:rPr>
              <a:t> 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000" b="0">
                <a:latin typeface="CordiaUPC"/>
                <a:cs typeface="CordiaUPC"/>
              </a:rPr>
              <a:t>Approve --&gt; </a:t>
            </a:r>
            <a:r>
              <a:rPr lang="en-US" sz="2000" b="0" err="1">
                <a:latin typeface="CordiaUPC"/>
                <a:cs typeface="CordiaUPC"/>
              </a:rPr>
              <a:t>ส่งต่อ</a:t>
            </a:r>
            <a:r>
              <a:rPr lang="en-US" sz="2000" b="0">
                <a:latin typeface="CordiaUPC"/>
                <a:cs typeface="CordiaUPC"/>
              </a:rPr>
              <a:t> GM </a:t>
            </a:r>
            <a:r>
              <a:rPr lang="en-US" sz="2000" b="0" err="1">
                <a:latin typeface="CordiaUPC"/>
                <a:cs typeface="CordiaUPC"/>
              </a:rPr>
              <a:t>ส่งเสริม</a:t>
            </a:r>
            <a:r>
              <a:rPr lang="en-US" sz="2000" b="0">
                <a:latin typeface="CordiaUPC"/>
                <a:cs typeface="CordiaUPC"/>
              </a:rPr>
              <a:t> 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000" b="0">
                <a:latin typeface="CordiaUPC"/>
                <a:cs typeface="CordiaUPC"/>
              </a:rPr>
              <a:t>Reject --&gt; </a:t>
            </a:r>
            <a:r>
              <a:rPr lang="en-US" sz="2000" b="0" err="1">
                <a:latin typeface="CordiaUPC"/>
                <a:cs typeface="CordiaUPC"/>
              </a:rPr>
              <a:t>ตีกลับ</a:t>
            </a:r>
            <a:r>
              <a:rPr lang="en-US" sz="2000" b="0">
                <a:latin typeface="CordiaUPC"/>
                <a:cs typeface="CordiaUPC"/>
              </a:rPr>
              <a:t> </a:t>
            </a:r>
            <a:r>
              <a:rPr lang="en-US" sz="2000" b="0" err="1">
                <a:latin typeface="CordiaUPC"/>
                <a:cs typeface="CordiaUPC"/>
              </a:rPr>
              <a:t>ผู้บริหาร</a:t>
            </a:r>
            <a:r>
              <a:rPr lang="en-US" sz="2000" b="0">
                <a:latin typeface="CordiaUPC"/>
                <a:cs typeface="CordiaUPC"/>
              </a:rPr>
              <a:t> SBP --&gt; </a:t>
            </a:r>
            <a:r>
              <a:rPr lang="en-US" sz="2000" b="0" err="1">
                <a:latin typeface="CordiaUPC"/>
                <a:cs typeface="CordiaUPC"/>
              </a:rPr>
              <a:t>จบ</a:t>
            </a:r>
            <a:r>
              <a:rPr lang="en-US" sz="2000" b="0">
                <a:latin typeface="CordiaUPC"/>
                <a:cs typeface="CordiaUPC"/>
              </a:rPr>
              <a:t> Flow </a:t>
            </a:r>
          </a:p>
          <a:p>
            <a:pPr marL="457200" indent="-457200">
              <a:buAutoNum type="arabicPeriod"/>
            </a:pPr>
            <a:r>
              <a:rPr lang="en-US" sz="2000" b="0">
                <a:latin typeface="CordiaUPC"/>
                <a:cs typeface="CordiaUPC"/>
              </a:rPr>
              <a:t>GM </a:t>
            </a:r>
            <a:r>
              <a:rPr lang="en-US" sz="2000" b="0" err="1">
                <a:latin typeface="CordiaUPC"/>
                <a:cs typeface="CordiaUPC"/>
              </a:rPr>
              <a:t>ส่งเสริม</a:t>
            </a:r>
            <a:r>
              <a:rPr lang="en-US" sz="2000" b="0">
                <a:latin typeface="CordiaUPC"/>
                <a:cs typeface="CordiaUPC"/>
              </a:rPr>
              <a:t> 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000" b="0">
                <a:latin typeface="CordiaUPC"/>
                <a:cs typeface="CordiaUPC"/>
              </a:rPr>
              <a:t>Approve --&gt; </a:t>
            </a:r>
            <a:r>
              <a:rPr lang="en-US" sz="2000" b="0" err="1">
                <a:latin typeface="CordiaUPC"/>
                <a:cs typeface="CordiaUPC"/>
              </a:rPr>
              <a:t>ส่งต่อบัญชี</a:t>
            </a:r>
            <a:r>
              <a:rPr lang="en-US" sz="2000" b="0">
                <a:latin typeface="CordiaUPC"/>
                <a:cs typeface="CordiaUPC"/>
              </a:rPr>
              <a:t> 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000" b="0">
                <a:latin typeface="CordiaUPC"/>
                <a:cs typeface="CordiaUPC"/>
              </a:rPr>
              <a:t>Reject --&gt; </a:t>
            </a:r>
            <a:r>
              <a:rPr lang="en-US" sz="2000" b="0" err="1">
                <a:latin typeface="CordiaUPC"/>
                <a:cs typeface="CordiaUPC"/>
              </a:rPr>
              <a:t>ตีกลับให้</a:t>
            </a:r>
            <a:r>
              <a:rPr lang="en-US" sz="2000" b="0">
                <a:latin typeface="CordiaUPC"/>
                <a:cs typeface="CordiaUPC"/>
              </a:rPr>
              <a:t> </a:t>
            </a:r>
            <a:r>
              <a:rPr lang="en-US" sz="2000" b="0" err="1">
                <a:latin typeface="CordiaUPC"/>
                <a:cs typeface="CordiaUPC"/>
              </a:rPr>
              <a:t>่ฝ่ายส่งเสริม</a:t>
            </a:r>
            <a:r>
              <a:rPr lang="en-US" sz="2000" b="0">
                <a:latin typeface="CordiaUPC"/>
                <a:cs typeface="CordiaUPC"/>
              </a:rPr>
              <a:t> </a:t>
            </a:r>
          </a:p>
          <a:p>
            <a:pPr marL="457200" indent="-457200">
              <a:buAutoNum type="arabicPeriod"/>
            </a:pPr>
            <a:r>
              <a:rPr lang="en-US" sz="2000" b="0" err="1">
                <a:latin typeface="CordiaUPC"/>
                <a:cs typeface="CordiaUPC"/>
              </a:rPr>
              <a:t>บัญชี</a:t>
            </a:r>
            <a:r>
              <a:rPr lang="en-US" sz="2000" b="0">
                <a:latin typeface="CordiaUPC"/>
                <a:cs typeface="CordiaUPC"/>
              </a:rPr>
              <a:t> </a:t>
            </a:r>
            <a:r>
              <a:rPr lang="en-US" sz="2000" b="0" err="1">
                <a:latin typeface="CordiaUPC"/>
                <a:cs typeface="CordiaUPC"/>
              </a:rPr>
              <a:t>ตรวจสอบ</a:t>
            </a:r>
            <a:r>
              <a:rPr lang="en-US" sz="2000" b="0">
                <a:latin typeface="CordiaUPC"/>
                <a:cs typeface="CordiaUPC"/>
              </a:rPr>
              <a:t> </a:t>
            </a:r>
          </a:p>
          <a:p>
            <a:r>
              <a:rPr lang="en-US" sz="2000" b="0">
                <a:latin typeface="CordiaUPC"/>
                <a:cs typeface="CordiaUPC"/>
              </a:rPr>
              <a:t>Approve --&gt; </a:t>
            </a:r>
            <a:r>
              <a:rPr lang="en-US" sz="2000" b="0" err="1">
                <a:latin typeface="CordiaUPC"/>
                <a:cs typeface="CordiaUPC"/>
              </a:rPr>
              <a:t>จบ</a:t>
            </a:r>
            <a:r>
              <a:rPr lang="en-US" sz="2000" b="0">
                <a:latin typeface="CordiaUPC"/>
                <a:cs typeface="CordiaUPC"/>
              </a:rPr>
              <a:t> Flow </a:t>
            </a:r>
          </a:p>
          <a:p>
            <a:pPr>
              <a:lnSpc>
                <a:spcPts val="1650"/>
              </a:lnSpc>
            </a:pPr>
            <a:r>
              <a:rPr lang="en-US" sz="2000" b="0">
                <a:latin typeface="CordiaUPC"/>
                <a:cs typeface="CordiaUPC"/>
              </a:rPr>
              <a:t>Reject --&gt; </a:t>
            </a:r>
            <a:r>
              <a:rPr lang="en-US" sz="2000" b="0" err="1">
                <a:latin typeface="CordiaUPC"/>
                <a:cs typeface="CordiaUPC"/>
              </a:rPr>
              <a:t>ตีกลับให้</a:t>
            </a:r>
            <a:r>
              <a:rPr lang="en-US" sz="2000" b="0">
                <a:latin typeface="CordiaUPC"/>
                <a:cs typeface="CordiaUPC"/>
              </a:rPr>
              <a:t> </a:t>
            </a:r>
            <a:r>
              <a:rPr lang="en-US" sz="2000" b="0" err="1">
                <a:latin typeface="CordiaUPC"/>
                <a:cs typeface="CordiaUPC"/>
              </a:rPr>
              <a:t>ทีมทีมวิเคราะห์</a:t>
            </a:r>
            <a:r>
              <a:rPr lang="en-US" sz="2000" b="0">
                <a:latin typeface="CordiaUPC"/>
                <a:cs typeface="CordiaUPC"/>
              </a:rPr>
              <a:t> ?? (</a:t>
            </a:r>
            <a:r>
              <a:rPr lang="en-US" sz="2000" b="0" err="1">
                <a:latin typeface="CordiaUPC"/>
                <a:cs typeface="CordiaUPC"/>
              </a:rPr>
              <a:t>น่าจะตีกลับไปยังส่งเสริม</a:t>
            </a:r>
            <a:r>
              <a:rPr lang="en-US" sz="2000" b="0">
                <a:latin typeface="CordiaUPC"/>
                <a:cs typeface="CordiaUPC"/>
              </a:rPr>
              <a:t> </a:t>
            </a:r>
            <a:r>
              <a:rPr lang="en-US" sz="2000" b="0" err="1">
                <a:latin typeface="CordiaUPC"/>
                <a:cs typeface="CordiaUPC"/>
              </a:rPr>
              <a:t>รบกวนตรวจสอบพี่ปูเป้อีกครั้ง</a:t>
            </a:r>
            <a:r>
              <a:rPr lang="en-US" sz="2000" b="0">
                <a:latin typeface="CordiaUPC"/>
                <a:cs typeface="CordiaUPC"/>
              </a:rPr>
              <a:t>)</a:t>
            </a:r>
            <a:endParaRPr lang="en-US" sz="2000"/>
          </a:p>
          <a:p>
            <a:pPr algn="ctr"/>
            <a:endParaRPr lang="th-TH" sz="2400" b="0">
              <a:latin typeface="CordiaUPC"/>
              <a:cs typeface="CordiaUPC"/>
            </a:endParaRPr>
          </a:p>
        </p:txBody>
      </p:sp>
    </p:spTree>
    <p:extLst>
      <p:ext uri="{BB962C8B-B14F-4D97-AF65-F5344CB8AC3E}">
        <p14:creationId xmlns:p14="http://schemas.microsoft.com/office/powerpoint/2010/main" val="2043719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F8800-A025-62AD-327D-CBDBE0B71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246F325-FD01-6758-4F91-BA351B0C4170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1091022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วงเงินการ Approve ค่าใช้จ่ายระบบชดเชยประกันรายได้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graphicFrame>
        <p:nvGraphicFramePr>
          <p:cNvPr id="5" name="ตาราง 4">
            <a:extLst>
              <a:ext uri="{FF2B5EF4-FFF2-40B4-BE49-F238E27FC236}">
                <a16:creationId xmlns:a16="http://schemas.microsoft.com/office/drawing/2014/main" id="{F9B0F644-43BC-8117-7F54-01E668D69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035084"/>
              </p:ext>
            </p:extLst>
          </p:nvPr>
        </p:nvGraphicFramePr>
        <p:xfrm>
          <a:off x="1098469" y="1399238"/>
          <a:ext cx="9753599" cy="137160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1288472">
                  <a:extLst>
                    <a:ext uri="{9D8B030D-6E8A-4147-A177-3AD203B41FA5}">
                      <a16:colId xmlns:a16="http://schemas.microsoft.com/office/drawing/2014/main" val="3510736362"/>
                    </a:ext>
                  </a:extLst>
                </a:gridCol>
                <a:gridCol w="5999018">
                  <a:extLst>
                    <a:ext uri="{9D8B030D-6E8A-4147-A177-3AD203B41FA5}">
                      <a16:colId xmlns:a16="http://schemas.microsoft.com/office/drawing/2014/main" val="2830422358"/>
                    </a:ext>
                  </a:extLst>
                </a:gridCol>
                <a:gridCol w="2466109">
                  <a:extLst>
                    <a:ext uri="{9D8B030D-6E8A-4147-A177-3AD203B41FA5}">
                      <a16:colId xmlns:a16="http://schemas.microsoft.com/office/drawing/2014/main" val="2915401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h-TH" sz="2400" b="1">
                          <a:effectLst/>
                          <a:latin typeface="Browallia New"/>
                          <a:cs typeface="Browallia New"/>
                        </a:rPr>
                        <a:t>ตำแหน่งย่อ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h-TH" sz="2400" b="1">
                          <a:effectLst/>
                          <a:latin typeface="Browallia New"/>
                          <a:cs typeface="Browallia New"/>
                        </a:rPr>
                        <a:t>ระดับของผู้ได้รับมอบอำนาจ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h-TH" sz="2400" b="1">
                          <a:effectLst/>
                          <a:latin typeface="Browallia New"/>
                          <a:cs typeface="Browallia New"/>
                        </a:rPr>
                        <a:t>วงเงินอนุมัติ/รายการ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9722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2400">
                          <a:effectLst/>
                          <a:latin typeface="Browallia New"/>
                        </a:rPr>
                        <a:t>GM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 sz="2400">
                          <a:effectLst/>
                          <a:latin typeface="Browallia New"/>
                          <a:cs typeface="Browallia New"/>
                        </a:rPr>
                        <a:t>ผู้จัดการทั่วไป รองผู้จัดการทั่วไป ผู้ช่วยผู้จัดการทั่วไป หรือเทียบเท่า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h-TH" sz="2400">
                          <a:effectLst/>
                          <a:latin typeface="Browallia New"/>
                          <a:cs typeface="Browallia New"/>
                        </a:rPr>
                        <a:t>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5531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2400">
                          <a:effectLst/>
                          <a:latin typeface="Browallia New"/>
                        </a:rPr>
                        <a:t>AVP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 sz="2400">
                          <a:effectLst/>
                          <a:latin typeface="Browallia New"/>
                          <a:cs typeface="Browallia New"/>
                        </a:rPr>
                        <a:t>ผู้ช่วยกรรมการผู้จัดการ หรือเทียบเท่า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h-TH" sz="2400">
                          <a:effectLst/>
                          <a:latin typeface="Browallia New"/>
                          <a:cs typeface="Browallia New"/>
                        </a:rPr>
                        <a:t>300,000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1387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4955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DAB45-AAF1-2138-129D-07027CD28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DE1C213-A6C5-168A-FC04-E9BD95A01DA6}"/>
              </a:ext>
            </a:extLst>
          </p:cNvPr>
          <p:cNvSpPr txBox="1">
            <a:spLocks/>
          </p:cNvSpPr>
          <p:nvPr/>
        </p:nvSpPr>
        <p:spPr bwMode="auto">
          <a:xfrm>
            <a:off x="4136700" y="2284587"/>
            <a:ext cx="3933319" cy="77787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A3EDE7-BCA4-5A8A-06CF-C70C0D6F582F}"/>
              </a:ext>
            </a:extLst>
          </p:cNvPr>
          <p:cNvSpPr txBox="1"/>
          <p:nvPr/>
        </p:nvSpPr>
        <p:spPr>
          <a:xfrm>
            <a:off x="3751448" y="3200785"/>
            <a:ext cx="4687291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400">
                <a:latin typeface="BrowalliaUPC"/>
                <a:cs typeface="BrowalliaUPC"/>
              </a:rPr>
              <a:t>แก้ไขระบบการสร้างเอกสารชดเชยรายได้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969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9EDAB45-AAF1-2138-129D-07027CD28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FCFB762-66B7-8460-3ACA-9C6E4DBF7E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4831" y="130606"/>
            <a:ext cx="8958722" cy="641123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B197A309-124C-EE2A-263D-2B0DB6153F98}"/>
              </a:ext>
            </a:extLst>
          </p:cNvPr>
          <p:cNvSpPr txBox="1"/>
          <p:nvPr/>
        </p:nvSpPr>
        <p:spPr>
          <a:xfrm>
            <a:off x="6774493" y="109603"/>
            <a:ext cx="6096000" cy="6924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hlinkClick r:id="rId5"/>
              </a:rPr>
              <a:t>กระบวนการชดเชยรายได้-กระบวนการชดเชยรายได้ 27112025 AS-Is.svg</a:t>
            </a:r>
            <a:endParaRPr lang="en-US" sz="1400">
              <a:ea typeface="Tahoma"/>
            </a:endParaRPr>
          </a:p>
          <a:p>
            <a:pPr algn="ctr"/>
            <a:endParaRPr lang="en-US"/>
          </a:p>
        </p:txBody>
      </p:sp>
      <p:grpSp>
        <p:nvGrpSpPr>
          <p:cNvPr id="10" name="Group 5">
            <a:extLst>
              <a:ext uri="{FF2B5EF4-FFF2-40B4-BE49-F238E27FC236}">
                <a16:creationId xmlns:a16="http://schemas.microsoft.com/office/drawing/2014/main" id="{67BD4CA7-7E5E-4A44-4F04-B3D53D1BEA6E}"/>
              </a:ext>
            </a:extLst>
          </p:cNvPr>
          <p:cNvGrpSpPr/>
          <p:nvPr/>
        </p:nvGrpSpPr>
        <p:grpSpPr>
          <a:xfrm>
            <a:off x="1333273" y="1028939"/>
            <a:ext cx="2446294" cy="2086862"/>
            <a:chOff x="1333273" y="1028939"/>
            <a:chExt cx="2446294" cy="2086862"/>
          </a:xfrm>
        </p:grpSpPr>
        <p:sp>
          <p:nvSpPr>
            <p:cNvPr id="31" name="Rectangle: Rounded Corners 1">
              <a:extLst>
                <a:ext uri="{FF2B5EF4-FFF2-40B4-BE49-F238E27FC236}">
                  <a16:creationId xmlns:a16="http://schemas.microsoft.com/office/drawing/2014/main" id="{C0BB4ABE-661A-9D5A-F358-A702BA8EFA8B}"/>
                </a:ext>
              </a:extLst>
            </p:cNvPr>
            <p:cNvSpPr/>
            <p:nvPr/>
          </p:nvSpPr>
          <p:spPr>
            <a:xfrm>
              <a:off x="1333273" y="1028939"/>
              <a:ext cx="2159323" cy="2086862"/>
            </a:xfrm>
            <a:prstGeom prst="round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TextBox 2">
              <a:extLst>
                <a:ext uri="{FF2B5EF4-FFF2-40B4-BE49-F238E27FC236}">
                  <a16:creationId xmlns:a16="http://schemas.microsoft.com/office/drawing/2014/main" id="{2BE6E541-F178-9625-3415-943EC1F4E1A5}"/>
                </a:ext>
              </a:extLst>
            </p:cNvPr>
            <p:cNvSpPr txBox="1"/>
            <p:nvPr/>
          </p:nvSpPr>
          <p:spPr>
            <a:xfrm>
              <a:off x="2614768" y="1114763"/>
              <a:ext cx="11647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</a:rPr>
                <a:t>Step 0</a:t>
              </a:r>
            </a:p>
          </p:txBody>
        </p:sp>
      </p:grpSp>
      <p:grpSp>
        <p:nvGrpSpPr>
          <p:cNvPr id="11" name="Group 6">
            <a:extLst>
              <a:ext uri="{FF2B5EF4-FFF2-40B4-BE49-F238E27FC236}">
                <a16:creationId xmlns:a16="http://schemas.microsoft.com/office/drawing/2014/main" id="{A3C63369-1B82-6A3F-F159-A821801750EE}"/>
              </a:ext>
            </a:extLst>
          </p:cNvPr>
          <p:cNvGrpSpPr/>
          <p:nvPr/>
        </p:nvGrpSpPr>
        <p:grpSpPr>
          <a:xfrm>
            <a:off x="2022372" y="5028020"/>
            <a:ext cx="4304517" cy="1515364"/>
            <a:chOff x="2095944" y="5028020"/>
            <a:chExt cx="2159323" cy="2086862"/>
          </a:xfrm>
        </p:grpSpPr>
        <p:sp>
          <p:nvSpPr>
            <p:cNvPr id="29" name="Rectangle: Rounded Corners 7">
              <a:extLst>
                <a:ext uri="{FF2B5EF4-FFF2-40B4-BE49-F238E27FC236}">
                  <a16:creationId xmlns:a16="http://schemas.microsoft.com/office/drawing/2014/main" id="{E6CDD45E-520C-5689-C426-8AD735516362}"/>
                </a:ext>
              </a:extLst>
            </p:cNvPr>
            <p:cNvSpPr/>
            <p:nvPr/>
          </p:nvSpPr>
          <p:spPr>
            <a:xfrm>
              <a:off x="2095944" y="5028020"/>
              <a:ext cx="2159323" cy="2086862"/>
            </a:xfrm>
            <a:prstGeom prst="roundRect">
              <a:avLst/>
            </a:pr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6D8CFE0C-11C1-560E-BFE4-09F9C629AD73}"/>
                </a:ext>
              </a:extLst>
            </p:cNvPr>
            <p:cNvSpPr txBox="1"/>
            <p:nvPr/>
          </p:nvSpPr>
          <p:spPr>
            <a:xfrm>
              <a:off x="2596548" y="5990904"/>
              <a:ext cx="697077" cy="508620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800">
                  <a:solidFill>
                    <a:srgbClr val="FFC000"/>
                  </a:solidFill>
                </a:rPr>
                <a:t>Step 1.1</a:t>
              </a:r>
            </a:p>
          </p:txBody>
        </p:sp>
      </p:grpSp>
      <p:grpSp>
        <p:nvGrpSpPr>
          <p:cNvPr id="12" name="Group 9">
            <a:extLst>
              <a:ext uri="{FF2B5EF4-FFF2-40B4-BE49-F238E27FC236}">
                <a16:creationId xmlns:a16="http://schemas.microsoft.com/office/drawing/2014/main" id="{FD1BC232-02F6-DC73-279F-C2CF1C8E7CBB}"/>
              </a:ext>
            </a:extLst>
          </p:cNvPr>
          <p:cNvGrpSpPr/>
          <p:nvPr/>
        </p:nvGrpSpPr>
        <p:grpSpPr>
          <a:xfrm>
            <a:off x="1917610" y="3784211"/>
            <a:ext cx="1886605" cy="1150930"/>
            <a:chOff x="2222410" y="3784211"/>
            <a:chExt cx="2159323" cy="2086862"/>
          </a:xfrm>
        </p:grpSpPr>
        <p:sp>
          <p:nvSpPr>
            <p:cNvPr id="27" name="Rectangle: Rounded Corners 10">
              <a:extLst>
                <a:ext uri="{FF2B5EF4-FFF2-40B4-BE49-F238E27FC236}">
                  <a16:creationId xmlns:a16="http://schemas.microsoft.com/office/drawing/2014/main" id="{3E61E249-4033-3F2F-B3C4-43D013D613EE}"/>
                </a:ext>
              </a:extLst>
            </p:cNvPr>
            <p:cNvSpPr/>
            <p:nvPr/>
          </p:nvSpPr>
          <p:spPr>
            <a:xfrm>
              <a:off x="2222410" y="3784211"/>
              <a:ext cx="2159323" cy="2086862"/>
            </a:xfrm>
            <a:prstGeom prst="roundRect">
              <a:avLst/>
            </a:pr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FC000"/>
                </a:solidFill>
              </a:endParaRPr>
            </a:p>
          </p:txBody>
        </p:sp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63D362CC-3FFA-254A-4AEA-603884C5BDD9}"/>
                </a:ext>
              </a:extLst>
            </p:cNvPr>
            <p:cNvSpPr txBox="1"/>
            <p:nvPr/>
          </p:nvSpPr>
          <p:spPr>
            <a:xfrm>
              <a:off x="3503905" y="3875291"/>
              <a:ext cx="875765" cy="474350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>
                  <a:solidFill>
                    <a:srgbClr val="FFC000"/>
                  </a:solidFill>
                </a:rPr>
                <a:t>Step 1.0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199FFCA-756D-AC1E-DD3D-8A37807EFE7F}"/>
              </a:ext>
            </a:extLst>
          </p:cNvPr>
          <p:cNvGrpSpPr/>
          <p:nvPr/>
        </p:nvGrpSpPr>
        <p:grpSpPr>
          <a:xfrm>
            <a:off x="4886748" y="1391175"/>
            <a:ext cx="1357871" cy="801033"/>
            <a:chOff x="4886748" y="1391175"/>
            <a:chExt cx="2159323" cy="2086862"/>
          </a:xfrm>
        </p:grpSpPr>
        <p:sp>
          <p:nvSpPr>
            <p:cNvPr id="25" name="Rectangle: Rounded Corners 13">
              <a:extLst>
                <a:ext uri="{FF2B5EF4-FFF2-40B4-BE49-F238E27FC236}">
                  <a16:creationId xmlns:a16="http://schemas.microsoft.com/office/drawing/2014/main" id="{B0FC75A5-493A-DAF5-0BFB-04CC849843B1}"/>
                </a:ext>
              </a:extLst>
            </p:cNvPr>
            <p:cNvSpPr/>
            <p:nvPr/>
          </p:nvSpPr>
          <p:spPr>
            <a:xfrm>
              <a:off x="4886748" y="1391175"/>
              <a:ext cx="2159323" cy="2086862"/>
            </a:xfrm>
            <a:prstGeom prst="round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TextBox 14">
              <a:extLst>
                <a:ext uri="{FF2B5EF4-FFF2-40B4-BE49-F238E27FC236}">
                  <a16:creationId xmlns:a16="http://schemas.microsoft.com/office/drawing/2014/main" id="{577F3A8E-1B1C-0B4A-1409-386BC56B976D}"/>
                </a:ext>
              </a:extLst>
            </p:cNvPr>
            <p:cNvSpPr txBox="1"/>
            <p:nvPr/>
          </p:nvSpPr>
          <p:spPr>
            <a:xfrm>
              <a:off x="5797299" y="1401226"/>
              <a:ext cx="1246708" cy="681550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>
                  <a:solidFill>
                    <a:schemeClr val="accent6"/>
                  </a:solidFill>
                </a:rPr>
                <a:t>Step 2.0</a:t>
              </a:r>
            </a:p>
          </p:txBody>
        </p:sp>
      </p:grpSp>
      <p:grpSp>
        <p:nvGrpSpPr>
          <p:cNvPr id="14" name="Group 15">
            <a:extLst>
              <a:ext uri="{FF2B5EF4-FFF2-40B4-BE49-F238E27FC236}">
                <a16:creationId xmlns:a16="http://schemas.microsoft.com/office/drawing/2014/main" id="{57A4FC6A-2261-6A31-D8BA-0F46896B95C9}"/>
              </a:ext>
            </a:extLst>
          </p:cNvPr>
          <p:cNvGrpSpPr/>
          <p:nvPr/>
        </p:nvGrpSpPr>
        <p:grpSpPr>
          <a:xfrm>
            <a:off x="5591369" y="2277584"/>
            <a:ext cx="1474741" cy="803982"/>
            <a:chOff x="5617645" y="2277584"/>
            <a:chExt cx="2452082" cy="2086862"/>
          </a:xfrm>
        </p:grpSpPr>
        <p:sp>
          <p:nvSpPr>
            <p:cNvPr id="23" name="Rectangle: Rounded Corners 16">
              <a:extLst>
                <a:ext uri="{FF2B5EF4-FFF2-40B4-BE49-F238E27FC236}">
                  <a16:creationId xmlns:a16="http://schemas.microsoft.com/office/drawing/2014/main" id="{8D7C44A0-295B-9197-87BD-7F1452EF3DC5}"/>
                </a:ext>
              </a:extLst>
            </p:cNvPr>
            <p:cNvSpPr/>
            <p:nvPr/>
          </p:nvSpPr>
          <p:spPr>
            <a:xfrm>
              <a:off x="5617645" y="2277584"/>
              <a:ext cx="2159323" cy="2086862"/>
            </a:xfrm>
            <a:prstGeom prst="round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TextBox 17">
              <a:extLst>
                <a:ext uri="{FF2B5EF4-FFF2-40B4-BE49-F238E27FC236}">
                  <a16:creationId xmlns:a16="http://schemas.microsoft.com/office/drawing/2014/main" id="{9960DD47-B1F8-2F60-B0C7-EB461B6B426C}"/>
                </a:ext>
              </a:extLst>
            </p:cNvPr>
            <p:cNvSpPr txBox="1"/>
            <p:nvPr/>
          </p:nvSpPr>
          <p:spPr>
            <a:xfrm>
              <a:off x="6573114" y="2285205"/>
              <a:ext cx="1496613" cy="679050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>
                  <a:solidFill>
                    <a:schemeClr val="accent6"/>
                  </a:solidFill>
                </a:rPr>
                <a:t>Step 2.1</a:t>
              </a:r>
            </a:p>
          </p:txBody>
        </p:sp>
      </p:grpSp>
      <p:sp>
        <p:nvSpPr>
          <p:cNvPr id="15" name="TextBox 18">
            <a:extLst>
              <a:ext uri="{FF2B5EF4-FFF2-40B4-BE49-F238E27FC236}">
                <a16:creationId xmlns:a16="http://schemas.microsoft.com/office/drawing/2014/main" id="{73B4D24A-3B4D-A798-1CE1-3502378110DC}"/>
              </a:ext>
            </a:extLst>
          </p:cNvPr>
          <p:cNvSpPr txBox="1"/>
          <p:nvPr/>
        </p:nvSpPr>
        <p:spPr>
          <a:xfrm>
            <a:off x="6773408" y="4583999"/>
            <a:ext cx="2337453" cy="25391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err="1">
                <a:solidFill>
                  <a:srgbClr val="FF0000"/>
                </a:solidFill>
              </a:rPr>
              <a:t>เปลี่ยนยอดเงิน</a:t>
            </a:r>
            <a:r>
              <a:rPr lang="en-US" sz="1050">
                <a:solidFill>
                  <a:srgbClr val="FF0000"/>
                </a:solidFill>
              </a:rPr>
              <a:t> </a:t>
            </a:r>
            <a:r>
              <a:rPr lang="en-US" sz="1050" err="1">
                <a:solidFill>
                  <a:srgbClr val="FF0000"/>
                </a:solidFill>
              </a:rPr>
              <a:t>โดยพิจารณาจาก</a:t>
            </a:r>
            <a:r>
              <a:rPr lang="en-US" sz="1050">
                <a:solidFill>
                  <a:srgbClr val="FF0000"/>
                </a:solidFill>
              </a:rPr>
              <a:t>??</a:t>
            </a:r>
          </a:p>
        </p:txBody>
      </p:sp>
      <p:grpSp>
        <p:nvGrpSpPr>
          <p:cNvPr id="16" name="Group 19">
            <a:extLst>
              <a:ext uri="{FF2B5EF4-FFF2-40B4-BE49-F238E27FC236}">
                <a16:creationId xmlns:a16="http://schemas.microsoft.com/office/drawing/2014/main" id="{491981E4-88F0-19B8-0629-09235730997C}"/>
              </a:ext>
            </a:extLst>
          </p:cNvPr>
          <p:cNvGrpSpPr/>
          <p:nvPr/>
        </p:nvGrpSpPr>
        <p:grpSpPr>
          <a:xfrm>
            <a:off x="5097275" y="4255784"/>
            <a:ext cx="1462346" cy="597633"/>
            <a:chOff x="5077144" y="4191211"/>
            <a:chExt cx="2326682" cy="2147211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383EF27B-5266-08D8-A4FB-E4FFF0F9E309}"/>
                </a:ext>
              </a:extLst>
            </p:cNvPr>
            <p:cNvSpPr/>
            <p:nvPr/>
          </p:nvSpPr>
          <p:spPr>
            <a:xfrm>
              <a:off x="5244503" y="4251560"/>
              <a:ext cx="2159323" cy="2086862"/>
            </a:xfrm>
            <a:prstGeom prst="roundRect">
              <a:avLst/>
            </a:pr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4360C56-B3E7-27BF-77EC-60BA1BB1F674}"/>
                </a:ext>
              </a:extLst>
            </p:cNvPr>
            <p:cNvSpPr txBox="1"/>
            <p:nvPr/>
          </p:nvSpPr>
          <p:spPr>
            <a:xfrm>
              <a:off x="5077144" y="4191211"/>
              <a:ext cx="1063251" cy="829347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>
                  <a:solidFill>
                    <a:srgbClr val="FFC000"/>
                  </a:solidFill>
                </a:rPr>
                <a:t>Step 1.2</a:t>
              </a:r>
            </a:p>
          </p:txBody>
        </p:sp>
      </p:grpSp>
      <p:sp>
        <p:nvSpPr>
          <p:cNvPr id="17" name="Rectangle: Rounded Corners 23">
            <a:extLst>
              <a:ext uri="{FF2B5EF4-FFF2-40B4-BE49-F238E27FC236}">
                <a16:creationId xmlns:a16="http://schemas.microsoft.com/office/drawing/2014/main" id="{08D6DC1F-33A5-46AE-53CE-A5409782F425}"/>
              </a:ext>
            </a:extLst>
          </p:cNvPr>
          <p:cNvSpPr/>
          <p:nvPr/>
        </p:nvSpPr>
        <p:spPr>
          <a:xfrm>
            <a:off x="6496771" y="5209092"/>
            <a:ext cx="897084" cy="580836"/>
          </a:xfrm>
          <a:prstGeom prst="round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9030B5D5-1AA2-FFBC-9EC7-2428ED6DA795}"/>
              </a:ext>
            </a:extLst>
          </p:cNvPr>
          <p:cNvSpPr txBox="1"/>
          <p:nvPr/>
        </p:nvSpPr>
        <p:spPr>
          <a:xfrm>
            <a:off x="6735038" y="5677018"/>
            <a:ext cx="889900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rgbClr val="FFC000"/>
                </a:solidFill>
              </a:rPr>
              <a:t>Step 1.3</a:t>
            </a:r>
          </a:p>
        </p:txBody>
      </p:sp>
      <p:sp>
        <p:nvSpPr>
          <p:cNvPr id="19" name="Rectangle: Rounded Corners 28">
            <a:extLst>
              <a:ext uri="{FF2B5EF4-FFF2-40B4-BE49-F238E27FC236}">
                <a16:creationId xmlns:a16="http://schemas.microsoft.com/office/drawing/2014/main" id="{DB211740-37B0-D713-EE7E-FB281B579FF1}"/>
              </a:ext>
            </a:extLst>
          </p:cNvPr>
          <p:cNvSpPr/>
          <p:nvPr/>
        </p:nvSpPr>
        <p:spPr>
          <a:xfrm>
            <a:off x="5617644" y="3117006"/>
            <a:ext cx="4467743" cy="1042573"/>
          </a:xfrm>
          <a:prstGeom prst="round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TextBox 30">
            <a:extLst>
              <a:ext uri="{FF2B5EF4-FFF2-40B4-BE49-F238E27FC236}">
                <a16:creationId xmlns:a16="http://schemas.microsoft.com/office/drawing/2014/main" id="{8FB734DB-80E0-48B1-D790-EB969600E698}"/>
              </a:ext>
            </a:extLst>
          </p:cNvPr>
          <p:cNvSpPr txBox="1"/>
          <p:nvPr/>
        </p:nvSpPr>
        <p:spPr>
          <a:xfrm>
            <a:off x="9393871" y="3690916"/>
            <a:ext cx="783911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accent5"/>
                </a:solidFill>
              </a:rPr>
              <a:t>Step 3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DE1C213-A6C5-168A-FC04-E9BD95A01DA6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</p:spTree>
    <p:extLst>
      <p:ext uri="{BB962C8B-B14F-4D97-AF65-F5344CB8AC3E}">
        <p14:creationId xmlns:p14="http://schemas.microsoft.com/office/powerpoint/2010/main" val="3677627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60D68-45C4-F0E3-3FC1-8C0636D3E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4C74F1A-60E8-E64E-E2F7-7439BF45D27D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pic>
        <p:nvPicPr>
          <p:cNvPr id="2" name="กราฟิก 1">
            <a:extLst>
              <a:ext uri="{FF2B5EF4-FFF2-40B4-BE49-F238E27FC236}">
                <a16:creationId xmlns:a16="http://schemas.microsoft.com/office/drawing/2014/main" id="{19DF35EB-72ED-0C24-4893-75D11FE1E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35565" y="859436"/>
            <a:ext cx="6933361" cy="6001062"/>
          </a:xfrm>
          <a:prstGeom prst="rect">
            <a:avLst/>
          </a:prstGeom>
        </p:spPr>
      </p:pic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31188138-C78F-BFD1-6A5C-84D22695CC91}"/>
              </a:ext>
            </a:extLst>
          </p:cNvPr>
          <p:cNvSpPr txBox="1"/>
          <p:nvPr/>
        </p:nvSpPr>
        <p:spPr>
          <a:xfrm>
            <a:off x="9144000" y="131164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5"/>
              </a:rPr>
              <a:t>กระบวนการชดเชยรายได้ 09012026.svg</a:t>
            </a:r>
            <a:endParaRPr lang="en-US"/>
          </a:p>
          <a:p>
            <a:pPr algn="ctr"/>
            <a:endParaRPr lang="th-TH"/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FA8A7BB8-9048-8563-9FC1-8EAB9B08889A}"/>
              </a:ext>
            </a:extLst>
          </p:cNvPr>
          <p:cNvGrpSpPr/>
          <p:nvPr/>
        </p:nvGrpSpPr>
        <p:grpSpPr>
          <a:xfrm>
            <a:off x="2541962" y="1543945"/>
            <a:ext cx="1825337" cy="1587621"/>
            <a:chOff x="1333273" y="1028939"/>
            <a:chExt cx="2159323" cy="2086862"/>
          </a:xfrm>
        </p:grpSpPr>
        <p:sp>
          <p:nvSpPr>
            <p:cNvPr id="6" name="Rectangle: Rounded Corners 1">
              <a:extLst>
                <a:ext uri="{FF2B5EF4-FFF2-40B4-BE49-F238E27FC236}">
                  <a16:creationId xmlns:a16="http://schemas.microsoft.com/office/drawing/2014/main" id="{2190595C-9AF7-B424-82CE-2B30FC97DA5F}"/>
                </a:ext>
              </a:extLst>
            </p:cNvPr>
            <p:cNvSpPr/>
            <p:nvPr/>
          </p:nvSpPr>
          <p:spPr>
            <a:xfrm>
              <a:off x="1333273" y="1028939"/>
              <a:ext cx="2159323" cy="208686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" name="TextBox 2">
              <a:extLst>
                <a:ext uri="{FF2B5EF4-FFF2-40B4-BE49-F238E27FC236}">
                  <a16:creationId xmlns:a16="http://schemas.microsoft.com/office/drawing/2014/main" id="{634C9F3D-E04C-A29D-1FDC-DF6F3FE81619}"/>
                </a:ext>
              </a:extLst>
            </p:cNvPr>
            <p:cNvSpPr txBox="1"/>
            <p:nvPr/>
          </p:nvSpPr>
          <p:spPr>
            <a:xfrm>
              <a:off x="1607659" y="1087131"/>
              <a:ext cx="1164799" cy="364104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>
                  <a:solidFill>
                    <a:srgbClr val="FF0000"/>
                  </a:solidFill>
                </a:rPr>
                <a:t>Step 0</a:t>
              </a:r>
            </a:p>
          </p:txBody>
        </p:sp>
      </p:grpSp>
      <p:grpSp>
        <p:nvGrpSpPr>
          <p:cNvPr id="12" name="Group 9">
            <a:extLst>
              <a:ext uri="{FF2B5EF4-FFF2-40B4-BE49-F238E27FC236}">
                <a16:creationId xmlns:a16="http://schemas.microsoft.com/office/drawing/2014/main" id="{AD99A0C9-D079-1965-CF86-5D174DC97BBC}"/>
              </a:ext>
            </a:extLst>
          </p:cNvPr>
          <p:cNvGrpSpPr/>
          <p:nvPr/>
        </p:nvGrpSpPr>
        <p:grpSpPr>
          <a:xfrm>
            <a:off x="2800479" y="3857783"/>
            <a:ext cx="1749971" cy="751538"/>
            <a:chOff x="2222410" y="3784211"/>
            <a:chExt cx="2159323" cy="2086862"/>
          </a:xfrm>
        </p:grpSpPr>
        <p:sp>
          <p:nvSpPr>
            <p:cNvPr id="10" name="Rectangle: Rounded Corners 10">
              <a:extLst>
                <a:ext uri="{FF2B5EF4-FFF2-40B4-BE49-F238E27FC236}">
                  <a16:creationId xmlns:a16="http://schemas.microsoft.com/office/drawing/2014/main" id="{8357473E-EF11-CDA9-15BA-49945FBAF62F}"/>
                </a:ext>
              </a:extLst>
            </p:cNvPr>
            <p:cNvSpPr/>
            <p:nvPr/>
          </p:nvSpPr>
          <p:spPr>
            <a:xfrm>
              <a:off x="2222410" y="3784211"/>
              <a:ext cx="2159323" cy="2086862"/>
            </a:xfrm>
            <a:prstGeom prst="roundRect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FC000"/>
                </a:solidFill>
                <a:ea typeface="Tahoma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AD63DD2E-40B0-46AF-02FA-4F6C6839CC00}"/>
                </a:ext>
              </a:extLst>
            </p:cNvPr>
            <p:cNvSpPr txBox="1"/>
            <p:nvPr/>
          </p:nvSpPr>
          <p:spPr>
            <a:xfrm>
              <a:off x="2965696" y="4882173"/>
              <a:ext cx="1413975" cy="726436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>
                  <a:solidFill>
                    <a:srgbClr val="FFC000"/>
                  </a:solidFill>
                </a:rPr>
                <a:t>Step 1.0</a:t>
              </a:r>
              <a:endParaRPr lang="en-US" sz="1050">
                <a:solidFill>
                  <a:srgbClr val="FFC000"/>
                </a:solidFill>
                <a:ea typeface="Tahoma"/>
              </a:endParaRPr>
            </a:p>
          </p:txBody>
        </p:sp>
      </p:grpSp>
      <p:grpSp>
        <p:nvGrpSpPr>
          <p:cNvPr id="16" name="Group 6">
            <a:extLst>
              <a:ext uri="{FF2B5EF4-FFF2-40B4-BE49-F238E27FC236}">
                <a16:creationId xmlns:a16="http://schemas.microsoft.com/office/drawing/2014/main" id="{597DC44E-2BE7-DAC2-328E-AA10476917AA}"/>
              </a:ext>
            </a:extLst>
          </p:cNvPr>
          <p:cNvGrpSpPr/>
          <p:nvPr/>
        </p:nvGrpSpPr>
        <p:grpSpPr>
          <a:xfrm>
            <a:off x="2805392" y="4686436"/>
            <a:ext cx="3705427" cy="2151239"/>
            <a:chOff x="2095944" y="5028020"/>
            <a:chExt cx="2159323" cy="2086862"/>
          </a:xfrm>
        </p:grpSpPr>
        <p:sp>
          <p:nvSpPr>
            <p:cNvPr id="14" name="Rectangle: Rounded Corners 7">
              <a:extLst>
                <a:ext uri="{FF2B5EF4-FFF2-40B4-BE49-F238E27FC236}">
                  <a16:creationId xmlns:a16="http://schemas.microsoft.com/office/drawing/2014/main" id="{5A4841D7-EAAF-EC7A-5DCC-7D8E8F418EF0}"/>
                </a:ext>
              </a:extLst>
            </p:cNvPr>
            <p:cNvSpPr/>
            <p:nvPr/>
          </p:nvSpPr>
          <p:spPr>
            <a:xfrm>
              <a:off x="2095944" y="5028020"/>
              <a:ext cx="2159323" cy="2086862"/>
            </a:xfrm>
            <a:prstGeom prst="roundRect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5" name="TextBox 8">
              <a:extLst>
                <a:ext uri="{FF2B5EF4-FFF2-40B4-BE49-F238E27FC236}">
                  <a16:creationId xmlns:a16="http://schemas.microsoft.com/office/drawing/2014/main" id="{B4FC80A1-F0AC-A4A6-E1F8-083A791D8649}"/>
                </a:ext>
              </a:extLst>
            </p:cNvPr>
            <p:cNvSpPr txBox="1"/>
            <p:nvPr/>
          </p:nvSpPr>
          <p:spPr>
            <a:xfrm>
              <a:off x="2596548" y="5990904"/>
              <a:ext cx="697077" cy="257996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>
                  <a:solidFill>
                    <a:srgbClr val="FFC000"/>
                  </a:solidFill>
                </a:rPr>
                <a:t>Step 1.1</a:t>
              </a:r>
            </a:p>
          </p:txBody>
        </p:sp>
      </p:grpSp>
      <p:grpSp>
        <p:nvGrpSpPr>
          <p:cNvPr id="20" name="Group 12">
            <a:extLst>
              <a:ext uri="{FF2B5EF4-FFF2-40B4-BE49-F238E27FC236}">
                <a16:creationId xmlns:a16="http://schemas.microsoft.com/office/drawing/2014/main" id="{EF4B80C0-FB6B-E0EB-EB5A-654054402F2A}"/>
              </a:ext>
            </a:extLst>
          </p:cNvPr>
          <p:cNvGrpSpPr/>
          <p:nvPr/>
        </p:nvGrpSpPr>
        <p:grpSpPr>
          <a:xfrm>
            <a:off x="5548900" y="1727506"/>
            <a:ext cx="984754" cy="706439"/>
            <a:chOff x="4886748" y="1391175"/>
            <a:chExt cx="2159323" cy="2086862"/>
          </a:xfrm>
        </p:grpSpPr>
        <p:sp>
          <p:nvSpPr>
            <p:cNvPr id="18" name="Rectangle: Rounded Corners 13">
              <a:extLst>
                <a:ext uri="{FF2B5EF4-FFF2-40B4-BE49-F238E27FC236}">
                  <a16:creationId xmlns:a16="http://schemas.microsoft.com/office/drawing/2014/main" id="{ECF2A1EC-D8BA-D9D7-D5C6-F5030EB8A35B}"/>
                </a:ext>
              </a:extLst>
            </p:cNvPr>
            <p:cNvSpPr/>
            <p:nvPr/>
          </p:nvSpPr>
          <p:spPr>
            <a:xfrm>
              <a:off x="4886748" y="1391175"/>
              <a:ext cx="2159323" cy="2086862"/>
            </a:xfrm>
            <a:prstGeom prst="round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TextBox 14">
              <a:extLst>
                <a:ext uri="{FF2B5EF4-FFF2-40B4-BE49-F238E27FC236}">
                  <a16:creationId xmlns:a16="http://schemas.microsoft.com/office/drawing/2014/main" id="{720BAA01-2C26-47D4-23CD-EECC79030F26}"/>
                </a:ext>
              </a:extLst>
            </p:cNvPr>
            <p:cNvSpPr txBox="1"/>
            <p:nvPr/>
          </p:nvSpPr>
          <p:spPr>
            <a:xfrm>
              <a:off x="4939014" y="1465201"/>
              <a:ext cx="1961151" cy="772811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>
                  <a:solidFill>
                    <a:schemeClr val="accent6"/>
                  </a:solidFill>
                </a:rPr>
                <a:t>Step 2.0</a:t>
              </a:r>
            </a:p>
          </p:txBody>
        </p:sp>
      </p:grpSp>
      <p:grpSp>
        <p:nvGrpSpPr>
          <p:cNvPr id="25" name="Group 12">
            <a:extLst>
              <a:ext uri="{FF2B5EF4-FFF2-40B4-BE49-F238E27FC236}">
                <a16:creationId xmlns:a16="http://schemas.microsoft.com/office/drawing/2014/main" id="{AE12BD7E-1255-C05F-2056-B78635537E04}"/>
              </a:ext>
            </a:extLst>
          </p:cNvPr>
          <p:cNvGrpSpPr/>
          <p:nvPr/>
        </p:nvGrpSpPr>
        <p:grpSpPr>
          <a:xfrm>
            <a:off x="6105948" y="2415498"/>
            <a:ext cx="1206893" cy="622792"/>
            <a:chOff x="4886748" y="1238424"/>
            <a:chExt cx="2632372" cy="2239613"/>
          </a:xfrm>
        </p:grpSpPr>
        <p:sp>
          <p:nvSpPr>
            <p:cNvPr id="26" name="Rectangle: Rounded Corners 13">
              <a:extLst>
                <a:ext uri="{FF2B5EF4-FFF2-40B4-BE49-F238E27FC236}">
                  <a16:creationId xmlns:a16="http://schemas.microsoft.com/office/drawing/2014/main" id="{B8F434B0-9D87-1D54-9BA0-7483741AB6B0}"/>
                </a:ext>
              </a:extLst>
            </p:cNvPr>
            <p:cNvSpPr/>
            <p:nvPr/>
          </p:nvSpPr>
          <p:spPr>
            <a:xfrm>
              <a:off x="4886748" y="1391175"/>
              <a:ext cx="2159323" cy="2086862"/>
            </a:xfrm>
            <a:prstGeom prst="round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58EEC3EA-7C32-DDFF-29B5-276F12D55D4E}"/>
                </a:ext>
              </a:extLst>
            </p:cNvPr>
            <p:cNvSpPr txBox="1"/>
            <p:nvPr/>
          </p:nvSpPr>
          <p:spPr>
            <a:xfrm>
              <a:off x="5557969" y="1238424"/>
              <a:ext cx="1961151" cy="940772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>
                  <a:solidFill>
                    <a:schemeClr val="accent6"/>
                  </a:solidFill>
                </a:rPr>
                <a:t>Step 2.1</a:t>
              </a:r>
            </a:p>
          </p:txBody>
        </p:sp>
      </p:grp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CBACE43-DEFC-9A0A-8DB7-8AF32C7ED355}"/>
              </a:ext>
            </a:extLst>
          </p:cNvPr>
          <p:cNvSpPr/>
          <p:nvPr/>
        </p:nvSpPr>
        <p:spPr>
          <a:xfrm>
            <a:off x="5559838" y="3148537"/>
            <a:ext cx="4000032" cy="711498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9C3B40-CBC3-48B6-080C-AB14B591E462}"/>
              </a:ext>
            </a:extLst>
          </p:cNvPr>
          <p:cNvSpPr txBox="1"/>
          <p:nvPr/>
        </p:nvSpPr>
        <p:spPr>
          <a:xfrm>
            <a:off x="6314340" y="3407137"/>
            <a:ext cx="783911" cy="307777"/>
          </a:xfrm>
          <a:prstGeom prst="rect">
            <a:avLst/>
          </a:prstGeom>
          <a:noFill/>
          <a:ln w="28575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accent5"/>
                </a:solidFill>
              </a:rPr>
              <a:t>Step 3</a:t>
            </a:r>
          </a:p>
        </p:txBody>
      </p:sp>
      <p:grpSp>
        <p:nvGrpSpPr>
          <p:cNvPr id="32" name="Group 9">
            <a:extLst>
              <a:ext uri="{FF2B5EF4-FFF2-40B4-BE49-F238E27FC236}">
                <a16:creationId xmlns:a16="http://schemas.microsoft.com/office/drawing/2014/main" id="{039CCF7C-08A8-DAE2-781C-B799C991CE5C}"/>
              </a:ext>
            </a:extLst>
          </p:cNvPr>
          <p:cNvGrpSpPr/>
          <p:nvPr/>
        </p:nvGrpSpPr>
        <p:grpSpPr>
          <a:xfrm>
            <a:off x="5901029" y="3999672"/>
            <a:ext cx="1387364" cy="604394"/>
            <a:chOff x="2222410" y="3784211"/>
            <a:chExt cx="2159323" cy="2086862"/>
          </a:xfrm>
        </p:grpSpPr>
        <p:sp>
          <p:nvSpPr>
            <p:cNvPr id="33" name="Rectangle: Rounded Corners 10">
              <a:extLst>
                <a:ext uri="{FF2B5EF4-FFF2-40B4-BE49-F238E27FC236}">
                  <a16:creationId xmlns:a16="http://schemas.microsoft.com/office/drawing/2014/main" id="{83F009DC-D725-78A9-3B70-7DF9EFB5C823}"/>
                </a:ext>
              </a:extLst>
            </p:cNvPr>
            <p:cNvSpPr/>
            <p:nvPr/>
          </p:nvSpPr>
          <p:spPr>
            <a:xfrm>
              <a:off x="2222410" y="3784211"/>
              <a:ext cx="2159323" cy="2086862"/>
            </a:xfrm>
            <a:prstGeom prst="roundRect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FC000"/>
                </a:solidFill>
                <a:ea typeface="Tahoma"/>
              </a:endParaRPr>
            </a:p>
          </p:txBody>
        </p:sp>
        <p:sp>
          <p:nvSpPr>
            <p:cNvPr id="34" name="TextBox 11">
              <a:extLst>
                <a:ext uri="{FF2B5EF4-FFF2-40B4-BE49-F238E27FC236}">
                  <a16:creationId xmlns:a16="http://schemas.microsoft.com/office/drawing/2014/main" id="{9378F450-FDC5-089F-814B-ED82F15B2E54}"/>
                </a:ext>
              </a:extLst>
            </p:cNvPr>
            <p:cNvSpPr txBox="1"/>
            <p:nvPr/>
          </p:nvSpPr>
          <p:spPr>
            <a:xfrm>
              <a:off x="2965696" y="4882172"/>
              <a:ext cx="1413975" cy="876726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>
                  <a:solidFill>
                    <a:srgbClr val="FFC000"/>
                  </a:solidFill>
                </a:rPr>
                <a:t>Step 1.2</a:t>
              </a:r>
              <a:endParaRPr lang="en-US" sz="1050">
                <a:solidFill>
                  <a:srgbClr val="FFC000"/>
                </a:solidFill>
                <a:ea typeface="Tahoma"/>
              </a:endParaRPr>
            </a:p>
          </p:txBody>
        </p:sp>
      </p:grpSp>
      <p:grpSp>
        <p:nvGrpSpPr>
          <p:cNvPr id="35" name="Group 9">
            <a:extLst>
              <a:ext uri="{FF2B5EF4-FFF2-40B4-BE49-F238E27FC236}">
                <a16:creationId xmlns:a16="http://schemas.microsoft.com/office/drawing/2014/main" id="{479F11E5-E5DB-969D-941D-A41F02E3BFEA}"/>
              </a:ext>
            </a:extLst>
          </p:cNvPr>
          <p:cNvGrpSpPr/>
          <p:nvPr/>
        </p:nvGrpSpPr>
        <p:grpSpPr>
          <a:xfrm>
            <a:off x="6594711" y="5061216"/>
            <a:ext cx="1387364" cy="604394"/>
            <a:chOff x="2222410" y="3784211"/>
            <a:chExt cx="2159323" cy="2086862"/>
          </a:xfrm>
        </p:grpSpPr>
        <p:sp>
          <p:nvSpPr>
            <p:cNvPr id="36" name="Rectangle: Rounded Corners 10">
              <a:extLst>
                <a:ext uri="{FF2B5EF4-FFF2-40B4-BE49-F238E27FC236}">
                  <a16:creationId xmlns:a16="http://schemas.microsoft.com/office/drawing/2014/main" id="{D2B205AF-6856-7F72-3EAC-44D1F8BF50B7}"/>
                </a:ext>
              </a:extLst>
            </p:cNvPr>
            <p:cNvSpPr/>
            <p:nvPr/>
          </p:nvSpPr>
          <p:spPr>
            <a:xfrm>
              <a:off x="2222410" y="3784211"/>
              <a:ext cx="2159323" cy="2086862"/>
            </a:xfrm>
            <a:prstGeom prst="roundRect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FC000"/>
                </a:solidFill>
                <a:ea typeface="Tahoma"/>
              </a:endParaRPr>
            </a:p>
          </p:txBody>
        </p:sp>
        <p:sp>
          <p:nvSpPr>
            <p:cNvPr id="37" name="TextBox 11">
              <a:extLst>
                <a:ext uri="{FF2B5EF4-FFF2-40B4-BE49-F238E27FC236}">
                  <a16:creationId xmlns:a16="http://schemas.microsoft.com/office/drawing/2014/main" id="{DAECD265-1A89-9D17-69F5-1D19AB4A82BC}"/>
                </a:ext>
              </a:extLst>
            </p:cNvPr>
            <p:cNvSpPr txBox="1"/>
            <p:nvPr/>
          </p:nvSpPr>
          <p:spPr>
            <a:xfrm>
              <a:off x="2965696" y="4882172"/>
              <a:ext cx="1413975" cy="876726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th-TH"/>
              </a:defPPr>
              <a:lvl1pPr marL="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>
                  <a:solidFill>
                    <a:srgbClr val="FFC000"/>
                  </a:solidFill>
                </a:rPr>
                <a:t>Step 1.3</a:t>
              </a:r>
              <a:endParaRPr lang="en-US" sz="1050">
                <a:solidFill>
                  <a:srgbClr val="FFC000"/>
                </a:solidFill>
                <a:ea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1772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77042-15E5-4674-BE7B-EB12AE5AA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93807CB-A61B-6988-16A5-2D96F8751BBA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7" name="กล่องข้อความ 4">
            <a:extLst>
              <a:ext uri="{FF2B5EF4-FFF2-40B4-BE49-F238E27FC236}">
                <a16:creationId xmlns:a16="http://schemas.microsoft.com/office/drawing/2014/main" id="{8A549F89-B707-93C7-B9E9-5DE2C178E30B}"/>
              </a:ext>
            </a:extLst>
          </p:cNvPr>
          <p:cNvSpPr txBox="1"/>
          <p:nvPr/>
        </p:nvSpPr>
        <p:spPr>
          <a:xfrm>
            <a:off x="291306" y="1032669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 u="sng" err="1">
                <a:solidFill>
                  <a:schemeClr val="bg1"/>
                </a:solidFill>
                <a:latin typeface="Cordia New"/>
                <a:cs typeface="Cordia New"/>
              </a:rPr>
              <a:t>Step</a:t>
            </a:r>
            <a:r>
              <a:rPr lang="th-TH" sz="2400" b="1" u="sng">
                <a:solidFill>
                  <a:schemeClr val="bg1"/>
                </a:solidFill>
                <a:latin typeface="Cordia New"/>
                <a:cs typeface="Cordia New"/>
              </a:rPr>
              <a:t> 0 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ทีมวิเคราะห์ข้อมูล (SBP) : รวบรวมข้อมูลร้านที่ต้องชดเชยประกันรายได้</a:t>
            </a:r>
          </a:p>
        </p:txBody>
      </p:sp>
      <p:pic>
        <p:nvPicPr>
          <p:cNvPr id="8" name="รูปภาพ 7" descr="รูปภาพประกอบด้วย ข้อความ, ภาพหน้าจอ, ตัวอักษร, จำนวน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7B566BE3-5112-907D-D625-BFED94814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" y="3661749"/>
            <a:ext cx="12192000" cy="939440"/>
          </a:xfrm>
          <a:prstGeom prst="rect">
            <a:avLst/>
          </a:prstGeom>
        </p:spPr>
      </p:pic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03964D15-A65C-1026-B8F5-33CDF64862A6}"/>
              </a:ext>
            </a:extLst>
          </p:cNvPr>
          <p:cNvSpPr txBox="1"/>
          <p:nvPr/>
        </p:nvSpPr>
        <p:spPr>
          <a:xfrm>
            <a:off x="596142" y="1712593"/>
            <a:ext cx="783273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000">
                <a:latin typeface="Browallia New"/>
                <a:cs typeface="Browallia New"/>
              </a:rPr>
              <a:t>ข้อมูลร้านจาก 3 แหล่ง ดังนี้</a:t>
            </a:r>
          </a:p>
          <a:p>
            <a:pPr marL="342900" indent="-342900">
              <a:buAutoNum type="arabicPeriod"/>
            </a:pPr>
            <a:r>
              <a:rPr lang="th-TH" sz="2000">
                <a:latin typeface="Browallia New"/>
                <a:cs typeface="Browallia New"/>
              </a:rPr>
              <a:t>จากระบบ : ระบบดึงข้อมูลจาก </a:t>
            </a:r>
            <a:r>
              <a:rPr lang="th-TH" sz="2000" err="1">
                <a:latin typeface="Browallia New"/>
                <a:cs typeface="Browallia New"/>
              </a:rPr>
              <a:t>AllMap</a:t>
            </a:r>
            <a:endParaRPr lang="th-TH" sz="2000">
              <a:latin typeface="Browallia New"/>
              <a:cs typeface="Browallia New"/>
            </a:endParaRPr>
          </a:p>
          <a:p>
            <a:pPr marL="342900" indent="-342900">
              <a:buAutoNum type="arabicPeriod"/>
            </a:pPr>
            <a:r>
              <a:rPr lang="th-TH" sz="2000">
                <a:latin typeface="Browallia New"/>
                <a:cs typeface="Browallia New"/>
              </a:rPr>
              <a:t>เชิงรุก : ประชุมพิจารณาการชดเชยประกันรายได้</a:t>
            </a:r>
          </a:p>
          <a:p>
            <a:pPr marL="342900" indent="-342900">
              <a:buAutoNum type="arabicPeriod"/>
            </a:pPr>
            <a:r>
              <a:rPr lang="th-TH" sz="2000">
                <a:latin typeface="Browallia New"/>
                <a:cs typeface="Browallia New"/>
              </a:rPr>
              <a:t>เชิงรับ : รับแจ้งข้อมูลจากหน่วยงานอื่นๆ</a:t>
            </a:r>
          </a:p>
        </p:txBody>
      </p:sp>
      <p:pic>
        <p:nvPicPr>
          <p:cNvPr id="3" name="รูปภาพ 2" descr="รูปภาพประกอบด้วย ข้อความ, แผนภาพ, ไลน์, ภาพหน้าจอ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85D6A4DB-3FA2-DC13-B46D-04FB5AC3B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4683" y="336166"/>
            <a:ext cx="3505200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298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69AC8-AEC2-E5F1-6499-8F5EE3062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897A6C4-DD2B-2BCB-4032-7587D1CCD658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2" name="กล่องข้อความ 4">
            <a:extLst>
              <a:ext uri="{FF2B5EF4-FFF2-40B4-BE49-F238E27FC236}">
                <a16:creationId xmlns:a16="http://schemas.microsoft.com/office/drawing/2014/main" id="{24CBB8A6-12A3-91A7-7ADF-A0710286AD1D}"/>
              </a:ext>
            </a:extLst>
          </p:cNvPr>
          <p:cNvSpPr txBox="1"/>
          <p:nvPr/>
        </p:nvSpPr>
        <p:spPr>
          <a:xfrm>
            <a:off x="327025" y="889794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 u="sng" err="1">
                <a:solidFill>
                  <a:schemeClr val="bg1"/>
                </a:solidFill>
                <a:latin typeface="Cordia New"/>
                <a:cs typeface="Cordia New"/>
              </a:rPr>
              <a:t>Step</a:t>
            </a:r>
            <a:r>
              <a:rPr lang="th-TH" sz="2400" b="1" u="sng">
                <a:solidFill>
                  <a:schemeClr val="bg1"/>
                </a:solidFill>
                <a:latin typeface="Cordia New"/>
                <a:cs typeface="Cordia New"/>
              </a:rPr>
              <a:t> 1 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ทีมวิเคราะห์ข้อมูล (SBP) : สร้างเอกสารชดเชยประกันรายได้</a:t>
            </a: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15B6FC53-842E-7AAF-97A3-49E4A5CB03EC}"/>
              </a:ext>
            </a:extLst>
          </p:cNvPr>
          <p:cNvGrpSpPr/>
          <p:nvPr/>
        </p:nvGrpSpPr>
        <p:grpSpPr>
          <a:xfrm>
            <a:off x="1437753" y="2047068"/>
            <a:ext cx="8269124" cy="4329943"/>
            <a:chOff x="1425261" y="1722281"/>
            <a:chExt cx="5967047" cy="3322761"/>
          </a:xfrm>
        </p:grpSpPr>
        <p:pic>
          <p:nvPicPr>
            <p:cNvPr id="13" name="Picture 5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33C4DE76-5F43-F962-BE85-D6232DBA3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5261" y="1722281"/>
              <a:ext cx="5967047" cy="3322761"/>
            </a:xfrm>
            <a:prstGeom prst="rect">
              <a:avLst/>
            </a:prstGeom>
          </p:spPr>
        </p:pic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C69AB6B2-6B59-BC6C-ADDA-BBBEFEC6B158}"/>
                </a:ext>
              </a:extLst>
            </p:cNvPr>
            <p:cNvSpPr txBox="1"/>
            <p:nvPr/>
          </p:nvSpPr>
          <p:spPr>
            <a:xfrm>
              <a:off x="4335277" y="3283507"/>
              <a:ext cx="487492" cy="8863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5pPr>
              <a:lvl6pPr marL="22860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6pPr>
              <a:lvl7pPr marL="27432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7pPr>
              <a:lvl8pPr marL="32004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8pPr>
              <a:lvl9pPr marL="36576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9pPr>
            </a:lstStyle>
            <a:p>
              <a:pPr algn="l"/>
              <a:endParaRPr lang="en-US"/>
            </a:p>
          </p:txBody>
        </p:sp>
      </p:grp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7951D928-B158-7FDD-4EEF-2FFEC597F998}"/>
              </a:ext>
            </a:extLst>
          </p:cNvPr>
          <p:cNvSpPr/>
          <p:nvPr/>
        </p:nvSpPr>
        <p:spPr>
          <a:xfrm>
            <a:off x="-2256162" y="5211114"/>
            <a:ext cx="3322001" cy="16726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th-TH">
                <a:ea typeface="Tahoma"/>
              </a:rPr>
              <a:t>ดูหน้าจอตอนที่สร้างเอกสาร + ออกแบบหน้าจอ </a:t>
            </a:r>
            <a:r>
              <a:rPr lang="th-TH" err="1">
                <a:ea typeface="Tahoma"/>
              </a:rPr>
              <a:t>To</a:t>
            </a:r>
            <a:r>
              <a:rPr lang="th-TH">
                <a:ea typeface="Tahoma"/>
              </a:rPr>
              <a:t>-</a:t>
            </a:r>
            <a:r>
              <a:rPr lang="th-TH" err="1">
                <a:ea typeface="Tahoma"/>
              </a:rPr>
              <a:t>Be</a:t>
            </a:r>
            <a:r>
              <a:rPr lang="th-TH">
                <a:ea typeface="Tahoma"/>
              </a:rPr>
              <a:t> เพิ่มด้วย</a:t>
            </a:r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6B2DE41E-1150-3896-FAD9-41A269DD231A}"/>
              </a:ext>
            </a:extLst>
          </p:cNvPr>
          <p:cNvSpPr txBox="1"/>
          <p:nvPr/>
        </p:nvSpPr>
        <p:spPr>
          <a:xfrm>
            <a:off x="402090" y="1479694"/>
            <a:ext cx="691596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000">
                <a:latin typeface="Browallia New"/>
                <a:cs typeface="Browallia New"/>
              </a:rPr>
              <a:t>สร้างเอกสารกรอกข้อมูลร้านที่ต้องชดเชยรายได้่ จากข้อมูลเชิงรุกและเชิงรับ</a:t>
            </a:r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3B39CE94-229A-BB80-1D04-1C6998969368}"/>
              </a:ext>
            </a:extLst>
          </p:cNvPr>
          <p:cNvSpPr txBox="1"/>
          <p:nvPr/>
        </p:nvSpPr>
        <p:spPr>
          <a:xfrm>
            <a:off x="10393180" y="13116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4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  <p:pic>
        <p:nvPicPr>
          <p:cNvPr id="9" name="รูปภาพ 8" descr="รูปภาพประกอบด้วย ข้อความ, แผนภาพ, ไลน์, ตัวอักษร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864F85B0-1D55-5F03-6921-4E85112B9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4608" y="1045616"/>
            <a:ext cx="4095750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661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D75F1-64DA-DF7C-73BA-5BD1C4988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402849E-8065-91A2-7EEE-E3FD11BB7448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7" name="กล่องข้อความ 4">
            <a:extLst>
              <a:ext uri="{FF2B5EF4-FFF2-40B4-BE49-F238E27FC236}">
                <a16:creationId xmlns:a16="http://schemas.microsoft.com/office/drawing/2014/main" id="{F5B1D5EC-66C9-69C8-B1E5-312197DED1B9}"/>
              </a:ext>
            </a:extLst>
          </p:cNvPr>
          <p:cNvSpPr txBox="1"/>
          <p:nvPr/>
        </p:nvSpPr>
        <p:spPr>
          <a:xfrm>
            <a:off x="386556" y="806450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 u="sng" err="1">
                <a:solidFill>
                  <a:schemeClr val="bg1"/>
                </a:solidFill>
                <a:latin typeface="Cordia New"/>
                <a:cs typeface="Cordia New"/>
              </a:rPr>
              <a:t>Step</a:t>
            </a:r>
            <a:r>
              <a:rPr lang="th-TH" sz="2400" b="1" u="sng">
                <a:solidFill>
                  <a:schemeClr val="bg1"/>
                </a:solidFill>
                <a:latin typeface="Cordia New"/>
                <a:cs typeface="Cordia New"/>
              </a:rPr>
              <a:t> 1.1 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ฝ่าย SBP DSA : หน้าจอการ </a:t>
            </a:r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Approve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เปิดชดเชยรายได้ + </a:t>
            </a:r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Approve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ค่าใช้จ่าย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8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3535D9-1EE8-8D12-05A1-E81DFFF40F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31" b="61033"/>
          <a:stretch>
            <a:fillRect/>
          </a:stretch>
        </p:blipFill>
        <p:spPr>
          <a:xfrm>
            <a:off x="29555" y="1271789"/>
            <a:ext cx="8078074" cy="4625666"/>
          </a:xfrm>
          <a:prstGeom prst="rect">
            <a:avLst/>
          </a:prstGeom>
        </p:spPr>
      </p:pic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8AA1D012-9D64-888D-BDF9-CA2CBE6F7A4B}"/>
              </a:ext>
            </a:extLst>
          </p:cNvPr>
          <p:cNvSpPr txBox="1"/>
          <p:nvPr/>
        </p:nvSpPr>
        <p:spPr>
          <a:xfrm>
            <a:off x="8139577" y="1391898"/>
            <a:ext cx="3661297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th-TH" sz="2000" dirty="0">
                <a:latin typeface="Browallia New"/>
                <a:cs typeface="Browallia New"/>
              </a:rPr>
              <a:t>พิจารณาการเปิดเรื่องชดเชยรายได้ เพื่อ</a:t>
            </a:r>
            <a:r>
              <a:rPr lang="th-TH" sz="2000">
                <a:latin typeface="Browallia New"/>
                <a:cs typeface="Browallia New"/>
              </a:rPr>
              <a:t>ส่งกลับให้เจ้าหน้าที่ SBP DSA </a:t>
            </a:r>
            <a:r>
              <a:rPr lang="th-TH" sz="2000" dirty="0">
                <a:latin typeface="Browallia New"/>
                <a:cs typeface="Browallia New"/>
              </a:rPr>
              <a:t>ตรวจสอบแก้ไขยอดค่าใช้จ่าย</a:t>
            </a:r>
            <a:endParaRPr lang="th-TH" dirty="0"/>
          </a:p>
          <a:p>
            <a:pPr marL="457200" indent="-457200">
              <a:buAutoNum type="arabicPeriod"/>
            </a:pPr>
            <a:r>
              <a:rPr lang="th-TH" sz="2000">
                <a:latin typeface="Browallia New"/>
                <a:cs typeface="Browallia New"/>
              </a:rPr>
              <a:t>เจ้าหน้าที่ SBP DSA ส่งกลับให้ฝ่าย SBP DSA </a:t>
            </a:r>
            <a:r>
              <a:rPr lang="th-TH" sz="2000" dirty="0">
                <a:latin typeface="Browallia New"/>
                <a:cs typeface="Browallia New"/>
              </a:rPr>
              <a:t>พิจารณาเพื่อส่งต่อให้ทีมส่งเสริม</a:t>
            </a:r>
            <a:endParaRPr lang="th-TH" dirty="0"/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E0436565-4184-3F6C-2044-0FE53D6167B3}"/>
              </a:ext>
            </a:extLst>
          </p:cNvPr>
          <p:cNvSpPr txBox="1"/>
          <p:nvPr/>
        </p:nvSpPr>
        <p:spPr>
          <a:xfrm>
            <a:off x="10393180" y="13116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4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  <p:pic>
        <p:nvPicPr>
          <p:cNvPr id="3" name="รูปภาพ 2" descr="รูปภาพประกอบด้วย ข้อความ, แผนภาพ, ภาพหน้าจอ, ไลน์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62C840D8-8176-AE5D-CB96-EA85D9B838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9297" y="4322543"/>
            <a:ext cx="4458357" cy="253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705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1FA35-B874-1253-61F4-55F733D71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6EF047D-B466-9752-36DE-0ED261807675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2" name="กล่องข้อความ 4">
            <a:extLst>
              <a:ext uri="{FF2B5EF4-FFF2-40B4-BE49-F238E27FC236}">
                <a16:creationId xmlns:a16="http://schemas.microsoft.com/office/drawing/2014/main" id="{B09275C5-E8A4-F2C1-3109-CDDD0BA7E234}"/>
              </a:ext>
            </a:extLst>
          </p:cNvPr>
          <p:cNvSpPr txBox="1"/>
          <p:nvPr/>
        </p:nvSpPr>
        <p:spPr>
          <a:xfrm>
            <a:off x="279400" y="330200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 u="sng" err="1">
                <a:solidFill>
                  <a:schemeClr val="bg1"/>
                </a:solidFill>
                <a:latin typeface="Cordia New"/>
                <a:cs typeface="Cordia New"/>
              </a:rPr>
              <a:t>Step</a:t>
            </a:r>
            <a:r>
              <a:rPr lang="th-TH" sz="2400" b="1" u="sng">
                <a:solidFill>
                  <a:schemeClr val="bg1"/>
                </a:solidFill>
                <a:latin typeface="Cordia New"/>
                <a:cs typeface="Cordia New"/>
              </a:rPr>
              <a:t> 1.1 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ฝ่าย SBP DSA : หน้าจอการ </a:t>
            </a:r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Approve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เปิดชดเชยรายได้ + </a:t>
            </a:r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Approve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ค่าใช้จ่าย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A396CB-E24C-8E42-E7A6-6BE7EA0A09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456" r="186"/>
          <a:stretch>
            <a:fillRect/>
          </a:stretch>
        </p:blipFill>
        <p:spPr>
          <a:xfrm>
            <a:off x="1753904" y="929003"/>
            <a:ext cx="6680661" cy="6073767"/>
          </a:xfrm>
          <a:prstGeom prst="rect">
            <a:avLst/>
          </a:prstGeom>
        </p:spPr>
      </p:pic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684A5806-18C6-7C75-39D2-3B4A96E25A97}"/>
              </a:ext>
            </a:extLst>
          </p:cNvPr>
          <p:cNvSpPr txBox="1"/>
          <p:nvPr/>
        </p:nvSpPr>
        <p:spPr>
          <a:xfrm>
            <a:off x="10393180" y="13116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4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  <p:pic>
        <p:nvPicPr>
          <p:cNvPr id="8" name="รูปภาพ 7" descr="รูปภาพประกอบด้วย ข้อความ, แผนภาพ, ภาพหน้าจอ, ไลน์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44737EA9-EA72-4DD4-0700-3101094FA3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9297" y="4322543"/>
            <a:ext cx="4458357" cy="253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06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E69E4-1E13-D945-52CF-A11F1C3B8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7BB547E-7ECF-281E-E51F-877892656101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pic>
        <p:nvPicPr>
          <p:cNvPr id="5" name="รูปภาพ 4" descr="รูปภาพประกอบด้วย ข้อความ, อิเล็กทรอนิกส์, ภาพหน้าจอ, ซอฟต์แวร์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37D273D7-2397-B8A2-9DE4-122266E9A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90" y="1481947"/>
            <a:ext cx="8233318" cy="4172288"/>
          </a:xfrm>
          <a:prstGeom prst="rect">
            <a:avLst/>
          </a:prstGeom>
        </p:spPr>
      </p:pic>
      <p:sp>
        <p:nvSpPr>
          <p:cNvPr id="7" name="กล่องข้อความ 4">
            <a:extLst>
              <a:ext uri="{FF2B5EF4-FFF2-40B4-BE49-F238E27FC236}">
                <a16:creationId xmlns:a16="http://schemas.microsoft.com/office/drawing/2014/main" id="{7D624881-7A40-A468-79AB-C7644A1BE1EA}"/>
              </a:ext>
            </a:extLst>
          </p:cNvPr>
          <p:cNvSpPr txBox="1"/>
          <p:nvPr/>
        </p:nvSpPr>
        <p:spPr>
          <a:xfrm>
            <a:off x="338931" y="877887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 u="sng" err="1">
                <a:solidFill>
                  <a:schemeClr val="bg1"/>
                </a:solidFill>
                <a:latin typeface="Cordia New"/>
                <a:cs typeface="Cordia New"/>
              </a:rPr>
              <a:t>Step</a:t>
            </a:r>
            <a:r>
              <a:rPr lang="th-TH" sz="2400" b="1" u="sng">
                <a:solidFill>
                  <a:schemeClr val="bg1"/>
                </a:solidFill>
                <a:latin typeface="Cordia New"/>
                <a:cs typeface="Cordia New"/>
              </a:rPr>
              <a:t> 1.1 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ฝ่ายSBP DSA : หน้าจอการ </a:t>
            </a:r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Approve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เปิดชดเชยรายได้ + </a:t>
            </a:r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Approve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ค่าใช้จ่าย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กล่องข้อความ 5">
            <a:extLst>
              <a:ext uri="{FF2B5EF4-FFF2-40B4-BE49-F238E27FC236}">
                <a16:creationId xmlns:a16="http://schemas.microsoft.com/office/drawing/2014/main" id="{7502A45D-E3CE-6CF3-C1D8-10EE808BBC91}"/>
              </a:ext>
            </a:extLst>
          </p:cNvPr>
          <p:cNvSpPr txBox="1"/>
          <p:nvPr/>
        </p:nvSpPr>
        <p:spPr>
          <a:xfrm>
            <a:off x="5422395" y="4239923"/>
            <a:ext cx="6829136" cy="31700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000">
                <a:latin typeface="Cordia New"/>
                <a:cs typeface="Cordia New"/>
              </a:rPr>
              <a:t>สรุปปุ่มการใช้งานในปัจจุบัน ดังนี้</a:t>
            </a:r>
          </a:p>
          <a:p>
            <a:pPr marL="514350" indent="-514350">
              <a:buAutoNum type="arabicPeriod"/>
            </a:pPr>
            <a:r>
              <a:rPr lang="th-TH" sz="2000">
                <a:latin typeface="Cordia New"/>
                <a:cs typeface="Cordia New"/>
              </a:rPr>
              <a:t>ปุ่ม เห็นควรไม่ชดเชย : ไม่ชดเชยในรอบนี้ ระบบยังคงสามารถส่ง Flow ขอเปิดเรื่องในรอบถัดไปได้</a:t>
            </a:r>
          </a:p>
          <a:p>
            <a:pPr marL="514350" indent="-514350">
              <a:buAutoNum type="arabicPeriod"/>
            </a:pPr>
            <a:r>
              <a:rPr lang="th-TH" sz="2000">
                <a:latin typeface="Cordia New"/>
                <a:cs typeface="Cordia New"/>
              </a:rPr>
              <a:t>ปุ่ม หยุดชดเชยรายได้ : Reject (จบ Flow) </a:t>
            </a:r>
          </a:p>
          <a:p>
            <a:pPr marL="514350" indent="-514350">
              <a:buAutoNum type="arabicPeriod"/>
            </a:pPr>
            <a:r>
              <a:rPr lang="th-TH" sz="2000">
                <a:latin typeface="Cordia New"/>
                <a:cs typeface="Cordia New"/>
              </a:rPr>
              <a:t>ปุ่ม ฝ่ายส่งเสริมธุรกิจ SBP : ส่งต่อ Flow หลังทราบยอดเงินชดเชยรายได้จากเจ้าหน้าที่ SBP DSA ดำเนินการ</a:t>
            </a:r>
          </a:p>
          <a:p>
            <a:pPr marL="514350" indent="-514350">
              <a:buAutoNum type="arabicPeriod"/>
            </a:pPr>
            <a:r>
              <a:rPr lang="th-TH" sz="2000">
                <a:latin typeface="Cordia New"/>
                <a:cs typeface="Cordia New"/>
              </a:rPr>
              <a:t>ปุ่ม เจ้าหน้าที่ SBP DSA ดำเนินการ : Approve เพื่อเปิดเรื่อง + มอบหมายงานให้ เจ้าหน้าที่ SBP DSA ดำเนินการ</a:t>
            </a:r>
          </a:p>
          <a:p>
            <a:pPr marL="514350" indent="-514350">
              <a:buAutoNum type="arabicPeriod"/>
            </a:pPr>
            <a:endParaRPr lang="th-TH" sz="2000">
              <a:solidFill>
                <a:srgbClr val="FF0000"/>
              </a:solidFill>
              <a:latin typeface="Cordia New"/>
              <a:cs typeface="Cordia New"/>
            </a:endParaRPr>
          </a:p>
          <a:p>
            <a:r>
              <a:rPr lang="th-TH" sz="2000">
                <a:solidFill>
                  <a:srgbClr val="FF0000"/>
                </a:solidFill>
                <a:latin typeface="Cordia New"/>
                <a:cs typeface="Cordia New"/>
              </a:rPr>
              <a:t>หมายเหตุ : ปัจจุบันไม่มีการใช้ ปุ่ม ฝ่ายบัญชี SBP ดำเนินการ</a:t>
            </a: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777F2654-80DF-BEDF-ADEB-A1C2BE8F8AB0}"/>
              </a:ext>
            </a:extLst>
          </p:cNvPr>
          <p:cNvSpPr txBox="1"/>
          <p:nvPr/>
        </p:nvSpPr>
        <p:spPr>
          <a:xfrm>
            <a:off x="10393180" y="13116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4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  <p:pic>
        <p:nvPicPr>
          <p:cNvPr id="4" name="รูปภาพ 3" descr="รูปภาพประกอบด้วย ข้อความ, แผนภาพ, ภาพหน้าจอ, ไลน์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75372425-78A0-5A76-64EB-E6AA324917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2111" y="775302"/>
            <a:ext cx="4458357" cy="253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59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82F0D-572D-3E99-152D-B3AE2C8A1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2D6EF6C-D86D-489A-4BB3-60AF2AD33545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2" name="กล่องข้อความ 4">
            <a:extLst>
              <a:ext uri="{FF2B5EF4-FFF2-40B4-BE49-F238E27FC236}">
                <a16:creationId xmlns:a16="http://schemas.microsoft.com/office/drawing/2014/main" id="{4E748782-06B3-BC39-7FC8-E185262BEE76}"/>
              </a:ext>
            </a:extLst>
          </p:cNvPr>
          <p:cNvSpPr txBox="1"/>
          <p:nvPr/>
        </p:nvSpPr>
        <p:spPr>
          <a:xfrm>
            <a:off x="327025" y="830262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 dirty="0" err="1">
                <a:solidFill>
                  <a:schemeClr val="bg1"/>
                </a:solidFill>
                <a:latin typeface="Cordia New"/>
                <a:cs typeface="Cordia New"/>
              </a:rPr>
              <a:t>Step</a:t>
            </a:r>
            <a:r>
              <a:rPr lang="th-TH" sz="2400" b="1" dirty="0">
                <a:solidFill>
                  <a:schemeClr val="bg1"/>
                </a:solidFill>
                <a:latin typeface="Cordia New"/>
                <a:cs typeface="Cordia New"/>
              </a:rPr>
              <a:t> 1.2 </a:t>
            </a:r>
            <a:r>
              <a:rPr lang="th-TH" sz="2400" dirty="0">
                <a:solidFill>
                  <a:schemeClr val="bg1"/>
                </a:solidFill>
                <a:latin typeface="Cordia New"/>
                <a:cs typeface="Cordia New"/>
              </a:rPr>
              <a:t>เจ้าหน้าที่ SBP DSA</a:t>
            </a:r>
            <a:r>
              <a:rPr lang="th-TH" sz="2400" b="1" dirty="0">
                <a:solidFill>
                  <a:schemeClr val="bg1"/>
                </a:solidFill>
                <a:latin typeface="Cordia New"/>
                <a:cs typeface="Cordia New"/>
              </a:rPr>
              <a:t> :ตรวจสอบและแก้ไขยอดเงินชดเชย</a:t>
            </a:r>
          </a:p>
        </p:txBody>
      </p:sp>
      <p:pic>
        <p:nvPicPr>
          <p:cNvPr id="3" name="รูปภาพ 2" descr="รูปภาพประกอบด้วย ข้อความ, ภาพหน้าจอ, ซอฟต์แวร์, หน้าเว็บ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1B9EDA1F-C4E0-81BE-3CA0-E456FBF691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412" r="202" b="-235"/>
          <a:stretch>
            <a:fillRect/>
          </a:stretch>
        </p:blipFill>
        <p:spPr>
          <a:xfrm>
            <a:off x="1508217" y="1292478"/>
            <a:ext cx="9273299" cy="5028290"/>
          </a:xfrm>
          <a:prstGeom prst="rect">
            <a:avLst/>
          </a:prstGeom>
        </p:spPr>
      </p:pic>
      <p:pic>
        <p:nvPicPr>
          <p:cNvPr id="4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07ABBF-3BC3-9A1E-150C-205219FB7B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2" b="66163"/>
          <a:stretch>
            <a:fillRect/>
          </a:stretch>
        </p:blipFill>
        <p:spPr>
          <a:xfrm>
            <a:off x="1506190" y="4071221"/>
            <a:ext cx="9264446" cy="1171792"/>
          </a:xfrm>
          <a:prstGeom prst="rect">
            <a:avLst/>
          </a:prstGeom>
        </p:spPr>
      </p:pic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66A8E9DA-6B0F-934D-4493-7B2558E840C1}"/>
              </a:ext>
            </a:extLst>
          </p:cNvPr>
          <p:cNvSpPr txBox="1"/>
          <p:nvPr/>
        </p:nvSpPr>
        <p:spPr>
          <a:xfrm>
            <a:off x="10393180" y="13116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5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  <p:pic>
        <p:nvPicPr>
          <p:cNvPr id="5" name="รูปภาพ 4" descr="รูปภาพประกอบด้วย ข้อความ, ไลน์, ภาพหน้าจอ, แผนภาพ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0633EDF1-9756-C9DD-BF9D-B0BBC237C8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948" y="396437"/>
            <a:ext cx="297180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294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528A4-02F7-61C1-51E5-3ACADA57F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B10213-CB10-EE5B-D44D-752B9576E507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D7E11E2F-85AF-0F91-D6A9-43EB0663A091}"/>
              </a:ext>
            </a:extLst>
          </p:cNvPr>
          <p:cNvSpPr txBox="1"/>
          <p:nvPr/>
        </p:nvSpPr>
        <p:spPr>
          <a:xfrm>
            <a:off x="255588" y="830262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 u="sng" err="1">
                <a:solidFill>
                  <a:schemeClr val="bg1"/>
                </a:solidFill>
                <a:latin typeface="Cordia New"/>
                <a:cs typeface="Cordia New"/>
              </a:rPr>
              <a:t>Step</a:t>
            </a:r>
            <a:r>
              <a:rPr lang="th-TH" sz="2400" b="1" u="sng">
                <a:solidFill>
                  <a:schemeClr val="bg1"/>
                </a:solidFill>
                <a:latin typeface="Cordia New"/>
                <a:cs typeface="Cordia New"/>
              </a:rPr>
              <a:t> 1.3 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ผู้บริหาร SBP DSA : หน้าจอการ </a:t>
            </a:r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Approve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เปิดชดเชยรายได้ + </a:t>
            </a:r>
            <a:r>
              <a:rPr lang="th-TH" sz="2400" b="1" err="1">
                <a:solidFill>
                  <a:srgbClr val="FF0000"/>
                </a:solidFill>
                <a:latin typeface="Cordia New"/>
                <a:cs typeface="Cordia New"/>
              </a:rPr>
              <a:t>Approve</a:t>
            </a:r>
            <a:r>
              <a:rPr lang="th-TH" sz="2400" b="1">
                <a:solidFill>
                  <a:srgbClr val="FF0000"/>
                </a:solidFill>
                <a:latin typeface="Cordia New"/>
                <a:cs typeface="Cordia New"/>
              </a:rPr>
              <a:t> ค่าใช้จ่าย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7" name="รูปภาพ 6" descr="รูปภาพประกอบด้วย ข้อความ, อิเล็กทรอนิกส์, ภาพหน้าจอ, ซอฟต์แวร์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A1E64129-FA4A-6644-ADDC-CDB75B3D1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459" y="1513397"/>
            <a:ext cx="8233318" cy="4172288"/>
          </a:xfrm>
          <a:prstGeom prst="rect">
            <a:avLst/>
          </a:prstGeom>
        </p:spPr>
      </p:pic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ECD327FC-EC74-BCB8-B3DD-57DBC3B0AEF9}"/>
              </a:ext>
            </a:extLst>
          </p:cNvPr>
          <p:cNvSpPr txBox="1"/>
          <p:nvPr/>
        </p:nvSpPr>
        <p:spPr>
          <a:xfrm>
            <a:off x="10393180" y="13116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4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  <p:pic>
        <p:nvPicPr>
          <p:cNvPr id="2" name="รูปภาพ 1" descr="รูปภาพประกอบด้วย ข้อความ, แผนภาพ, ไลน์, ภาพหน้าจอ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CC771D89-8E8B-D886-8D32-7A4F7DC9A2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3944" y="828510"/>
            <a:ext cx="260985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69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1ED7D-4A8D-9A3A-B2C6-D6ABC7539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2F48E08-CD0F-426A-0D27-05A9574E9ED7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2" name="กล่องข้อความ 4">
            <a:extLst>
              <a:ext uri="{FF2B5EF4-FFF2-40B4-BE49-F238E27FC236}">
                <a16:creationId xmlns:a16="http://schemas.microsoft.com/office/drawing/2014/main" id="{4241BBAF-C250-F2F0-A89D-4E885F0EC5C3}"/>
              </a:ext>
            </a:extLst>
          </p:cNvPr>
          <p:cNvSpPr txBox="1"/>
          <p:nvPr/>
        </p:nvSpPr>
        <p:spPr>
          <a:xfrm>
            <a:off x="327025" y="818356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Step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2.0 ฝ่ายส่งเสริม : </a:t>
            </a:r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Approve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ค่าใช้จ่าย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0092C8-1888-7756-940E-94E8106FF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1831181"/>
            <a:ext cx="11182350" cy="4171950"/>
          </a:xfrm>
          <a:prstGeom prst="rect">
            <a:avLst/>
          </a:prstGeom>
        </p:spPr>
      </p:pic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9F856D63-2E96-E22F-046E-B973EDB82AB7}"/>
              </a:ext>
            </a:extLst>
          </p:cNvPr>
          <p:cNvSpPr txBox="1"/>
          <p:nvPr/>
        </p:nvSpPr>
        <p:spPr>
          <a:xfrm>
            <a:off x="10393180" y="13116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4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438672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D7870-2078-9098-0279-73A3B2597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B4A6D28-989A-E4E1-8B16-18B36EC43F81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6E87778B-AE19-3CA2-3C7B-18067F420DAF}"/>
              </a:ext>
            </a:extLst>
          </p:cNvPr>
          <p:cNvSpPr txBox="1"/>
          <p:nvPr/>
        </p:nvSpPr>
        <p:spPr>
          <a:xfrm>
            <a:off x="327025" y="901700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Step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2.1 GMส่งเสริม : </a:t>
            </a:r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Approve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ค่าใช้จ่าย</a:t>
            </a:r>
          </a:p>
        </p:txBody>
      </p:sp>
      <p:pic>
        <p:nvPicPr>
          <p:cNvPr id="7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4C51E1-6FCA-6331-26B6-751EC8F81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3" y="1786944"/>
            <a:ext cx="11172825" cy="4191000"/>
          </a:xfrm>
          <a:prstGeom prst="rect">
            <a:avLst/>
          </a:prstGeom>
        </p:spPr>
      </p:pic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24AA9052-EB7A-C8B1-68CC-649D7BD21E60}"/>
              </a:ext>
            </a:extLst>
          </p:cNvPr>
          <p:cNvSpPr txBox="1"/>
          <p:nvPr/>
        </p:nvSpPr>
        <p:spPr>
          <a:xfrm>
            <a:off x="10393180" y="13116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4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269717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9C0D2-078B-F9AB-C1FC-B24D6380F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99D7682-7B22-12DE-691F-DD6F746BB0DF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2" name="กล่องข้อความ 4">
            <a:extLst>
              <a:ext uri="{FF2B5EF4-FFF2-40B4-BE49-F238E27FC236}">
                <a16:creationId xmlns:a16="http://schemas.microsoft.com/office/drawing/2014/main" id="{0F4742C7-7D8B-D0D1-FC52-9CDEBD24DC11}"/>
              </a:ext>
            </a:extLst>
          </p:cNvPr>
          <p:cNvSpPr txBox="1"/>
          <p:nvPr/>
        </p:nvSpPr>
        <p:spPr>
          <a:xfrm>
            <a:off x="291306" y="818356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บัญชี : </a:t>
            </a:r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Approve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ค่าใช้จ่าย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60894821-D657-606C-ADC1-4B4E34E5763D}"/>
              </a:ext>
            </a:extLst>
          </p:cNvPr>
          <p:cNvSpPr/>
          <p:nvPr/>
        </p:nvSpPr>
        <p:spPr>
          <a:xfrm>
            <a:off x="437173" y="1622492"/>
            <a:ext cx="2805576" cy="369332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1800" u="sng">
                <a:solidFill>
                  <a:srgbClr val="00B050"/>
                </a:solidFill>
                <a:latin typeface="Tahoma"/>
                <a:ea typeface="Tahoma"/>
                <a:cs typeface="Tahoma"/>
              </a:rPr>
              <a:t>บัญชี</a:t>
            </a:r>
            <a:r>
              <a:rPr lang="th-TH" sz="1800" b="1" u="sng">
                <a:solidFill>
                  <a:srgbClr val="00B050"/>
                </a:solidFill>
                <a:latin typeface="Tahoma"/>
                <a:ea typeface="Tahoma"/>
                <a:cs typeface="Tahoma"/>
              </a:rPr>
              <a:t>ดำเนินการ</a:t>
            </a:r>
            <a:r>
              <a:rPr lang="th-TH" sz="1800" u="sng">
                <a:solidFill>
                  <a:srgbClr val="00B050"/>
                </a:solidFill>
                <a:latin typeface="Tahoma"/>
                <a:ea typeface="Tahoma"/>
                <a:cs typeface="Tahoma"/>
              </a:rPr>
              <a:t>ตรวจสอบ</a:t>
            </a:r>
            <a:endParaRPr lang="th-TH" sz="1800" b="1" u="sng">
              <a:solidFill>
                <a:srgbClr val="00B05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45AB3056-7D94-2A3D-D182-A92ED2240B2D}"/>
              </a:ext>
            </a:extLst>
          </p:cNvPr>
          <p:cNvSpPr/>
          <p:nvPr/>
        </p:nvSpPr>
        <p:spPr>
          <a:xfrm>
            <a:off x="1314724" y="3986493"/>
            <a:ext cx="5915765" cy="5084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Browallia New"/>
                <a:ea typeface="Tahoma"/>
                <a:cs typeface="Tahoma"/>
              </a:rPr>
              <a:t>1. </a:t>
            </a:r>
            <a:r>
              <a:rPr lang="th-TH" sz="1600">
                <a:latin typeface="Browallia New"/>
                <a:ea typeface="Tahoma"/>
                <a:cs typeface="Browallia New"/>
              </a:rPr>
              <a:t>ตรวจสอบยอดเงินคำนวณ 3 จุดตรงคำนวณตรงกัน</a:t>
            </a:r>
            <a:endParaRPr lang="en-US" sz="1600">
              <a:latin typeface="Browallia New"/>
              <a:ea typeface="Tahoma"/>
              <a:cs typeface="Browallia New"/>
            </a:endParaRPr>
          </a:p>
          <a:p>
            <a:r>
              <a:rPr lang="en-US" sz="1600">
                <a:latin typeface="Browallia New"/>
                <a:ea typeface="Tahoma"/>
                <a:cs typeface="Tahoma"/>
              </a:rPr>
              <a:t>2. </a:t>
            </a:r>
            <a:r>
              <a:rPr lang="th-TH" sz="1600">
                <a:latin typeface="Browallia New"/>
                <a:ea typeface="Tahoma"/>
                <a:cs typeface="Browallia New"/>
              </a:rPr>
              <a:t>ตรวจสอบ</a:t>
            </a:r>
            <a:r>
              <a:rPr lang="en-US" sz="1600">
                <a:latin typeface="Browallia New"/>
                <a:ea typeface="Tahoma"/>
                <a:cs typeface="Tahoma"/>
              </a:rPr>
              <a:t>Performance Index </a:t>
            </a:r>
            <a:r>
              <a:rPr lang="th-TH" sz="1600">
                <a:solidFill>
                  <a:srgbClr val="242424"/>
                </a:solidFill>
                <a:effectLst/>
                <a:latin typeface="Browallia New"/>
                <a:ea typeface="Tahoma"/>
                <a:cs typeface="Browallia New"/>
              </a:rPr>
              <a:t>ข้อมูลคะแนนมาตรฐาน มาจาก </a:t>
            </a:r>
            <a:r>
              <a:rPr lang="en-US" sz="1600">
                <a:solidFill>
                  <a:srgbClr val="242424"/>
                </a:solidFill>
                <a:latin typeface="Browallia New"/>
                <a:ea typeface="Tahoma"/>
                <a:cs typeface="Tahoma"/>
              </a:rPr>
              <a:t>QSSI </a:t>
            </a:r>
          </a:p>
        </p:txBody>
      </p:sp>
      <p:sp>
        <p:nvSpPr>
          <p:cNvPr id="9" name="Rectangle 20">
            <a:extLst>
              <a:ext uri="{FF2B5EF4-FFF2-40B4-BE49-F238E27FC236}">
                <a16:creationId xmlns:a16="http://schemas.microsoft.com/office/drawing/2014/main" id="{E93659BF-EC36-7625-653A-E2B3FD887AC8}"/>
              </a:ext>
            </a:extLst>
          </p:cNvPr>
          <p:cNvSpPr/>
          <p:nvPr/>
        </p:nvSpPr>
        <p:spPr>
          <a:xfrm>
            <a:off x="1314724" y="5509599"/>
            <a:ext cx="4823951" cy="10772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Browallia New"/>
                <a:ea typeface="Tahoma"/>
                <a:cs typeface="Tahoma"/>
              </a:rPr>
              <a:t>3.</a:t>
            </a:r>
            <a:r>
              <a:rPr lang="th-TH" sz="1600">
                <a:latin typeface="Browallia New"/>
                <a:ea typeface="Tahoma"/>
                <a:cs typeface="Browallia New"/>
              </a:rPr>
              <a:t> ตรวจสอบสาขาที่ถูกกระทบ และ สาขาที่เปิดใกล้เคียง</a:t>
            </a:r>
          </a:p>
          <a:p>
            <a:r>
              <a:rPr lang="th-TH" sz="1600">
                <a:latin typeface="Browallia New"/>
                <a:ea typeface="Tahoma"/>
                <a:cs typeface="Browallia New"/>
              </a:rPr>
              <a:t>4. ตรวจสอบเพิ่มกรณีที่เป็นร้าน </a:t>
            </a:r>
            <a:r>
              <a:rPr lang="en-US" sz="1600">
                <a:latin typeface="Browallia New"/>
                <a:ea typeface="Tahoma"/>
                <a:cs typeface="Tahoma"/>
              </a:rPr>
              <a:t>Take</a:t>
            </a:r>
            <a:r>
              <a:rPr lang="th-TH" sz="1600">
                <a:latin typeface="Browallia New"/>
                <a:ea typeface="Tahoma"/>
                <a:cs typeface="Browallia New"/>
              </a:rPr>
              <a:t> </a:t>
            </a:r>
            <a:r>
              <a:rPr lang="en-US" sz="1600">
                <a:latin typeface="Browallia New"/>
                <a:ea typeface="Tahoma"/>
                <a:cs typeface="Tahoma"/>
              </a:rPr>
              <a:t>“</a:t>
            </a:r>
            <a:r>
              <a:rPr lang="th-TH" sz="1600">
                <a:latin typeface="Browallia New"/>
                <a:ea typeface="Tahoma"/>
                <a:cs typeface="Browallia New"/>
              </a:rPr>
              <a:t>สาขาที่ถูกกระทบ </a:t>
            </a:r>
            <a:r>
              <a:rPr lang="en-US" sz="1600">
                <a:latin typeface="Browallia New"/>
                <a:ea typeface="Tahoma"/>
                <a:cs typeface="Tahoma"/>
              </a:rPr>
              <a:t>“</a:t>
            </a:r>
            <a:endParaRPr lang="th-TH" sz="1600">
              <a:latin typeface="Browallia New"/>
              <a:ea typeface="Tahoma"/>
              <a:cs typeface="Tahoma"/>
            </a:endParaRPr>
          </a:p>
          <a:p>
            <a:r>
              <a:rPr lang="th-TH" sz="1600">
                <a:latin typeface="Browallia New"/>
                <a:ea typeface="Tahoma"/>
                <a:cs typeface="Browallia New"/>
              </a:rPr>
              <a:t>5. </a:t>
            </a:r>
            <a:r>
              <a:rPr lang="en-US" sz="1600">
                <a:latin typeface="Browallia New"/>
                <a:ea typeface="Tahoma"/>
                <a:cs typeface="Tahoma"/>
              </a:rPr>
              <a:t>Center </a:t>
            </a:r>
            <a:r>
              <a:rPr lang="th-TH" sz="1600">
                <a:latin typeface="Browallia New"/>
                <a:ea typeface="Tahoma"/>
                <a:cs typeface="Browallia New"/>
              </a:rPr>
              <a:t>ตรวจสอบจากรายงานประกันรายได้จากระบบ </a:t>
            </a:r>
            <a:r>
              <a:rPr lang="en-US" sz="1600">
                <a:latin typeface="Browallia New"/>
                <a:ea typeface="Tahoma"/>
                <a:cs typeface="Tahoma"/>
              </a:rPr>
              <a:t>K2 </a:t>
            </a:r>
            <a:endParaRPr lang="th-TH" sz="1600">
              <a:latin typeface="Browallia New"/>
              <a:ea typeface="Tahoma"/>
              <a:cs typeface="Tahoma"/>
            </a:endParaRPr>
          </a:p>
          <a:p>
            <a:r>
              <a:rPr lang="th-TH" sz="1600">
                <a:latin typeface="Browallia New"/>
                <a:ea typeface="Tahoma"/>
                <a:cs typeface="Browallia New"/>
              </a:rPr>
              <a:t>    กระทบยอดกับ </a:t>
            </a:r>
            <a:r>
              <a:rPr lang="en-US" sz="1600">
                <a:latin typeface="Browallia New"/>
                <a:ea typeface="Tahoma"/>
                <a:cs typeface="Tahoma"/>
              </a:rPr>
              <a:t>SAP </a:t>
            </a:r>
            <a:r>
              <a:rPr lang="th-TH" sz="1600">
                <a:latin typeface="Browallia New"/>
                <a:ea typeface="Tahoma"/>
                <a:cs typeface="Browallia New"/>
              </a:rPr>
              <a:t>และ </a:t>
            </a:r>
            <a:r>
              <a:rPr lang="en-US" sz="1600">
                <a:latin typeface="Browallia New"/>
                <a:ea typeface="Tahoma"/>
                <a:cs typeface="Tahoma"/>
              </a:rPr>
              <a:t>Post </a:t>
            </a:r>
            <a:r>
              <a:rPr lang="th-TH" sz="1600">
                <a:latin typeface="Browallia New"/>
                <a:ea typeface="Tahoma"/>
                <a:cs typeface="Browallia New"/>
              </a:rPr>
              <a:t>คู่ </a:t>
            </a:r>
            <a:r>
              <a:rPr lang="en-US" sz="1600">
                <a:latin typeface="Browallia New"/>
                <a:ea typeface="Tahoma"/>
                <a:cs typeface="Tahoma"/>
              </a:rPr>
              <a:t>Acc </a:t>
            </a:r>
            <a:r>
              <a:rPr lang="th-TH" sz="1600">
                <a:latin typeface="Browallia New"/>
                <a:ea typeface="Tahoma"/>
                <a:cs typeface="Browallia New"/>
              </a:rPr>
              <a:t>ถูกต้อง</a:t>
            </a:r>
            <a:r>
              <a:rPr lang="en-US" sz="1600">
                <a:latin typeface="Browallia New"/>
                <a:ea typeface="Tahoma"/>
                <a:cs typeface="Tahoma"/>
              </a:rPr>
              <a:t> </a:t>
            </a:r>
            <a:endParaRPr lang="en-US" sz="1800">
              <a:solidFill>
                <a:srgbClr val="242424"/>
              </a:solidFill>
              <a:latin typeface="Browallia New"/>
              <a:ea typeface="Tahoma"/>
              <a:cs typeface="Tahoma"/>
            </a:endParaRPr>
          </a:p>
        </p:txBody>
      </p:sp>
      <p:pic>
        <p:nvPicPr>
          <p:cNvPr id="10" name="Picture 26">
            <a:extLst>
              <a:ext uri="{FF2B5EF4-FFF2-40B4-BE49-F238E27FC236}">
                <a16:creationId xmlns:a16="http://schemas.microsoft.com/office/drawing/2014/main" id="{333E9F9F-657B-3ECB-57AE-99508CD00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429" y="4542564"/>
            <a:ext cx="3297722" cy="963783"/>
          </a:xfrm>
          <a:prstGeom prst="rect">
            <a:avLst/>
          </a:prstGeom>
        </p:spPr>
      </p:pic>
      <p:sp>
        <p:nvSpPr>
          <p:cNvPr id="11" name="Rectangle 14">
            <a:extLst>
              <a:ext uri="{FF2B5EF4-FFF2-40B4-BE49-F238E27FC236}">
                <a16:creationId xmlns:a16="http://schemas.microsoft.com/office/drawing/2014/main" id="{E8C8793F-EE72-822A-7E07-490960234DF2}"/>
              </a:ext>
            </a:extLst>
          </p:cNvPr>
          <p:cNvSpPr/>
          <p:nvPr/>
        </p:nvSpPr>
        <p:spPr>
          <a:xfrm>
            <a:off x="1316555" y="6588881"/>
            <a:ext cx="5915765" cy="722580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1600" b="1" u="sng">
                <a:solidFill>
                  <a:srgbClr val="FF0000"/>
                </a:solidFill>
                <a:latin typeface="Browallia New"/>
                <a:ea typeface="Tahoma"/>
                <a:cs typeface="Browallia New"/>
              </a:rPr>
              <a:t>กรณีที่ยอดไม่ตรง </a:t>
            </a:r>
            <a:endParaRPr lang="en-US" sz="1600" b="1" u="sng">
              <a:solidFill>
                <a:srgbClr val="FF0000"/>
              </a:solidFill>
              <a:latin typeface="Browallia New"/>
              <a:ea typeface="Tahoma"/>
              <a:cs typeface="Browallia New"/>
            </a:endParaRPr>
          </a:p>
          <a:p>
            <a:r>
              <a:rPr lang="en-US" sz="1600">
                <a:latin typeface="Browallia New"/>
                <a:ea typeface="Tahoma"/>
                <a:cs typeface="Tahoma"/>
              </a:rPr>
              <a:t>1. </a:t>
            </a:r>
            <a:r>
              <a:rPr lang="th-TH" sz="1600">
                <a:latin typeface="Browallia New"/>
                <a:ea typeface="Tahoma"/>
                <a:cs typeface="Browallia New"/>
              </a:rPr>
              <a:t>เนื่องจากระบบ </a:t>
            </a:r>
            <a:r>
              <a:rPr lang="en-US" sz="1600">
                <a:latin typeface="Browallia New"/>
                <a:ea typeface="Tahoma"/>
                <a:cs typeface="Tahoma"/>
              </a:rPr>
              <a:t>K2 </a:t>
            </a:r>
            <a:r>
              <a:rPr lang="th-TH" sz="1600">
                <a:latin typeface="Browallia New"/>
                <a:ea typeface="Tahoma"/>
                <a:cs typeface="Browallia New"/>
              </a:rPr>
              <a:t>คำนวณจำนวนที่ชดเชย ไม่ตรงตาม </a:t>
            </a:r>
            <a:r>
              <a:rPr lang="en-US" sz="1600">
                <a:latin typeface="Browallia New"/>
                <a:ea typeface="Tahoma"/>
                <a:cs typeface="Tahoma"/>
              </a:rPr>
              <a:t>File PDF</a:t>
            </a:r>
          </a:p>
          <a:p>
            <a:r>
              <a:rPr lang="en-US" sz="1600">
                <a:latin typeface="Browallia New"/>
                <a:ea typeface="Tahoma"/>
                <a:cs typeface="Tahoma"/>
              </a:rPr>
              <a:t>2. </a:t>
            </a:r>
            <a:r>
              <a:rPr lang="th-TH" sz="1600">
                <a:latin typeface="Browallia New"/>
                <a:ea typeface="Tahoma"/>
                <a:cs typeface="Browallia New"/>
              </a:rPr>
              <a:t>เนื่องจากต้นทางแจ้งข้อมูลไม่ถูกต้องและครบถ้วน</a:t>
            </a:r>
            <a:endParaRPr lang="en-US" sz="1600">
              <a:solidFill>
                <a:srgbClr val="242424"/>
              </a:solidFill>
              <a:latin typeface="Browallia New"/>
              <a:ea typeface="Tahoma"/>
              <a:cs typeface="Browallia New"/>
            </a:endParaRPr>
          </a:p>
        </p:txBody>
      </p:sp>
      <p:grpSp>
        <p:nvGrpSpPr>
          <p:cNvPr id="12" name="กลุ่ม 11">
            <a:extLst>
              <a:ext uri="{FF2B5EF4-FFF2-40B4-BE49-F238E27FC236}">
                <a16:creationId xmlns:a16="http://schemas.microsoft.com/office/drawing/2014/main" id="{55D58815-EF7F-F7A9-3226-0355AABD6E90}"/>
              </a:ext>
            </a:extLst>
          </p:cNvPr>
          <p:cNvGrpSpPr/>
          <p:nvPr/>
        </p:nvGrpSpPr>
        <p:grpSpPr>
          <a:xfrm>
            <a:off x="7351710" y="727643"/>
            <a:ext cx="4494526" cy="6164682"/>
            <a:chOff x="7339804" y="239487"/>
            <a:chExt cx="4596039" cy="6100715"/>
          </a:xfrm>
        </p:grpSpPr>
        <p:pic>
          <p:nvPicPr>
            <p:cNvPr id="23" name="Picture 11">
              <a:extLst>
                <a:ext uri="{FF2B5EF4-FFF2-40B4-BE49-F238E27FC236}">
                  <a16:creationId xmlns:a16="http://schemas.microsoft.com/office/drawing/2014/main" id="{BE70226D-FBD6-0ADF-4F6D-04975CC40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39804" y="239487"/>
              <a:ext cx="4596039" cy="5986636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24" name="Rectangle 18">
              <a:extLst>
                <a:ext uri="{FF2B5EF4-FFF2-40B4-BE49-F238E27FC236}">
                  <a16:creationId xmlns:a16="http://schemas.microsoft.com/office/drawing/2014/main" id="{C8710CC0-6D7F-5662-63BA-07FEF80B19CB}"/>
                </a:ext>
              </a:extLst>
            </p:cNvPr>
            <p:cNvSpPr/>
            <p:nvPr/>
          </p:nvSpPr>
          <p:spPr>
            <a:xfrm>
              <a:off x="10685429" y="5869507"/>
              <a:ext cx="697537" cy="35661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25" name="Rectangle 16">
              <a:extLst>
                <a:ext uri="{FF2B5EF4-FFF2-40B4-BE49-F238E27FC236}">
                  <a16:creationId xmlns:a16="http://schemas.microsoft.com/office/drawing/2014/main" id="{507A99FA-0A82-71DA-FC42-32973A225986}"/>
                </a:ext>
              </a:extLst>
            </p:cNvPr>
            <p:cNvSpPr/>
            <p:nvPr/>
          </p:nvSpPr>
          <p:spPr>
            <a:xfrm>
              <a:off x="10292373" y="5755427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b="1" cap="none" spc="0">
                  <a:ln w="0"/>
                  <a:solidFill>
                    <a:schemeClr val="accent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13" name="กลุ่ม 12">
            <a:extLst>
              <a:ext uri="{FF2B5EF4-FFF2-40B4-BE49-F238E27FC236}">
                <a16:creationId xmlns:a16="http://schemas.microsoft.com/office/drawing/2014/main" id="{7F0A1C4D-B3D6-0B92-E457-6FD27DD569A6}"/>
              </a:ext>
            </a:extLst>
          </p:cNvPr>
          <p:cNvGrpSpPr/>
          <p:nvPr/>
        </p:nvGrpSpPr>
        <p:grpSpPr>
          <a:xfrm>
            <a:off x="860900" y="2021626"/>
            <a:ext cx="5949816" cy="1890961"/>
            <a:chOff x="848994" y="1533470"/>
            <a:chExt cx="6830928" cy="2174683"/>
          </a:xfrm>
        </p:grpSpPr>
        <p:pic>
          <p:nvPicPr>
            <p:cNvPr id="16" name="Picture 12">
              <a:extLst>
                <a:ext uri="{FF2B5EF4-FFF2-40B4-BE49-F238E27FC236}">
                  <a16:creationId xmlns:a16="http://schemas.microsoft.com/office/drawing/2014/main" id="{5C604459-AD06-1159-557F-5C4FBD9A2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8994" y="1533470"/>
              <a:ext cx="6830928" cy="2174682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7" name="Rectangle 22">
              <a:extLst>
                <a:ext uri="{FF2B5EF4-FFF2-40B4-BE49-F238E27FC236}">
                  <a16:creationId xmlns:a16="http://schemas.microsoft.com/office/drawing/2014/main" id="{DB320BD1-1833-8460-306A-59CF9E54A49D}"/>
                </a:ext>
              </a:extLst>
            </p:cNvPr>
            <p:cNvSpPr/>
            <p:nvPr/>
          </p:nvSpPr>
          <p:spPr>
            <a:xfrm>
              <a:off x="2344238" y="2264195"/>
              <a:ext cx="788844" cy="33286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18" name="Rectangle 23">
              <a:extLst>
                <a:ext uri="{FF2B5EF4-FFF2-40B4-BE49-F238E27FC236}">
                  <a16:creationId xmlns:a16="http://schemas.microsoft.com/office/drawing/2014/main" id="{011D291C-C229-5279-A674-60932EEE60BD}"/>
                </a:ext>
              </a:extLst>
            </p:cNvPr>
            <p:cNvSpPr/>
            <p:nvPr/>
          </p:nvSpPr>
          <p:spPr>
            <a:xfrm>
              <a:off x="4223236" y="2465872"/>
              <a:ext cx="1296430" cy="39636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19" name="Rectangle 24">
              <a:extLst>
                <a:ext uri="{FF2B5EF4-FFF2-40B4-BE49-F238E27FC236}">
                  <a16:creationId xmlns:a16="http://schemas.microsoft.com/office/drawing/2014/main" id="{06666F34-D46C-ADB2-A12C-D34C227F973E}"/>
                </a:ext>
              </a:extLst>
            </p:cNvPr>
            <p:cNvSpPr/>
            <p:nvPr/>
          </p:nvSpPr>
          <p:spPr>
            <a:xfrm>
              <a:off x="6942999" y="3319439"/>
              <a:ext cx="736923" cy="3887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20" name="Rectangle 2">
              <a:extLst>
                <a:ext uri="{FF2B5EF4-FFF2-40B4-BE49-F238E27FC236}">
                  <a16:creationId xmlns:a16="http://schemas.microsoft.com/office/drawing/2014/main" id="{B3ABF684-171D-427F-34D9-509FA7B5956A}"/>
                </a:ext>
              </a:extLst>
            </p:cNvPr>
            <p:cNvSpPr/>
            <p:nvPr/>
          </p:nvSpPr>
          <p:spPr>
            <a:xfrm>
              <a:off x="1925222" y="2152626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b="1" cap="none" spc="0">
                  <a:ln w="0"/>
                  <a:solidFill>
                    <a:schemeClr val="accent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</a:p>
          </p:txBody>
        </p:sp>
        <p:sp>
          <p:nvSpPr>
            <p:cNvPr id="21" name="Rectangle 15">
              <a:extLst>
                <a:ext uri="{FF2B5EF4-FFF2-40B4-BE49-F238E27FC236}">
                  <a16:creationId xmlns:a16="http://schemas.microsoft.com/office/drawing/2014/main" id="{F529FB58-9524-3F39-03CB-5B88568FF0ED}"/>
                </a:ext>
              </a:extLst>
            </p:cNvPr>
            <p:cNvSpPr/>
            <p:nvPr/>
          </p:nvSpPr>
          <p:spPr>
            <a:xfrm>
              <a:off x="5608160" y="242667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b="1" cap="none" spc="0">
                  <a:ln w="0"/>
                  <a:solidFill>
                    <a:schemeClr val="accent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</a:p>
          </p:txBody>
        </p:sp>
        <p:sp>
          <p:nvSpPr>
            <p:cNvPr id="22" name="Rectangle 17">
              <a:extLst>
                <a:ext uri="{FF2B5EF4-FFF2-40B4-BE49-F238E27FC236}">
                  <a16:creationId xmlns:a16="http://schemas.microsoft.com/office/drawing/2014/main" id="{E1455157-E5A4-BFB4-D7E7-5B1FEAC483A2}"/>
                </a:ext>
              </a:extLst>
            </p:cNvPr>
            <p:cNvSpPr/>
            <p:nvPr/>
          </p:nvSpPr>
          <p:spPr>
            <a:xfrm>
              <a:off x="7120341" y="2830990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b="1" cap="none" spc="0">
                  <a:ln w="0"/>
                  <a:solidFill>
                    <a:schemeClr val="accent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</a:p>
          </p:txBody>
        </p:sp>
      </p:grpSp>
      <p:sp>
        <p:nvSpPr>
          <p:cNvPr id="14" name="กล่องข้อความ 22">
            <a:extLst>
              <a:ext uri="{FF2B5EF4-FFF2-40B4-BE49-F238E27FC236}">
                <a16:creationId xmlns:a16="http://schemas.microsoft.com/office/drawing/2014/main" id="{155FED21-6EDB-D4E9-E519-565D7667E429}"/>
              </a:ext>
            </a:extLst>
          </p:cNvPr>
          <p:cNvSpPr txBox="1"/>
          <p:nvPr/>
        </p:nvSpPr>
        <p:spPr>
          <a:xfrm>
            <a:off x="437173" y="1213949"/>
            <a:ext cx="5557269" cy="400110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r>
              <a:rPr lang="th-TH" sz="2000">
                <a:latin typeface="CordiaUPC"/>
                <a:cs typeface="CordiaUPC"/>
              </a:rPr>
              <a:t>RPAดำเนินการีดึงข้อมูลร้านจาก SBP </a:t>
            </a:r>
            <a:r>
              <a:rPr lang="th-TH" sz="2000" err="1">
                <a:latin typeface="CordiaUPC"/>
                <a:cs typeface="CordiaUPC"/>
              </a:rPr>
              <a:t>Mall</a:t>
            </a:r>
            <a:r>
              <a:rPr lang="th-TH" sz="2000">
                <a:latin typeface="CordiaUPC"/>
                <a:cs typeface="CordiaUPC"/>
              </a:rPr>
              <a:t> ให้กับทีมบัญชีตรวจสอบ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C6DD4257-7479-EA2A-E308-05F03E071C35}"/>
              </a:ext>
            </a:extLst>
          </p:cNvPr>
          <p:cNvSpPr txBox="1"/>
          <p:nvPr/>
        </p:nvSpPr>
        <p:spPr>
          <a:xfrm>
            <a:off x="10393180" y="13116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6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24894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CCF36-6F47-2106-A5B8-C711C2C35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A38F6FD-77F8-B533-307B-F3B883B7DBC1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3FB094D1-64A9-9EF2-18B9-C2049EC8EBC4}"/>
              </a:ext>
            </a:extLst>
          </p:cNvPr>
          <p:cNvSpPr txBox="1"/>
          <p:nvPr/>
        </p:nvSpPr>
        <p:spPr>
          <a:xfrm>
            <a:off x="291306" y="818356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บัญชี : </a:t>
            </a:r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Approve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ค่าใช้จ่าย</a:t>
            </a:r>
          </a:p>
        </p:txBody>
      </p:sp>
      <p:sp>
        <p:nvSpPr>
          <p:cNvPr id="7" name="กล่องข้อความ 22">
            <a:extLst>
              <a:ext uri="{FF2B5EF4-FFF2-40B4-BE49-F238E27FC236}">
                <a16:creationId xmlns:a16="http://schemas.microsoft.com/office/drawing/2014/main" id="{13EA1AE9-05ED-3B0B-7221-B9085F61D25C}"/>
              </a:ext>
            </a:extLst>
          </p:cNvPr>
          <p:cNvSpPr txBox="1"/>
          <p:nvPr/>
        </p:nvSpPr>
        <p:spPr>
          <a:xfrm>
            <a:off x="437173" y="1213949"/>
            <a:ext cx="5557269" cy="400110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r>
              <a:rPr lang="th-TH" sz="2000">
                <a:latin typeface="CordiaUPC"/>
                <a:cs typeface="CordiaUPC"/>
              </a:rPr>
              <a:t>RPAดำเนินการดึงข้อมูลร้านจาก SBP  </a:t>
            </a:r>
            <a:r>
              <a:rPr lang="th-TH" sz="2000" err="1">
                <a:latin typeface="CordiaUPC"/>
                <a:cs typeface="CordiaUPC"/>
              </a:rPr>
              <a:t>Mall</a:t>
            </a:r>
            <a:r>
              <a:rPr lang="th-TH" sz="2000">
                <a:latin typeface="CordiaUPC"/>
                <a:cs typeface="CordiaUPC"/>
              </a:rPr>
              <a:t> ให้กับทีมบัญชีตรวจสอบ</a:t>
            </a:r>
          </a:p>
        </p:txBody>
      </p:sp>
      <p:grpSp>
        <p:nvGrpSpPr>
          <p:cNvPr id="8" name="กลุ่ม 7">
            <a:extLst>
              <a:ext uri="{FF2B5EF4-FFF2-40B4-BE49-F238E27FC236}">
                <a16:creationId xmlns:a16="http://schemas.microsoft.com/office/drawing/2014/main" id="{E5967659-4E6A-A171-A4D9-0F16666B8EB2}"/>
              </a:ext>
            </a:extLst>
          </p:cNvPr>
          <p:cNvGrpSpPr/>
          <p:nvPr/>
        </p:nvGrpSpPr>
        <p:grpSpPr>
          <a:xfrm>
            <a:off x="171184" y="1766620"/>
            <a:ext cx="11659199" cy="3410125"/>
            <a:chOff x="159278" y="1278464"/>
            <a:chExt cx="11659199" cy="3410125"/>
          </a:xfrm>
        </p:grpSpPr>
        <p:pic>
          <p:nvPicPr>
            <p:cNvPr id="30" name="Picture 1">
              <a:extLst>
                <a:ext uri="{FF2B5EF4-FFF2-40B4-BE49-F238E27FC236}">
                  <a16:creationId xmlns:a16="http://schemas.microsoft.com/office/drawing/2014/main" id="{D25461D4-1472-A732-2E6F-A812D731C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278" y="1278464"/>
              <a:ext cx="11659199" cy="3410125"/>
            </a:xfrm>
            <a:prstGeom prst="rect">
              <a:avLst/>
            </a:prstGeom>
          </p:spPr>
        </p:pic>
        <p:sp>
          <p:nvSpPr>
            <p:cNvPr id="31" name="Rectangle 2">
              <a:extLst>
                <a:ext uri="{FF2B5EF4-FFF2-40B4-BE49-F238E27FC236}">
                  <a16:creationId xmlns:a16="http://schemas.microsoft.com/office/drawing/2014/main" id="{83B2B1D5-8046-9408-3B17-010B32127CFE}"/>
                </a:ext>
              </a:extLst>
            </p:cNvPr>
            <p:cNvSpPr/>
            <p:nvPr/>
          </p:nvSpPr>
          <p:spPr>
            <a:xfrm>
              <a:off x="1860223" y="1891328"/>
              <a:ext cx="1431637" cy="4433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32" name="Rectangle 3">
              <a:extLst>
                <a:ext uri="{FF2B5EF4-FFF2-40B4-BE49-F238E27FC236}">
                  <a16:creationId xmlns:a16="http://schemas.microsoft.com/office/drawing/2014/main" id="{2B2291B6-9E2E-4E3B-6636-32F08484A58D}"/>
                </a:ext>
              </a:extLst>
            </p:cNvPr>
            <p:cNvSpPr/>
            <p:nvPr/>
          </p:nvSpPr>
          <p:spPr>
            <a:xfrm>
              <a:off x="4663459" y="4158855"/>
              <a:ext cx="1431637" cy="4433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33" name="5-Point Star 4">
              <a:extLst>
                <a:ext uri="{FF2B5EF4-FFF2-40B4-BE49-F238E27FC236}">
                  <a16:creationId xmlns:a16="http://schemas.microsoft.com/office/drawing/2014/main" id="{D135971C-5D17-6947-16EC-28E121DDA00B}"/>
                </a:ext>
              </a:extLst>
            </p:cNvPr>
            <p:cNvSpPr/>
            <p:nvPr/>
          </p:nvSpPr>
          <p:spPr>
            <a:xfrm>
              <a:off x="3430405" y="1937509"/>
              <a:ext cx="332509" cy="350982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34" name="5-Point Star 5">
              <a:extLst>
                <a:ext uri="{FF2B5EF4-FFF2-40B4-BE49-F238E27FC236}">
                  <a16:creationId xmlns:a16="http://schemas.microsoft.com/office/drawing/2014/main" id="{5FDEAF58-99C5-0A6B-37DA-8AABA9B18655}"/>
                </a:ext>
              </a:extLst>
            </p:cNvPr>
            <p:cNvSpPr/>
            <p:nvPr/>
          </p:nvSpPr>
          <p:spPr>
            <a:xfrm>
              <a:off x="4663459" y="4177328"/>
              <a:ext cx="332509" cy="350982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</p:grpSp>
      <p:sp>
        <p:nvSpPr>
          <p:cNvPr id="26" name="Rectangle 8">
            <a:extLst>
              <a:ext uri="{FF2B5EF4-FFF2-40B4-BE49-F238E27FC236}">
                <a16:creationId xmlns:a16="http://schemas.microsoft.com/office/drawing/2014/main" id="{9B262995-33FC-722C-A139-9869614BC985}"/>
              </a:ext>
            </a:extLst>
          </p:cNvPr>
          <p:cNvSpPr/>
          <p:nvPr/>
        </p:nvSpPr>
        <p:spPr>
          <a:xfrm>
            <a:off x="6922517" y="4665484"/>
            <a:ext cx="5074487" cy="1169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การอนุมัติบันทึกจำนวน 150-170 ต่อเดือน</a:t>
            </a:r>
          </a:p>
          <a:p>
            <a:pPr marL="342900" indent="-342900">
              <a:buAutoNum type="arabicPeriod"/>
            </a:pPr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ระยะเวลาทำการอนุมัติ ประมาณ 4 นาที /ฉบับ</a:t>
            </a:r>
          </a:p>
          <a:p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      คำนวณตามเวลา 4 นาที *150 ฉบับ/เดือน</a:t>
            </a:r>
            <a:r>
              <a:rPr lang="en-US" sz="1400">
                <a:solidFill>
                  <a:srgbClr val="0070C0"/>
                </a:solidFill>
                <a:latin typeface="Browallia New"/>
                <a:ea typeface="Tahoma"/>
                <a:cs typeface="Tahoma"/>
              </a:rPr>
              <a:t>= 600 </a:t>
            </a:r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นาที </a:t>
            </a:r>
            <a:r>
              <a:rPr lang="en-US" sz="1400">
                <a:solidFill>
                  <a:srgbClr val="0070C0"/>
                </a:solidFill>
                <a:latin typeface="Browallia New"/>
                <a:ea typeface="Tahoma"/>
                <a:cs typeface="Tahoma"/>
              </a:rPr>
              <a:t>/ 10 </a:t>
            </a:r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ชม.</a:t>
            </a:r>
          </a:p>
          <a:p>
            <a:pPr marL="342900" indent="-342900">
              <a:buAutoNum type="arabicPeriod" startAt="3"/>
            </a:pPr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ผจก.แผนกตรวจสอบข้อมูลใน </a:t>
            </a:r>
            <a:r>
              <a:rPr lang="en-US" sz="1400">
                <a:solidFill>
                  <a:srgbClr val="0070C0"/>
                </a:solidFill>
                <a:latin typeface="Browallia New"/>
                <a:ea typeface="Tahoma"/>
                <a:cs typeface="Tahoma"/>
              </a:rPr>
              <a:t>Flow</a:t>
            </a:r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 </a:t>
            </a:r>
            <a:r>
              <a:rPr lang="en-US" sz="1400">
                <a:solidFill>
                  <a:srgbClr val="0070C0"/>
                </a:solidFill>
                <a:latin typeface="Browallia New"/>
                <a:ea typeface="Tahoma"/>
                <a:cs typeface="Tahoma"/>
              </a:rPr>
              <a:t>K2 </a:t>
            </a:r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ตรวจสอบพร้อมอนุมัติ </a:t>
            </a:r>
          </a:p>
          <a:p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      ประมาณ 5 นาทีต่อฉบับ</a:t>
            </a:r>
          </a:p>
        </p:txBody>
      </p:sp>
      <p:pic>
        <p:nvPicPr>
          <p:cNvPr id="27" name="Picture 9">
            <a:extLst>
              <a:ext uri="{FF2B5EF4-FFF2-40B4-BE49-F238E27FC236}">
                <a16:creationId xmlns:a16="http://schemas.microsoft.com/office/drawing/2014/main" id="{15170FFE-8806-E71B-B861-10352718F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774" y="5075950"/>
            <a:ext cx="6255071" cy="1987652"/>
          </a:xfrm>
          <a:prstGeom prst="rect">
            <a:avLst/>
          </a:prstGeom>
        </p:spPr>
      </p:pic>
      <p:sp>
        <p:nvSpPr>
          <p:cNvPr id="28" name="TextBox 13">
            <a:extLst>
              <a:ext uri="{FF2B5EF4-FFF2-40B4-BE49-F238E27FC236}">
                <a16:creationId xmlns:a16="http://schemas.microsoft.com/office/drawing/2014/main" id="{18CA1E3E-56E8-11D0-8854-7E4BD5F59D84}"/>
              </a:ext>
            </a:extLst>
          </p:cNvPr>
          <p:cNvSpPr txBox="1"/>
          <p:nvPr/>
        </p:nvSpPr>
        <p:spPr>
          <a:xfrm>
            <a:off x="6713436" y="6244442"/>
            <a:ext cx="30500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r>
              <a:rPr lang="th-TH" err="1">
                <a:latin typeface="Browallia New"/>
                <a:cs typeface="Browallia New"/>
              </a:rPr>
              <a:t>Form</a:t>
            </a:r>
            <a:r>
              <a:rPr lang="th-TH">
                <a:latin typeface="Browallia New"/>
                <a:cs typeface="Browallia New"/>
              </a:rPr>
              <a:t>/CPA.FRN.FGI.SMF.</a:t>
            </a:r>
            <a:r>
              <a:rPr lang="th-TH" err="1">
                <a:latin typeface="Browallia New"/>
                <a:cs typeface="Browallia New"/>
              </a:rPr>
              <a:t>ApplicationMenu</a:t>
            </a:r>
            <a:endParaRPr lang="th-TH">
              <a:latin typeface="Browallia New"/>
              <a:cs typeface="Browallia New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27914998-75F6-C2CF-C91B-6187A862D409}"/>
              </a:ext>
            </a:extLst>
          </p:cNvPr>
          <p:cNvSpPr txBox="1"/>
          <p:nvPr/>
        </p:nvSpPr>
        <p:spPr>
          <a:xfrm>
            <a:off x="10393180" y="13116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5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455158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DAB45-AAF1-2138-129D-07027CD28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DE1C213-A6C5-168A-FC04-E9BD95A01DA6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6D57D-AD23-FC90-D18F-02D0D41F45C4}"/>
              </a:ext>
            </a:extLst>
          </p:cNvPr>
          <p:cNvSpPr txBox="1"/>
          <p:nvPr/>
        </p:nvSpPr>
        <p:spPr>
          <a:xfrm>
            <a:off x="599946" y="970137"/>
            <a:ext cx="10992276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400">
                <a:highlight>
                  <a:srgbClr val="C0C0C0"/>
                </a:highlight>
                <a:latin typeface="BrowalliaUPC"/>
                <a:cs typeface="BrowalliaUPC"/>
              </a:rPr>
              <a:t>แก้ไขระบบการสร้างเอกสารชดเชยรายได้</a:t>
            </a:r>
          </a:p>
          <a:p>
            <a:r>
              <a:rPr lang="en-US" sz="2400">
                <a:latin typeface="BrowalliaUPC"/>
                <a:cs typeface="BrowalliaUPC"/>
              </a:rPr>
              <a:t>ปัญหา : กรณีมีการคลิ๊กไม่อนุมัติประกันรายได้จากผู้บริหาร (วิเคราะห์ข้อมูลและระบบ SBP) ทำให้ไม่สามารถดำเนินการสร้างชดเชยรายได้ได้ใหม่</a:t>
            </a:r>
          </a:p>
          <a:p>
            <a:r>
              <a:rPr lang="en-US" sz="2400" u="sng" err="1">
                <a:latin typeface="BrowalliaUPC"/>
                <a:cs typeface="Arial"/>
              </a:rPr>
              <a:t>ตัวอย่างปัญหาที่พบ</a:t>
            </a:r>
            <a:endParaRPr lang="en-US" sz="2400" u="sng">
              <a:latin typeface="BrowalliaUPC"/>
              <a:cs typeface="Arial"/>
            </a:endParaRPr>
          </a:p>
          <a:p>
            <a:endParaRPr lang="en-US" sz="2400" b="0">
              <a:solidFill>
                <a:srgbClr val="000000"/>
              </a:solidFill>
              <a:latin typeface="BrowalliaUPC"/>
              <a:cs typeface="Angsana New"/>
            </a:endParaRPr>
          </a:p>
          <a:p>
            <a:endParaRPr lang="en-US" sz="2400" b="0">
              <a:latin typeface="BrowalliaUPC"/>
            </a:endParaRPr>
          </a:p>
          <a:p>
            <a:endParaRPr lang="en-US" sz="2400" b="0">
              <a:latin typeface="BrowalliaUPC"/>
            </a:endParaRPr>
          </a:p>
          <a:p>
            <a:endParaRPr lang="en-US" sz="2400" b="0">
              <a:latin typeface="BrowalliaUPC"/>
            </a:endParaRPr>
          </a:p>
          <a:p>
            <a:endParaRPr lang="en-US" sz="2400" b="0">
              <a:latin typeface="BrowalliaUPC"/>
            </a:endParaRPr>
          </a:p>
          <a:p>
            <a:endParaRPr lang="en-US" sz="2400" b="0">
              <a:latin typeface="BrowalliaUPC"/>
              <a:cs typeface="Angsana New"/>
            </a:endParaRPr>
          </a:p>
          <a:p>
            <a:endParaRPr lang="en-US" sz="2400" b="0">
              <a:latin typeface="BrowalliaUPC"/>
            </a:endParaRPr>
          </a:p>
          <a:p>
            <a:endParaRPr lang="en-US" sz="2400" b="0">
              <a:latin typeface="BrowalliaUPC"/>
            </a:endParaRPr>
          </a:p>
          <a:p>
            <a:endParaRPr lang="en-US" sz="2400" b="0">
              <a:latin typeface="BrowalliaUPC"/>
            </a:endParaRPr>
          </a:p>
          <a:p>
            <a:r>
              <a:rPr lang="en-US" sz="2400" err="1">
                <a:latin typeface="BrowalliaUPC"/>
                <a:cs typeface="Angsana New"/>
              </a:rPr>
              <a:t>การแก้ปัญหาเบื้องต้น</a:t>
            </a:r>
            <a:r>
              <a:rPr lang="en-US" sz="2400">
                <a:latin typeface="BrowalliaUPC"/>
                <a:cs typeface="Angsana New"/>
              </a:rPr>
              <a:t> :</a:t>
            </a:r>
            <a:r>
              <a:rPr lang="en-US" sz="2400" b="0">
                <a:latin typeface="BrowalliaUPC"/>
                <a:cs typeface="Angsana New"/>
              </a:rPr>
              <a:t> </a:t>
            </a:r>
            <a:r>
              <a:rPr lang="en-US" sz="2400" b="0" err="1">
                <a:latin typeface="BrowalliaUPC"/>
                <a:cs typeface="Angsana New"/>
              </a:rPr>
              <a:t>เปิด</a:t>
            </a:r>
            <a:r>
              <a:rPr lang="en-US" sz="2400" b="0">
                <a:latin typeface="BrowalliaUPC"/>
                <a:cs typeface="Angsana New"/>
              </a:rPr>
              <a:t> SR </a:t>
            </a:r>
            <a:r>
              <a:rPr lang="en-US" sz="2400" b="0" err="1">
                <a:latin typeface="BrowalliaUPC"/>
                <a:cs typeface="Angsana New"/>
              </a:rPr>
              <a:t>ให้ทางGosolf</a:t>
            </a:r>
            <a:r>
              <a:rPr lang="en-US" sz="2400" b="0">
                <a:latin typeface="BrowalliaUPC"/>
                <a:cs typeface="Angsana New"/>
              </a:rPr>
              <a:t> </a:t>
            </a:r>
            <a:r>
              <a:rPr lang="en-US" sz="2400" b="0" err="1">
                <a:latin typeface="BrowalliaUPC"/>
                <a:cs typeface="Angsana New"/>
              </a:rPr>
              <a:t>เพื่อให้สามารถสร้างเอกสารการชดเชยใหม่ได้</a:t>
            </a:r>
            <a:endParaRPr lang="en-US" sz="2400" b="0">
              <a:latin typeface="BrowalliaUPC"/>
            </a:endParaRP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6B59BD44-90FF-1794-FACE-F09D19AF267B}"/>
              </a:ext>
            </a:extLst>
          </p:cNvPr>
          <p:cNvSpPr/>
          <p:nvPr/>
        </p:nvSpPr>
        <p:spPr>
          <a:xfrm>
            <a:off x="445459" y="2361026"/>
            <a:ext cx="11324895" cy="10579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  <a:latin typeface="BrowalliaUPC"/>
                <a:cs typeface="+mn-lt"/>
              </a:rPr>
              <a:t>ร้านสาขา A ถูกกระทบจากการเปิด ร้านสาขา B ----&gt; ทีม SBP ส่งเรื่องชดเชยรายได้ในระบบ ---&gt; ผู้บริหารมองว่าไม่กระทบ ---&gt; คลิ๊กไม่อนุมัติ  ----&gt; ไม่ชดเชยรายได้</a:t>
            </a:r>
            <a:endParaRPr lang="th-TH"/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7103D7DA-FBBD-D35D-8827-7797050B636E}"/>
              </a:ext>
            </a:extLst>
          </p:cNvPr>
          <p:cNvSpPr/>
          <p:nvPr/>
        </p:nvSpPr>
        <p:spPr>
          <a:xfrm>
            <a:off x="426666" y="4153804"/>
            <a:ext cx="11341427" cy="107178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  <a:latin typeface="BrowalliaUPC"/>
                <a:cs typeface="+mn-lt"/>
              </a:rPr>
              <a:t>ยอดขายร้าน A ถูกกระทบโดยร้าน B ----&gt; ทีม SBP เปิดชดเชยรายได้ในระบบ ----&gt; </a:t>
            </a:r>
            <a:r>
              <a:rPr lang="en-US" sz="2400">
                <a:solidFill>
                  <a:srgbClr val="FF0000"/>
                </a:solidFill>
                <a:latin typeface="BrowalliaUPC"/>
                <a:cs typeface="+mn-lt"/>
              </a:rPr>
              <a:t>ไม่สามารถเปิดเอกสารชดเชยรายได้ได้ (เนื่องจากระบบมีบันทึกเคยมีการไม่อนุมัติการชดเชยรายได้ไปแล้ว ทำให้ไม่สามารถสร้างเอกสารชดเชยสาขาเดิมได้)</a:t>
            </a:r>
            <a:endParaRPr lang="th-TH"/>
          </a:p>
        </p:txBody>
      </p:sp>
      <p:sp>
        <p:nvSpPr>
          <p:cNvPr id="6" name="ลูกศร: ลง 5">
            <a:extLst>
              <a:ext uri="{FF2B5EF4-FFF2-40B4-BE49-F238E27FC236}">
                <a16:creationId xmlns:a16="http://schemas.microsoft.com/office/drawing/2014/main" id="{39950BEE-BD2E-4693-B6E8-190220FB49E3}"/>
              </a:ext>
            </a:extLst>
          </p:cNvPr>
          <p:cNvSpPr/>
          <p:nvPr/>
        </p:nvSpPr>
        <p:spPr>
          <a:xfrm>
            <a:off x="5830885" y="3550479"/>
            <a:ext cx="556661" cy="607266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7375DFE1-8198-4FDA-0319-DC68B50D1C57}"/>
              </a:ext>
            </a:extLst>
          </p:cNvPr>
          <p:cNvSpPr txBox="1"/>
          <p:nvPr/>
        </p:nvSpPr>
        <p:spPr>
          <a:xfrm>
            <a:off x="5140907" y="976588"/>
            <a:ext cx="328063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000">
                <a:solidFill>
                  <a:srgbClr val="FF0000"/>
                </a:solidFill>
                <a:latin typeface="Browallia New"/>
                <a:cs typeface="Browallia New"/>
              </a:rPr>
              <a:t>พบปัญหาเดือนละประมาณ 5 สาขา</a:t>
            </a: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4E93D185-C70A-D5D7-1E37-AB9AF5D34D40}"/>
              </a:ext>
            </a:extLst>
          </p:cNvPr>
          <p:cNvSpPr txBox="1"/>
          <p:nvPr/>
        </p:nvSpPr>
        <p:spPr>
          <a:xfrm>
            <a:off x="10393180" y="13116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3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666202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DAB45-AAF1-2138-129D-07027CD28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DE1C213-A6C5-168A-FC04-E9BD95A01DA6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E3AA6D-6C0C-A391-AD7A-D47FF3130404}"/>
              </a:ext>
            </a:extLst>
          </p:cNvPr>
          <p:cNvSpPr txBox="1"/>
          <p:nvPr/>
        </p:nvSpPr>
        <p:spPr>
          <a:xfrm>
            <a:off x="236396" y="970298"/>
            <a:ext cx="1115954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400">
                <a:highlight>
                  <a:srgbClr val="C0C0C0"/>
                </a:highlight>
                <a:latin typeface="BrowalliaUPC"/>
                <a:cs typeface="Arial"/>
              </a:rPr>
              <a:t>แก้ไขระบบการสร้างเอกสารชดเชยรายได้</a:t>
            </a:r>
            <a:endParaRPr lang="en-US"/>
          </a:p>
          <a:p>
            <a:r>
              <a:rPr lang="en-US" sz="2400" b="0" err="1">
                <a:latin typeface="BrowalliaUPC"/>
                <a:cs typeface="BrowalliaUPC"/>
              </a:rPr>
              <a:t>ไม่สามารถเปิดเอกสารชดเชยรายได้ได้</a:t>
            </a:r>
            <a:r>
              <a:rPr lang="en-US" sz="2400" b="0">
                <a:latin typeface="BrowalliaUPC"/>
                <a:cs typeface="BrowalliaUPC"/>
              </a:rPr>
              <a:t> </a:t>
            </a:r>
            <a:r>
              <a:rPr lang="en-US" sz="2400" b="0" err="1">
                <a:latin typeface="BrowalliaUPC"/>
                <a:cs typeface="BrowalliaUPC"/>
              </a:rPr>
              <a:t>เนื่องจากมีการไม่อนุมัติการชดเชยประกันรายได้ไปแล้ว</a:t>
            </a:r>
            <a:r>
              <a:rPr lang="en-US" sz="2400" b="0">
                <a:latin typeface="BrowalliaUPC"/>
                <a:cs typeface="BrowalliaUPC"/>
              </a:rPr>
              <a:t> </a:t>
            </a:r>
            <a:r>
              <a:rPr lang="en-US" sz="2400" b="0" err="1">
                <a:latin typeface="BrowalliaUPC"/>
                <a:cs typeface="BrowalliaUPC"/>
              </a:rPr>
              <a:t>ระบบจึงล็อคไม่ให้สามารถ</a:t>
            </a:r>
            <a:r>
              <a:rPr lang="en-US" sz="2400" b="0">
                <a:latin typeface="BrowalliaUPC"/>
                <a:cs typeface="BrowalliaUPC"/>
              </a:rPr>
              <a:t> เพิ่มวันที่สำหรับร้านที่เปิดกระทบและไม่สามารถสร้างเอกสารชดเชยรายได้ได้ </a:t>
            </a:r>
            <a:r>
              <a:rPr lang="en-US" sz="2400" b="0" err="1">
                <a:latin typeface="BrowalliaUPC"/>
                <a:cs typeface="BrowalliaUPC"/>
              </a:rPr>
              <a:t>จึงเปิด</a:t>
            </a:r>
            <a:r>
              <a:rPr lang="en-US" sz="2400" b="0">
                <a:latin typeface="BrowalliaUPC"/>
                <a:cs typeface="BrowalliaUPC"/>
              </a:rPr>
              <a:t> SR </a:t>
            </a:r>
            <a:r>
              <a:rPr lang="en-US" sz="2400" b="0" err="1">
                <a:latin typeface="BrowalliaUPC"/>
                <a:cs typeface="BrowalliaUPC"/>
              </a:rPr>
              <a:t>ให้ทางGosolf</a:t>
            </a:r>
            <a:r>
              <a:rPr lang="en-US" sz="2400" b="0">
                <a:latin typeface="BrowalliaUPC"/>
                <a:cs typeface="BrowalliaUPC"/>
              </a:rPr>
              <a:t> </a:t>
            </a:r>
            <a:r>
              <a:rPr lang="en-US" sz="2400" b="0" err="1">
                <a:latin typeface="BrowalliaUPC"/>
                <a:cs typeface="BrowalliaUPC"/>
              </a:rPr>
              <a:t>เพื่อให้สามารถสร้างเอกสารการชดเชยใหม่ได้</a:t>
            </a:r>
            <a:endParaRPr lang="en-US" sz="2400" b="0">
              <a:latin typeface="BrowalliaUPC"/>
              <a:cs typeface="BrowalliaUPC"/>
            </a:endParaRPr>
          </a:p>
          <a:p>
            <a:endParaRPr lang="en-US" sz="2400" b="0">
              <a:latin typeface="BrowalliaUPC"/>
              <a:cs typeface="BrowalliaUPC"/>
            </a:endParaRPr>
          </a:p>
          <a:p>
            <a:pPr algn="l"/>
            <a:endParaRPr lang="en-US" sz="2400"/>
          </a:p>
        </p:txBody>
      </p:sp>
      <p:pic>
        <p:nvPicPr>
          <p:cNvPr id="10" name="รูปภาพ 9" descr="รูปภาพประกอบด้วย ข้อความ, ภาพหน้าจอ, ซอฟต์แวร์, หน้าเว็บ&#10;&#10;คำอธิบายจะถูกสร้างขึ้นโดยอัตโนมัติ">
            <a:extLst>
              <a:ext uri="{FF2B5EF4-FFF2-40B4-BE49-F238E27FC236}">
                <a16:creationId xmlns:a16="http://schemas.microsoft.com/office/drawing/2014/main" id="{0430B2FF-3827-17AC-5950-A79DD705C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08810"/>
            <a:ext cx="12192000" cy="3428304"/>
          </a:xfrm>
          <a:prstGeom prst="rect">
            <a:avLst/>
          </a:prstGeom>
        </p:spPr>
      </p:pic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F527A752-0D1E-396D-8229-492B15169666}"/>
              </a:ext>
            </a:extLst>
          </p:cNvPr>
          <p:cNvSpPr txBox="1"/>
          <p:nvPr/>
        </p:nvSpPr>
        <p:spPr>
          <a:xfrm>
            <a:off x="149127" y="2564992"/>
            <a:ext cx="289307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h-TH" sz="2000" u="sng">
                <a:latin typeface="Arial"/>
                <a:cs typeface="Angsana New"/>
              </a:rPr>
              <a:t>หน้าจออนุมัติของผู้บริหาร</a:t>
            </a:r>
            <a:endParaRPr lang="th-TH" sz="2000" u="sng"/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AAC63E9F-058C-7E92-5FCF-E2D02BEEB48D}"/>
              </a:ext>
            </a:extLst>
          </p:cNvPr>
          <p:cNvSpPr txBox="1"/>
          <p:nvPr/>
        </p:nvSpPr>
        <p:spPr>
          <a:xfrm>
            <a:off x="10393180" y="13116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4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680017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DAB45-AAF1-2138-129D-07027CD28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DE1C213-A6C5-168A-FC04-E9BD95A01DA6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E3AA6D-6C0C-A391-AD7A-D47FF3130404}"/>
              </a:ext>
            </a:extLst>
          </p:cNvPr>
          <p:cNvSpPr txBox="1"/>
          <p:nvPr/>
        </p:nvSpPr>
        <p:spPr>
          <a:xfrm>
            <a:off x="236396" y="970298"/>
            <a:ext cx="12079698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400">
                <a:highlight>
                  <a:srgbClr val="C0C0C0"/>
                </a:highlight>
                <a:latin typeface="BrowalliaUPC"/>
                <a:cs typeface="Arial"/>
              </a:rPr>
              <a:t>แก้ไขระบบการสร้างเอกสารชดเชยรายได้</a:t>
            </a:r>
            <a:endParaRPr lang="en-US"/>
          </a:p>
          <a:p>
            <a:r>
              <a:rPr lang="en-US" sz="2400" b="0" err="1">
                <a:latin typeface="BrowalliaUPC"/>
                <a:cs typeface="BrowalliaUPC"/>
              </a:rPr>
              <a:t>ไม่สามารถเปิดเอกสารชดเชยรายได้ได้</a:t>
            </a:r>
            <a:r>
              <a:rPr lang="en-US" sz="2400" b="0">
                <a:latin typeface="BrowalliaUPC"/>
                <a:cs typeface="BrowalliaUPC"/>
              </a:rPr>
              <a:t> </a:t>
            </a:r>
            <a:r>
              <a:rPr lang="en-US" sz="2400" b="0" err="1">
                <a:latin typeface="BrowalliaUPC"/>
                <a:cs typeface="BrowalliaUPC"/>
              </a:rPr>
              <a:t>เนื่องจากมีการไม่อนุมัติการชดเชยประกันรายได้ไปแล้ว</a:t>
            </a:r>
            <a:r>
              <a:rPr lang="en-US" sz="2400" b="0">
                <a:latin typeface="BrowalliaUPC"/>
                <a:cs typeface="BrowalliaUPC"/>
              </a:rPr>
              <a:t> </a:t>
            </a:r>
            <a:r>
              <a:rPr lang="en-US" sz="2400" b="0" err="1">
                <a:latin typeface="BrowalliaUPC"/>
                <a:cs typeface="BrowalliaUPC"/>
              </a:rPr>
              <a:t>ระบบจึงล็อคไม่ให้สามารถ</a:t>
            </a:r>
            <a:r>
              <a:rPr lang="en-US" sz="2400" b="0">
                <a:latin typeface="BrowalliaUPC"/>
                <a:cs typeface="BrowalliaUPC"/>
              </a:rPr>
              <a:t> เพิ่มวันที่สำหรับร้านที่เปิดกระทบและไม่สามารถสร้างเอกสารชดเชยรายได้ได้ </a:t>
            </a:r>
            <a:r>
              <a:rPr lang="en-US" sz="2400" b="0" err="1">
                <a:latin typeface="BrowalliaUPC"/>
                <a:cs typeface="BrowalliaUPC"/>
              </a:rPr>
              <a:t>จึงเปิด</a:t>
            </a:r>
            <a:r>
              <a:rPr lang="en-US" sz="2400" b="0">
                <a:latin typeface="BrowalliaUPC"/>
                <a:cs typeface="BrowalliaUPC"/>
              </a:rPr>
              <a:t> SR </a:t>
            </a:r>
            <a:r>
              <a:rPr lang="en-US" sz="2400" b="0" err="1">
                <a:latin typeface="BrowalliaUPC"/>
                <a:cs typeface="BrowalliaUPC"/>
              </a:rPr>
              <a:t>ให้ทางGosolf</a:t>
            </a:r>
            <a:r>
              <a:rPr lang="en-US" sz="2400" b="0">
                <a:latin typeface="BrowalliaUPC"/>
                <a:cs typeface="BrowalliaUPC"/>
              </a:rPr>
              <a:t> </a:t>
            </a:r>
            <a:r>
              <a:rPr lang="en-US" sz="2400" b="0" err="1">
                <a:latin typeface="BrowalliaUPC"/>
                <a:cs typeface="BrowalliaUPC"/>
              </a:rPr>
              <a:t>เพื่อให้สามารถสร้างเอกสารการชดเชยใหม่ได้</a:t>
            </a:r>
            <a:endParaRPr lang="en-US" sz="2400" b="0">
              <a:latin typeface="BrowalliaUPC"/>
              <a:cs typeface="BrowalliaUPC"/>
            </a:endParaRPr>
          </a:p>
          <a:p>
            <a:endParaRPr lang="en-US" sz="2400" b="0">
              <a:latin typeface="BrowalliaUPC"/>
              <a:cs typeface="BrowalliaUPC"/>
            </a:endParaRPr>
          </a:p>
          <a:p>
            <a:pPr algn="l"/>
            <a:endParaRPr lang="en-US" sz="24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C6D0461-8BBF-004B-57DD-59D4045DD893}"/>
              </a:ext>
            </a:extLst>
          </p:cNvPr>
          <p:cNvGrpSpPr/>
          <p:nvPr/>
        </p:nvGrpSpPr>
        <p:grpSpPr>
          <a:xfrm>
            <a:off x="2273392" y="2596329"/>
            <a:ext cx="7628849" cy="4267422"/>
            <a:chOff x="1559170" y="1863969"/>
            <a:chExt cx="8522677" cy="4829907"/>
          </a:xfrm>
        </p:grpSpPr>
        <p:pic>
          <p:nvPicPr>
            <p:cNvPr id="2" name="Picture 1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2F337854-09DE-A8C1-6861-B159D95A6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59170" y="1863969"/>
              <a:ext cx="8522677" cy="4829907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993B150-EE33-8CB7-2647-7A85EBC92351}"/>
                </a:ext>
              </a:extLst>
            </p:cNvPr>
            <p:cNvSpPr txBox="1"/>
            <p:nvPr/>
          </p:nvSpPr>
          <p:spPr>
            <a:xfrm>
              <a:off x="2406098" y="3777173"/>
              <a:ext cx="2829519" cy="2890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F85993D-D73E-23A2-58E0-6523EA219C65}"/>
                </a:ext>
              </a:extLst>
            </p:cNvPr>
            <p:cNvSpPr txBox="1"/>
            <p:nvPr/>
          </p:nvSpPr>
          <p:spPr>
            <a:xfrm>
              <a:off x="1700091" y="3779045"/>
              <a:ext cx="1275436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200" err="1">
                  <a:solidFill>
                    <a:srgbClr val="FF0000"/>
                  </a:solidFill>
                  <a:latin typeface="BrowalliaUPC"/>
                  <a:cs typeface="Angsana New"/>
                </a:rPr>
                <a:t>ร้านสาขา</a:t>
              </a:r>
              <a:r>
                <a:rPr lang="en-US" sz="1200">
                  <a:solidFill>
                    <a:srgbClr val="FF0000"/>
                  </a:solidFill>
                  <a:latin typeface="BrowalliaUPC"/>
                  <a:cs typeface="Angsana New"/>
                </a:rPr>
                <a:t> A</a:t>
              </a:r>
              <a:endParaRPr lang="en-US" sz="1200">
                <a:solidFill>
                  <a:srgbClr val="FF0000"/>
                </a:solidFill>
                <a:latin typeface="BrowalliaUPC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A192E5-BFB0-C1F2-32E8-7D1BF11B97D5}"/>
                </a:ext>
              </a:extLst>
            </p:cNvPr>
            <p:cNvSpPr txBox="1"/>
            <p:nvPr/>
          </p:nvSpPr>
          <p:spPr>
            <a:xfrm>
              <a:off x="5638875" y="3757009"/>
              <a:ext cx="793071" cy="52423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2AB752-D99D-5137-7B78-DC92B42EDB60}"/>
                </a:ext>
              </a:extLst>
            </p:cNvPr>
            <p:cNvSpPr txBox="1"/>
            <p:nvPr/>
          </p:nvSpPr>
          <p:spPr>
            <a:xfrm>
              <a:off x="6438997" y="3339209"/>
              <a:ext cx="2194796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err="1">
                  <a:solidFill>
                    <a:srgbClr val="FF0000"/>
                  </a:solidFill>
                  <a:latin typeface="CordiaUPC"/>
                  <a:cs typeface="Angsana New"/>
                </a:rPr>
                <a:t>ไม่แสดงตัวเลือก</a:t>
              </a:r>
              <a:r>
                <a:rPr lang="en-US" sz="1400">
                  <a:solidFill>
                    <a:srgbClr val="FF0000"/>
                  </a:solidFill>
                  <a:latin typeface="CordiaUPC"/>
                  <a:cs typeface="Angsana New"/>
                </a:rPr>
                <a:t> "New" </a:t>
              </a:r>
              <a:r>
                <a:rPr lang="en-US" sz="1400" err="1">
                  <a:solidFill>
                    <a:srgbClr val="FF0000"/>
                  </a:solidFill>
                  <a:latin typeface="CordiaUPC"/>
                  <a:cs typeface="Angsana New"/>
                </a:rPr>
                <a:t>เพื่อเพิ่มร้านสาขา</a:t>
              </a:r>
              <a:r>
                <a:rPr lang="en-US" sz="1400">
                  <a:solidFill>
                    <a:srgbClr val="FF0000"/>
                  </a:solidFill>
                  <a:latin typeface="CordiaUPC"/>
                  <a:cs typeface="Angsana New"/>
                </a:rPr>
                <a:t> B </a:t>
              </a:r>
              <a:r>
                <a:rPr lang="en-US" sz="1400" err="1">
                  <a:solidFill>
                    <a:srgbClr val="FF0000"/>
                  </a:solidFill>
                  <a:latin typeface="CordiaUPC"/>
                  <a:cs typeface="Angsana New"/>
                </a:rPr>
                <a:t>ที่เปิดกระทบร้านสาขา</a:t>
              </a:r>
              <a:r>
                <a:rPr lang="en-US" sz="1400">
                  <a:solidFill>
                    <a:srgbClr val="FF0000"/>
                  </a:solidFill>
                  <a:latin typeface="CordiaUPC"/>
                  <a:cs typeface="Angsana New"/>
                </a:rPr>
                <a:t> A </a:t>
              </a:r>
              <a:r>
                <a:rPr lang="en-US" sz="1400" err="1">
                  <a:solidFill>
                    <a:srgbClr val="FF0000"/>
                  </a:solidFill>
                  <a:latin typeface="CordiaUPC"/>
                  <a:cs typeface="Angsana New"/>
                </a:rPr>
                <a:t>ได้</a:t>
              </a:r>
              <a:endParaRPr lang="en-US" sz="1400">
                <a:solidFill>
                  <a:srgbClr val="FF0000"/>
                </a:solidFill>
                <a:latin typeface="CordiaUPC"/>
              </a:endParaRPr>
            </a:p>
          </p:txBody>
        </p:sp>
      </p:grp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D39A2446-96D2-0388-D795-BB14FAAC7674}"/>
              </a:ext>
            </a:extLst>
          </p:cNvPr>
          <p:cNvSpPr txBox="1"/>
          <p:nvPr/>
        </p:nvSpPr>
        <p:spPr>
          <a:xfrm>
            <a:off x="235012" y="2207086"/>
            <a:ext cx="979840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000" u="sng">
                <a:latin typeface="Arial"/>
                <a:cs typeface="Angsana New"/>
              </a:rPr>
              <a:t>หน้าจอการสร้างเอกสารของทีม SBP หลังจากที่ผู้บริหารไม่อนุมัติไปแล้ว และต้องการเปิดเอกสารอีกครั้ง</a:t>
            </a:r>
            <a:endParaRPr lang="th-TH" sz="2000" u="sng"/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4EDE6D3F-A6B5-F857-41F3-F453C8D1F5C5}"/>
              </a:ext>
            </a:extLst>
          </p:cNvPr>
          <p:cNvSpPr txBox="1"/>
          <p:nvPr/>
        </p:nvSpPr>
        <p:spPr>
          <a:xfrm>
            <a:off x="7845633" y="198684"/>
            <a:ext cx="411591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000">
                <a:solidFill>
                  <a:srgbClr val="FF0000"/>
                </a:solidFill>
                <a:latin typeface="Arial"/>
                <a:cs typeface="Angsana New"/>
              </a:rPr>
              <a:t> Note : แก้ไขในส่วนของเอกสารทุกไทป์ </a:t>
            </a: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4965CD47-0D4F-9635-B4A0-85FF04A6B6C3}"/>
              </a:ext>
            </a:extLst>
          </p:cNvPr>
          <p:cNvSpPr txBox="1"/>
          <p:nvPr/>
        </p:nvSpPr>
        <p:spPr>
          <a:xfrm>
            <a:off x="10430655" y="393492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4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767687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DAB45-AAF1-2138-129D-07027CD28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DE1C213-A6C5-168A-FC04-E9BD95A01DA6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5A7C639F-6FDE-967A-92DF-C87ABCA33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9793"/>
            <a:ext cx="12192000" cy="39196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E1B13E-A98C-555D-7BB0-40890A45172C}"/>
              </a:ext>
            </a:extLst>
          </p:cNvPr>
          <p:cNvSpPr txBox="1"/>
          <p:nvPr/>
        </p:nvSpPr>
        <p:spPr>
          <a:xfrm>
            <a:off x="599973" y="909262"/>
            <a:ext cx="8831119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th-TH" sz="2400">
                <a:highlight>
                  <a:srgbClr val="C0C0C0"/>
                </a:highlight>
                <a:latin typeface="BrowalliaUPC"/>
                <a:cs typeface="BrowalliaUPC"/>
              </a:rPr>
              <a:t>แก้ไขระบบการสร้างเอกสารชดเชยรายได้</a:t>
            </a:r>
            <a:endParaRPr lang="th-TH"/>
          </a:p>
          <a:p>
            <a:r>
              <a:rPr lang="en-US" sz="2800" b="0">
                <a:latin typeface="BrowalliaUPC"/>
                <a:cs typeface="BrowalliaUPC"/>
              </a:rPr>
              <a:t> </a:t>
            </a:r>
            <a:r>
              <a:rPr lang="en-US" sz="2800" b="0" err="1">
                <a:latin typeface="BrowalliaUPC"/>
                <a:cs typeface="BrowalliaUPC"/>
              </a:rPr>
              <a:t>เปิด</a:t>
            </a:r>
            <a:r>
              <a:rPr lang="en-US" sz="2800" b="0">
                <a:latin typeface="BrowalliaUPC"/>
                <a:cs typeface="BrowalliaUPC"/>
              </a:rPr>
              <a:t> SR </a:t>
            </a:r>
            <a:r>
              <a:rPr lang="en-US" sz="2800" b="0" err="1">
                <a:latin typeface="BrowalliaUPC"/>
                <a:cs typeface="BrowalliaUPC"/>
              </a:rPr>
              <a:t>ให้ทางGosolf</a:t>
            </a:r>
            <a:r>
              <a:rPr lang="en-US" sz="2800" b="0">
                <a:latin typeface="BrowalliaUPC"/>
                <a:cs typeface="BrowalliaUPC"/>
              </a:rPr>
              <a:t> </a:t>
            </a:r>
            <a:r>
              <a:rPr lang="en-US" sz="2800" b="0" err="1">
                <a:latin typeface="BrowalliaUPC"/>
                <a:cs typeface="BrowalliaUPC"/>
              </a:rPr>
              <a:t>เพื่อให้แก้ไขและสามารถสร้างเอกสารการชดเชยใหม่ได้</a:t>
            </a:r>
            <a:endParaRPr lang="en-US" sz="2800" b="0">
              <a:latin typeface="BrowalliaUPC"/>
              <a:cs typeface="BrowalliaUPC"/>
            </a:endParaRP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163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872AB0-9559-D33F-8A83-E3F0E7276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750" y="0"/>
            <a:ext cx="7830039" cy="67056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9744999-486A-AEBB-7ED4-BD4E22FEA89E}"/>
              </a:ext>
            </a:extLst>
          </p:cNvPr>
          <p:cNvSpPr txBox="1">
            <a:spLocks/>
          </p:cNvSpPr>
          <p:nvPr/>
        </p:nvSpPr>
        <p:spPr bwMode="auto">
          <a:xfrm>
            <a:off x="175407" y="0"/>
            <a:ext cx="3396343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th-TH" altLang="en-US" sz="2800" b="1" u="sng">
                <a:solidFill>
                  <a:srgbClr val="FF0000"/>
                </a:solidFill>
                <a:latin typeface="CordiaUPC"/>
                <a:cs typeface="CordiaUPC"/>
              </a:rPr>
              <a:t>ตัวอย่างหน้าจอในระบบ</a:t>
            </a:r>
            <a:endParaRPr lang="en-US" altLang="en-US" sz="2800" b="1" u="sng">
              <a:solidFill>
                <a:srgbClr val="FF0000"/>
              </a:solidFill>
              <a:latin typeface="CordiaUPC"/>
              <a:cs typeface="CordiaUP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B3EA59-D05E-4428-D292-C62B8B43B6F9}"/>
              </a:ext>
            </a:extLst>
          </p:cNvPr>
          <p:cNvSpPr txBox="1"/>
          <p:nvPr/>
        </p:nvSpPr>
        <p:spPr>
          <a:xfrm>
            <a:off x="379681" y="1237482"/>
            <a:ext cx="2742147" cy="23083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>
                <a:latin typeface="CordiaUPC"/>
                <a:cs typeface="Angsana New"/>
              </a:rPr>
              <a:t>หากผู้บริหารไม่ทำการอนุมัติและหยุดประกันรายได้แล้ว</a:t>
            </a:r>
            <a:r>
              <a:rPr lang="en-US" sz="2400">
                <a:latin typeface="CordiaUPC"/>
                <a:cs typeface="Angsana New"/>
              </a:rPr>
              <a:t> </a:t>
            </a:r>
            <a:r>
              <a:rPr lang="en-US" sz="2400" err="1">
                <a:latin typeface="CordiaUPC"/>
                <a:cs typeface="Angsana New"/>
              </a:rPr>
              <a:t>จะไม่สามารถสร้างเอกสารสาขาเดิมและคู่ชนเดิมมาชดเชยรายได้ได้เลย</a:t>
            </a:r>
            <a:r>
              <a:rPr lang="en-US" sz="2400">
                <a:latin typeface="CordiaUPC"/>
                <a:cs typeface="Angsana New"/>
              </a:rPr>
              <a:t> </a:t>
            </a:r>
            <a:r>
              <a:rPr lang="en-US" sz="2400" err="1">
                <a:latin typeface="CordiaUPC"/>
                <a:cs typeface="Angsana New"/>
              </a:rPr>
              <a:t>จึงต้องทำการเปิด</a:t>
            </a:r>
            <a:r>
              <a:rPr lang="en-US" sz="2400">
                <a:latin typeface="CordiaUPC"/>
                <a:cs typeface="Angsana New"/>
              </a:rPr>
              <a:t> SR</a:t>
            </a:r>
            <a:endParaRPr lang="en-US" sz="2400">
              <a:latin typeface="CordiaUPC"/>
            </a:endParaRPr>
          </a:p>
        </p:txBody>
      </p: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0E9191FC-E8DC-3CA2-0C54-A0CA718351A1}"/>
              </a:ext>
            </a:extLst>
          </p:cNvPr>
          <p:cNvSpPr txBox="1"/>
          <p:nvPr/>
        </p:nvSpPr>
        <p:spPr>
          <a:xfrm>
            <a:off x="10393180" y="13116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3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449166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5123B9-E78C-A47E-C497-763237041CBE}"/>
              </a:ext>
            </a:extLst>
          </p:cNvPr>
          <p:cNvSpPr txBox="1">
            <a:spLocks/>
          </p:cNvSpPr>
          <p:nvPr/>
        </p:nvSpPr>
        <p:spPr bwMode="auto">
          <a:xfrm>
            <a:off x="172497" y="311499"/>
            <a:ext cx="5247752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th-TH" altLang="en-US" sz="2800" b="1" u="sng">
                <a:solidFill>
                  <a:srgbClr val="FF0000"/>
                </a:solidFill>
                <a:latin typeface="CordiaUPC"/>
                <a:cs typeface="CordiaUPC"/>
              </a:rPr>
              <a:t>ตัวอย่าง</a:t>
            </a:r>
            <a:r>
              <a:rPr lang="th-TH" altLang="en-US" sz="2800" u="sng">
                <a:solidFill>
                  <a:srgbClr val="FF0000"/>
                </a:solidFill>
                <a:latin typeface="CordiaUPC"/>
                <a:cs typeface="CordiaUPC"/>
              </a:rPr>
              <a:t>หน้าจอ "หน้าคำนวณชดเชย </a:t>
            </a:r>
            <a:r>
              <a:rPr lang="en-US" sz="2800" u="sng">
                <a:solidFill>
                  <a:srgbClr val="FF0000"/>
                </a:solidFill>
                <a:latin typeface="CordiaUPC"/>
                <a:cs typeface="Arial"/>
              </a:rPr>
              <a:t>Type A, C</a:t>
            </a:r>
            <a:r>
              <a:rPr lang="th-TH" altLang="en-US" sz="2800" u="sng">
                <a:solidFill>
                  <a:srgbClr val="FF0000"/>
                </a:solidFill>
                <a:latin typeface="CordiaUPC"/>
                <a:cs typeface="CordiaUPC"/>
              </a:rPr>
              <a:t>"</a:t>
            </a:r>
            <a:endParaRPr lang="th-TH" altLang="en-US" sz="2800" b="1" u="sng">
              <a:solidFill>
                <a:srgbClr val="FF0000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91EE8E1-E30C-06D3-7F1C-6D35840A2178}"/>
              </a:ext>
            </a:extLst>
          </p:cNvPr>
          <p:cNvGrpSpPr/>
          <p:nvPr/>
        </p:nvGrpSpPr>
        <p:grpSpPr>
          <a:xfrm>
            <a:off x="0" y="1921860"/>
            <a:ext cx="12192000" cy="4327264"/>
            <a:chOff x="0" y="1265368"/>
            <a:chExt cx="12192000" cy="4327264"/>
          </a:xfrm>
        </p:grpSpPr>
        <p:pic>
          <p:nvPicPr>
            <p:cNvPr id="2" name="Picture 1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999653CC-5405-EE83-A4E4-6EC841FE4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265368"/>
              <a:ext cx="12192000" cy="4327264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B72844D-37FE-602F-08F5-8958B691B236}"/>
                </a:ext>
              </a:extLst>
            </p:cNvPr>
            <p:cNvSpPr txBox="1"/>
            <p:nvPr/>
          </p:nvSpPr>
          <p:spPr>
            <a:xfrm>
              <a:off x="4785315" y="4503034"/>
              <a:ext cx="7379600" cy="87372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CC0035A-8C48-09E1-52CE-0FE0A3CD6762}"/>
              </a:ext>
            </a:extLst>
          </p:cNvPr>
          <p:cNvSpPr txBox="1"/>
          <p:nvPr/>
        </p:nvSpPr>
        <p:spPr>
          <a:xfrm>
            <a:off x="173025" y="1021584"/>
            <a:ext cx="11681927" cy="11264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400" b="0">
                <a:latin typeface="BrowalliaUPC"/>
                <a:cs typeface="BrowalliaUPC"/>
              </a:rPr>
              <a:t>หน้าคำนวณชดเชย </a:t>
            </a:r>
            <a:r>
              <a:rPr lang="en-US" sz="2400" b="0">
                <a:latin typeface="BrowalliaUPC"/>
                <a:cs typeface="CordiaUPC"/>
              </a:rPr>
              <a:t>Type A, C </a:t>
            </a:r>
            <a:r>
              <a:rPr lang="en-US" sz="2400" b="0" err="1">
                <a:latin typeface="BrowalliaUPC"/>
                <a:cs typeface="CordiaUPC"/>
              </a:rPr>
              <a:t>ภายในตารางชดเชยรายได้</a:t>
            </a:r>
            <a:r>
              <a:rPr lang="en-US" sz="2400" b="0">
                <a:latin typeface="BrowalliaUPC"/>
                <a:cs typeface="CordiaUPC"/>
              </a:rPr>
              <a:t> </a:t>
            </a:r>
            <a:r>
              <a:rPr lang="en-US" sz="2400" b="0" err="1">
                <a:latin typeface="BrowalliaUPC"/>
                <a:cs typeface="CordiaUPC"/>
              </a:rPr>
              <a:t>ประกอบด้วย</a:t>
            </a:r>
            <a:r>
              <a:rPr lang="en-US" sz="2400" b="0">
                <a:latin typeface="BrowalliaUPC"/>
                <a:cs typeface="CordiaUPC"/>
              </a:rPr>
              <a:t> </a:t>
            </a:r>
            <a:r>
              <a:rPr lang="en-US" sz="2400" b="0" err="1">
                <a:latin typeface="BrowalliaUPC"/>
                <a:cs typeface="CordiaUPC"/>
              </a:rPr>
              <a:t>Perfoemance</a:t>
            </a:r>
            <a:r>
              <a:rPr lang="en-US" sz="2400" b="0">
                <a:latin typeface="BrowalliaUPC"/>
                <a:cs typeface="CordiaUPC"/>
              </a:rPr>
              <a:t> Index, </a:t>
            </a:r>
            <a:r>
              <a:rPr lang="en-US" sz="2400" b="0" err="1">
                <a:latin typeface="BrowalliaUPC"/>
                <a:cs typeface="Arial"/>
              </a:rPr>
              <a:t>ยอดขายเฉลี่ยรายวัน</a:t>
            </a:r>
            <a:r>
              <a:rPr lang="en-US" sz="2400" b="0">
                <a:latin typeface="BrowalliaUPC"/>
                <a:cs typeface="Arial"/>
              </a:rPr>
              <a:t>, </a:t>
            </a:r>
            <a:r>
              <a:rPr lang="en-US" sz="2400" b="0" err="1">
                <a:latin typeface="BrowalliaUPC"/>
                <a:cs typeface="Arial"/>
              </a:rPr>
              <a:t>ยอดขายเฉลี่ยรายวันรวมบัตร</a:t>
            </a:r>
            <a:r>
              <a:rPr lang="en-US" sz="2400" b="0">
                <a:latin typeface="BrowalliaUPC"/>
                <a:cs typeface="Arial"/>
              </a:rPr>
              <a:t>, GP(</a:t>
            </a:r>
            <a:r>
              <a:rPr lang="en-US" sz="2400" b="0" err="1">
                <a:latin typeface="BrowalliaUPC"/>
                <a:cs typeface="Arial"/>
              </a:rPr>
              <a:t>บาท</a:t>
            </a:r>
            <a:r>
              <a:rPr lang="en-US" sz="2400" b="0">
                <a:latin typeface="BrowalliaUPC"/>
                <a:cs typeface="Arial"/>
              </a:rPr>
              <a:t>)</a:t>
            </a:r>
            <a:r>
              <a:rPr lang="en-US" sz="2400" b="0" err="1">
                <a:latin typeface="BrowalliaUPC"/>
                <a:cs typeface="Arial"/>
              </a:rPr>
              <a:t>มาตรฐานก่อน</a:t>
            </a:r>
            <a:r>
              <a:rPr lang="en-US" sz="2400" b="0">
                <a:latin typeface="BrowalliaUPC"/>
                <a:cs typeface="Arial"/>
              </a:rPr>
              <a:t> Split </a:t>
            </a:r>
            <a:r>
              <a:rPr lang="en-US" sz="2400" b="0" err="1">
                <a:latin typeface="BrowalliaUPC"/>
                <a:cs typeface="Arial"/>
              </a:rPr>
              <a:t>และยอดชดเชย</a:t>
            </a:r>
            <a:endParaRPr lang="en-US" sz="2400" b="0" err="1">
              <a:latin typeface="BrowalliaUPC"/>
            </a:endParaRPr>
          </a:p>
        </p:txBody>
      </p: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5229B95E-7EBE-EC74-8585-F75474C92BB9}"/>
              </a:ext>
            </a:extLst>
          </p:cNvPr>
          <p:cNvSpPr txBox="1"/>
          <p:nvPr/>
        </p:nvSpPr>
        <p:spPr>
          <a:xfrm>
            <a:off x="10393180" y="13116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3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060358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5123B9-E78C-A47E-C497-763237041CBE}"/>
              </a:ext>
            </a:extLst>
          </p:cNvPr>
          <p:cNvSpPr txBox="1">
            <a:spLocks/>
          </p:cNvSpPr>
          <p:nvPr/>
        </p:nvSpPr>
        <p:spPr bwMode="auto">
          <a:xfrm>
            <a:off x="828989" y="-5025"/>
            <a:ext cx="3559629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th-TH" altLang="en-US" sz="2800" b="1" u="sng">
                <a:solidFill>
                  <a:srgbClr val="FF0000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ตัวอย่างเอกสารแนบ </a:t>
            </a:r>
            <a:r>
              <a:rPr lang="en-US" altLang="en-US" sz="2800" b="1" u="sng">
                <a:solidFill>
                  <a:srgbClr val="FF0000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Type A, C</a:t>
            </a:r>
            <a:endParaRPr lang="th-TH" altLang="en-US" sz="2800" b="1" u="sng">
              <a:solidFill>
                <a:srgbClr val="FF0000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74177A-F261-7CD0-3A15-410E53E6A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39" y="599988"/>
            <a:ext cx="10527323" cy="60320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FA3861-3090-999D-0208-41E9005EC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692" y="1907088"/>
            <a:ext cx="5874052" cy="4286470"/>
          </a:xfrm>
          <a:prstGeom prst="rect">
            <a:avLst/>
          </a:prstGeom>
        </p:spPr>
      </p:pic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4A196F76-F796-3FDA-16AF-6E9BD761D27E}"/>
              </a:ext>
            </a:extLst>
          </p:cNvPr>
          <p:cNvSpPr txBox="1"/>
          <p:nvPr/>
        </p:nvSpPr>
        <p:spPr>
          <a:xfrm>
            <a:off x="10393180" y="13116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4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670017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5123B9-E78C-A47E-C497-763237041CBE}"/>
              </a:ext>
            </a:extLst>
          </p:cNvPr>
          <p:cNvSpPr txBox="1">
            <a:spLocks/>
          </p:cNvSpPr>
          <p:nvPr/>
        </p:nvSpPr>
        <p:spPr bwMode="auto">
          <a:xfrm>
            <a:off x="617973" y="77037"/>
            <a:ext cx="3559629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th-TH" altLang="en-US" sz="2800" b="1" u="sng">
                <a:solidFill>
                  <a:srgbClr val="FF0000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ตัวอย่างเอกสารแนบ </a:t>
            </a:r>
            <a:r>
              <a:rPr lang="en-US" altLang="en-US" sz="2800" b="1" u="sng">
                <a:solidFill>
                  <a:srgbClr val="FF0000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Type A, C</a:t>
            </a:r>
            <a:endParaRPr lang="th-TH" altLang="en-US" sz="2800" b="1" u="sng">
              <a:solidFill>
                <a:srgbClr val="FF0000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FA3861-3090-999D-0208-41E9005EC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908" y="523764"/>
            <a:ext cx="8628975" cy="6267670"/>
          </a:xfrm>
          <a:prstGeom prst="rect">
            <a:avLst/>
          </a:prstGeom>
        </p:spPr>
      </p:pic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712A5B9B-BAEF-4130-9680-07A7F21449A3}"/>
              </a:ext>
            </a:extLst>
          </p:cNvPr>
          <p:cNvSpPr txBox="1"/>
          <p:nvPr/>
        </p:nvSpPr>
        <p:spPr>
          <a:xfrm>
            <a:off x="10393180" y="13116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3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776489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5123B9-E78C-A47E-C497-763237041CBE}"/>
              </a:ext>
            </a:extLst>
          </p:cNvPr>
          <p:cNvSpPr txBox="1">
            <a:spLocks/>
          </p:cNvSpPr>
          <p:nvPr/>
        </p:nvSpPr>
        <p:spPr bwMode="auto">
          <a:xfrm>
            <a:off x="172497" y="311499"/>
            <a:ext cx="640833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th-TH" altLang="en-US" sz="2800" b="1" u="sng">
                <a:solidFill>
                  <a:srgbClr val="FF0000"/>
                </a:solidFill>
                <a:latin typeface="CordiaUPC"/>
                <a:cs typeface="CordiaUPC"/>
              </a:rPr>
              <a:t>ตัวอย่าง</a:t>
            </a:r>
            <a:r>
              <a:rPr lang="th-TH" altLang="en-US" sz="2800" u="sng">
                <a:solidFill>
                  <a:srgbClr val="FF0000"/>
                </a:solidFill>
                <a:latin typeface="CordiaUPC"/>
                <a:cs typeface="CordiaUPC"/>
              </a:rPr>
              <a:t>หน้าจอ "หน้าคำนวณชดเชย </a:t>
            </a:r>
            <a:r>
              <a:rPr lang="en-US" sz="2800" u="sng">
                <a:solidFill>
                  <a:srgbClr val="FF0000"/>
                </a:solidFill>
                <a:latin typeface="CordiaUPC"/>
                <a:cs typeface="Arial"/>
              </a:rPr>
              <a:t>Type B, E, V(B)</a:t>
            </a:r>
            <a:r>
              <a:rPr lang="th-TH" altLang="en-US" sz="2800" u="sng">
                <a:solidFill>
                  <a:srgbClr val="FF0000"/>
                </a:solidFill>
                <a:latin typeface="CordiaUPC"/>
                <a:cs typeface="CordiaUPC"/>
              </a:rPr>
              <a:t>"</a:t>
            </a:r>
            <a:endParaRPr lang="th-TH" altLang="en-US" sz="2800" b="1" u="sng">
              <a:solidFill>
                <a:srgbClr val="FF0000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C0035A-8C48-09E1-52CE-0FE0A3CD6762}"/>
              </a:ext>
            </a:extLst>
          </p:cNvPr>
          <p:cNvSpPr txBox="1"/>
          <p:nvPr/>
        </p:nvSpPr>
        <p:spPr>
          <a:xfrm>
            <a:off x="173025" y="1021584"/>
            <a:ext cx="11681927" cy="11264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400" b="0">
                <a:latin typeface="BrowalliaUPC"/>
                <a:cs typeface="BrowalliaUPC"/>
              </a:rPr>
              <a:t>หน้าคำนวณชดเชย </a:t>
            </a:r>
            <a:r>
              <a:rPr lang="en-US" sz="2400" b="0">
                <a:latin typeface="BrowalliaUPC"/>
                <a:cs typeface="Arial"/>
              </a:rPr>
              <a:t>Type B, E, V(B)</a:t>
            </a:r>
            <a:r>
              <a:rPr lang="en-US" sz="2400" b="0">
                <a:latin typeface="BrowalliaUPC"/>
                <a:cs typeface="CordiaUPC"/>
              </a:rPr>
              <a:t> </a:t>
            </a:r>
            <a:r>
              <a:rPr lang="en-US" sz="2400" b="0" err="1">
                <a:latin typeface="BrowalliaUPC"/>
                <a:cs typeface="CordiaUPC"/>
              </a:rPr>
              <a:t>ภายในตารางชดเชยรายได้</a:t>
            </a:r>
            <a:r>
              <a:rPr lang="en-US" sz="2400" b="0">
                <a:latin typeface="BrowalliaUPC"/>
                <a:cs typeface="CordiaUPC"/>
              </a:rPr>
              <a:t> </a:t>
            </a:r>
            <a:r>
              <a:rPr lang="en-US" sz="2400" b="0" err="1">
                <a:latin typeface="BrowalliaUPC"/>
                <a:cs typeface="CordiaUPC"/>
              </a:rPr>
              <a:t>ประกอบด้วย</a:t>
            </a:r>
            <a:r>
              <a:rPr lang="en-US" sz="2400" b="0">
                <a:latin typeface="BrowalliaUPC"/>
                <a:cs typeface="CordiaUPC"/>
              </a:rPr>
              <a:t> </a:t>
            </a:r>
            <a:r>
              <a:rPr lang="en-US" sz="2400" b="0">
                <a:latin typeface="BrowalliaUPC"/>
                <a:cs typeface="Arial"/>
              </a:rPr>
              <a:t>Performance Index, Incentive Guarantee, </a:t>
            </a:r>
            <a:r>
              <a:rPr lang="en-US" sz="2400" b="0" err="1">
                <a:latin typeface="BrowalliaUPC"/>
                <a:cs typeface="Arial"/>
              </a:rPr>
              <a:t>ส่วนแบ่งรายได้ของ</a:t>
            </a:r>
            <a:r>
              <a:rPr lang="en-US" sz="2400" b="0">
                <a:latin typeface="BrowalliaUPC"/>
                <a:cs typeface="Arial"/>
              </a:rPr>
              <a:t> SBP </a:t>
            </a:r>
            <a:r>
              <a:rPr lang="en-US" sz="2400" b="0" err="1">
                <a:latin typeface="BrowalliaUPC"/>
                <a:cs typeface="Arial"/>
              </a:rPr>
              <a:t>ตามเป้า</a:t>
            </a:r>
            <a:r>
              <a:rPr lang="en-US" sz="2400" b="0">
                <a:latin typeface="BrowalliaUPC"/>
                <a:cs typeface="Arial"/>
              </a:rPr>
              <a:t> </a:t>
            </a:r>
            <a:r>
              <a:rPr lang="en-US" sz="2400" b="0" err="1">
                <a:latin typeface="BrowalliaUPC"/>
                <a:cs typeface="Arial"/>
              </a:rPr>
              <a:t>และยอดชดเชย</a:t>
            </a:r>
            <a:endParaRPr lang="en-US" sz="2400" b="0">
              <a:latin typeface="BrowalliaUPC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BB6F3A1-5F21-F641-A9AB-67200AEDB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062" y="2067405"/>
            <a:ext cx="12192000" cy="3872052"/>
          </a:xfrm>
          <a:prstGeom prst="rect">
            <a:avLst/>
          </a:prstGeom>
        </p:spPr>
      </p:pic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10726D8A-E6A6-9842-C8C6-B9471ABBDA69}"/>
              </a:ext>
            </a:extLst>
          </p:cNvPr>
          <p:cNvSpPr txBox="1"/>
          <p:nvPr/>
        </p:nvSpPr>
        <p:spPr>
          <a:xfrm>
            <a:off x="10393180" y="13116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3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573719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1B38F03-834C-2864-91B5-6D0DD32D1614}"/>
              </a:ext>
            </a:extLst>
          </p:cNvPr>
          <p:cNvSpPr txBox="1">
            <a:spLocks/>
          </p:cNvSpPr>
          <p:nvPr/>
        </p:nvSpPr>
        <p:spPr bwMode="auto">
          <a:xfrm>
            <a:off x="7696201" y="478972"/>
            <a:ext cx="4169228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th-TH" altLang="en-US" sz="2800" b="1" u="sng">
                <a:solidFill>
                  <a:srgbClr val="FF0000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ตัวอย่างเอกสารแนบ </a:t>
            </a:r>
            <a:r>
              <a:rPr lang="en-US" altLang="en-US" sz="2800" b="1" u="sng">
                <a:solidFill>
                  <a:srgbClr val="FF0000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Type B, E, V(B)</a:t>
            </a:r>
            <a:endParaRPr lang="th-TH" altLang="en-US" sz="2800" b="1" u="sng">
              <a:solidFill>
                <a:srgbClr val="FF0000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09EC4F-8663-D5A4-5C99-F2915A030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53" y="0"/>
            <a:ext cx="6237647" cy="6038899"/>
          </a:xfrm>
          <a:prstGeom prst="rect">
            <a:avLst/>
          </a:prstGeom>
        </p:spPr>
      </p:pic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4C4B2921-5AD7-0C9E-A9C9-3647E0C75E34}"/>
              </a:ext>
            </a:extLst>
          </p:cNvPr>
          <p:cNvSpPr txBox="1"/>
          <p:nvPr/>
        </p:nvSpPr>
        <p:spPr>
          <a:xfrm>
            <a:off x="10393180" y="13116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3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626836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953BF-9938-0B7C-77C7-F9808EA7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D6E4CF2-D44B-FB9E-187E-0224703BD4FA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98108EBC-AA2D-2AF3-F5BA-93D7ABA7774B}"/>
              </a:ext>
            </a:extLst>
          </p:cNvPr>
          <p:cNvSpPr txBox="1"/>
          <p:nvPr/>
        </p:nvSpPr>
        <p:spPr>
          <a:xfrm>
            <a:off x="9993442" y="8119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3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987C85B-288B-EA61-8744-082650DC7414}"/>
              </a:ext>
            </a:extLst>
          </p:cNvPr>
          <p:cNvSpPr txBox="1"/>
          <p:nvPr/>
        </p:nvSpPr>
        <p:spPr>
          <a:xfrm>
            <a:off x="775741" y="944380"/>
            <a:ext cx="1079664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highlight>
                  <a:srgbClr val="C0C0C0"/>
                </a:highlight>
                <a:latin typeface="BrowalliaUPC"/>
                <a:cs typeface="BrowalliaUPC"/>
              </a:rPr>
              <a:t>2.  </a:t>
            </a:r>
            <a:r>
              <a:rPr lang="en-US" sz="2400" dirty="0" err="1">
                <a:highlight>
                  <a:srgbClr val="C0C0C0"/>
                </a:highlight>
                <a:latin typeface="BrowalliaUPC"/>
                <a:cs typeface="BrowalliaUPC"/>
              </a:rPr>
              <a:t>ปรับสิทธิ์การตรวจสอบยอดชดเชยรายได้และกระบวนการทำงาน</a:t>
            </a:r>
            <a:r>
              <a:rPr lang="en-US" sz="2400" dirty="0">
                <a:highlight>
                  <a:srgbClr val="C0C0C0"/>
                </a:highlight>
                <a:latin typeface="BrowalliaUPC"/>
                <a:cs typeface="BrowalliaUPC"/>
              </a:rPr>
              <a:t> </a:t>
            </a:r>
            <a:r>
              <a:rPr lang="en-US" sz="2400" dirty="0" err="1">
                <a:highlight>
                  <a:srgbClr val="C0C0C0"/>
                </a:highlight>
                <a:latin typeface="BrowalliaUPC"/>
                <a:cs typeface="BrowalliaUPC"/>
              </a:rPr>
              <a:t>ของทีมส่งเสริม</a:t>
            </a:r>
            <a:endParaRPr lang="en-US" sz="2400" dirty="0" err="1">
              <a:solidFill>
                <a:srgbClr val="000000"/>
              </a:solidFill>
              <a:highlight>
                <a:srgbClr val="C0C0C0"/>
              </a:highlight>
              <a:latin typeface="BrowalliaUPC"/>
              <a:cs typeface="BrowalliaUPC"/>
            </a:endParaRP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F199ECBE-0693-8566-58A1-135C671D61CE}"/>
              </a:ext>
            </a:extLst>
          </p:cNvPr>
          <p:cNvSpPr txBox="1"/>
          <p:nvPr/>
        </p:nvSpPr>
        <p:spPr>
          <a:xfrm>
            <a:off x="1087287" y="3735327"/>
            <a:ext cx="10307398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400" b="0">
                <a:latin typeface="Browallia New"/>
                <a:cs typeface="Browallia New"/>
              </a:rPr>
              <a:t>ลำดับการ </a:t>
            </a:r>
            <a:r>
              <a:rPr lang="th-TH" sz="2400" b="0" err="1">
                <a:latin typeface="Browallia New"/>
                <a:cs typeface="Browallia New"/>
              </a:rPr>
              <a:t>Approve</a:t>
            </a:r>
            <a:r>
              <a:rPr lang="th-TH" sz="2400" b="0">
                <a:latin typeface="Browallia New"/>
                <a:cs typeface="Browallia New"/>
              </a:rPr>
              <a:t> ยอดค่าใช้จ่ายไม่เกิน 50,000</a:t>
            </a:r>
          </a:p>
          <a:p>
            <a:pPr marL="342900" indent="-342900">
              <a:buAutoNum type="arabicPeriod"/>
            </a:pPr>
            <a:r>
              <a:rPr lang="th-TH" sz="2400" b="0">
                <a:latin typeface="Browallia New"/>
                <a:cs typeface="Browallia New"/>
              </a:rPr>
              <a:t>กลั่นกรอง : ฝ่ายส่งเสริม</a:t>
            </a:r>
            <a:endParaRPr lang="th-TH"/>
          </a:p>
          <a:p>
            <a:pPr marL="342900" indent="-342900">
              <a:buAutoNum type="arabicPeriod"/>
            </a:pPr>
            <a:r>
              <a:rPr lang="th-TH" sz="2400" b="0" err="1">
                <a:latin typeface="Browallia New"/>
                <a:cs typeface="Browallia New"/>
              </a:rPr>
              <a:t>Approve</a:t>
            </a:r>
            <a:r>
              <a:rPr lang="th-TH" sz="2400" b="0">
                <a:latin typeface="Browallia New"/>
                <a:cs typeface="Browallia New"/>
              </a:rPr>
              <a:t> : GM ส่งเสริม</a:t>
            </a:r>
          </a:p>
        </p:txBody>
      </p:sp>
      <p:graphicFrame>
        <p:nvGraphicFramePr>
          <p:cNvPr id="13" name="ตาราง 12">
            <a:extLst>
              <a:ext uri="{FF2B5EF4-FFF2-40B4-BE49-F238E27FC236}">
                <a16:creationId xmlns:a16="http://schemas.microsoft.com/office/drawing/2014/main" id="{2D38803D-64F1-86D6-3EE4-68CA80DFF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245229"/>
              </p:ext>
            </p:extLst>
          </p:nvPr>
        </p:nvGraphicFramePr>
        <p:xfrm>
          <a:off x="1371189" y="2025103"/>
          <a:ext cx="9753599" cy="137160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1288472">
                  <a:extLst>
                    <a:ext uri="{9D8B030D-6E8A-4147-A177-3AD203B41FA5}">
                      <a16:colId xmlns:a16="http://schemas.microsoft.com/office/drawing/2014/main" val="3510736362"/>
                    </a:ext>
                  </a:extLst>
                </a:gridCol>
                <a:gridCol w="5999018">
                  <a:extLst>
                    <a:ext uri="{9D8B030D-6E8A-4147-A177-3AD203B41FA5}">
                      <a16:colId xmlns:a16="http://schemas.microsoft.com/office/drawing/2014/main" val="2830422358"/>
                    </a:ext>
                  </a:extLst>
                </a:gridCol>
                <a:gridCol w="2466109">
                  <a:extLst>
                    <a:ext uri="{9D8B030D-6E8A-4147-A177-3AD203B41FA5}">
                      <a16:colId xmlns:a16="http://schemas.microsoft.com/office/drawing/2014/main" val="2915401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h-TH" sz="2400" b="1">
                          <a:effectLst/>
                          <a:latin typeface="Browallia New"/>
                          <a:cs typeface="Browallia New"/>
                        </a:rPr>
                        <a:t>ตำแหน่งย่อ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h-TH" sz="2400" b="1">
                          <a:effectLst/>
                          <a:latin typeface="Browallia New"/>
                          <a:cs typeface="Browallia New"/>
                        </a:rPr>
                        <a:t>ระดับของผู้ได้รับมอบอำนาจ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h-TH" sz="2400" b="1">
                          <a:effectLst/>
                          <a:latin typeface="Browallia New"/>
                          <a:cs typeface="Browallia New"/>
                        </a:rPr>
                        <a:t>วงเงินอนุมัติ/รายการ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9722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2400">
                          <a:effectLst/>
                          <a:latin typeface="Browallia New"/>
                        </a:rPr>
                        <a:t>GM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 sz="2400">
                          <a:effectLst/>
                          <a:latin typeface="Browallia New"/>
                          <a:cs typeface="Browallia New"/>
                        </a:rPr>
                        <a:t>ผู้จัดการทั่วไป รองผู้จัดการทั่วไป ผู้ช่วยผู้จัดการทั่วไป หรือเทียบเท่า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h-TH" sz="2400">
                          <a:effectLst/>
                          <a:latin typeface="Browallia New"/>
                          <a:cs typeface="Browallia New"/>
                        </a:rPr>
                        <a:t>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5531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2400">
                          <a:effectLst/>
                          <a:latin typeface="Browallia New"/>
                        </a:rPr>
                        <a:t>AVP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 sz="2400">
                          <a:effectLst/>
                          <a:latin typeface="Browallia New"/>
                          <a:cs typeface="Browallia New"/>
                        </a:rPr>
                        <a:t>ผู้ช่วยกรรมการผู้จัดการ หรือเทียบเท่า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h-TH" sz="2400">
                          <a:effectLst/>
                          <a:latin typeface="Browallia New"/>
                          <a:cs typeface="Browallia New"/>
                        </a:rPr>
                        <a:t>300,000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1387509"/>
                  </a:ext>
                </a:extLst>
              </a:tr>
            </a:tbl>
          </a:graphicData>
        </a:graphic>
      </p:graphicFrame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A3DD1913-7720-C74A-1C2A-667E3D68C9B1}"/>
              </a:ext>
            </a:extLst>
          </p:cNvPr>
          <p:cNvSpPr txBox="1"/>
          <p:nvPr/>
        </p:nvSpPr>
        <p:spPr>
          <a:xfrm>
            <a:off x="1087286" y="5187440"/>
            <a:ext cx="10307398" cy="15696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400" b="0">
                <a:latin typeface="Browallia New"/>
                <a:cs typeface="Browallia New"/>
              </a:rPr>
              <a:t>ลำดับการ </a:t>
            </a:r>
            <a:r>
              <a:rPr lang="th-TH" sz="2400" b="0" err="1">
                <a:latin typeface="Browallia New"/>
                <a:cs typeface="Browallia New"/>
              </a:rPr>
              <a:t>Approve</a:t>
            </a:r>
            <a:r>
              <a:rPr lang="th-TH" sz="2400" b="0">
                <a:latin typeface="Browallia New"/>
                <a:cs typeface="Browallia New"/>
              </a:rPr>
              <a:t> ยอดค่าใช้จ่าย 50,001 - 300,000</a:t>
            </a:r>
          </a:p>
          <a:p>
            <a:pPr marL="342900" indent="-342900">
              <a:buAutoNum type="arabicPeriod"/>
            </a:pPr>
            <a:r>
              <a:rPr lang="th-TH" sz="2400" b="0">
                <a:latin typeface="Browallia New"/>
                <a:cs typeface="Browallia New"/>
              </a:rPr>
              <a:t>กลั่นกรอง1 : ฝ่ายส่งเสริม</a:t>
            </a:r>
            <a:endParaRPr lang="th-TH"/>
          </a:p>
          <a:p>
            <a:pPr marL="342900" indent="-342900">
              <a:buAutoNum type="arabicPeriod"/>
            </a:pPr>
            <a:r>
              <a:rPr lang="th-TH" sz="2400" b="0">
                <a:latin typeface="Browallia New"/>
                <a:cs typeface="Browallia New"/>
              </a:rPr>
              <a:t>กลั่นกรอง2 : GM ส่งเสริม</a:t>
            </a:r>
          </a:p>
          <a:p>
            <a:pPr marL="342900" indent="-342900">
              <a:buAutoNum type="arabicPeriod"/>
            </a:pPr>
            <a:r>
              <a:rPr lang="th-TH" sz="2400" b="0">
                <a:latin typeface="Browallia New"/>
                <a:cs typeface="Browallia New"/>
              </a:rPr>
              <a:t>Approve : AVP สำนัก SBPM</a:t>
            </a: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2DBB0940-B983-3ECD-0AD1-D5EFC0319415}"/>
              </a:ext>
            </a:extLst>
          </p:cNvPr>
          <p:cNvSpPr txBox="1"/>
          <p:nvPr/>
        </p:nvSpPr>
        <p:spPr>
          <a:xfrm>
            <a:off x="728869" y="1431235"/>
            <a:ext cx="689113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u="sng" err="1">
                <a:latin typeface="BrowalliaUPC"/>
                <a:cs typeface="Arial"/>
              </a:rPr>
              <a:t>ปรับสิทธิ์การตรวจสอบยอดชดเชยรายได้</a:t>
            </a:r>
            <a:endParaRPr lang="th-TH" u="sng" err="1"/>
          </a:p>
        </p:txBody>
      </p:sp>
    </p:spTree>
    <p:extLst>
      <p:ext uri="{BB962C8B-B14F-4D97-AF65-F5344CB8AC3E}">
        <p14:creationId xmlns:p14="http://schemas.microsoft.com/office/powerpoint/2010/main" val="11764185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017AC-C38B-4C32-7728-A2E7CC9A3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144261A-E3C7-368A-20AF-7FF355F791A9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904F7ED8-E0B2-D4BF-62F3-0F4288F3FABF}"/>
              </a:ext>
            </a:extLst>
          </p:cNvPr>
          <p:cNvSpPr txBox="1"/>
          <p:nvPr/>
        </p:nvSpPr>
        <p:spPr>
          <a:xfrm>
            <a:off x="9993442" y="8119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3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BDAA32A-D385-B5F6-26B0-CA6C8E386FFD}"/>
              </a:ext>
            </a:extLst>
          </p:cNvPr>
          <p:cNvSpPr txBox="1"/>
          <p:nvPr/>
        </p:nvSpPr>
        <p:spPr>
          <a:xfrm>
            <a:off x="775741" y="944380"/>
            <a:ext cx="1079664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highlight>
                  <a:srgbClr val="C0C0C0"/>
                </a:highlight>
                <a:latin typeface="BrowalliaUPC"/>
                <a:cs typeface="BrowalliaUPC"/>
              </a:rPr>
              <a:t>2.  </a:t>
            </a:r>
            <a:r>
              <a:rPr lang="en-US" sz="2400" dirty="0" err="1">
                <a:highlight>
                  <a:srgbClr val="C0C0C0"/>
                </a:highlight>
                <a:latin typeface="BrowalliaUPC"/>
                <a:cs typeface="BrowalliaUPC"/>
              </a:rPr>
              <a:t>ปรับสิทธิ์การตรวจสอบยอดชดเชยรายได้และกระบวนการทำงาน</a:t>
            </a:r>
            <a:r>
              <a:rPr lang="en-US" sz="2400" dirty="0">
                <a:highlight>
                  <a:srgbClr val="C0C0C0"/>
                </a:highlight>
                <a:latin typeface="BrowalliaUPC"/>
                <a:cs typeface="BrowalliaUPC"/>
              </a:rPr>
              <a:t> </a:t>
            </a:r>
            <a:r>
              <a:rPr lang="en-US" sz="2400" dirty="0" err="1">
                <a:highlight>
                  <a:srgbClr val="C0C0C0"/>
                </a:highlight>
                <a:latin typeface="BrowalliaUPC"/>
                <a:cs typeface="BrowalliaUPC"/>
              </a:rPr>
              <a:t>ของทีมส่งเสริม</a:t>
            </a:r>
            <a:endParaRPr lang="th-TH" dirty="0" err="1"/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5C3CF4A9-663E-EA3B-DD56-38AED33554E0}"/>
              </a:ext>
            </a:extLst>
          </p:cNvPr>
          <p:cNvSpPr txBox="1"/>
          <p:nvPr/>
        </p:nvSpPr>
        <p:spPr>
          <a:xfrm>
            <a:off x="488156" y="1893094"/>
            <a:ext cx="10798968" cy="42165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lvl="0" indent="-514350" rtl="0">
              <a:buFont typeface=""/>
              <a:buAutoNum type="arabicPeriod"/>
            </a:pPr>
            <a:r>
              <a:rPr lang="th-TH" sz="2800" baseline="0" dirty="0">
                <a:latin typeface="BrowalliaUPC"/>
                <a:ea typeface="Arial"/>
                <a:cs typeface="BrowalliaUPC"/>
              </a:rPr>
              <a:t>ระดับ </a:t>
            </a:r>
            <a:r>
              <a:rPr lang="th-TH" sz="2800" dirty="0">
                <a:latin typeface="BrowalliaUPC"/>
                <a:ea typeface="Arial"/>
                <a:cs typeface="BrowalliaUPC"/>
              </a:rPr>
              <a:t>หน่วยงานส่งเสริม</a:t>
            </a:r>
            <a:r>
              <a:rPr lang="en-US" sz="2800" dirty="0">
                <a:latin typeface="BrowalliaUPC"/>
                <a:ea typeface="Arial"/>
                <a:cs typeface="Arial"/>
              </a:rPr>
              <a:t>​</a:t>
            </a:r>
          </a:p>
          <a:p>
            <a:pPr marL="971550" lvl="1" indent="-514350">
              <a:buFont typeface="Courier New,monospace"/>
              <a:buChar char="o"/>
            </a:pPr>
            <a:r>
              <a:rPr lang="th-TH" sz="2800" b="0" dirty="0">
                <a:latin typeface="BrowalliaUPC"/>
                <a:cs typeface="BrowalliaUPC"/>
              </a:rPr>
              <a:t>กรณีเห็นควรไม่ชดเชย</a:t>
            </a:r>
            <a:r>
              <a:rPr lang="en-US" sz="2800" b="0" dirty="0">
                <a:latin typeface="BrowalliaUPC"/>
                <a:cs typeface="BrowalliaUPC"/>
              </a:rPr>
              <a:t> </a:t>
            </a:r>
          </a:p>
          <a:p>
            <a:pPr marL="1428750" lvl="2" indent="-514350">
              <a:buFont typeface="Wingdings,Sans-Serif"/>
              <a:buChar char="§"/>
            </a:pPr>
            <a:r>
              <a:rPr lang="th-TH" sz="2800" b="0" err="1">
                <a:latin typeface="BrowalliaUPC"/>
                <a:cs typeface="BrowalliaUPC"/>
              </a:rPr>
              <a:t>As</a:t>
            </a:r>
            <a:r>
              <a:rPr lang="th-TH" sz="2800" b="0" dirty="0">
                <a:latin typeface="BrowalliaUPC"/>
                <a:cs typeface="BrowalliaUPC"/>
              </a:rPr>
              <a:t>-</a:t>
            </a:r>
            <a:r>
              <a:rPr lang="th-TH" sz="2800" b="0" err="1">
                <a:latin typeface="BrowalliaUPC"/>
                <a:cs typeface="BrowalliaUPC"/>
              </a:rPr>
              <a:t>Is</a:t>
            </a:r>
            <a:r>
              <a:rPr lang="th-TH" sz="2800" b="0" dirty="0">
                <a:latin typeface="BrowalliaUPC"/>
                <a:cs typeface="BrowalliaUPC"/>
              </a:rPr>
              <a:t> : เห็นควรไม่ชดเชย &gt; ตีกลับ "ฝ่าย SBP DSA" </a:t>
            </a:r>
            <a:r>
              <a:rPr lang="th-TH" sz="2800" b="0" dirty="0">
                <a:solidFill>
                  <a:srgbClr val="FF0000"/>
                </a:solidFill>
                <a:latin typeface="BrowalliaUPC"/>
                <a:cs typeface="BrowalliaUPC"/>
              </a:rPr>
              <a:t>รับทราบ คล</a:t>
            </a:r>
            <a:r>
              <a:rPr lang="th-TH" sz="2800" b="0" err="1">
                <a:solidFill>
                  <a:srgbClr val="FF0000"/>
                </a:solidFill>
                <a:latin typeface="BrowalliaUPC"/>
                <a:cs typeface="BrowalliaUPC"/>
              </a:rPr>
              <a:t>ิ๊ก</a:t>
            </a:r>
            <a:r>
              <a:rPr lang="th-TH" sz="2800" b="0" dirty="0">
                <a:solidFill>
                  <a:srgbClr val="FF0000"/>
                </a:solidFill>
                <a:latin typeface="BrowalliaUPC"/>
                <a:cs typeface="BrowalliaUPC"/>
              </a:rPr>
              <a:t> เห็นควรไม่ชดเชย</a:t>
            </a:r>
            <a:r>
              <a:rPr lang="th-TH" sz="2800" b="0" dirty="0">
                <a:latin typeface="BrowalliaUPC"/>
                <a:cs typeface="BrowalliaUPC"/>
              </a:rPr>
              <a:t> &gt;  "ไม่อนุ</a:t>
            </a:r>
            <a:r>
              <a:rPr lang="th-TH" sz="2800" b="0" err="1">
                <a:latin typeface="BrowalliaUPC"/>
                <a:cs typeface="BrowalliaUPC"/>
              </a:rPr>
              <a:t>ัม</a:t>
            </a:r>
            <a:r>
              <a:rPr lang="th-TH" sz="2800" b="0" dirty="0">
                <a:latin typeface="BrowalliaUPC"/>
                <a:cs typeface="BrowalliaUPC"/>
              </a:rPr>
              <a:t>ติในเดือนนั้นๆ"จบกระบวนการ</a:t>
            </a:r>
            <a:endParaRPr lang="en-US" b="0" dirty="0"/>
          </a:p>
          <a:p>
            <a:pPr marL="514350" indent="-514350">
              <a:buAutoNum type="arabicPeriod"/>
            </a:pPr>
            <a:r>
              <a:rPr lang="en-US" sz="2800" dirty="0" err="1">
                <a:latin typeface="BrowalliaUPC"/>
                <a:ea typeface="Arial"/>
                <a:cs typeface="Arial"/>
              </a:rPr>
              <a:t>ระดับ</a:t>
            </a:r>
            <a:r>
              <a:rPr lang="en-US" sz="2800" dirty="0">
                <a:latin typeface="BrowalliaUPC"/>
                <a:ea typeface="Arial"/>
                <a:cs typeface="Arial"/>
              </a:rPr>
              <a:t> GM </a:t>
            </a:r>
            <a:r>
              <a:rPr lang="en-US" sz="2800" dirty="0" err="1">
                <a:latin typeface="BrowalliaUPC"/>
                <a:ea typeface="Arial"/>
                <a:cs typeface="Arial"/>
              </a:rPr>
              <a:t>ส่งเสริม</a:t>
            </a:r>
            <a:endParaRPr lang="en-US" sz="2800">
              <a:latin typeface="BrowalliaUPC"/>
              <a:ea typeface="Arial"/>
              <a:cs typeface="Arial"/>
            </a:endParaRPr>
          </a:p>
          <a:p>
            <a:pPr marL="971550" lvl="1" indent="-514350">
              <a:spcBef>
                <a:spcPts val="0"/>
              </a:spcBef>
              <a:spcAft>
                <a:spcPts val="0"/>
              </a:spcAft>
              <a:buFont typeface="Courier New,monospace"/>
              <a:buChar char="o"/>
            </a:pPr>
            <a:r>
              <a:rPr lang="th-TH" sz="2800" b="0" dirty="0">
                <a:latin typeface="Cordia New"/>
                <a:cs typeface="Cordia New"/>
              </a:rPr>
              <a:t>กรณีเห็นควรไม่ชดเชย</a:t>
            </a:r>
            <a:endParaRPr lang="en-US" sz="2800" b="0" dirty="0">
              <a:latin typeface="Cordia New"/>
              <a:cs typeface="Cordia New"/>
            </a:endParaRPr>
          </a:p>
          <a:p>
            <a:pPr marL="1428750" lvl="2" indent="-514350">
              <a:spcBef>
                <a:spcPts val="0"/>
              </a:spcBef>
              <a:spcAft>
                <a:spcPts val="0"/>
              </a:spcAft>
              <a:buFont typeface="Wingdings,Sans-Serif"/>
              <a:buChar char="§"/>
            </a:pPr>
            <a:r>
              <a:rPr lang="th-TH" sz="2800" b="0" dirty="0" err="1">
                <a:latin typeface="Cordia New"/>
                <a:cs typeface="Cordia New"/>
              </a:rPr>
              <a:t>As</a:t>
            </a:r>
            <a:r>
              <a:rPr lang="th-TH" sz="2800" b="0" dirty="0">
                <a:latin typeface="Cordia New"/>
                <a:cs typeface="Cordia New"/>
              </a:rPr>
              <a:t>-</a:t>
            </a:r>
            <a:r>
              <a:rPr lang="th-TH" sz="2800" b="0" dirty="0" err="1">
                <a:latin typeface="Cordia New"/>
                <a:cs typeface="Cordia New"/>
              </a:rPr>
              <a:t>Is</a:t>
            </a:r>
            <a:r>
              <a:rPr lang="th-TH" sz="2800" b="0" dirty="0">
                <a:latin typeface="Cordia New"/>
                <a:cs typeface="Cordia New"/>
              </a:rPr>
              <a:t> : เห็นควรไม่ชดเชย &gt; ตีกลับ "ฝ่ายส่งเสริม SBP " </a:t>
            </a:r>
            <a:r>
              <a:rPr lang="th-TH" sz="2800" b="0" dirty="0">
                <a:solidFill>
                  <a:srgbClr val="FF0000"/>
                </a:solidFill>
                <a:latin typeface="Cordia New"/>
                <a:cs typeface="Cordia New"/>
              </a:rPr>
              <a:t>รับทราบ คล</a:t>
            </a:r>
            <a:r>
              <a:rPr lang="th-TH" sz="2800" b="0" dirty="0" err="1">
                <a:solidFill>
                  <a:srgbClr val="FF0000"/>
                </a:solidFill>
                <a:latin typeface="Cordia New"/>
                <a:cs typeface="Cordia New"/>
              </a:rPr>
              <a:t>ิ๊ก</a:t>
            </a:r>
            <a:r>
              <a:rPr lang="th-TH" sz="2800" b="0" dirty="0">
                <a:solidFill>
                  <a:srgbClr val="FF0000"/>
                </a:solidFill>
                <a:latin typeface="Cordia New"/>
                <a:cs typeface="Cordia New"/>
              </a:rPr>
              <a:t> เห็นควรไม่ชดเชย</a:t>
            </a:r>
            <a:r>
              <a:rPr lang="th-TH" sz="2800" b="0" dirty="0">
                <a:latin typeface="Cordia New"/>
                <a:cs typeface="Cordia New"/>
              </a:rPr>
              <a:t> &gt;  ตีกลับ "ฝ่าย SBP DSA" </a:t>
            </a:r>
            <a:r>
              <a:rPr lang="th-TH" sz="2800" b="0" dirty="0">
                <a:solidFill>
                  <a:srgbClr val="FF0000"/>
                </a:solidFill>
                <a:latin typeface="Cordia New"/>
                <a:cs typeface="Cordia New"/>
              </a:rPr>
              <a:t>รับทราบ คล</a:t>
            </a:r>
            <a:r>
              <a:rPr lang="th-TH" sz="2800" b="0" dirty="0" err="1">
                <a:solidFill>
                  <a:srgbClr val="FF0000"/>
                </a:solidFill>
                <a:latin typeface="Cordia New"/>
                <a:cs typeface="Cordia New"/>
              </a:rPr>
              <a:t>ิ๊ก</a:t>
            </a:r>
            <a:r>
              <a:rPr lang="th-TH" sz="2800" b="0" dirty="0">
                <a:solidFill>
                  <a:srgbClr val="FF0000"/>
                </a:solidFill>
                <a:latin typeface="Cordia New"/>
                <a:cs typeface="Cordia New"/>
              </a:rPr>
              <a:t> เห็นควรไม่ชดเชย </a:t>
            </a:r>
            <a:r>
              <a:rPr lang="th-TH" sz="2800" b="0" dirty="0">
                <a:latin typeface="Cordia New"/>
                <a:cs typeface="Cordia New"/>
              </a:rPr>
              <a:t>"ไม่อนุมัติในเดือนนั้นๆ"จบกระบวนการ</a:t>
            </a:r>
            <a:endParaRPr lang="en-US" dirty="0"/>
          </a:p>
          <a:p>
            <a:pPr lvl="2"/>
            <a:endParaRPr lang="th-TH" sz="2800" dirty="0">
              <a:latin typeface="BrowalliaUPC"/>
              <a:cs typeface="BrowalliaUPC"/>
            </a:endParaRPr>
          </a:p>
          <a:p>
            <a:pPr algn="ctr"/>
            <a:endParaRPr lang="th-TH"/>
          </a:p>
        </p:txBody>
      </p: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2EF1993D-8D4B-43AC-9888-39260F33F3DE}"/>
              </a:ext>
            </a:extLst>
          </p:cNvPr>
          <p:cNvSpPr txBox="1"/>
          <p:nvPr/>
        </p:nvSpPr>
        <p:spPr>
          <a:xfrm>
            <a:off x="728869" y="1431235"/>
            <a:ext cx="689113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u="sng" dirty="0" err="1">
                <a:latin typeface="BrowalliaUPC"/>
                <a:cs typeface="Arial"/>
              </a:rPr>
              <a:t>ปรับกระบวนการทำงานส่งเสริม</a:t>
            </a:r>
            <a:r>
              <a:rPr lang="en-US" sz="2400" u="sng" dirty="0">
                <a:latin typeface="BrowalliaUPC"/>
                <a:cs typeface="Arial"/>
              </a:rPr>
              <a:t> </a:t>
            </a:r>
            <a:r>
              <a:rPr lang="en-US" sz="2400" u="sng" dirty="0" err="1">
                <a:latin typeface="BrowalliaUPC"/>
                <a:cs typeface="Arial"/>
              </a:rPr>
              <a:t>กรณีเห็นควรไม่ชดเชย</a:t>
            </a:r>
            <a:endParaRPr lang="th-TH" u="sng" dirty="0" err="1"/>
          </a:p>
        </p:txBody>
      </p:sp>
    </p:spTree>
    <p:extLst>
      <p:ext uri="{BB962C8B-B14F-4D97-AF65-F5344CB8AC3E}">
        <p14:creationId xmlns:p14="http://schemas.microsoft.com/office/powerpoint/2010/main" val="40063910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7B15-1BD3-182D-269C-A2963B1DD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D82D5AB-0098-BC70-6D13-F5EDA8A29389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A0767-234F-6C9F-82BE-332ADB932551}"/>
              </a:ext>
            </a:extLst>
          </p:cNvPr>
          <p:cNvSpPr txBox="1"/>
          <p:nvPr/>
        </p:nvSpPr>
        <p:spPr>
          <a:xfrm>
            <a:off x="599973" y="909262"/>
            <a:ext cx="8831119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400">
                <a:highlight>
                  <a:srgbClr val="C0C0C0"/>
                </a:highlight>
                <a:latin typeface="BrowalliaUPC"/>
                <a:cs typeface="BrowalliaUPC"/>
              </a:rPr>
              <a:t>3.   ปรับระบบยกเลิก </a:t>
            </a:r>
            <a:r>
              <a:rPr lang="th-TH" sz="2400" err="1">
                <a:highlight>
                  <a:srgbClr val="C0C0C0"/>
                </a:highlight>
                <a:latin typeface="BrowalliaUPC"/>
                <a:cs typeface="BrowalliaUPC"/>
              </a:rPr>
              <a:t>Process</a:t>
            </a:r>
            <a:r>
              <a:rPr lang="th-TH" sz="2400">
                <a:highlight>
                  <a:srgbClr val="C0C0C0"/>
                </a:highlight>
                <a:latin typeface="BrowalliaUPC"/>
                <a:cs typeface="BrowalliaUPC"/>
              </a:rPr>
              <a:t> บัญชี SBP ในการ </a:t>
            </a:r>
            <a:r>
              <a:rPr lang="th-TH" sz="2400" err="1">
                <a:highlight>
                  <a:srgbClr val="C0C0C0"/>
                </a:highlight>
                <a:latin typeface="BrowalliaUPC"/>
                <a:cs typeface="BrowalliaUPC"/>
              </a:rPr>
              <a:t>Approve</a:t>
            </a:r>
            <a:r>
              <a:rPr lang="th-TH" sz="2400">
                <a:highlight>
                  <a:srgbClr val="C0C0C0"/>
                </a:highlight>
                <a:latin typeface="BrowalliaUPC"/>
                <a:cs typeface="BrowalliaUPC"/>
              </a:rPr>
              <a:t> ค่าใช้จ่าย ในการชดเชยรายได้</a:t>
            </a:r>
          </a:p>
          <a:p>
            <a:endParaRPr lang="en-US" sz="2800" b="0">
              <a:latin typeface="BrowalliaUPC"/>
              <a:cs typeface="BrowalliaUPC"/>
            </a:endParaRPr>
          </a:p>
          <a:p>
            <a:pPr algn="l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79BB4B6-9CAB-601A-C380-AA31C5A4C7BD}"/>
              </a:ext>
            </a:extLst>
          </p:cNvPr>
          <p:cNvSpPr/>
          <p:nvPr/>
        </p:nvSpPr>
        <p:spPr>
          <a:xfrm>
            <a:off x="437173" y="1622492"/>
            <a:ext cx="2805576" cy="369332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1800" u="sng">
                <a:solidFill>
                  <a:srgbClr val="00B050"/>
                </a:solidFill>
                <a:latin typeface="Tahoma"/>
                <a:ea typeface="Tahoma"/>
                <a:cs typeface="Tahoma"/>
              </a:rPr>
              <a:t>บัญชี</a:t>
            </a:r>
            <a:r>
              <a:rPr lang="th-TH" sz="1800" b="1" u="sng">
                <a:solidFill>
                  <a:srgbClr val="00B050"/>
                </a:solidFill>
                <a:latin typeface="Tahoma"/>
                <a:ea typeface="Tahoma"/>
                <a:cs typeface="Tahoma"/>
              </a:rPr>
              <a:t>ดำเนินการ</a:t>
            </a:r>
            <a:r>
              <a:rPr lang="th-TH" sz="1800" u="sng">
                <a:solidFill>
                  <a:srgbClr val="00B050"/>
                </a:solidFill>
                <a:latin typeface="Tahoma"/>
                <a:ea typeface="Tahoma"/>
                <a:cs typeface="Tahoma"/>
              </a:rPr>
              <a:t>ตรวจสอบ</a:t>
            </a:r>
            <a:endParaRPr lang="th-TH" sz="1800" b="1" u="sng">
              <a:solidFill>
                <a:srgbClr val="00B05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7845C69D-CE79-2C05-6644-7F229632C9EC}"/>
              </a:ext>
            </a:extLst>
          </p:cNvPr>
          <p:cNvSpPr/>
          <p:nvPr/>
        </p:nvSpPr>
        <p:spPr>
          <a:xfrm>
            <a:off x="207443" y="3974587"/>
            <a:ext cx="5915765" cy="5084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Browallia New"/>
                <a:ea typeface="Tahoma"/>
                <a:cs typeface="Tahoma"/>
              </a:rPr>
              <a:t>1. </a:t>
            </a:r>
            <a:r>
              <a:rPr lang="th-TH" sz="1600">
                <a:latin typeface="Browallia New"/>
                <a:ea typeface="Tahoma"/>
                <a:cs typeface="Browallia New"/>
              </a:rPr>
              <a:t>ตรวจสอบยอดเงินคำนวณ 3 จุดตรงคำนวณตรงกัน</a:t>
            </a:r>
            <a:endParaRPr lang="en-US" sz="1600">
              <a:latin typeface="Browallia New"/>
              <a:ea typeface="Tahoma"/>
              <a:cs typeface="Browallia New"/>
            </a:endParaRPr>
          </a:p>
          <a:p>
            <a:r>
              <a:rPr lang="en-US" sz="1600">
                <a:latin typeface="Browallia New"/>
                <a:ea typeface="Tahoma"/>
                <a:cs typeface="Tahoma"/>
              </a:rPr>
              <a:t>2. </a:t>
            </a:r>
            <a:r>
              <a:rPr lang="th-TH" sz="1600">
                <a:latin typeface="Browallia New"/>
                <a:ea typeface="Tahoma"/>
                <a:cs typeface="Browallia New"/>
              </a:rPr>
              <a:t>ตรวจสอบ</a:t>
            </a:r>
            <a:r>
              <a:rPr lang="en-US" sz="1600">
                <a:latin typeface="Browallia New"/>
                <a:ea typeface="Tahoma"/>
                <a:cs typeface="Tahoma"/>
              </a:rPr>
              <a:t>Performance Index </a:t>
            </a:r>
            <a:r>
              <a:rPr lang="th-TH" sz="1600">
                <a:solidFill>
                  <a:srgbClr val="242424"/>
                </a:solidFill>
                <a:effectLst/>
                <a:latin typeface="Browallia New"/>
                <a:ea typeface="Tahoma"/>
                <a:cs typeface="Browallia New"/>
              </a:rPr>
              <a:t>ข้อมูลคะแนนมาตรฐาน มาจาก </a:t>
            </a:r>
            <a:r>
              <a:rPr lang="en-US" sz="1600">
                <a:solidFill>
                  <a:srgbClr val="242424"/>
                </a:solidFill>
                <a:latin typeface="Browallia New"/>
                <a:ea typeface="Tahoma"/>
                <a:cs typeface="Tahoma"/>
              </a:rPr>
              <a:t>QSSI </a:t>
            </a:r>
          </a:p>
        </p:txBody>
      </p:sp>
      <p:sp>
        <p:nvSpPr>
          <p:cNvPr id="10" name="Rectangle 20">
            <a:extLst>
              <a:ext uri="{FF2B5EF4-FFF2-40B4-BE49-F238E27FC236}">
                <a16:creationId xmlns:a16="http://schemas.microsoft.com/office/drawing/2014/main" id="{485DB300-7A76-0541-87EB-AD935BD03F4F}"/>
              </a:ext>
            </a:extLst>
          </p:cNvPr>
          <p:cNvSpPr/>
          <p:nvPr/>
        </p:nvSpPr>
        <p:spPr>
          <a:xfrm>
            <a:off x="207443" y="5497693"/>
            <a:ext cx="4823951" cy="1077218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Browallia New"/>
                <a:ea typeface="Tahoma"/>
                <a:cs typeface="Tahoma"/>
              </a:rPr>
              <a:t>3.</a:t>
            </a:r>
            <a:r>
              <a:rPr lang="th-TH" sz="1600">
                <a:latin typeface="Browallia New"/>
                <a:ea typeface="Tahoma"/>
                <a:cs typeface="Browallia New"/>
              </a:rPr>
              <a:t> ตรวจสอบสาขาที่ถูกกระทบ และ สาขาที่เปิดใกล้เคียง</a:t>
            </a:r>
          </a:p>
          <a:p>
            <a:r>
              <a:rPr lang="th-TH" sz="1600">
                <a:latin typeface="Browallia New"/>
                <a:ea typeface="Tahoma"/>
                <a:cs typeface="Browallia New"/>
              </a:rPr>
              <a:t>4. ตรวจสอบเพิ่มกรณีที่เป็นร้าน </a:t>
            </a:r>
            <a:r>
              <a:rPr lang="en-US" sz="1600">
                <a:latin typeface="Browallia New"/>
                <a:ea typeface="Tahoma"/>
                <a:cs typeface="Tahoma"/>
              </a:rPr>
              <a:t>Take</a:t>
            </a:r>
            <a:r>
              <a:rPr lang="th-TH" sz="1600">
                <a:latin typeface="Browallia New"/>
                <a:ea typeface="Tahoma"/>
                <a:cs typeface="Browallia New"/>
              </a:rPr>
              <a:t> </a:t>
            </a:r>
            <a:r>
              <a:rPr lang="en-US" sz="1600">
                <a:latin typeface="Browallia New"/>
                <a:ea typeface="Tahoma"/>
                <a:cs typeface="Tahoma"/>
              </a:rPr>
              <a:t>“</a:t>
            </a:r>
            <a:r>
              <a:rPr lang="th-TH" sz="1600">
                <a:latin typeface="Browallia New"/>
                <a:ea typeface="Tahoma"/>
                <a:cs typeface="Browallia New"/>
              </a:rPr>
              <a:t>สาขาที่ถูกกระทบ </a:t>
            </a:r>
            <a:r>
              <a:rPr lang="en-US" sz="1600">
                <a:latin typeface="Browallia New"/>
                <a:ea typeface="Tahoma"/>
                <a:cs typeface="Tahoma"/>
              </a:rPr>
              <a:t>“</a:t>
            </a:r>
            <a:endParaRPr lang="th-TH" sz="1600">
              <a:latin typeface="Browallia New"/>
              <a:ea typeface="Tahoma"/>
              <a:cs typeface="Tahoma"/>
            </a:endParaRPr>
          </a:p>
          <a:p>
            <a:r>
              <a:rPr lang="th-TH" sz="1600">
                <a:latin typeface="Browallia New"/>
                <a:ea typeface="Tahoma"/>
                <a:cs typeface="Browallia New"/>
              </a:rPr>
              <a:t>5. </a:t>
            </a:r>
            <a:r>
              <a:rPr lang="en-US" sz="1600">
                <a:latin typeface="Browallia New"/>
                <a:ea typeface="Tahoma"/>
                <a:cs typeface="Tahoma"/>
              </a:rPr>
              <a:t>Center </a:t>
            </a:r>
            <a:r>
              <a:rPr lang="th-TH" sz="1600">
                <a:latin typeface="Browallia New"/>
                <a:ea typeface="Tahoma"/>
                <a:cs typeface="Browallia New"/>
              </a:rPr>
              <a:t>ตรวจสอบจากรายงานประกันรายได้จากระบบ </a:t>
            </a:r>
            <a:r>
              <a:rPr lang="en-US" sz="1600">
                <a:latin typeface="Browallia New"/>
                <a:ea typeface="Tahoma"/>
                <a:cs typeface="Tahoma"/>
              </a:rPr>
              <a:t>K2 </a:t>
            </a:r>
            <a:endParaRPr lang="th-TH" sz="1600">
              <a:latin typeface="Browallia New"/>
              <a:ea typeface="Tahoma"/>
              <a:cs typeface="Tahoma"/>
            </a:endParaRPr>
          </a:p>
          <a:p>
            <a:r>
              <a:rPr lang="th-TH" sz="1600">
                <a:latin typeface="Browallia New"/>
                <a:ea typeface="Tahoma"/>
                <a:cs typeface="Browallia New"/>
              </a:rPr>
              <a:t>    กระทบยอดกับ </a:t>
            </a:r>
            <a:r>
              <a:rPr lang="en-US" sz="1600">
                <a:latin typeface="Browallia New"/>
                <a:ea typeface="Tahoma"/>
                <a:cs typeface="Tahoma"/>
              </a:rPr>
              <a:t>SAP </a:t>
            </a:r>
            <a:r>
              <a:rPr lang="th-TH" sz="1600">
                <a:latin typeface="Browallia New"/>
                <a:ea typeface="Tahoma"/>
                <a:cs typeface="Browallia New"/>
              </a:rPr>
              <a:t>และ </a:t>
            </a:r>
            <a:r>
              <a:rPr lang="en-US" sz="1600">
                <a:latin typeface="Browallia New"/>
                <a:ea typeface="Tahoma"/>
                <a:cs typeface="Tahoma"/>
              </a:rPr>
              <a:t>Post </a:t>
            </a:r>
            <a:r>
              <a:rPr lang="th-TH" sz="1600">
                <a:latin typeface="Browallia New"/>
                <a:ea typeface="Tahoma"/>
                <a:cs typeface="Browallia New"/>
              </a:rPr>
              <a:t>คู่ </a:t>
            </a:r>
            <a:r>
              <a:rPr lang="en-US" sz="1600">
                <a:latin typeface="Browallia New"/>
                <a:ea typeface="Tahoma"/>
                <a:cs typeface="Tahoma"/>
              </a:rPr>
              <a:t>Acc </a:t>
            </a:r>
            <a:r>
              <a:rPr lang="th-TH" sz="1600">
                <a:latin typeface="Browallia New"/>
                <a:ea typeface="Tahoma"/>
                <a:cs typeface="Browallia New"/>
              </a:rPr>
              <a:t>ถูกต้อง</a:t>
            </a:r>
            <a:r>
              <a:rPr lang="en-US" sz="1600">
                <a:latin typeface="Browallia New"/>
                <a:ea typeface="Tahoma"/>
                <a:cs typeface="Tahoma"/>
              </a:rPr>
              <a:t> </a:t>
            </a:r>
            <a:endParaRPr lang="en-US" sz="1800">
              <a:solidFill>
                <a:srgbClr val="242424"/>
              </a:solidFill>
              <a:latin typeface="Browallia New"/>
              <a:ea typeface="Tahoma"/>
              <a:cs typeface="Tahoma"/>
            </a:endParaRPr>
          </a:p>
        </p:txBody>
      </p:sp>
      <p:pic>
        <p:nvPicPr>
          <p:cNvPr id="12" name="Picture 26">
            <a:extLst>
              <a:ext uri="{FF2B5EF4-FFF2-40B4-BE49-F238E27FC236}">
                <a16:creationId xmlns:a16="http://schemas.microsoft.com/office/drawing/2014/main" id="{BD5AB31D-60B0-1EF9-6B13-DA2B9414F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48" y="4530658"/>
            <a:ext cx="3297722" cy="963783"/>
          </a:xfrm>
          <a:prstGeom prst="rect">
            <a:avLst/>
          </a:prstGeom>
        </p:spPr>
      </p:pic>
      <p:sp>
        <p:nvSpPr>
          <p:cNvPr id="14" name="Rectangle 14">
            <a:extLst>
              <a:ext uri="{FF2B5EF4-FFF2-40B4-BE49-F238E27FC236}">
                <a16:creationId xmlns:a16="http://schemas.microsoft.com/office/drawing/2014/main" id="{27E45F81-3D97-B9F7-0FDE-A7A9B3AC5136}"/>
              </a:ext>
            </a:extLst>
          </p:cNvPr>
          <p:cNvSpPr/>
          <p:nvPr/>
        </p:nvSpPr>
        <p:spPr>
          <a:xfrm>
            <a:off x="4078805" y="6029288"/>
            <a:ext cx="5915765" cy="722580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1600" b="1" u="sng">
                <a:solidFill>
                  <a:srgbClr val="FF0000"/>
                </a:solidFill>
                <a:latin typeface="Browallia New"/>
                <a:ea typeface="Tahoma"/>
                <a:cs typeface="Browallia New"/>
              </a:rPr>
              <a:t>กรณีที่ยอดไม่ตรง </a:t>
            </a:r>
            <a:endParaRPr lang="en-US" sz="1600" b="1" u="sng">
              <a:solidFill>
                <a:srgbClr val="FF0000"/>
              </a:solidFill>
              <a:latin typeface="Browallia New"/>
              <a:ea typeface="Tahoma"/>
              <a:cs typeface="Browallia New"/>
            </a:endParaRPr>
          </a:p>
          <a:p>
            <a:r>
              <a:rPr lang="en-US" sz="1600">
                <a:latin typeface="Browallia New"/>
                <a:ea typeface="Tahoma"/>
                <a:cs typeface="Tahoma"/>
              </a:rPr>
              <a:t>1. </a:t>
            </a:r>
            <a:r>
              <a:rPr lang="th-TH" sz="1600">
                <a:latin typeface="Browallia New"/>
                <a:ea typeface="Tahoma"/>
                <a:cs typeface="Browallia New"/>
              </a:rPr>
              <a:t>เนื่องจากระบบ </a:t>
            </a:r>
            <a:r>
              <a:rPr lang="en-US" sz="1600">
                <a:latin typeface="Browallia New"/>
                <a:ea typeface="Tahoma"/>
                <a:cs typeface="Tahoma"/>
              </a:rPr>
              <a:t>K2 </a:t>
            </a:r>
            <a:r>
              <a:rPr lang="th-TH" sz="1600">
                <a:latin typeface="Browallia New"/>
                <a:ea typeface="Tahoma"/>
                <a:cs typeface="Browallia New"/>
              </a:rPr>
              <a:t>คำนวณจำนวนที่ชดเชย ไม่ตรงตาม </a:t>
            </a:r>
            <a:r>
              <a:rPr lang="en-US" sz="1600">
                <a:latin typeface="Browallia New"/>
                <a:ea typeface="Tahoma"/>
                <a:cs typeface="Tahoma"/>
              </a:rPr>
              <a:t>File PDF</a:t>
            </a:r>
          </a:p>
          <a:p>
            <a:r>
              <a:rPr lang="en-US" sz="1600">
                <a:latin typeface="Browallia New"/>
                <a:ea typeface="Tahoma"/>
                <a:cs typeface="Tahoma"/>
              </a:rPr>
              <a:t>2. </a:t>
            </a:r>
            <a:r>
              <a:rPr lang="th-TH" sz="1600">
                <a:latin typeface="Browallia New"/>
                <a:ea typeface="Tahoma"/>
                <a:cs typeface="Browallia New"/>
              </a:rPr>
              <a:t>เนื่องจากต้นทางแจ้งข้อมูลไม่ถูกต้องและครบถ้วน</a:t>
            </a:r>
            <a:endParaRPr lang="en-US" sz="1600">
              <a:solidFill>
                <a:srgbClr val="242424"/>
              </a:solidFill>
              <a:latin typeface="Browallia New"/>
              <a:ea typeface="Tahoma"/>
              <a:cs typeface="Browallia New"/>
            </a:endParaRPr>
          </a:p>
        </p:txBody>
      </p:sp>
      <p:grpSp>
        <p:nvGrpSpPr>
          <p:cNvPr id="19" name="กลุ่ม 18">
            <a:extLst>
              <a:ext uri="{FF2B5EF4-FFF2-40B4-BE49-F238E27FC236}">
                <a16:creationId xmlns:a16="http://schemas.microsoft.com/office/drawing/2014/main" id="{6A32BBC2-D488-2A03-6324-E2BBB5A7D4F9}"/>
              </a:ext>
            </a:extLst>
          </p:cNvPr>
          <p:cNvGrpSpPr/>
          <p:nvPr/>
        </p:nvGrpSpPr>
        <p:grpSpPr>
          <a:xfrm>
            <a:off x="8208960" y="1477736"/>
            <a:ext cx="3768245" cy="5271714"/>
            <a:chOff x="7339804" y="239487"/>
            <a:chExt cx="4596039" cy="6100715"/>
          </a:xfrm>
        </p:grpSpPr>
        <p:pic>
          <p:nvPicPr>
            <p:cNvPr id="16" name="Picture 11">
              <a:extLst>
                <a:ext uri="{FF2B5EF4-FFF2-40B4-BE49-F238E27FC236}">
                  <a16:creationId xmlns:a16="http://schemas.microsoft.com/office/drawing/2014/main" id="{7D4D4652-4262-3567-D5BA-7EEFC78C2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39804" y="239487"/>
              <a:ext cx="4596039" cy="5986636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7" name="Rectangle 18">
              <a:extLst>
                <a:ext uri="{FF2B5EF4-FFF2-40B4-BE49-F238E27FC236}">
                  <a16:creationId xmlns:a16="http://schemas.microsoft.com/office/drawing/2014/main" id="{91F0DCDD-B076-BFA5-B4F0-812421A580FE}"/>
                </a:ext>
              </a:extLst>
            </p:cNvPr>
            <p:cNvSpPr/>
            <p:nvPr/>
          </p:nvSpPr>
          <p:spPr>
            <a:xfrm>
              <a:off x="10685429" y="5869507"/>
              <a:ext cx="697537" cy="35661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BEB69A17-CF14-6066-4302-2597B759213D}"/>
                </a:ext>
              </a:extLst>
            </p:cNvPr>
            <p:cNvSpPr/>
            <p:nvPr/>
          </p:nvSpPr>
          <p:spPr>
            <a:xfrm>
              <a:off x="10292373" y="5755427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b="1" cap="none" spc="0">
                  <a:ln w="0"/>
                  <a:solidFill>
                    <a:schemeClr val="accent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</a:p>
          </p:txBody>
        </p:sp>
      </p:grpSp>
      <p:grpSp>
        <p:nvGrpSpPr>
          <p:cNvPr id="28" name="กลุ่ม 27">
            <a:extLst>
              <a:ext uri="{FF2B5EF4-FFF2-40B4-BE49-F238E27FC236}">
                <a16:creationId xmlns:a16="http://schemas.microsoft.com/office/drawing/2014/main" id="{67614AA8-ECF8-1CFB-C581-E94E06C01C8F}"/>
              </a:ext>
            </a:extLst>
          </p:cNvPr>
          <p:cNvGrpSpPr/>
          <p:nvPr/>
        </p:nvGrpSpPr>
        <p:grpSpPr>
          <a:xfrm>
            <a:off x="860900" y="2021626"/>
            <a:ext cx="5949816" cy="1890961"/>
            <a:chOff x="848994" y="1533470"/>
            <a:chExt cx="6830928" cy="2174683"/>
          </a:xfrm>
        </p:grpSpPr>
        <p:pic>
          <p:nvPicPr>
            <p:cNvPr id="21" name="Picture 12">
              <a:extLst>
                <a:ext uri="{FF2B5EF4-FFF2-40B4-BE49-F238E27FC236}">
                  <a16:creationId xmlns:a16="http://schemas.microsoft.com/office/drawing/2014/main" id="{D06BCBF8-C4B3-2C60-7494-92EF130FD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8994" y="1533470"/>
              <a:ext cx="6830928" cy="2174682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DB72982A-8D41-2F4E-F4B3-5E905A6F0F23}"/>
                </a:ext>
              </a:extLst>
            </p:cNvPr>
            <p:cNvSpPr/>
            <p:nvPr/>
          </p:nvSpPr>
          <p:spPr>
            <a:xfrm>
              <a:off x="2344238" y="2264195"/>
              <a:ext cx="788844" cy="33286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E793C838-7066-D21F-3E19-B37C8875C20F}"/>
                </a:ext>
              </a:extLst>
            </p:cNvPr>
            <p:cNvSpPr/>
            <p:nvPr/>
          </p:nvSpPr>
          <p:spPr>
            <a:xfrm>
              <a:off x="4223236" y="2465872"/>
              <a:ext cx="1296430" cy="39636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EC33F12A-43E8-7F04-FC5A-C96EA8ABC2C7}"/>
                </a:ext>
              </a:extLst>
            </p:cNvPr>
            <p:cNvSpPr/>
            <p:nvPr/>
          </p:nvSpPr>
          <p:spPr>
            <a:xfrm>
              <a:off x="6942999" y="3319439"/>
              <a:ext cx="736923" cy="3887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25" name="Rectangle 2">
              <a:extLst>
                <a:ext uri="{FF2B5EF4-FFF2-40B4-BE49-F238E27FC236}">
                  <a16:creationId xmlns:a16="http://schemas.microsoft.com/office/drawing/2014/main" id="{6D8FFC3D-6B69-8810-3161-CB07A478BD77}"/>
                </a:ext>
              </a:extLst>
            </p:cNvPr>
            <p:cNvSpPr/>
            <p:nvPr/>
          </p:nvSpPr>
          <p:spPr>
            <a:xfrm>
              <a:off x="1925222" y="2152626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b="1" cap="none" spc="0">
                  <a:ln w="0"/>
                  <a:solidFill>
                    <a:schemeClr val="accent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</a:p>
          </p:txBody>
        </p:sp>
        <p:sp>
          <p:nvSpPr>
            <p:cNvPr id="26" name="Rectangle 15">
              <a:extLst>
                <a:ext uri="{FF2B5EF4-FFF2-40B4-BE49-F238E27FC236}">
                  <a16:creationId xmlns:a16="http://schemas.microsoft.com/office/drawing/2014/main" id="{A63C7787-3FC0-0992-C95E-B52EA325C0EF}"/>
                </a:ext>
              </a:extLst>
            </p:cNvPr>
            <p:cNvSpPr/>
            <p:nvPr/>
          </p:nvSpPr>
          <p:spPr>
            <a:xfrm>
              <a:off x="5608160" y="242667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b="1" cap="none" spc="0">
                  <a:ln w="0"/>
                  <a:solidFill>
                    <a:schemeClr val="accent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</a:p>
          </p:txBody>
        </p:sp>
        <p:sp>
          <p:nvSpPr>
            <p:cNvPr id="27" name="Rectangle 17">
              <a:extLst>
                <a:ext uri="{FF2B5EF4-FFF2-40B4-BE49-F238E27FC236}">
                  <a16:creationId xmlns:a16="http://schemas.microsoft.com/office/drawing/2014/main" id="{1786280D-BE20-48A2-1FDD-9C754E98B48B}"/>
                </a:ext>
              </a:extLst>
            </p:cNvPr>
            <p:cNvSpPr/>
            <p:nvPr/>
          </p:nvSpPr>
          <p:spPr>
            <a:xfrm>
              <a:off x="7120341" y="2830990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b="1" cap="none" spc="0">
                  <a:ln w="0"/>
                  <a:solidFill>
                    <a:schemeClr val="accent2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</a:p>
          </p:txBody>
        </p:sp>
      </p:grpSp>
      <p:sp>
        <p:nvSpPr>
          <p:cNvPr id="30" name="กล่องข้อความ 22">
            <a:extLst>
              <a:ext uri="{FF2B5EF4-FFF2-40B4-BE49-F238E27FC236}">
                <a16:creationId xmlns:a16="http://schemas.microsoft.com/office/drawing/2014/main" id="{FEDADE4F-F7B8-8FA6-853B-4505F14C3E35}"/>
              </a:ext>
            </a:extLst>
          </p:cNvPr>
          <p:cNvSpPr txBox="1"/>
          <p:nvPr/>
        </p:nvSpPr>
        <p:spPr>
          <a:xfrm>
            <a:off x="437173" y="1213949"/>
            <a:ext cx="5557269" cy="400110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r>
              <a:rPr lang="th-TH" sz="2000">
                <a:latin typeface="CordiaUPC"/>
                <a:cs typeface="CordiaUPC"/>
              </a:rPr>
              <a:t>RPAดำเนินการีดึงข้อมูลร้านจาก SBP </a:t>
            </a:r>
            <a:r>
              <a:rPr lang="th-TH" sz="2000" err="1">
                <a:latin typeface="CordiaUPC"/>
                <a:cs typeface="CordiaUPC"/>
              </a:rPr>
              <a:t>Mall</a:t>
            </a:r>
            <a:r>
              <a:rPr lang="th-TH" sz="2000">
                <a:latin typeface="CordiaUPC"/>
                <a:cs typeface="CordiaUPC"/>
              </a:rPr>
              <a:t> ให้กับทีมบัญชีตรวจสอบ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F25EA619-0B21-67F4-1DD4-40CB7237A53F}"/>
              </a:ext>
            </a:extLst>
          </p:cNvPr>
          <p:cNvSpPr txBox="1"/>
          <p:nvPr/>
        </p:nvSpPr>
        <p:spPr>
          <a:xfrm>
            <a:off x="9993442" y="8119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6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340876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6D2A1-CF81-73CA-967E-EB249AF9E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6A969ED-6AE4-E579-2881-E15FF31F8B3F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B15B6C-44A7-9790-F2B0-84171C7AC7CE}"/>
              </a:ext>
            </a:extLst>
          </p:cNvPr>
          <p:cNvSpPr txBox="1"/>
          <p:nvPr/>
        </p:nvSpPr>
        <p:spPr>
          <a:xfrm>
            <a:off x="599973" y="909262"/>
            <a:ext cx="8831119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400">
                <a:highlight>
                  <a:srgbClr val="C0C0C0"/>
                </a:highlight>
                <a:latin typeface="BrowalliaUPC"/>
                <a:cs typeface="BrowalliaUPC"/>
              </a:rPr>
              <a:t>3.   ปรับระบบยกเลิก </a:t>
            </a:r>
            <a:r>
              <a:rPr lang="th-TH" sz="2400" err="1">
                <a:highlight>
                  <a:srgbClr val="C0C0C0"/>
                </a:highlight>
                <a:latin typeface="BrowalliaUPC"/>
                <a:cs typeface="BrowalliaUPC"/>
              </a:rPr>
              <a:t>Process</a:t>
            </a:r>
            <a:r>
              <a:rPr lang="th-TH" sz="2400">
                <a:highlight>
                  <a:srgbClr val="C0C0C0"/>
                </a:highlight>
                <a:latin typeface="BrowalliaUPC"/>
                <a:cs typeface="BrowalliaUPC"/>
              </a:rPr>
              <a:t> บัญชี SBP ในการ </a:t>
            </a:r>
            <a:r>
              <a:rPr lang="th-TH" sz="2400" err="1">
                <a:highlight>
                  <a:srgbClr val="C0C0C0"/>
                </a:highlight>
                <a:latin typeface="BrowalliaUPC"/>
                <a:cs typeface="BrowalliaUPC"/>
              </a:rPr>
              <a:t>Approve</a:t>
            </a:r>
            <a:r>
              <a:rPr lang="th-TH" sz="2400">
                <a:highlight>
                  <a:srgbClr val="C0C0C0"/>
                </a:highlight>
                <a:latin typeface="BrowalliaUPC"/>
                <a:cs typeface="BrowalliaUPC"/>
              </a:rPr>
              <a:t> ค่าใช้จ่าย ในการชดเชยรายได้</a:t>
            </a:r>
          </a:p>
          <a:p>
            <a:endParaRPr lang="en-US" sz="2800" b="0">
              <a:latin typeface="BrowalliaUPC"/>
              <a:cs typeface="BrowalliaUPC"/>
            </a:endParaRPr>
          </a:p>
          <a:p>
            <a:pPr algn="l"/>
            <a:endParaRPr lang="en-US"/>
          </a:p>
        </p:txBody>
      </p:sp>
      <p:sp>
        <p:nvSpPr>
          <p:cNvPr id="4" name="กล่องข้อความ 22">
            <a:extLst>
              <a:ext uri="{FF2B5EF4-FFF2-40B4-BE49-F238E27FC236}">
                <a16:creationId xmlns:a16="http://schemas.microsoft.com/office/drawing/2014/main" id="{0B20CD22-988A-5359-95D5-27AC0F4B4B1B}"/>
              </a:ext>
            </a:extLst>
          </p:cNvPr>
          <p:cNvSpPr txBox="1"/>
          <p:nvPr/>
        </p:nvSpPr>
        <p:spPr>
          <a:xfrm>
            <a:off x="460985" y="1309199"/>
            <a:ext cx="8450487" cy="400110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r>
              <a:rPr lang="th-TH" sz="2000">
                <a:latin typeface="CordiaUPC"/>
                <a:cs typeface="CordiaUPC"/>
              </a:rPr>
              <a:t>RPAดำเนินการดึงข้อมูลร้านจาก SBP  </a:t>
            </a:r>
            <a:r>
              <a:rPr lang="th-TH" sz="2000" err="1">
                <a:latin typeface="CordiaUPC"/>
                <a:cs typeface="CordiaUPC"/>
              </a:rPr>
              <a:t>Mall</a:t>
            </a:r>
            <a:r>
              <a:rPr lang="th-TH" sz="2000">
                <a:latin typeface="CordiaUPC"/>
                <a:cs typeface="CordiaUPC"/>
              </a:rPr>
              <a:t> ให้กับทีมบัญชีตรวจสอบ และ ส่งดำเนินการ</a:t>
            </a:r>
          </a:p>
        </p:txBody>
      </p:sp>
      <p:grpSp>
        <p:nvGrpSpPr>
          <p:cNvPr id="29" name="กลุ่ม 28">
            <a:extLst>
              <a:ext uri="{FF2B5EF4-FFF2-40B4-BE49-F238E27FC236}">
                <a16:creationId xmlns:a16="http://schemas.microsoft.com/office/drawing/2014/main" id="{517A5964-661A-866E-63F7-F090F07D0B75}"/>
              </a:ext>
            </a:extLst>
          </p:cNvPr>
          <p:cNvGrpSpPr/>
          <p:nvPr/>
        </p:nvGrpSpPr>
        <p:grpSpPr>
          <a:xfrm>
            <a:off x="171184" y="1766620"/>
            <a:ext cx="11659199" cy="3410125"/>
            <a:chOff x="159278" y="1278464"/>
            <a:chExt cx="11659199" cy="3410125"/>
          </a:xfrm>
        </p:grpSpPr>
        <p:pic>
          <p:nvPicPr>
            <p:cNvPr id="9" name="Picture 1">
              <a:extLst>
                <a:ext uri="{FF2B5EF4-FFF2-40B4-BE49-F238E27FC236}">
                  <a16:creationId xmlns:a16="http://schemas.microsoft.com/office/drawing/2014/main" id="{C3C87E2E-BF8E-46F1-2573-C23AF4307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278" y="1278464"/>
              <a:ext cx="11659199" cy="3410125"/>
            </a:xfrm>
            <a:prstGeom prst="rect">
              <a:avLst/>
            </a:prstGeom>
          </p:spPr>
        </p:pic>
        <p:sp>
          <p:nvSpPr>
            <p:cNvPr id="11" name="Rectangle 2">
              <a:extLst>
                <a:ext uri="{FF2B5EF4-FFF2-40B4-BE49-F238E27FC236}">
                  <a16:creationId xmlns:a16="http://schemas.microsoft.com/office/drawing/2014/main" id="{97F0D9F6-BD23-4273-2630-83DB1D8BF6A6}"/>
                </a:ext>
              </a:extLst>
            </p:cNvPr>
            <p:cNvSpPr/>
            <p:nvPr/>
          </p:nvSpPr>
          <p:spPr>
            <a:xfrm>
              <a:off x="1860223" y="1891328"/>
              <a:ext cx="1431637" cy="4433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D2B33B3D-E2B8-F8B4-94CC-2F7289080A6F}"/>
                </a:ext>
              </a:extLst>
            </p:cNvPr>
            <p:cNvSpPr/>
            <p:nvPr/>
          </p:nvSpPr>
          <p:spPr>
            <a:xfrm>
              <a:off x="4663459" y="4158855"/>
              <a:ext cx="1431637" cy="4433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15" name="5-Point Star 4">
              <a:extLst>
                <a:ext uri="{FF2B5EF4-FFF2-40B4-BE49-F238E27FC236}">
                  <a16:creationId xmlns:a16="http://schemas.microsoft.com/office/drawing/2014/main" id="{F67572EE-3467-6A13-E9D5-7A636E6C63C7}"/>
                </a:ext>
              </a:extLst>
            </p:cNvPr>
            <p:cNvSpPr/>
            <p:nvPr/>
          </p:nvSpPr>
          <p:spPr>
            <a:xfrm>
              <a:off x="3430405" y="1937509"/>
              <a:ext cx="332509" cy="350982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20" name="5-Point Star 5">
              <a:extLst>
                <a:ext uri="{FF2B5EF4-FFF2-40B4-BE49-F238E27FC236}">
                  <a16:creationId xmlns:a16="http://schemas.microsoft.com/office/drawing/2014/main" id="{FD60AE7D-A00E-EFAA-F676-EDBF8AB787AC}"/>
                </a:ext>
              </a:extLst>
            </p:cNvPr>
            <p:cNvSpPr/>
            <p:nvPr/>
          </p:nvSpPr>
          <p:spPr>
            <a:xfrm>
              <a:off x="4663459" y="4177328"/>
              <a:ext cx="332509" cy="350982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h-TH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8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</p:grpSp>
      <p:sp>
        <p:nvSpPr>
          <p:cNvPr id="32" name="Rectangle 8">
            <a:extLst>
              <a:ext uri="{FF2B5EF4-FFF2-40B4-BE49-F238E27FC236}">
                <a16:creationId xmlns:a16="http://schemas.microsoft.com/office/drawing/2014/main" id="{CC92CE24-B4DF-EB0F-A545-0B6D29E4A62F}"/>
              </a:ext>
            </a:extLst>
          </p:cNvPr>
          <p:cNvSpPr/>
          <p:nvPr/>
        </p:nvSpPr>
        <p:spPr>
          <a:xfrm>
            <a:off x="6922517" y="4665484"/>
            <a:ext cx="5074487" cy="1169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การอนุมัติบันทึกจำนวน 150-170 ต่อเดือน</a:t>
            </a:r>
          </a:p>
          <a:p>
            <a:pPr marL="342900" indent="-342900">
              <a:buAutoNum type="arabicPeriod"/>
            </a:pPr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ระยะเวลาทำการอนุมัติ ประมาณ 4 นาที /ฉบับ</a:t>
            </a:r>
          </a:p>
          <a:p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      คำนวณตามเวลา 4 นาที *150 ฉบับ/เดือน</a:t>
            </a:r>
            <a:r>
              <a:rPr lang="en-US" sz="1400">
                <a:solidFill>
                  <a:srgbClr val="0070C0"/>
                </a:solidFill>
                <a:latin typeface="Browallia New"/>
                <a:ea typeface="Tahoma"/>
                <a:cs typeface="Tahoma"/>
              </a:rPr>
              <a:t>= 600 </a:t>
            </a:r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นาที </a:t>
            </a:r>
            <a:r>
              <a:rPr lang="en-US" sz="1400">
                <a:solidFill>
                  <a:srgbClr val="0070C0"/>
                </a:solidFill>
                <a:latin typeface="Browallia New"/>
                <a:ea typeface="Tahoma"/>
                <a:cs typeface="Tahoma"/>
              </a:rPr>
              <a:t>/ 10 </a:t>
            </a:r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ชม.</a:t>
            </a:r>
          </a:p>
          <a:p>
            <a:pPr marL="342900" indent="-342900">
              <a:buAutoNum type="arabicPeriod" startAt="3"/>
            </a:pPr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ผจก.แผนกตรวจสอบข้อมูลใน </a:t>
            </a:r>
            <a:r>
              <a:rPr lang="en-US" sz="1400">
                <a:solidFill>
                  <a:srgbClr val="0070C0"/>
                </a:solidFill>
                <a:latin typeface="Browallia New"/>
                <a:ea typeface="Tahoma"/>
                <a:cs typeface="Tahoma"/>
              </a:rPr>
              <a:t>Flow</a:t>
            </a:r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 </a:t>
            </a:r>
            <a:r>
              <a:rPr lang="en-US" sz="1400">
                <a:solidFill>
                  <a:srgbClr val="0070C0"/>
                </a:solidFill>
                <a:latin typeface="Browallia New"/>
                <a:ea typeface="Tahoma"/>
                <a:cs typeface="Tahoma"/>
              </a:rPr>
              <a:t>K2 </a:t>
            </a:r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ตรวจสอบพร้อมอนุมัติ </a:t>
            </a:r>
          </a:p>
          <a:p>
            <a:r>
              <a:rPr lang="th-TH" sz="1400">
                <a:solidFill>
                  <a:srgbClr val="0070C0"/>
                </a:solidFill>
                <a:latin typeface="Browallia New"/>
                <a:ea typeface="Tahoma"/>
                <a:cs typeface="Browallia New"/>
              </a:rPr>
              <a:t>      ประมาณ 5 นาทีต่อฉบับ</a:t>
            </a:r>
          </a:p>
        </p:txBody>
      </p:sp>
      <p:pic>
        <p:nvPicPr>
          <p:cNvPr id="34" name="Picture 9" descr="รูปภาพประกอบด้วย ข้อความ, ภาพหน้าจอ, ซอฟต์แวร์, ตัวอักษร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5A5489E2-E66F-1D6A-F0AF-D3AC44375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774" y="5075950"/>
            <a:ext cx="6255071" cy="1987652"/>
          </a:xfrm>
          <a:prstGeom prst="rect">
            <a:avLst/>
          </a:prstGeom>
        </p:spPr>
      </p:pic>
      <p:sp>
        <p:nvSpPr>
          <p:cNvPr id="36" name="TextBox 13">
            <a:extLst>
              <a:ext uri="{FF2B5EF4-FFF2-40B4-BE49-F238E27FC236}">
                <a16:creationId xmlns:a16="http://schemas.microsoft.com/office/drawing/2014/main" id="{D7A936D1-83EC-BED3-1AAB-CBC0C7D2AA99}"/>
              </a:ext>
            </a:extLst>
          </p:cNvPr>
          <p:cNvSpPr txBox="1"/>
          <p:nvPr/>
        </p:nvSpPr>
        <p:spPr>
          <a:xfrm>
            <a:off x="6713436" y="6244442"/>
            <a:ext cx="30500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r>
              <a:rPr lang="th-TH" err="1">
                <a:latin typeface="Browallia New"/>
                <a:cs typeface="Browallia New"/>
              </a:rPr>
              <a:t>Form</a:t>
            </a:r>
            <a:r>
              <a:rPr lang="th-TH">
                <a:latin typeface="Browallia New"/>
                <a:cs typeface="Browallia New"/>
              </a:rPr>
              <a:t>/CPA.FRN.FGI.SMF.</a:t>
            </a:r>
            <a:r>
              <a:rPr lang="th-TH" err="1">
                <a:latin typeface="Browallia New"/>
                <a:cs typeface="Browallia New"/>
              </a:rPr>
              <a:t>ApplicationMenu</a:t>
            </a:r>
            <a:endParaRPr lang="th-TH">
              <a:latin typeface="Browallia New"/>
              <a:cs typeface="Browallia New"/>
            </a:endParaRPr>
          </a:p>
        </p:txBody>
      </p: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FD81213F-1521-E895-7564-4DD13AF47DE8}"/>
              </a:ext>
            </a:extLst>
          </p:cNvPr>
          <p:cNvSpPr txBox="1"/>
          <p:nvPr/>
        </p:nvSpPr>
        <p:spPr>
          <a:xfrm>
            <a:off x="9893508" y="8119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5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138959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5C93F-4E71-3BCA-EBA5-C43043402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15B28BB-DCB4-2A2A-4837-F8156BD4773F}"/>
              </a:ext>
            </a:extLst>
          </p:cNvPr>
          <p:cNvSpPr txBox="1">
            <a:spLocks/>
          </p:cNvSpPr>
          <p:nvPr/>
        </p:nvSpPr>
        <p:spPr bwMode="auto">
          <a:xfrm>
            <a:off x="598843" y="325158"/>
            <a:ext cx="6948661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1.8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As-Is 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4BA6BA-0E5C-D252-87FB-CE286A42CFED}"/>
              </a:ext>
            </a:extLst>
          </p:cNvPr>
          <p:cNvSpPr txBox="1"/>
          <p:nvPr/>
        </p:nvSpPr>
        <p:spPr>
          <a:xfrm>
            <a:off x="599973" y="909262"/>
            <a:ext cx="8831119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400">
                <a:highlight>
                  <a:srgbClr val="C0C0C0"/>
                </a:highlight>
                <a:latin typeface="BrowalliaUPC"/>
                <a:cs typeface="BrowalliaUPC"/>
              </a:rPr>
              <a:t>3.   ปรับระบบยกเลิก </a:t>
            </a:r>
            <a:r>
              <a:rPr lang="th-TH" sz="2400" err="1">
                <a:highlight>
                  <a:srgbClr val="C0C0C0"/>
                </a:highlight>
                <a:latin typeface="BrowalliaUPC"/>
                <a:cs typeface="BrowalliaUPC"/>
              </a:rPr>
              <a:t>Process</a:t>
            </a:r>
            <a:r>
              <a:rPr lang="th-TH" sz="2400">
                <a:highlight>
                  <a:srgbClr val="C0C0C0"/>
                </a:highlight>
                <a:latin typeface="BrowalliaUPC"/>
                <a:cs typeface="BrowalliaUPC"/>
              </a:rPr>
              <a:t> บัญชี SBP ในการ </a:t>
            </a:r>
            <a:r>
              <a:rPr lang="th-TH" sz="2400" err="1">
                <a:highlight>
                  <a:srgbClr val="C0C0C0"/>
                </a:highlight>
                <a:latin typeface="BrowalliaUPC"/>
                <a:cs typeface="BrowalliaUPC"/>
              </a:rPr>
              <a:t>Approve</a:t>
            </a:r>
            <a:r>
              <a:rPr lang="th-TH" sz="2400">
                <a:highlight>
                  <a:srgbClr val="C0C0C0"/>
                </a:highlight>
                <a:latin typeface="BrowalliaUPC"/>
                <a:cs typeface="BrowalliaUPC"/>
              </a:rPr>
              <a:t> ค่าใช้จ่าย ในการชดเชยรายได้</a:t>
            </a:r>
          </a:p>
          <a:p>
            <a:endParaRPr lang="en-US" sz="2800" b="0">
              <a:latin typeface="BrowalliaUPC"/>
              <a:cs typeface="BrowalliaUPC"/>
            </a:endParaRPr>
          </a:p>
          <a:p>
            <a:pPr algn="l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C1737A4-BA63-0CBB-6F77-E18202D711AA}"/>
              </a:ext>
            </a:extLst>
          </p:cNvPr>
          <p:cNvSpPr/>
          <p:nvPr/>
        </p:nvSpPr>
        <p:spPr>
          <a:xfrm>
            <a:off x="437173" y="1622492"/>
            <a:ext cx="7799152" cy="101566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th-TH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000" u="sng">
                <a:solidFill>
                  <a:srgbClr val="FF0000"/>
                </a:solidFill>
                <a:latin typeface="Browallia New"/>
                <a:ea typeface="Tahoma"/>
                <a:cs typeface="Browallia New"/>
              </a:rPr>
              <a:t>กรณีเรียกดูข้อมูลสถานะการดำเนินการ</a:t>
            </a:r>
          </a:p>
          <a:p>
            <a:r>
              <a:rPr lang="th-TH" sz="2000">
                <a:solidFill>
                  <a:srgbClr val="FF0000"/>
                </a:solidFill>
                <a:latin typeface="Browallia New"/>
                <a:ea typeface="Tahoma"/>
                <a:cs typeface="Browallia New"/>
              </a:rPr>
              <a:t>สถานะคงค้าง : บังคับ Required Field สถานะ </a:t>
            </a:r>
          </a:p>
          <a:p>
            <a:r>
              <a:rPr lang="th-TH" sz="2000">
                <a:solidFill>
                  <a:srgbClr val="FF0000"/>
                </a:solidFill>
                <a:latin typeface="Browallia New"/>
                <a:ea typeface="Tahoma"/>
                <a:cs typeface="Browallia New"/>
              </a:rPr>
              <a:t>สถานะเสร็จสิ้นดำเนินการ : บังคับ Required Field สถานะ , Period Statement</a:t>
            </a:r>
          </a:p>
        </p:txBody>
      </p:sp>
      <p:sp>
        <p:nvSpPr>
          <p:cNvPr id="30" name="กล่องข้อความ 22">
            <a:extLst>
              <a:ext uri="{FF2B5EF4-FFF2-40B4-BE49-F238E27FC236}">
                <a16:creationId xmlns:a16="http://schemas.microsoft.com/office/drawing/2014/main" id="{C4FC97C6-9F76-EBFE-5D80-846DDB2251FC}"/>
              </a:ext>
            </a:extLst>
          </p:cNvPr>
          <p:cNvSpPr txBox="1"/>
          <p:nvPr/>
        </p:nvSpPr>
        <p:spPr>
          <a:xfrm>
            <a:off x="437173" y="1213949"/>
            <a:ext cx="5557269" cy="400110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r>
              <a:rPr lang="th-TH" sz="2000">
                <a:latin typeface="CordiaUPC"/>
                <a:cs typeface="CordiaUPC"/>
              </a:rPr>
              <a:t>RPAดำเนินการีดึงข้อมูลร้านจาก SBP </a:t>
            </a:r>
            <a:r>
              <a:rPr lang="th-TH" sz="2000" err="1">
                <a:latin typeface="CordiaUPC"/>
                <a:cs typeface="CordiaUPC"/>
              </a:rPr>
              <a:t>Mall</a:t>
            </a:r>
            <a:r>
              <a:rPr lang="th-TH" sz="2000">
                <a:latin typeface="CordiaUPC"/>
                <a:cs typeface="CordiaUPC"/>
              </a:rPr>
              <a:t> ให้กับทีมบัญชีตรวจสอบ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88EE9975-41AB-975F-BEE7-F9C3F4E1C772}"/>
              </a:ext>
            </a:extLst>
          </p:cNvPr>
          <p:cNvSpPr txBox="1"/>
          <p:nvPr/>
        </p:nvSpPr>
        <p:spPr>
          <a:xfrm>
            <a:off x="9993442" y="8119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3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  <p:pic>
        <p:nvPicPr>
          <p:cNvPr id="2" name="รูปภาพ 1" descr="รูปภาพประกอบด้วย ข้อความ, ภาพหน้าจอ, ตัวอักษร, จำนวน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8F6F1BDF-860C-3620-D52B-35993DB33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38" y="2920671"/>
            <a:ext cx="4260731" cy="3144509"/>
          </a:xfrm>
          <a:prstGeom prst="rect">
            <a:avLst/>
          </a:prstGeom>
        </p:spPr>
      </p:pic>
      <p:pic>
        <p:nvPicPr>
          <p:cNvPr id="7" name="รูปภาพ 6" descr="รูปภาพประกอบด้วย ข้อความ, ภาพหน้าจอ, จำนวน, แสดง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2FE4DF3C-A27D-FBE6-EB67-5CF6AC11B9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641" y="2582474"/>
            <a:ext cx="7548114" cy="383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8673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DAB45-AAF1-2138-129D-07027CD28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DE1C213-A6C5-168A-FC04-E9BD95A01DA6}"/>
              </a:ext>
            </a:extLst>
          </p:cNvPr>
          <p:cNvSpPr txBox="1">
            <a:spLocks/>
          </p:cNvSpPr>
          <p:nvPr/>
        </p:nvSpPr>
        <p:spPr bwMode="auto">
          <a:xfrm>
            <a:off x="4060500" y="2295473"/>
            <a:ext cx="4085719" cy="77787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To-Be 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Business Process</a:t>
            </a:r>
            <a:endParaRPr lang="en-US" b="1" u="sng">
              <a:latin typeface="CordiaUPC"/>
              <a:ea typeface="Tahoma"/>
              <a:cs typeface="CordiaUPC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A3EDE7-BCA4-5A8A-06CF-C70C0D6F582F}"/>
              </a:ext>
            </a:extLst>
          </p:cNvPr>
          <p:cNvSpPr txBox="1"/>
          <p:nvPr/>
        </p:nvSpPr>
        <p:spPr>
          <a:xfrm>
            <a:off x="1753755" y="3199465"/>
            <a:ext cx="8694223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400" err="1">
                <a:latin typeface="BrowalliaUPC"/>
                <a:cs typeface="BrowalliaUPC"/>
              </a:rPr>
              <a:t>แก้ไขระบบการสร้างเอกสารชดเชยรายได้</a:t>
            </a:r>
            <a:endParaRPr lang="en-US" sz="2400">
              <a:latin typeface="BrowalliaUPC"/>
              <a:cs typeface="BrowalliaUPC"/>
            </a:endParaRPr>
          </a:p>
          <a:p>
            <a:pPr marL="457200" indent="-457200">
              <a:buAutoNum type="arabicPeriod"/>
            </a:pPr>
            <a:r>
              <a:rPr lang="th-TH" sz="2400">
                <a:highlight>
                  <a:srgbClr val="C0C0C0"/>
                </a:highlight>
                <a:latin typeface="BrowalliaUPC"/>
                <a:cs typeface="BrowalliaUPC"/>
              </a:rPr>
              <a:t>ปรับระบบยกเลิก </a:t>
            </a:r>
            <a:r>
              <a:rPr lang="th-TH" sz="2400" err="1">
                <a:highlight>
                  <a:srgbClr val="C0C0C0"/>
                </a:highlight>
                <a:latin typeface="BrowalliaUPC"/>
                <a:cs typeface="BrowalliaUPC"/>
              </a:rPr>
              <a:t>Process</a:t>
            </a:r>
            <a:r>
              <a:rPr lang="th-TH" sz="2400">
                <a:highlight>
                  <a:srgbClr val="C0C0C0"/>
                </a:highlight>
                <a:latin typeface="BrowalliaUPC"/>
                <a:cs typeface="BrowalliaUPC"/>
              </a:rPr>
              <a:t> บัญชี SBP ในการ </a:t>
            </a:r>
            <a:r>
              <a:rPr lang="th-TH" sz="2400" err="1">
                <a:highlight>
                  <a:srgbClr val="C0C0C0"/>
                </a:highlight>
                <a:latin typeface="BrowalliaUPC"/>
                <a:cs typeface="BrowalliaUPC"/>
              </a:rPr>
              <a:t>Approve</a:t>
            </a:r>
            <a:r>
              <a:rPr lang="th-TH" sz="2400">
                <a:highlight>
                  <a:srgbClr val="C0C0C0"/>
                </a:highlight>
                <a:latin typeface="BrowalliaUPC"/>
                <a:cs typeface="BrowalliaUPC"/>
              </a:rPr>
              <a:t> ค่าใช้จ่าย ในการชดเชยรายได้</a:t>
            </a:r>
          </a:p>
        </p:txBody>
      </p:sp>
    </p:spTree>
    <p:extLst>
      <p:ext uri="{BB962C8B-B14F-4D97-AF65-F5344CB8AC3E}">
        <p14:creationId xmlns:p14="http://schemas.microsoft.com/office/powerpoint/2010/main" val="30820169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907996-4F6B-47B0-BA98-4844791050A1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pic>
        <p:nvPicPr>
          <p:cNvPr id="2" name="กราฟิก 1">
            <a:extLst>
              <a:ext uri="{FF2B5EF4-FFF2-40B4-BE49-F238E27FC236}">
                <a16:creationId xmlns:a16="http://schemas.microsoft.com/office/drawing/2014/main" id="{EAA19272-7135-9D09-B1C3-4AB4837E3C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383" y="800101"/>
            <a:ext cx="8939044" cy="6055518"/>
          </a:xfrm>
          <a:prstGeom prst="rect">
            <a:avLst/>
          </a:prstGeom>
        </p:spPr>
      </p:pic>
      <p:sp>
        <p:nvSpPr>
          <p:cNvPr id="3" name="สี่เหลี่ยมผืนผ้า: มุมมน 2">
            <a:extLst>
              <a:ext uri="{FF2B5EF4-FFF2-40B4-BE49-F238E27FC236}">
                <a16:creationId xmlns:a16="http://schemas.microsoft.com/office/drawing/2014/main" id="{6E16DE75-455A-E264-2F89-6DA4A38E94BE}"/>
              </a:ext>
            </a:extLst>
          </p:cNvPr>
          <p:cNvSpPr/>
          <p:nvPr/>
        </p:nvSpPr>
        <p:spPr>
          <a:xfrm>
            <a:off x="2291857" y="4232203"/>
            <a:ext cx="4625897" cy="115295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สี่เหลี่ยมผืนผ้า: มุมมน 3">
            <a:extLst>
              <a:ext uri="{FF2B5EF4-FFF2-40B4-BE49-F238E27FC236}">
                <a16:creationId xmlns:a16="http://schemas.microsoft.com/office/drawing/2014/main" id="{DD2C8BB4-A553-4BC5-8AAD-28FA2AB25244}"/>
              </a:ext>
            </a:extLst>
          </p:cNvPr>
          <p:cNvSpPr/>
          <p:nvPr/>
        </p:nvSpPr>
        <p:spPr>
          <a:xfrm>
            <a:off x="3247970" y="5399223"/>
            <a:ext cx="3529180" cy="144822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F2E3DE2C-7C59-73A0-4BBE-3744CAFA38F8}"/>
              </a:ext>
            </a:extLst>
          </p:cNvPr>
          <p:cNvSpPr/>
          <p:nvPr/>
        </p:nvSpPr>
        <p:spPr>
          <a:xfrm>
            <a:off x="6931815" y="4274385"/>
            <a:ext cx="1448229" cy="20809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สี่เหลี่ยมผืนผ้า: มุมมน 6">
            <a:extLst>
              <a:ext uri="{FF2B5EF4-FFF2-40B4-BE49-F238E27FC236}">
                <a16:creationId xmlns:a16="http://schemas.microsoft.com/office/drawing/2014/main" id="{828CDC07-EC08-7CE6-A58D-23B613BC0B82}"/>
              </a:ext>
            </a:extLst>
          </p:cNvPr>
          <p:cNvSpPr/>
          <p:nvPr/>
        </p:nvSpPr>
        <p:spPr>
          <a:xfrm>
            <a:off x="5961642" y="1448228"/>
            <a:ext cx="2390281" cy="1504471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DACBB0B1-36FE-EEF5-C95E-0D6CB16CFBA4}"/>
              </a:ext>
            </a:extLst>
          </p:cNvPr>
          <p:cNvSpPr/>
          <p:nvPr/>
        </p:nvSpPr>
        <p:spPr>
          <a:xfrm>
            <a:off x="6847452" y="2994881"/>
            <a:ext cx="2516825" cy="618661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DF11FF41-7848-B2AE-6FC7-2B5BF1C78086}"/>
              </a:ext>
            </a:extLst>
          </p:cNvPr>
          <p:cNvSpPr txBox="1"/>
          <p:nvPr/>
        </p:nvSpPr>
        <p:spPr>
          <a:xfrm>
            <a:off x="6793979" y="1107941"/>
            <a:ext cx="94070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h-TH">
                <a:solidFill>
                  <a:schemeClr val="accent5"/>
                </a:solidFill>
                <a:latin typeface="Arial"/>
                <a:cs typeface="Angsana New"/>
              </a:rPr>
              <a:t>Step2</a:t>
            </a: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00AAD124-8B0C-E266-CB9B-954AB0B08510}"/>
              </a:ext>
            </a:extLst>
          </p:cNvPr>
          <p:cNvSpPr txBox="1"/>
          <p:nvPr/>
        </p:nvSpPr>
        <p:spPr>
          <a:xfrm>
            <a:off x="8769459" y="2759400"/>
            <a:ext cx="83618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h-TH">
                <a:solidFill>
                  <a:schemeClr val="accent6"/>
                </a:solidFill>
                <a:latin typeface="Arial"/>
                <a:cs typeface="Angsana New"/>
              </a:rPr>
              <a:t>Step3</a:t>
            </a:r>
            <a:endParaRPr lang="th-TH">
              <a:solidFill>
                <a:schemeClr val="accent6"/>
              </a:solidFill>
            </a:endParaRP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12843D57-C5CE-06FC-913D-7A1549FDBA4A}"/>
              </a:ext>
            </a:extLst>
          </p:cNvPr>
          <p:cNvSpPr txBox="1"/>
          <p:nvPr/>
        </p:nvSpPr>
        <p:spPr>
          <a:xfrm>
            <a:off x="6156390" y="3919603"/>
            <a:ext cx="82572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h-TH">
                <a:solidFill>
                  <a:srgbClr val="FF0000"/>
                </a:solidFill>
                <a:latin typeface="Arial"/>
                <a:cs typeface="Angsana New"/>
              </a:rPr>
              <a:t>Step1</a:t>
            </a:r>
            <a:endParaRPr lang="th-TH">
              <a:solidFill>
                <a:srgbClr val="FF0000"/>
              </a:solidFill>
            </a:endParaRP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5A05D663-18B8-9453-3F01-522ECDFD47FF}"/>
              </a:ext>
            </a:extLst>
          </p:cNvPr>
          <p:cNvSpPr txBox="1"/>
          <p:nvPr/>
        </p:nvSpPr>
        <p:spPr>
          <a:xfrm>
            <a:off x="7296657" y="5053830"/>
            <a:ext cx="109748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h-TH">
                <a:solidFill>
                  <a:srgbClr val="FF0000"/>
                </a:solidFill>
                <a:latin typeface="Arial"/>
                <a:cs typeface="Angsana New"/>
              </a:rPr>
              <a:t>Step1.2</a:t>
            </a:r>
            <a:endParaRPr lang="th-TH">
              <a:solidFill>
                <a:srgbClr val="FF0000"/>
              </a:solidFill>
            </a:endParaRP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F2987155-04D2-4CBA-C7EB-EA5A393ABFF4}"/>
              </a:ext>
            </a:extLst>
          </p:cNvPr>
          <p:cNvSpPr txBox="1"/>
          <p:nvPr/>
        </p:nvSpPr>
        <p:spPr>
          <a:xfrm>
            <a:off x="3626939" y="6449053"/>
            <a:ext cx="114865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h-TH">
                <a:solidFill>
                  <a:srgbClr val="FF0000"/>
                </a:solidFill>
                <a:latin typeface="Arial"/>
                <a:cs typeface="Angsana New"/>
              </a:rPr>
              <a:t>Step1.1</a:t>
            </a:r>
            <a:endParaRPr lang="th-TH">
              <a:solidFill>
                <a:srgbClr val="FF0000"/>
              </a:solidFill>
            </a:endParaRPr>
          </a:p>
        </p:txBody>
      </p:sp>
      <p:sp>
        <p:nvSpPr>
          <p:cNvPr id="35" name="กล่องข้อความ 34">
            <a:extLst>
              <a:ext uri="{FF2B5EF4-FFF2-40B4-BE49-F238E27FC236}">
                <a16:creationId xmlns:a16="http://schemas.microsoft.com/office/drawing/2014/main" id="{E43A40F2-2B77-B72D-88E3-C9112EE40B7A}"/>
              </a:ext>
            </a:extLst>
          </p:cNvPr>
          <p:cNvSpPr txBox="1"/>
          <p:nvPr/>
        </p:nvSpPr>
        <p:spPr>
          <a:xfrm>
            <a:off x="8349343" y="0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5"/>
              </a:rPr>
              <a:t>กระบวนการชดเชยรายได้-To-Be 02012026.svg</a:t>
            </a:r>
            <a:endParaRPr lang="en-US"/>
          </a:p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998159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15A7C-F86D-83C6-8759-5BCDAAE49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7CDDF12-C9C6-A09F-7ECD-CA9F5AEC0D35}"/>
              </a:ext>
            </a:extLst>
          </p:cNvPr>
          <p:cNvSpPr txBox="1">
            <a:spLocks/>
          </p:cNvSpPr>
          <p:nvPr/>
        </p:nvSpPr>
        <p:spPr bwMode="auto">
          <a:xfrm>
            <a:off x="1144" y="-663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pic>
        <p:nvPicPr>
          <p:cNvPr id="2" name="กราฟิก 1">
            <a:extLst>
              <a:ext uri="{FF2B5EF4-FFF2-40B4-BE49-F238E27FC236}">
                <a16:creationId xmlns:a16="http://schemas.microsoft.com/office/drawing/2014/main" id="{358FC604-5328-CF96-B608-087DE257B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496" y="-684167"/>
            <a:ext cx="14008720" cy="14690000"/>
          </a:xfrm>
          <a:prstGeom prst="rect">
            <a:avLst/>
          </a:prstGeom>
        </p:spPr>
      </p:pic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AF17A7BB-84A8-09CB-3937-DAD1CE3FD591}"/>
              </a:ext>
            </a:extLst>
          </p:cNvPr>
          <p:cNvSpPr txBox="1"/>
          <p:nvPr/>
        </p:nvSpPr>
        <p:spPr>
          <a:xfrm>
            <a:off x="8632031" y="95250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5"/>
              </a:rPr>
              <a:t>กระบวนการชดเชยรายได้-To-Be 120226.svg</a:t>
            </a:r>
            <a:endParaRPr lang="en-US"/>
          </a:p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177210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907996-4F6B-47B0-BA98-4844791050A1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31F23B-0B2D-310E-B472-B2E12CA5379A}"/>
              </a:ext>
            </a:extLst>
          </p:cNvPr>
          <p:cNvSpPr txBox="1"/>
          <p:nvPr/>
        </p:nvSpPr>
        <p:spPr>
          <a:xfrm>
            <a:off x="775741" y="944380"/>
            <a:ext cx="10796645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sz="2400" err="1">
                <a:highlight>
                  <a:srgbClr val="C0C0C0"/>
                </a:highlight>
                <a:latin typeface="BrowalliaUPC"/>
                <a:cs typeface="BrowalliaUPC"/>
              </a:rPr>
              <a:t>แก้ไขระบบการสร้างเอกสารชดเชยรายได้</a:t>
            </a:r>
            <a:r>
              <a:rPr lang="en-US" sz="2400" dirty="0">
                <a:highlight>
                  <a:srgbClr val="C0C0C0"/>
                </a:highlight>
                <a:latin typeface="BrowalliaUPC"/>
                <a:cs typeface="BrowalliaUPC"/>
              </a:rPr>
              <a:t> </a:t>
            </a:r>
            <a:endParaRPr lang="en-US"/>
          </a:p>
          <a:p>
            <a:pPr marL="914400" lvl="1" indent="-457200">
              <a:buFont typeface="Courier New"/>
              <a:buChar char="o"/>
            </a:pPr>
            <a:r>
              <a:rPr lang="en-US" sz="2400" dirty="0" err="1">
                <a:latin typeface="BrowalliaUPC"/>
                <a:cs typeface="BrowalliaUPC"/>
              </a:rPr>
              <a:t>เจ้าหน้าที่</a:t>
            </a:r>
            <a:r>
              <a:rPr lang="en-US" sz="2400" dirty="0">
                <a:latin typeface="BrowalliaUPC"/>
                <a:cs typeface="BrowalliaUPC"/>
              </a:rPr>
              <a:t> SBP DSA </a:t>
            </a:r>
            <a:r>
              <a:rPr lang="en-US" sz="2400" dirty="0" err="1">
                <a:latin typeface="BrowalliaUPC"/>
                <a:cs typeface="BrowalliaUPC"/>
              </a:rPr>
              <a:t>สามารถ</a:t>
            </a:r>
            <a:r>
              <a:rPr lang="en-US" sz="2400" dirty="0">
                <a:latin typeface="BrowalliaUPC"/>
                <a:cs typeface="BrowalliaUPC"/>
              </a:rPr>
              <a:t> </a:t>
            </a:r>
            <a:r>
              <a:rPr lang="en-US" sz="2400" dirty="0" err="1">
                <a:latin typeface="BrowalliaUPC"/>
                <a:cs typeface="BrowalliaUPC"/>
              </a:rPr>
              <a:t>กรอกข้อมูลร้านเปิดกระทบ</a:t>
            </a:r>
            <a:r>
              <a:rPr lang="en-US" sz="2400" dirty="0">
                <a:latin typeface="BrowalliaUPC"/>
                <a:cs typeface="BrowalliaUPC"/>
              </a:rPr>
              <a:t> </a:t>
            </a:r>
            <a:r>
              <a:rPr lang="en-US" sz="2400" dirty="0" err="1">
                <a:latin typeface="BrowalliaUPC"/>
                <a:cs typeface="BrowalliaUPC"/>
              </a:rPr>
              <a:t>เพื่อคำนวณยอดชดเชยรายได้</a:t>
            </a:r>
            <a:endParaRPr lang="en-US" dirty="0" err="1"/>
          </a:p>
          <a:p>
            <a:pPr marL="914400" lvl="1" indent="-457200">
              <a:buFont typeface="Courier New"/>
              <a:buChar char="o"/>
            </a:pPr>
            <a:r>
              <a:rPr lang="en-US" sz="2400" dirty="0" err="1">
                <a:latin typeface="BrowalliaUPC"/>
                <a:cs typeface="BrowalliaUPC"/>
              </a:rPr>
              <a:t>กรณีไม่เห็นควรชดเชยรายได้</a:t>
            </a:r>
            <a:r>
              <a:rPr lang="en-US" sz="2400" dirty="0">
                <a:latin typeface="BrowalliaUPC"/>
                <a:cs typeface="BrowalliaUPC"/>
              </a:rPr>
              <a:t> : </a:t>
            </a:r>
          </a:p>
          <a:p>
            <a:pPr marL="1371600" lvl="2" indent="-457200">
              <a:buFont typeface="Wingdings"/>
              <a:buChar char="§"/>
            </a:pPr>
            <a:r>
              <a:rPr lang="en-US" sz="2400" b="0" err="1">
                <a:latin typeface="BrowalliaUPC"/>
                <a:cs typeface="BrowalliaUPC"/>
              </a:rPr>
              <a:t>ระบบดำเนินการแสดงข้อมูลในเดือนถัดไป</a:t>
            </a:r>
            <a:r>
              <a:rPr lang="en-US" sz="2400" b="0" dirty="0">
                <a:latin typeface="BrowalliaUPC"/>
                <a:cs typeface="BrowalliaUPC"/>
              </a:rPr>
              <a:t> </a:t>
            </a:r>
            <a:r>
              <a:rPr lang="en-US" sz="2400" b="0" err="1">
                <a:latin typeface="BrowalliaUPC"/>
                <a:cs typeface="BrowalliaUPC"/>
              </a:rPr>
              <a:t>พร้อมผู้ดำเนินการคนเดิม</a:t>
            </a:r>
            <a:endParaRPr lang="en-US" sz="2400" b="0">
              <a:latin typeface="BrowalliaUPC"/>
              <a:cs typeface="BrowalliaUPC"/>
            </a:endParaRPr>
          </a:p>
          <a:p>
            <a:pPr marL="914400" lvl="1" indent="-457200">
              <a:buFont typeface="Courier New"/>
              <a:buChar char="o"/>
            </a:pPr>
            <a:r>
              <a:rPr lang="en-US" sz="2400" dirty="0" err="1">
                <a:latin typeface="BrowalliaUPC"/>
                <a:cs typeface="BrowalliaUPC"/>
              </a:rPr>
              <a:t>กรณีหยุดชดเชยรายได้</a:t>
            </a:r>
            <a:r>
              <a:rPr lang="en-US" sz="2400" dirty="0">
                <a:latin typeface="BrowalliaUPC"/>
                <a:cs typeface="BrowalliaUPC"/>
              </a:rPr>
              <a:t> :</a:t>
            </a:r>
            <a:endParaRPr lang="en-US" dirty="0"/>
          </a:p>
          <a:p>
            <a:pPr marL="1371600" lvl="2" indent="-457200">
              <a:buFont typeface="Wingdings"/>
              <a:buChar char="§"/>
            </a:pPr>
            <a:r>
              <a:rPr lang="en-US" sz="2400" b="0" dirty="0">
                <a:latin typeface="BrowalliaUPC"/>
                <a:cs typeface="BrowalliaUPC"/>
              </a:rPr>
              <a:t> </a:t>
            </a:r>
            <a:r>
              <a:rPr lang="en-US" sz="2400" b="0" dirty="0" err="1">
                <a:latin typeface="BrowalliaUPC"/>
                <a:cs typeface="BrowalliaUPC"/>
              </a:rPr>
              <a:t>แก้ไขฝ่าย</a:t>
            </a:r>
            <a:r>
              <a:rPr lang="en-US" sz="2400" b="0" dirty="0">
                <a:latin typeface="BrowalliaUPC"/>
                <a:cs typeface="BrowalliaUPC"/>
              </a:rPr>
              <a:t> SBP DSA </a:t>
            </a:r>
            <a:r>
              <a:rPr lang="en-US" sz="2400" b="0" dirty="0" err="1">
                <a:latin typeface="BrowalliaUPC"/>
                <a:cs typeface="BrowalliaUPC"/>
              </a:rPr>
              <a:t>สามารถพิจารณาคำขอชดเชยรายได้อีกครั้งได้</a:t>
            </a:r>
            <a:r>
              <a:rPr lang="en-US" sz="2400" b="0" dirty="0">
                <a:latin typeface="BrowalliaUPC"/>
                <a:cs typeface="BrowalliaUPC"/>
              </a:rPr>
              <a:t> </a:t>
            </a:r>
            <a:r>
              <a:rPr lang="en-US" sz="2400" b="0" dirty="0" err="1">
                <a:latin typeface="BrowalliaUPC"/>
                <a:cs typeface="BrowalliaUPC"/>
              </a:rPr>
              <a:t>โดยเจ้าหน้าที่</a:t>
            </a:r>
            <a:r>
              <a:rPr lang="en-US" sz="2400" b="0" dirty="0">
                <a:latin typeface="BrowalliaUPC"/>
                <a:cs typeface="BrowalliaUPC"/>
              </a:rPr>
              <a:t> SBP DSA </a:t>
            </a:r>
            <a:r>
              <a:rPr lang="en-US" sz="2400" b="0" dirty="0" err="1">
                <a:latin typeface="BrowalliaUPC"/>
                <a:cs typeface="BrowalliaUPC"/>
              </a:rPr>
              <a:t>ต้องเป็นผู้ดำเนินการเลือกงานจากระบบหรือคีย์ข้อมูล</a:t>
            </a:r>
            <a:r>
              <a:rPr lang="en-US" sz="2400" b="0" dirty="0">
                <a:latin typeface="BrowalliaUPC"/>
                <a:cs typeface="BrowalliaUPC"/>
              </a:rPr>
              <a:t> 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3B3E8D4B-B0BD-F5E8-7E27-4AD756581946}"/>
              </a:ext>
            </a:extLst>
          </p:cNvPr>
          <p:cNvSpPr/>
          <p:nvPr/>
        </p:nvSpPr>
        <p:spPr>
          <a:xfrm>
            <a:off x="1011184" y="3573802"/>
            <a:ext cx="10306664" cy="12683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 err="1">
                <a:solidFill>
                  <a:srgbClr val="000000"/>
                </a:solidFill>
                <a:latin typeface="BrowalliaUPC"/>
                <a:cs typeface="+mn-lt"/>
              </a:rPr>
              <a:t>ร้านสาขา</a:t>
            </a:r>
            <a:r>
              <a:rPr lang="en-US" sz="2400" dirty="0">
                <a:solidFill>
                  <a:srgbClr val="000000"/>
                </a:solidFill>
                <a:latin typeface="BrowalliaUPC"/>
                <a:cs typeface="+mn-lt"/>
              </a:rPr>
              <a:t> A </a:t>
            </a:r>
            <a:r>
              <a:rPr lang="en-US" sz="2400" dirty="0" err="1">
                <a:solidFill>
                  <a:srgbClr val="000000"/>
                </a:solidFill>
                <a:latin typeface="BrowalliaUPC"/>
                <a:cs typeface="+mn-lt"/>
              </a:rPr>
              <a:t>ถูกกระทบจากการเปิด</a:t>
            </a:r>
            <a:r>
              <a:rPr lang="en-US" sz="2400" dirty="0">
                <a:solidFill>
                  <a:srgbClr val="000000"/>
                </a:solidFill>
                <a:latin typeface="BrowalliaUPC"/>
                <a:cs typeface="+mn-lt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BrowalliaUPC"/>
                <a:cs typeface="+mn-lt"/>
              </a:rPr>
              <a:t>ร้านสาขา</a:t>
            </a:r>
            <a:r>
              <a:rPr lang="en-US" sz="2400" dirty="0">
                <a:solidFill>
                  <a:srgbClr val="000000"/>
                </a:solidFill>
                <a:latin typeface="BrowalliaUPC"/>
                <a:cs typeface="+mn-lt"/>
              </a:rPr>
              <a:t> B ----&gt; </a:t>
            </a:r>
            <a:r>
              <a:rPr lang="en-US" sz="2400" dirty="0" err="1">
                <a:solidFill>
                  <a:srgbClr val="000000"/>
                </a:solidFill>
                <a:latin typeface="BrowalliaUPC"/>
                <a:cs typeface="+mn-lt"/>
              </a:rPr>
              <a:t>เจ้าหน้าที่</a:t>
            </a:r>
            <a:r>
              <a:rPr lang="en-US" sz="2400" dirty="0">
                <a:solidFill>
                  <a:srgbClr val="000000"/>
                </a:solidFill>
                <a:latin typeface="BrowalliaUPC"/>
                <a:cs typeface="+mn-lt"/>
              </a:rPr>
              <a:t> SBP DSA </a:t>
            </a:r>
            <a:r>
              <a:rPr lang="en-US" sz="2400" dirty="0" err="1">
                <a:solidFill>
                  <a:srgbClr val="000000"/>
                </a:solidFill>
                <a:latin typeface="BrowalliaUPC"/>
                <a:cs typeface="+mn-lt"/>
              </a:rPr>
              <a:t>เลือกงานจากระบบหรือคีย์ข้อมูลร้าน</a:t>
            </a:r>
            <a:r>
              <a:rPr lang="en-US" sz="2400" dirty="0">
                <a:solidFill>
                  <a:srgbClr val="000000"/>
                </a:solidFill>
                <a:latin typeface="BrowalliaUPC"/>
                <a:cs typeface="+mn-l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BrowalliaUPC"/>
                <a:cs typeface="+mn-lt"/>
              </a:rPr>
              <a:t>พร้อมปรับปรุงยอดชดเชย</a:t>
            </a:r>
            <a:r>
              <a:rPr lang="en-US" sz="2400" dirty="0">
                <a:solidFill>
                  <a:srgbClr val="000000"/>
                </a:solidFill>
                <a:latin typeface="BrowalliaUPC"/>
                <a:cs typeface="+mn-l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BrowalliaUPC"/>
                <a:cs typeface="+mn-lt"/>
              </a:rPr>
              <a:t>เพื่อดำเนินการโดยผู้ใช้เอง</a:t>
            </a:r>
            <a:r>
              <a:rPr lang="en-US" sz="2400" dirty="0">
                <a:solidFill>
                  <a:srgbClr val="000000"/>
                </a:solidFill>
                <a:latin typeface="BrowalliaUPC"/>
                <a:cs typeface="+mn-lt"/>
              </a:rPr>
              <a:t>  ---&gt; </a:t>
            </a:r>
            <a:r>
              <a:rPr lang="en-US" sz="2400" dirty="0" err="1">
                <a:solidFill>
                  <a:srgbClr val="000000"/>
                </a:solidFill>
                <a:latin typeface="BrowalliaUPC"/>
                <a:cs typeface="+mn-lt"/>
              </a:rPr>
              <a:t>ฝ่าย</a:t>
            </a:r>
            <a:r>
              <a:rPr lang="en-US" sz="2400" dirty="0">
                <a:solidFill>
                  <a:srgbClr val="000000"/>
                </a:solidFill>
                <a:latin typeface="BrowalliaUPC"/>
                <a:cs typeface="+mn-lt"/>
              </a:rPr>
              <a:t> SBP DSA </a:t>
            </a:r>
            <a:r>
              <a:rPr lang="en-US" sz="2400" dirty="0" err="1">
                <a:solidFill>
                  <a:srgbClr val="000000"/>
                </a:solidFill>
                <a:latin typeface="BrowalliaUPC"/>
                <a:cs typeface="+mn-lt"/>
              </a:rPr>
              <a:t>พิจารณา</a:t>
            </a:r>
            <a:r>
              <a:rPr lang="en-US" sz="2400" dirty="0">
                <a:solidFill>
                  <a:srgbClr val="000000"/>
                </a:solidFill>
                <a:latin typeface="BrowalliaUPC"/>
                <a:cs typeface="+mn-lt"/>
              </a:rPr>
              <a:t> ---&gt; </a:t>
            </a:r>
            <a:r>
              <a:rPr lang="en-US" sz="2400" dirty="0" err="1">
                <a:solidFill>
                  <a:srgbClr val="000000"/>
                </a:solidFill>
                <a:latin typeface="BrowalliaUPC"/>
                <a:cs typeface="+mn-lt"/>
              </a:rPr>
              <a:t>หยุดชดเชยรายได้</a:t>
            </a:r>
            <a:r>
              <a:rPr lang="en-US" sz="2400" dirty="0">
                <a:solidFill>
                  <a:srgbClr val="000000"/>
                </a:solidFill>
                <a:latin typeface="BrowalliaUPC"/>
                <a:cs typeface="+mn-l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BrowalliaUPC"/>
                <a:cs typeface="+mn-lt"/>
              </a:rPr>
              <a:t>หรือ</a:t>
            </a:r>
            <a:r>
              <a:rPr lang="en-US" sz="2400" dirty="0">
                <a:solidFill>
                  <a:srgbClr val="000000"/>
                </a:solidFill>
                <a:latin typeface="BrowalliaUPC"/>
                <a:cs typeface="+mn-lt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BrowalliaUPC"/>
                <a:cs typeface="+mn-lt"/>
              </a:rPr>
              <a:t>ไม่เห็นควรชดเชยรายได้</a:t>
            </a:r>
            <a:r>
              <a:rPr lang="en-US" sz="2400" dirty="0">
                <a:solidFill>
                  <a:srgbClr val="000000"/>
                </a:solidFill>
                <a:latin typeface="BrowalliaUPC"/>
                <a:cs typeface="+mn-lt"/>
              </a:rPr>
              <a:t> </a:t>
            </a:r>
            <a:endParaRPr lang="en-US" sz="2400" dirty="0">
              <a:solidFill>
                <a:srgbClr val="000000"/>
              </a:solidFill>
              <a:latin typeface="BrowalliaUPC"/>
              <a:ea typeface="Tahoma"/>
            </a:endParaRP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D0B790CC-366C-7A57-5F4F-E0B4AEB5F284}"/>
              </a:ext>
            </a:extLst>
          </p:cNvPr>
          <p:cNvSpPr/>
          <p:nvPr/>
        </p:nvSpPr>
        <p:spPr>
          <a:xfrm>
            <a:off x="1011184" y="5744346"/>
            <a:ext cx="10306664" cy="106055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 err="1">
                <a:solidFill>
                  <a:srgbClr val="000000"/>
                </a:solidFill>
                <a:latin typeface="BrowalliaUPC"/>
                <a:cs typeface="BrowalliaUPC"/>
              </a:rPr>
              <a:t>ฝ่าย</a:t>
            </a:r>
            <a:r>
              <a:rPr lang="en-US" sz="2400" dirty="0">
                <a:solidFill>
                  <a:srgbClr val="000000"/>
                </a:solidFill>
                <a:latin typeface="BrowalliaUPC"/>
                <a:cs typeface="BrowalliaUPC"/>
              </a:rPr>
              <a:t> SBP DSA </a:t>
            </a:r>
            <a:r>
              <a:rPr lang="en-US" sz="2400" dirty="0" err="1">
                <a:solidFill>
                  <a:srgbClr val="000000"/>
                </a:solidFill>
                <a:latin typeface="BrowalliaUPC"/>
                <a:cs typeface="BrowalliaUPC"/>
              </a:rPr>
              <a:t>พิจารณาเห็นควรชดเชย</a:t>
            </a:r>
            <a:r>
              <a:rPr lang="en-US" sz="2400" dirty="0">
                <a:solidFill>
                  <a:srgbClr val="000000"/>
                </a:solidFill>
                <a:latin typeface="BrowalliaUPC"/>
                <a:cs typeface="BrowalliaUPC"/>
              </a:rPr>
              <a:t> ----&gt; </a:t>
            </a:r>
            <a:r>
              <a:rPr lang="en-US" sz="2400" dirty="0" err="1">
                <a:solidFill>
                  <a:srgbClr val="000000"/>
                </a:solidFill>
                <a:latin typeface="BrowalliaUPC"/>
                <a:cs typeface="BrowalliaUPC"/>
              </a:rPr>
              <a:t>ทีม</a:t>
            </a:r>
            <a:r>
              <a:rPr lang="en-US" sz="2400" dirty="0">
                <a:solidFill>
                  <a:srgbClr val="000000"/>
                </a:solidFill>
                <a:latin typeface="BrowalliaUPC"/>
                <a:cs typeface="BrowalliaUPC"/>
              </a:rPr>
              <a:t> SBP </a:t>
            </a:r>
            <a:r>
              <a:rPr lang="en-US" sz="2400" dirty="0" err="1">
                <a:solidFill>
                  <a:srgbClr val="000000"/>
                </a:solidFill>
                <a:latin typeface="BrowalliaUPC"/>
                <a:cs typeface="BrowalliaUPC"/>
              </a:rPr>
              <a:t>สามารถเลือกงานหรือคีย์ข้อมูลร้าน</a:t>
            </a:r>
            <a:r>
              <a:rPr lang="en-US" sz="2400" dirty="0">
                <a:solidFill>
                  <a:srgbClr val="000000"/>
                </a:solidFill>
                <a:latin typeface="BrowalliaUPC"/>
                <a:cs typeface="BrowalliaUPC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BrowalliaUPC"/>
                <a:cs typeface="BrowalliaUPC"/>
              </a:rPr>
              <a:t>เพื่อดำเนินการโดยผู้ใช้เอง</a:t>
            </a:r>
            <a:r>
              <a:rPr lang="en-US" sz="2400" dirty="0">
                <a:solidFill>
                  <a:srgbClr val="000000"/>
                </a:solidFill>
                <a:latin typeface="BrowalliaUPC"/>
                <a:cs typeface="BrowalliaUPC"/>
              </a:rPr>
              <a:t> ----&gt;</a:t>
            </a:r>
            <a:r>
              <a:rPr lang="en-US" sz="2400" dirty="0">
                <a:solidFill>
                  <a:srgbClr val="FF0000"/>
                </a:solidFill>
                <a:latin typeface="BrowalliaUPC"/>
                <a:cs typeface="BrowalliaUPC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BrowalliaUPC"/>
                <a:cs typeface="BrowalliaUPC"/>
              </a:rPr>
              <a:t>สามารถเปิดเรื่องชดเชยในรอบเดือนเดียวกันหรือในเดือนถัดไป</a:t>
            </a:r>
            <a:r>
              <a:rPr lang="en-US" sz="2400" dirty="0">
                <a:solidFill>
                  <a:srgbClr val="FF0000"/>
                </a:solidFill>
                <a:latin typeface="BrowalliaUPC"/>
                <a:cs typeface="BrowalliaUPC"/>
              </a:rPr>
              <a:t> </a:t>
            </a:r>
          </a:p>
        </p:txBody>
      </p:sp>
      <p:sp>
        <p:nvSpPr>
          <p:cNvPr id="6" name="ลูกศร: ลง 5">
            <a:extLst>
              <a:ext uri="{FF2B5EF4-FFF2-40B4-BE49-F238E27FC236}">
                <a16:creationId xmlns:a16="http://schemas.microsoft.com/office/drawing/2014/main" id="{AE6636ED-B926-2EFE-808E-B3050EA49C2E}"/>
              </a:ext>
            </a:extLst>
          </p:cNvPr>
          <p:cNvSpPr/>
          <p:nvPr/>
        </p:nvSpPr>
        <p:spPr>
          <a:xfrm>
            <a:off x="5840831" y="4943068"/>
            <a:ext cx="674740" cy="64100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27CEC102-052C-7E8A-953E-74305A7BFB89}"/>
              </a:ext>
            </a:extLst>
          </p:cNvPr>
          <p:cNvSpPr txBox="1"/>
          <p:nvPr/>
        </p:nvSpPr>
        <p:spPr>
          <a:xfrm>
            <a:off x="8194532" y="-2381"/>
            <a:ext cx="510099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BrowalliaUPC"/>
                <a:cs typeface="BrowalliaUPC"/>
              </a:rPr>
              <a:t>Note : </a:t>
            </a:r>
            <a:r>
              <a:rPr lang="en-US" sz="2400" dirty="0" err="1">
                <a:solidFill>
                  <a:srgbClr val="FF0000"/>
                </a:solidFill>
                <a:latin typeface="BrowalliaUPC"/>
                <a:cs typeface="BrowalliaUPC"/>
              </a:rPr>
              <a:t>แก้ไขในส่วนของเอกสารทุกType</a:t>
            </a:r>
            <a:endParaRPr lang="en-US" sz="2400" dirty="0">
              <a:solidFill>
                <a:srgbClr val="FF0000"/>
              </a:solidFill>
              <a:latin typeface="BrowalliaUPC"/>
              <a:cs typeface="BrowalliaUPC"/>
            </a:endParaRPr>
          </a:p>
          <a:p>
            <a:r>
              <a:rPr lang="en-US" sz="2400" dirty="0" err="1">
                <a:solidFill>
                  <a:srgbClr val="FF0000"/>
                </a:solidFill>
                <a:latin typeface="BrowalliaUPC"/>
                <a:cs typeface="BrowalliaUPC"/>
              </a:rPr>
              <a:t>หลังพัฒนา</a:t>
            </a:r>
            <a:r>
              <a:rPr lang="en-US" sz="2400" dirty="0">
                <a:solidFill>
                  <a:srgbClr val="FF0000"/>
                </a:solidFill>
                <a:latin typeface="BrowalliaUPC"/>
                <a:cs typeface="BrowalliaUPC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BrowalliaUPC"/>
                <a:cs typeface="BrowalliaUPC"/>
              </a:rPr>
              <a:t>ไม่มีการเปิด</a:t>
            </a:r>
            <a:r>
              <a:rPr lang="en-US" sz="2400" dirty="0">
                <a:solidFill>
                  <a:srgbClr val="FF0000"/>
                </a:solidFill>
                <a:latin typeface="BrowalliaUPC"/>
                <a:cs typeface="BrowalliaUPC"/>
              </a:rPr>
              <a:t> SR </a:t>
            </a:r>
            <a:r>
              <a:rPr lang="en-US" sz="2400" dirty="0" err="1">
                <a:solidFill>
                  <a:srgbClr val="FF0000"/>
                </a:solidFill>
                <a:latin typeface="BrowalliaUPC"/>
                <a:cs typeface="BrowalliaUPC"/>
              </a:rPr>
              <a:t>เพื่อลบข้อมูล</a:t>
            </a:r>
            <a:endParaRPr lang="en-US" sz="2400"/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48665B7D-B46B-BD83-97DE-91FD2B2941FF}"/>
              </a:ext>
            </a:extLst>
          </p:cNvPr>
          <p:cNvSpPr txBox="1"/>
          <p:nvPr/>
        </p:nvSpPr>
        <p:spPr>
          <a:xfrm>
            <a:off x="1064266" y="5320287"/>
            <a:ext cx="19849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h-TH">
                <a:solidFill>
                  <a:srgbClr val="FF0000"/>
                </a:solidFill>
                <a:latin typeface="Arial"/>
                <a:cs typeface="Angsana New"/>
              </a:rPr>
              <a:t>กรณียืนยันต้องการชดเชยรายได้</a:t>
            </a:r>
            <a:endParaRPr lang="th-TH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6914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907996-4F6B-47B0-BA98-4844791050A1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31F23B-0B2D-310E-B472-B2E12CA5379A}"/>
              </a:ext>
            </a:extLst>
          </p:cNvPr>
          <p:cNvSpPr txBox="1"/>
          <p:nvPr/>
        </p:nvSpPr>
        <p:spPr>
          <a:xfrm>
            <a:off x="775741" y="944380"/>
            <a:ext cx="1079664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400" err="1">
                <a:highlight>
                  <a:srgbClr val="C0C0C0"/>
                </a:highlight>
                <a:latin typeface="BrowalliaUPC"/>
                <a:cs typeface="BrowalliaUPC"/>
              </a:rPr>
              <a:t>แก้ไขระบบการสร้างเอกสารชดเชยรายได้</a:t>
            </a:r>
            <a:endParaRPr lang="th-TH" err="1"/>
          </a:p>
          <a:p>
            <a:r>
              <a:rPr lang="en-US" sz="2400">
                <a:solidFill>
                  <a:srgbClr val="FF0000"/>
                </a:solidFill>
                <a:highlight>
                  <a:srgbClr val="C0C0C0"/>
                </a:highlight>
                <a:latin typeface="BrowalliaUPC"/>
                <a:cs typeface="BrowalliaUPC"/>
              </a:rPr>
              <a:t>&gt;&gt;&gt;</a:t>
            </a:r>
            <a:r>
              <a:rPr lang="en-US" sz="2400" err="1">
                <a:solidFill>
                  <a:srgbClr val="FF0000"/>
                </a:solidFill>
                <a:highlight>
                  <a:srgbClr val="C0C0C0"/>
                </a:highlight>
                <a:latin typeface="BrowalliaUPC"/>
                <a:cs typeface="BrowalliaUPC"/>
              </a:rPr>
              <a:t>แก้ไขให้สามารถสร้างรายการคำขอชดเชยรายได้</a:t>
            </a:r>
            <a:r>
              <a:rPr lang="en-US" sz="2400">
                <a:solidFill>
                  <a:srgbClr val="FF0000"/>
                </a:solidFill>
                <a:highlight>
                  <a:srgbClr val="C0C0C0"/>
                </a:highlight>
                <a:latin typeface="BrowalliaUPC"/>
                <a:cs typeface="BrowalliaUPC"/>
              </a:rPr>
              <a:t> </a:t>
            </a:r>
            <a:r>
              <a:rPr lang="en-US" sz="2400" err="1">
                <a:solidFill>
                  <a:srgbClr val="FF0000"/>
                </a:solidFill>
                <a:highlight>
                  <a:srgbClr val="C0C0C0"/>
                </a:highlight>
                <a:latin typeface="BrowalliaUPC"/>
                <a:cs typeface="BrowalliaUPC"/>
              </a:rPr>
              <a:t>ของสาขาที่เคยถูกปฏิเสธการอนุมัติได้</a:t>
            </a:r>
          </a:p>
        </p:txBody>
      </p:sp>
      <p:sp>
        <p:nvSpPr>
          <p:cNvPr id="17" name="กล่องข้อความ 4">
            <a:extLst>
              <a:ext uri="{FF2B5EF4-FFF2-40B4-BE49-F238E27FC236}">
                <a16:creationId xmlns:a16="http://schemas.microsoft.com/office/drawing/2014/main" id="{AF2C5149-B22C-D4EA-869C-B6884CA634EA}"/>
              </a:ext>
            </a:extLst>
          </p:cNvPr>
          <p:cNvSpPr txBox="1"/>
          <p:nvPr/>
        </p:nvSpPr>
        <p:spPr>
          <a:xfrm>
            <a:off x="290286" y="1745343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Step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1.0 </a:t>
            </a:r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To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-</a:t>
            </a:r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Be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: </a:t>
            </a:r>
            <a:r>
              <a:rPr lang="th-TH" sz="2400">
                <a:solidFill>
                  <a:schemeClr val="bg1"/>
                </a:solidFill>
                <a:latin typeface="Cordia New"/>
                <a:cs typeface="Cordia New"/>
              </a:rPr>
              <a:t>เพิ่มหน้าจองานค้าง สำหรับระบบแสดงข้อมูลร้านที่เข้าเงื่อนไข </a:t>
            </a:r>
            <a:r>
              <a:rPr lang="th-TH" sz="2400">
                <a:solidFill>
                  <a:srgbClr val="FF0000"/>
                </a:solidFill>
                <a:latin typeface="Cordia New"/>
                <a:cs typeface="Cordia New"/>
              </a:rPr>
              <a:t>การเปิดกระทบ</a:t>
            </a:r>
            <a:r>
              <a:rPr lang="th-TH" sz="2400">
                <a:solidFill>
                  <a:schemeClr val="bg1"/>
                </a:solidFill>
                <a:latin typeface="Cordia New"/>
                <a:cs typeface="Cordia New"/>
              </a:rPr>
              <a:t> </a:t>
            </a:r>
            <a:endParaRPr lang="th-TH">
              <a:solidFill>
                <a:schemeClr val="bg1"/>
              </a:solidFill>
            </a:endParaRPr>
          </a:p>
        </p:txBody>
      </p:sp>
      <p:sp>
        <p:nvSpPr>
          <p:cNvPr id="19" name="สี่เหลี่ยมผืนผ้า 18">
            <a:extLst>
              <a:ext uri="{FF2B5EF4-FFF2-40B4-BE49-F238E27FC236}">
                <a16:creationId xmlns:a16="http://schemas.microsoft.com/office/drawing/2014/main" id="{54A0F25A-18DD-3F2A-DE3C-61268F38D36C}"/>
              </a:ext>
            </a:extLst>
          </p:cNvPr>
          <p:cNvSpPr/>
          <p:nvPr/>
        </p:nvSpPr>
        <p:spPr>
          <a:xfrm>
            <a:off x="293689" y="2323473"/>
            <a:ext cx="3040251" cy="552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1800">
                <a:cs typeface="Tahoma"/>
              </a:rPr>
              <a:t>หน้าจอเจ้าหน้าที่ DSA</a:t>
            </a:r>
            <a:r>
              <a:rPr lang="th-TH" sz="1800">
                <a:cs typeface="Cordia New"/>
              </a:rPr>
              <a:t> : หน้าจองานค้าง</a:t>
            </a:r>
            <a:endParaRPr lang="th-TH" sz="1800">
              <a:ea typeface="Tahoma"/>
              <a:cs typeface="Cordia New"/>
            </a:endParaRPr>
          </a:p>
        </p:txBody>
      </p:sp>
      <p:sp>
        <p:nvSpPr>
          <p:cNvPr id="20" name="กล่องข้อความ 5">
            <a:extLst>
              <a:ext uri="{FF2B5EF4-FFF2-40B4-BE49-F238E27FC236}">
                <a16:creationId xmlns:a16="http://schemas.microsoft.com/office/drawing/2014/main" id="{13156842-362F-2278-2360-282CE8F1AE31}"/>
              </a:ext>
            </a:extLst>
          </p:cNvPr>
          <p:cNvSpPr txBox="1"/>
          <p:nvPr/>
        </p:nvSpPr>
        <p:spPr>
          <a:xfrm>
            <a:off x="295809" y="3121399"/>
            <a:ext cx="4658715" cy="34163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u="sng">
                <a:latin typeface="Browallia New"/>
                <a:cs typeface="Browallia New"/>
              </a:rPr>
              <a:t>การทำงานของหน้าจอคงค้าง</a:t>
            </a:r>
          </a:p>
          <a:p>
            <a:pPr marL="514350" indent="-514350">
              <a:buAutoNum type="arabicPeriod"/>
            </a:pPr>
            <a:r>
              <a:rPr lang="th-TH" sz="2400">
                <a:latin typeface="Browallia New"/>
                <a:cs typeface="Browallia New"/>
              </a:rPr>
              <a:t>แสดงรายชื่อร้านที่ควรชดเชยรายได้ โดย</a:t>
            </a:r>
            <a:r>
              <a:rPr lang="th-TH" sz="2400">
                <a:solidFill>
                  <a:srgbClr val="000000"/>
                </a:solidFill>
                <a:latin typeface="Browallia New"/>
                <a:cs typeface="Browallia New"/>
              </a:rPr>
              <a:t>ระบบแสดงข้อมูลร้านที่เข้าเงื่อนไข</a:t>
            </a:r>
            <a:r>
              <a:rPr lang="th-TH" sz="2400">
                <a:latin typeface="Browallia New"/>
                <a:cs typeface="Browallia New"/>
              </a:rPr>
              <a:t> ที่หน้าจองานคงค้าง</a:t>
            </a:r>
          </a:p>
          <a:p>
            <a:pPr marL="514350" indent="-514350">
              <a:buAutoNum type="arabicPeriod"/>
            </a:pPr>
            <a:r>
              <a:rPr lang="th-TH" sz="2400">
                <a:latin typeface="Browallia New"/>
                <a:cs typeface="Browallia New"/>
              </a:rPr>
              <a:t>สามารถเข้ามาเลือกงาน และปรับแก้ไขยอดชดเชยรายได้ ของตนเอง</a:t>
            </a:r>
          </a:p>
          <a:p>
            <a:pPr marL="514350" indent="-514350">
              <a:buAutoNum type="arabicPeriod"/>
            </a:pPr>
            <a:r>
              <a:rPr lang="th-TH" sz="2400">
                <a:latin typeface="Browallia New"/>
                <a:cs typeface="Browallia New"/>
              </a:rPr>
              <a:t>สามารถคล</a:t>
            </a:r>
            <a:r>
              <a:rPr lang="th-TH" sz="2400" err="1">
                <a:latin typeface="Browallia New"/>
                <a:cs typeface="Browallia New"/>
              </a:rPr>
              <a:t>ิ๊ก</a:t>
            </a:r>
            <a:r>
              <a:rPr lang="th-TH" sz="2400">
                <a:latin typeface="Browallia New"/>
                <a:cs typeface="Browallia New"/>
              </a:rPr>
              <a:t>เพื่อดูรายละเอียดข้อมูลได้</a:t>
            </a:r>
          </a:p>
          <a:p>
            <a:pPr marL="514350" indent="-514350">
              <a:buAutoNum type="arabicPeriod"/>
            </a:pPr>
            <a:endParaRPr lang="th-TH" sz="2400">
              <a:latin typeface="Browallia New"/>
              <a:cs typeface="Browallia New"/>
            </a:endParaRPr>
          </a:p>
          <a:p>
            <a:endParaRPr lang="th-TH" sz="2400">
              <a:latin typeface="Browallia New"/>
              <a:cs typeface="Browallia New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125D8DB2-2960-C441-1133-2268FBDD48D7}"/>
              </a:ext>
            </a:extLst>
          </p:cNvPr>
          <p:cNvSpPr txBox="1"/>
          <p:nvPr/>
        </p:nvSpPr>
        <p:spPr>
          <a:xfrm>
            <a:off x="9184658" y="3079"/>
            <a:ext cx="3008579" cy="2585323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1800">
                <a:solidFill>
                  <a:schemeClr val="bg1"/>
                </a:solidFill>
                <a:latin typeface="BrowalliaUPC"/>
                <a:cs typeface="BrowalliaUPC"/>
              </a:rPr>
              <a:t>Note : </a:t>
            </a:r>
            <a:endParaRPr lang="th-TH" sz="1800" dirty="0">
              <a:solidFill>
                <a:schemeClr val="bg1"/>
              </a:solidFill>
              <a:latin typeface="BrowalliaUPC"/>
              <a:cs typeface="BrowalliaUPC"/>
            </a:endParaRPr>
          </a:p>
          <a:p>
            <a:r>
              <a:rPr lang="th-TH" sz="1800">
                <a:solidFill>
                  <a:schemeClr val="bg1"/>
                </a:solidFill>
                <a:latin typeface="BrowalliaUPC"/>
                <a:cs typeface="BrowalliaUPC"/>
              </a:rPr>
              <a:t>กรณีระบบดึงข้อมูลชดเชยรายได้</a:t>
            </a:r>
            <a:endParaRPr lang="th-TH" sz="1800" dirty="0">
              <a:solidFill>
                <a:schemeClr val="bg1"/>
              </a:solidFill>
              <a:latin typeface="BrowalliaUPC"/>
              <a:cs typeface="BrowalliaUPC"/>
            </a:endParaRPr>
          </a:p>
          <a:p>
            <a:pPr marL="342900" indent="-342900">
              <a:buAutoNum type="arabicPeriod"/>
            </a:pPr>
            <a:r>
              <a:rPr lang="th-TH" sz="1800">
                <a:solidFill>
                  <a:schemeClr val="bg1"/>
                </a:solidFill>
                <a:latin typeface="BrowalliaUPC"/>
                <a:cs typeface="BrowalliaUPC"/>
              </a:rPr>
              <a:t>เจ้าหน้าที่ SBP DSA เข้ามาเลือกงานของตนเอง</a:t>
            </a:r>
          </a:p>
          <a:p>
            <a:pPr marL="342900" indent="-342900">
              <a:buAutoNum type="arabicPeriod"/>
            </a:pPr>
            <a:endParaRPr lang="th-TH" sz="1800" dirty="0">
              <a:solidFill>
                <a:schemeClr val="bg1"/>
              </a:solidFill>
              <a:latin typeface="BrowalliaUPC"/>
              <a:cs typeface="BrowalliaUPC"/>
            </a:endParaRPr>
          </a:p>
          <a:p>
            <a:r>
              <a:rPr lang="th-TH" sz="1800">
                <a:solidFill>
                  <a:schemeClr val="bg1"/>
                </a:solidFill>
                <a:latin typeface="BrowalliaUPC"/>
                <a:cs typeface="BrowalliaUPC"/>
              </a:rPr>
              <a:t>กรณีได้รับแจ้ง เชิงรุก เชิงรับ เพื่อเปิดชดเชยรายได้</a:t>
            </a:r>
            <a:endParaRPr lang="th-TH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th-TH" sz="1800">
                <a:solidFill>
                  <a:schemeClr val="bg1"/>
                </a:solidFill>
                <a:latin typeface="BrowalliaUPC"/>
                <a:cs typeface="BrowalliaUPC"/>
              </a:rPr>
              <a:t>เจ้าของงานต้องดำเนินการคีย์ข้อมูลเอง</a:t>
            </a:r>
            <a:endParaRPr lang="th-TH">
              <a:solidFill>
                <a:schemeClr val="bg1"/>
              </a:solidFill>
            </a:endParaRPr>
          </a:p>
        </p:txBody>
      </p:sp>
      <p:pic>
        <p:nvPicPr>
          <p:cNvPr id="7" name="รูปภาพ 6" descr="รูปภาพประกอบด้วย ข้อความ, อิเล็กทรอนิกส์, ภาพหน้าจอ, แสดง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93DDE935-8CB9-F1FE-E7FC-60DC74258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371" y="2322239"/>
            <a:ext cx="6943396" cy="3938970"/>
          </a:xfrm>
          <a:prstGeom prst="rect">
            <a:avLst/>
          </a:prstGeom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F460AEB4-84CC-8C83-A515-9FA8F84849E9}"/>
              </a:ext>
            </a:extLst>
          </p:cNvPr>
          <p:cNvSpPr txBox="1"/>
          <p:nvPr/>
        </p:nvSpPr>
        <p:spPr>
          <a:xfrm>
            <a:off x="6876346" y="72413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4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191552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7BE81-8B9A-FB32-C16D-6D6BB4E65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8597366-6393-C7B1-3B66-F9D032A6B329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535032-0CB0-AA0B-9BCC-1249E275D0B3}"/>
              </a:ext>
            </a:extLst>
          </p:cNvPr>
          <p:cNvSpPr txBox="1"/>
          <p:nvPr/>
        </p:nvSpPr>
        <p:spPr>
          <a:xfrm>
            <a:off x="775741" y="944380"/>
            <a:ext cx="1079664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400" err="1">
                <a:highlight>
                  <a:srgbClr val="C0C0C0"/>
                </a:highlight>
                <a:latin typeface="BrowalliaUPC"/>
                <a:cs typeface="BrowalliaUPC"/>
              </a:rPr>
              <a:t>แก้ไขระบบการสร้างเอกสารชดเชยรายได้</a:t>
            </a:r>
            <a:endParaRPr lang="th-TH" err="1"/>
          </a:p>
          <a:p>
            <a:r>
              <a:rPr lang="en-US" sz="2400">
                <a:solidFill>
                  <a:srgbClr val="FF0000"/>
                </a:solidFill>
                <a:highlight>
                  <a:srgbClr val="C0C0C0"/>
                </a:highlight>
                <a:latin typeface="BrowalliaUPC"/>
                <a:cs typeface="BrowalliaUPC"/>
              </a:rPr>
              <a:t>&gt;&gt;&gt;</a:t>
            </a:r>
            <a:r>
              <a:rPr lang="en-US" sz="2400" err="1">
                <a:solidFill>
                  <a:srgbClr val="FF0000"/>
                </a:solidFill>
                <a:highlight>
                  <a:srgbClr val="C0C0C0"/>
                </a:highlight>
                <a:latin typeface="BrowalliaUPC"/>
                <a:cs typeface="BrowalliaUPC"/>
              </a:rPr>
              <a:t>แก้ไขให้สามารถสร้างรายการคำขอชดเชยรายได้</a:t>
            </a:r>
            <a:r>
              <a:rPr lang="en-US" sz="2400">
                <a:solidFill>
                  <a:srgbClr val="FF0000"/>
                </a:solidFill>
                <a:highlight>
                  <a:srgbClr val="C0C0C0"/>
                </a:highlight>
                <a:latin typeface="BrowalliaUPC"/>
                <a:cs typeface="BrowalliaUPC"/>
              </a:rPr>
              <a:t> </a:t>
            </a:r>
            <a:r>
              <a:rPr lang="en-US" sz="2400" err="1">
                <a:solidFill>
                  <a:srgbClr val="FF0000"/>
                </a:solidFill>
                <a:highlight>
                  <a:srgbClr val="C0C0C0"/>
                </a:highlight>
                <a:latin typeface="BrowalliaUPC"/>
                <a:cs typeface="BrowalliaUPC"/>
              </a:rPr>
              <a:t>ของสาขาที่เคยถูกปฏิเสธการอนุมัติได้</a:t>
            </a:r>
          </a:p>
        </p:txBody>
      </p:sp>
      <p:sp>
        <p:nvSpPr>
          <p:cNvPr id="17" name="กล่องข้อความ 4">
            <a:extLst>
              <a:ext uri="{FF2B5EF4-FFF2-40B4-BE49-F238E27FC236}">
                <a16:creationId xmlns:a16="http://schemas.microsoft.com/office/drawing/2014/main" id="{C45FAFBD-8592-BCB3-6E22-FDFD471A02CA}"/>
              </a:ext>
            </a:extLst>
          </p:cNvPr>
          <p:cNvSpPr txBox="1"/>
          <p:nvPr/>
        </p:nvSpPr>
        <p:spPr>
          <a:xfrm>
            <a:off x="290286" y="1745343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Step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1.0 </a:t>
            </a:r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To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-</a:t>
            </a:r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Be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: </a:t>
            </a:r>
            <a:r>
              <a:rPr lang="th-TH" sz="2400">
                <a:solidFill>
                  <a:schemeClr val="bg1"/>
                </a:solidFill>
                <a:latin typeface="Cordia New"/>
                <a:cs typeface="Cordia New"/>
              </a:rPr>
              <a:t>เพิ่มหน้าจองานค้าง สำหรับระบบแสดงข้อมูลร้านที่เข้าเงื่อนไข </a:t>
            </a:r>
            <a:r>
              <a:rPr lang="th-TH" sz="2400">
                <a:solidFill>
                  <a:srgbClr val="FF0000"/>
                </a:solidFill>
                <a:latin typeface="Cordia New"/>
                <a:cs typeface="Cordia New"/>
              </a:rPr>
              <a:t>การเปิดกระทบ</a:t>
            </a:r>
            <a:r>
              <a:rPr lang="th-TH" sz="2400">
                <a:solidFill>
                  <a:schemeClr val="bg1"/>
                </a:solidFill>
                <a:latin typeface="Cordia New"/>
                <a:cs typeface="Cordia New"/>
              </a:rPr>
              <a:t> </a:t>
            </a:r>
            <a:endParaRPr lang="th-TH">
              <a:solidFill>
                <a:schemeClr val="bg1"/>
              </a:solidFill>
            </a:endParaRPr>
          </a:p>
        </p:txBody>
      </p:sp>
      <p:sp>
        <p:nvSpPr>
          <p:cNvPr id="19" name="สี่เหลี่ยมผืนผ้า 18">
            <a:extLst>
              <a:ext uri="{FF2B5EF4-FFF2-40B4-BE49-F238E27FC236}">
                <a16:creationId xmlns:a16="http://schemas.microsoft.com/office/drawing/2014/main" id="{DAB3A2F4-D60D-0E67-B8BB-5D17978D167E}"/>
              </a:ext>
            </a:extLst>
          </p:cNvPr>
          <p:cNvSpPr/>
          <p:nvPr/>
        </p:nvSpPr>
        <p:spPr>
          <a:xfrm>
            <a:off x="293689" y="2323473"/>
            <a:ext cx="3040251" cy="552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1800">
                <a:cs typeface="Cordia New"/>
              </a:rPr>
              <a:t>หน้าจอเจ้าหน้าที่ DSA : หน้าจองานค้าง</a:t>
            </a:r>
            <a:endParaRPr lang="th-TH" sz="1800">
              <a:ea typeface="Tahoma"/>
              <a:cs typeface="Cordia New"/>
            </a:endParaRPr>
          </a:p>
        </p:txBody>
      </p:sp>
      <p:sp>
        <p:nvSpPr>
          <p:cNvPr id="20" name="กล่องข้อความ 5">
            <a:extLst>
              <a:ext uri="{FF2B5EF4-FFF2-40B4-BE49-F238E27FC236}">
                <a16:creationId xmlns:a16="http://schemas.microsoft.com/office/drawing/2014/main" id="{51805969-A91B-D51B-7CA8-FCDE01B3EA37}"/>
              </a:ext>
            </a:extLst>
          </p:cNvPr>
          <p:cNvSpPr txBox="1"/>
          <p:nvPr/>
        </p:nvSpPr>
        <p:spPr>
          <a:xfrm>
            <a:off x="158399" y="2871563"/>
            <a:ext cx="4658715" cy="366254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000" u="sng" dirty="0">
                <a:solidFill>
                  <a:srgbClr val="FF0000"/>
                </a:solidFill>
                <a:latin typeface="Browallia New"/>
                <a:cs typeface="Browallia New"/>
              </a:rPr>
              <a:t>เงื่อนไขการแสดงข้อมูลงาน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rgbClr val="FF0000"/>
                </a:solidFill>
                <a:latin typeface="Browallia New"/>
                <a:cs typeface="Browallia New"/>
              </a:rPr>
              <a:t>กรณีเป็นเคสต่อเนื่อง ระบบส่งงานให้(เจ้าหน้าที่ SBP DSA) คนเดิมอัตโนมัติ</a:t>
            </a:r>
            <a:endParaRPr lang="th-TH" sz="2000" b="0" dirty="0">
              <a:solidFill>
                <a:srgbClr val="FF0000"/>
              </a:solidFill>
              <a:latin typeface="Browallia New"/>
              <a:cs typeface="Browallia New"/>
            </a:endParaRP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rgbClr val="FF0000"/>
                </a:solidFill>
                <a:latin typeface="Browallia New"/>
                <a:cs typeface="Browallia New"/>
              </a:rPr>
              <a:t>กรณีฝ่าย SBP DSA คล</a:t>
            </a:r>
            <a:r>
              <a:rPr lang="th-TH" sz="2000" dirty="0" err="1">
                <a:solidFill>
                  <a:srgbClr val="FF0000"/>
                </a:solidFill>
                <a:latin typeface="Browallia New"/>
                <a:cs typeface="Browallia New"/>
              </a:rPr>
              <a:t>ิ๊ก</a:t>
            </a:r>
            <a:r>
              <a:rPr lang="th-TH" sz="2000" dirty="0">
                <a:solidFill>
                  <a:srgbClr val="FF0000"/>
                </a:solidFill>
                <a:latin typeface="Browallia New"/>
                <a:cs typeface="Browallia New"/>
              </a:rPr>
              <a:t> "เห็นควรไม่ชดเชยรายได้" จะแสดงเจ้าของงานเป็นคนเดิมอัตโนมัติ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rgbClr val="FF0000"/>
                </a:solidFill>
                <a:latin typeface="Browallia New"/>
                <a:cs typeface="Browallia New"/>
              </a:rPr>
              <a:t>สามารถ </a:t>
            </a:r>
            <a:r>
              <a:rPr lang="th-TH" sz="2000" dirty="0" err="1">
                <a:solidFill>
                  <a:srgbClr val="FF0000"/>
                </a:solidFill>
                <a:latin typeface="Browallia New"/>
                <a:cs typeface="Browallia New"/>
              </a:rPr>
              <a:t>Filter</a:t>
            </a:r>
            <a:r>
              <a:rPr lang="th-TH" sz="2000" dirty="0">
                <a:solidFill>
                  <a:srgbClr val="FF0000"/>
                </a:solidFill>
                <a:latin typeface="Browallia New"/>
                <a:cs typeface="Browallia New"/>
              </a:rPr>
              <a:t> เอกสารได้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rgbClr val="FF0000"/>
                </a:solidFill>
                <a:latin typeface="Browallia New"/>
                <a:cs typeface="Browallia New"/>
              </a:rPr>
              <a:t>แสดง </a:t>
            </a:r>
            <a:r>
              <a:rPr lang="th-TH" sz="2000" dirty="0" err="1">
                <a:solidFill>
                  <a:srgbClr val="FF0000"/>
                </a:solidFill>
                <a:latin typeface="Browallia New"/>
                <a:cs typeface="Browallia New"/>
              </a:rPr>
              <a:t>Chk</a:t>
            </a:r>
            <a:r>
              <a:rPr lang="th-TH" sz="2000" dirty="0">
                <a:solidFill>
                  <a:srgbClr val="FF0000"/>
                </a:solidFill>
                <a:latin typeface="Browallia New"/>
                <a:cs typeface="Browallia New"/>
              </a:rPr>
              <a:t> </a:t>
            </a:r>
            <a:r>
              <a:rPr lang="th-TH" sz="2000" dirty="0" err="1">
                <a:solidFill>
                  <a:srgbClr val="FF0000"/>
                </a:solidFill>
                <a:latin typeface="Browallia New"/>
                <a:cs typeface="Browallia New"/>
              </a:rPr>
              <a:t>list</a:t>
            </a:r>
            <a:r>
              <a:rPr lang="th-TH" sz="2000" dirty="0">
                <a:solidFill>
                  <a:srgbClr val="FF0000"/>
                </a:solidFill>
                <a:latin typeface="Browallia New"/>
                <a:cs typeface="Browallia New"/>
              </a:rPr>
              <a:t> สำหรับเลือกดำเนินการหลายเอกสาร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rgbClr val="FF0000"/>
                </a:solidFill>
                <a:latin typeface="Browallia New"/>
                <a:cs typeface="Browallia New"/>
              </a:rPr>
              <a:t>หน้าจอ </a:t>
            </a:r>
            <a:r>
              <a:rPr lang="th-TH" sz="2000" dirty="0" err="1">
                <a:solidFill>
                  <a:srgbClr val="FF0000"/>
                </a:solidFill>
                <a:latin typeface="Browallia New"/>
                <a:cs typeface="Browallia New"/>
              </a:rPr>
              <a:t>popup</a:t>
            </a:r>
            <a:r>
              <a:rPr lang="th-TH" sz="2000" dirty="0">
                <a:solidFill>
                  <a:srgbClr val="FF0000"/>
                </a:solidFill>
                <a:latin typeface="Browallia New"/>
                <a:cs typeface="Browallia New"/>
              </a:rPr>
              <a:t> เมื่อยืนยัน</a:t>
            </a:r>
            <a:endParaRPr lang="th-TH" sz="2400" dirty="0">
              <a:solidFill>
                <a:srgbClr val="FF0000"/>
              </a:solidFill>
              <a:latin typeface="Browallia New"/>
              <a:cs typeface="Browallia New"/>
            </a:endParaRPr>
          </a:p>
          <a:p>
            <a:pPr marL="457200" indent="-457200">
              <a:buAutoNum type="arabicPeriod"/>
            </a:pPr>
            <a:endParaRPr lang="th-TH" sz="2400">
              <a:latin typeface="Browallia New"/>
              <a:cs typeface="Browallia New"/>
            </a:endParaRPr>
          </a:p>
          <a:p>
            <a:pPr marL="514350" indent="-514350">
              <a:buAutoNum type="arabicPeriod"/>
            </a:pPr>
            <a:endParaRPr lang="th-TH" sz="2400">
              <a:latin typeface="Browallia New"/>
              <a:cs typeface="Browallia New"/>
            </a:endParaRPr>
          </a:p>
          <a:p>
            <a:endParaRPr lang="th-TH" sz="2400">
              <a:latin typeface="Browallia New"/>
              <a:cs typeface="Browallia New"/>
            </a:endParaRPr>
          </a:p>
        </p:txBody>
      </p:sp>
      <p:pic>
        <p:nvPicPr>
          <p:cNvPr id="7" name="รูปภาพ 6" descr="รูปภาพประกอบด้วย ข้อความ, อิเล็กทรอนิกส์, ภาพหน้าจอ, แสดง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31442572-E5D3-D68D-8587-C19023A2C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371" y="2322239"/>
            <a:ext cx="6943396" cy="3938970"/>
          </a:xfrm>
          <a:prstGeom prst="rect">
            <a:avLst/>
          </a:prstGeom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10B351CB-B76F-C2F4-55A4-3180D37359BF}"/>
              </a:ext>
            </a:extLst>
          </p:cNvPr>
          <p:cNvSpPr txBox="1"/>
          <p:nvPr/>
        </p:nvSpPr>
        <p:spPr>
          <a:xfrm>
            <a:off x="4584492" y="12882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4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4A829BE6-866D-B2F7-DFAA-C3B097EC0411}"/>
              </a:ext>
            </a:extLst>
          </p:cNvPr>
          <p:cNvSpPr txBox="1"/>
          <p:nvPr/>
        </p:nvSpPr>
        <p:spPr>
          <a:xfrm>
            <a:off x="9184658" y="3079"/>
            <a:ext cx="3008579" cy="2585323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1800">
                <a:solidFill>
                  <a:schemeClr val="bg1"/>
                </a:solidFill>
                <a:latin typeface="BrowalliaUPC"/>
                <a:cs typeface="BrowalliaUPC"/>
              </a:rPr>
              <a:t>Note : </a:t>
            </a:r>
            <a:endParaRPr lang="th-TH" sz="1800" dirty="0">
              <a:solidFill>
                <a:schemeClr val="bg1"/>
              </a:solidFill>
              <a:latin typeface="BrowalliaUPC"/>
              <a:cs typeface="BrowalliaUPC"/>
            </a:endParaRPr>
          </a:p>
          <a:p>
            <a:r>
              <a:rPr lang="th-TH" sz="1800">
                <a:solidFill>
                  <a:schemeClr val="bg1"/>
                </a:solidFill>
                <a:latin typeface="BrowalliaUPC"/>
                <a:cs typeface="BrowalliaUPC"/>
              </a:rPr>
              <a:t>กรณีระบบดึงข้อมูลชดเชยรายได้</a:t>
            </a:r>
            <a:endParaRPr lang="th-TH" sz="1800" dirty="0">
              <a:solidFill>
                <a:schemeClr val="bg1"/>
              </a:solidFill>
              <a:latin typeface="BrowalliaUPC"/>
              <a:cs typeface="BrowalliaUPC"/>
            </a:endParaRPr>
          </a:p>
          <a:p>
            <a:pPr marL="342900" indent="-342900">
              <a:buAutoNum type="arabicPeriod"/>
            </a:pPr>
            <a:r>
              <a:rPr lang="th-TH" sz="1800">
                <a:solidFill>
                  <a:schemeClr val="bg1"/>
                </a:solidFill>
                <a:latin typeface="BrowalliaUPC"/>
                <a:cs typeface="BrowalliaUPC"/>
              </a:rPr>
              <a:t>เจ้าหน้าที่ SBP DSA เข้ามาเลือกงานของตนเอง</a:t>
            </a:r>
          </a:p>
          <a:p>
            <a:pPr marL="342900" indent="-342900">
              <a:buAutoNum type="arabicPeriod"/>
            </a:pPr>
            <a:endParaRPr lang="th-TH" sz="1800" dirty="0">
              <a:solidFill>
                <a:schemeClr val="bg1"/>
              </a:solidFill>
              <a:latin typeface="BrowalliaUPC"/>
              <a:cs typeface="BrowalliaUPC"/>
            </a:endParaRPr>
          </a:p>
          <a:p>
            <a:r>
              <a:rPr lang="th-TH" sz="1800">
                <a:solidFill>
                  <a:schemeClr val="bg1"/>
                </a:solidFill>
                <a:latin typeface="BrowalliaUPC"/>
                <a:cs typeface="BrowalliaUPC"/>
              </a:rPr>
              <a:t>กรณีได้รับแจ้ง เชิงรุก เชิงรับ เพื่อเปิดชดเชยรายได้</a:t>
            </a:r>
            <a:endParaRPr lang="th-TH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th-TH" sz="1800">
                <a:solidFill>
                  <a:schemeClr val="bg1"/>
                </a:solidFill>
                <a:latin typeface="BrowalliaUPC"/>
                <a:cs typeface="BrowalliaUPC"/>
              </a:rPr>
              <a:t>เจ้าของงานต้องดำเนินการคีย์ข้อมูลเอง</a:t>
            </a:r>
            <a:endParaRPr lang="th-TH">
              <a:solidFill>
                <a:schemeClr val="bg1"/>
              </a:solidFill>
            </a:endParaRP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2081A5E8-2B12-651F-7897-04DB8E5CB148}"/>
              </a:ext>
            </a:extLst>
          </p:cNvPr>
          <p:cNvSpPr/>
          <p:nvPr/>
        </p:nvSpPr>
        <p:spPr>
          <a:xfrm>
            <a:off x="-1949" y="5971309"/>
            <a:ext cx="4825061" cy="88474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>
                <a:latin typeface="BrowalliaUPC"/>
                <a:ea typeface="Tahoma"/>
                <a:cs typeface="BrowalliaUPC"/>
              </a:rPr>
              <a:t>#กรณีพนักงานลาออก ต้องเปิด SR เพื่อแก้ไขชื่อผู้ดำเนินการ</a:t>
            </a:r>
            <a:endParaRPr lang="th-TH" sz="1800">
              <a:latin typeface="BrowalliaUPC"/>
              <a:cs typeface="BrowalliaUPC"/>
            </a:endParaRPr>
          </a:p>
        </p:txBody>
      </p:sp>
    </p:spTree>
    <p:extLst>
      <p:ext uri="{BB962C8B-B14F-4D97-AF65-F5344CB8AC3E}">
        <p14:creationId xmlns:p14="http://schemas.microsoft.com/office/powerpoint/2010/main" val="9206159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FC01-4A8D-192C-D2D9-A024B101B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A82961B-412B-BE17-0FC7-939350A24AE3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9EA14D-A284-F377-9DE2-0C34E332E52A}"/>
              </a:ext>
            </a:extLst>
          </p:cNvPr>
          <p:cNvSpPr txBox="1"/>
          <p:nvPr/>
        </p:nvSpPr>
        <p:spPr>
          <a:xfrm>
            <a:off x="775741" y="944380"/>
            <a:ext cx="1079664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400">
                <a:highlight>
                  <a:srgbClr val="C0C0C0"/>
                </a:highlight>
                <a:latin typeface="BrowalliaUPC"/>
                <a:cs typeface="BrowalliaUPC"/>
              </a:rPr>
              <a:t>แก้ไขระบบการสร้างเอกสารชดเชยรายได้</a:t>
            </a:r>
            <a:endParaRPr lang="th-TH"/>
          </a:p>
          <a:p>
            <a:r>
              <a:rPr lang="en-US" sz="2400">
                <a:solidFill>
                  <a:srgbClr val="FF0000"/>
                </a:solidFill>
                <a:highlight>
                  <a:srgbClr val="C0C0C0"/>
                </a:highlight>
                <a:latin typeface="BrowalliaUPC"/>
                <a:cs typeface="BrowalliaUPC"/>
              </a:rPr>
              <a:t>&gt;&gt;&gt;</a:t>
            </a:r>
            <a:r>
              <a:rPr lang="en-US" sz="2400" err="1">
                <a:solidFill>
                  <a:srgbClr val="FF0000"/>
                </a:solidFill>
                <a:highlight>
                  <a:srgbClr val="C0C0C0"/>
                </a:highlight>
                <a:latin typeface="BrowalliaUPC"/>
                <a:cs typeface="BrowalliaUPC"/>
              </a:rPr>
              <a:t>แก้ไขให้สามารถสร้างรายการคำขอชดเชยรายได้</a:t>
            </a:r>
            <a:r>
              <a:rPr lang="en-US" sz="2400">
                <a:solidFill>
                  <a:srgbClr val="FF0000"/>
                </a:solidFill>
                <a:highlight>
                  <a:srgbClr val="C0C0C0"/>
                </a:highlight>
                <a:latin typeface="BrowalliaUPC"/>
                <a:cs typeface="BrowalliaUPC"/>
              </a:rPr>
              <a:t> ของสาขาที่เคยถูกปฏิเสธการอนุมัติได้</a:t>
            </a:r>
          </a:p>
        </p:txBody>
      </p:sp>
      <p:sp>
        <p:nvSpPr>
          <p:cNvPr id="17" name="กล่องข้อความ 4">
            <a:extLst>
              <a:ext uri="{FF2B5EF4-FFF2-40B4-BE49-F238E27FC236}">
                <a16:creationId xmlns:a16="http://schemas.microsoft.com/office/drawing/2014/main" id="{DD5144EB-2B62-6FFF-01A9-F0BA74B1E097}"/>
              </a:ext>
            </a:extLst>
          </p:cNvPr>
          <p:cNvSpPr txBox="1"/>
          <p:nvPr/>
        </p:nvSpPr>
        <p:spPr>
          <a:xfrm>
            <a:off x="290286" y="1745343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Step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1.0 </a:t>
            </a:r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To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-</a:t>
            </a:r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Be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: กรอกข้อมูลร้านเปิดกระทบ เพื่อคำนวณยอดชดเชยรายได้</a:t>
            </a:r>
            <a:endParaRPr lang="th-TH">
              <a:solidFill>
                <a:schemeClr val="bg1"/>
              </a:solidFill>
            </a:endParaRPr>
          </a:p>
        </p:txBody>
      </p:sp>
      <p:pic>
        <p:nvPicPr>
          <p:cNvPr id="18" name="รูปภาพ 17" descr="รูปภาพประกอบด้วย ข้อความ, ภาพหน้าจอ, ซอฟต์แวร์, หน้าเว็บ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D816A54F-3E42-D47A-B96E-E7B4188E87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412" r="202" b="-235"/>
          <a:stretch>
            <a:fillRect/>
          </a:stretch>
        </p:blipFill>
        <p:spPr>
          <a:xfrm>
            <a:off x="4582109" y="2301504"/>
            <a:ext cx="7446587" cy="4036647"/>
          </a:xfrm>
          <a:prstGeom prst="rect">
            <a:avLst/>
          </a:prstGeom>
        </p:spPr>
      </p:pic>
      <p:sp>
        <p:nvSpPr>
          <p:cNvPr id="19" name="สี่เหลี่ยมผืนผ้า 18">
            <a:extLst>
              <a:ext uri="{FF2B5EF4-FFF2-40B4-BE49-F238E27FC236}">
                <a16:creationId xmlns:a16="http://schemas.microsoft.com/office/drawing/2014/main" id="{EB074DE1-5EE6-0C20-46D4-CAB1EB5A715F}"/>
              </a:ext>
            </a:extLst>
          </p:cNvPr>
          <p:cNvSpPr/>
          <p:nvPr/>
        </p:nvSpPr>
        <p:spPr>
          <a:xfrm>
            <a:off x="293689" y="2323473"/>
            <a:ext cx="3040251" cy="552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1800">
                <a:cs typeface="Cordia New"/>
              </a:rPr>
              <a:t>หน้าจอจนท SBP DSA : คีย์หรือเลือกงาน</a:t>
            </a:r>
            <a:endParaRPr lang="th-TH" sz="1800">
              <a:ea typeface="Tahoma"/>
              <a:cs typeface="Cordia New"/>
            </a:endParaRPr>
          </a:p>
        </p:txBody>
      </p:sp>
      <p:sp>
        <p:nvSpPr>
          <p:cNvPr id="20" name="กล่องข้อความ 5">
            <a:extLst>
              <a:ext uri="{FF2B5EF4-FFF2-40B4-BE49-F238E27FC236}">
                <a16:creationId xmlns:a16="http://schemas.microsoft.com/office/drawing/2014/main" id="{01236046-0F38-6D0C-C4A4-ABB21114C68E}"/>
              </a:ext>
            </a:extLst>
          </p:cNvPr>
          <p:cNvSpPr txBox="1"/>
          <p:nvPr/>
        </p:nvSpPr>
        <p:spPr>
          <a:xfrm>
            <a:off x="293923" y="3121399"/>
            <a:ext cx="4277839" cy="267765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th-TH" sz="2400">
                <a:latin typeface="Browallia New"/>
                <a:cs typeface="Browallia New"/>
              </a:rPr>
              <a:t>คีย์ข้อมูลร้าน</a:t>
            </a:r>
            <a:endParaRPr lang="th-TH"/>
          </a:p>
          <a:p>
            <a:pPr marL="971550" lvl="1" indent="-514350">
              <a:buFont typeface="Courier New"/>
              <a:buChar char="o"/>
            </a:pPr>
            <a:r>
              <a:rPr lang="th-TH" sz="2400">
                <a:latin typeface="Browallia New"/>
                <a:cs typeface="Browallia New"/>
              </a:rPr>
              <a:t>เพื่อให้ระบบคำนวณและแสดงตัวเลขยอดชดเชย เพื่อ </a:t>
            </a:r>
            <a:r>
              <a:rPr lang="th-TH" sz="2400" err="1">
                <a:latin typeface="Browallia New"/>
                <a:cs typeface="Browallia New"/>
              </a:rPr>
              <a:t>Adjust</a:t>
            </a:r>
            <a:endParaRPr lang="th-TH" sz="2400">
              <a:latin typeface="Browallia New"/>
              <a:cs typeface="Browallia New"/>
            </a:endParaRPr>
          </a:p>
          <a:p>
            <a:pPr marL="514350" indent="-514350">
              <a:buAutoNum type="arabicPeriod"/>
            </a:pPr>
            <a:r>
              <a:rPr lang="th-TH" sz="2400">
                <a:latin typeface="Browallia New"/>
                <a:cs typeface="Browallia New"/>
              </a:rPr>
              <a:t>ส่งเรื่องให้ฝ่าย SBP DSA</a:t>
            </a:r>
          </a:p>
          <a:p>
            <a:pPr marL="514350" indent="-514350">
              <a:buAutoNum type="arabicPeriod"/>
            </a:pPr>
            <a:r>
              <a:rPr lang="th-TH" sz="2400">
                <a:latin typeface="Browallia New"/>
                <a:cs typeface="Browallia New"/>
              </a:rPr>
              <a:t>กรณีฝ่าย SBP DSA หยุดชดเชยรายได้ สามารถสร้างเอกสารเปิดงานใหม่ได้ ในเดือนเดียวกัน หรือเดือนอื่นๆได้</a:t>
            </a:r>
          </a:p>
        </p:txBody>
      </p:sp>
      <p:sp>
        <p:nvSpPr>
          <p:cNvPr id="21" name="กล่องข้อความ 6">
            <a:extLst>
              <a:ext uri="{FF2B5EF4-FFF2-40B4-BE49-F238E27FC236}">
                <a16:creationId xmlns:a16="http://schemas.microsoft.com/office/drawing/2014/main" id="{F5D95AA9-94F0-DEAB-3B34-FC8B81E7C1DF}"/>
              </a:ext>
            </a:extLst>
          </p:cNvPr>
          <p:cNvSpPr txBox="1"/>
          <p:nvPr/>
        </p:nvSpPr>
        <p:spPr>
          <a:xfrm>
            <a:off x="4589316" y="2759994"/>
            <a:ext cx="7435418" cy="14710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th-TH"/>
          </a:p>
        </p:txBody>
      </p:sp>
      <p:sp>
        <p:nvSpPr>
          <p:cNvPr id="22" name="สี่เหลี่ยมผืนผ้า 21">
            <a:extLst>
              <a:ext uri="{FF2B5EF4-FFF2-40B4-BE49-F238E27FC236}">
                <a16:creationId xmlns:a16="http://schemas.microsoft.com/office/drawing/2014/main" id="{4772A01A-2488-5CA8-EA62-F1DE467DD058}"/>
              </a:ext>
            </a:extLst>
          </p:cNvPr>
          <p:cNvSpPr/>
          <p:nvPr/>
        </p:nvSpPr>
        <p:spPr>
          <a:xfrm>
            <a:off x="7802615" y="4868774"/>
            <a:ext cx="878449" cy="1744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th-TH"/>
          </a:p>
        </p:txBody>
      </p:sp>
      <p:sp>
        <p:nvSpPr>
          <p:cNvPr id="23" name="สี่เหลี่ยมผืนผ้า 22">
            <a:extLst>
              <a:ext uri="{FF2B5EF4-FFF2-40B4-BE49-F238E27FC236}">
                <a16:creationId xmlns:a16="http://schemas.microsoft.com/office/drawing/2014/main" id="{F1B0F49F-063B-2F3D-DD96-11C12A7EE75E}"/>
              </a:ext>
            </a:extLst>
          </p:cNvPr>
          <p:cNvSpPr/>
          <p:nvPr/>
        </p:nvSpPr>
        <p:spPr>
          <a:xfrm>
            <a:off x="5770548" y="4959183"/>
            <a:ext cx="1153650" cy="759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1600">
                <a:solidFill>
                  <a:schemeClr val="tx2"/>
                </a:solidFill>
                <a:latin typeface="BrowalliaUPC"/>
                <a:cs typeface="BrowalliaUPC"/>
              </a:rPr>
              <a:t>ฝ่าย SBP DSA</a:t>
            </a:r>
          </a:p>
        </p:txBody>
      </p:sp>
      <p:pic>
        <p:nvPicPr>
          <p:cNvPr id="3" name="รูปภาพ 2" descr="รูปภาพประกอบด้วย ข้อความ, ภาพหน้าจอ, แผนภาพ, แสดง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8022B0B8-EC98-619B-65E0-C08784CAE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6827" y="2492497"/>
            <a:ext cx="7892272" cy="3853312"/>
          </a:xfrm>
          <a:prstGeom prst="rect">
            <a:avLst/>
          </a:prstGeom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7662B4D9-474A-9A78-153D-499E992CEF3B}"/>
              </a:ext>
            </a:extLst>
          </p:cNvPr>
          <p:cNvSpPr txBox="1"/>
          <p:nvPr/>
        </p:nvSpPr>
        <p:spPr>
          <a:xfrm>
            <a:off x="6870491" y="7241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5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  <p:sp>
        <p:nvSpPr>
          <p:cNvPr id="2" name="วงรี 1">
            <a:extLst>
              <a:ext uri="{FF2B5EF4-FFF2-40B4-BE49-F238E27FC236}">
                <a16:creationId xmlns:a16="http://schemas.microsoft.com/office/drawing/2014/main" id="{B9B46883-ED2E-FA39-831B-0E30740C3F4C}"/>
              </a:ext>
            </a:extLst>
          </p:cNvPr>
          <p:cNvSpPr/>
          <p:nvPr/>
        </p:nvSpPr>
        <p:spPr>
          <a:xfrm>
            <a:off x="4958648" y="5370922"/>
            <a:ext cx="142819" cy="12853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4BDD64DC-6A00-1CE9-262C-EC56F2A55ED4}"/>
              </a:ext>
            </a:extLst>
          </p:cNvPr>
          <p:cNvSpPr txBox="1"/>
          <p:nvPr/>
        </p:nvSpPr>
        <p:spPr>
          <a:xfrm>
            <a:off x="9184658" y="3079"/>
            <a:ext cx="3008579" cy="2585323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1800">
                <a:solidFill>
                  <a:schemeClr val="bg1"/>
                </a:solidFill>
                <a:latin typeface="BrowalliaUPC"/>
                <a:cs typeface="BrowalliaUPC"/>
              </a:rPr>
              <a:t>Note : </a:t>
            </a:r>
            <a:endParaRPr lang="th-TH" sz="1800" dirty="0">
              <a:solidFill>
                <a:schemeClr val="bg1"/>
              </a:solidFill>
              <a:latin typeface="BrowalliaUPC"/>
              <a:cs typeface="BrowalliaUPC"/>
            </a:endParaRPr>
          </a:p>
          <a:p>
            <a:r>
              <a:rPr lang="th-TH" sz="1800">
                <a:solidFill>
                  <a:schemeClr val="bg1"/>
                </a:solidFill>
                <a:latin typeface="BrowalliaUPC"/>
                <a:cs typeface="BrowalliaUPC"/>
              </a:rPr>
              <a:t>กรณีระบบดึงข้อมูลชดเชยรายได้</a:t>
            </a:r>
            <a:endParaRPr lang="th-TH" sz="1800" dirty="0">
              <a:solidFill>
                <a:schemeClr val="bg1"/>
              </a:solidFill>
              <a:latin typeface="BrowalliaUPC"/>
              <a:cs typeface="BrowalliaUPC"/>
            </a:endParaRPr>
          </a:p>
          <a:p>
            <a:pPr marL="342900" indent="-342900">
              <a:buAutoNum type="arabicPeriod"/>
            </a:pPr>
            <a:r>
              <a:rPr lang="th-TH" sz="1800">
                <a:solidFill>
                  <a:schemeClr val="bg1"/>
                </a:solidFill>
                <a:latin typeface="BrowalliaUPC"/>
                <a:cs typeface="BrowalliaUPC"/>
              </a:rPr>
              <a:t>เจ้าหน้าที่ SBP DSA เข้ามาเลือกงานของตนเอง</a:t>
            </a:r>
          </a:p>
          <a:p>
            <a:pPr marL="342900" indent="-342900">
              <a:buAutoNum type="arabicPeriod"/>
            </a:pPr>
            <a:endParaRPr lang="th-TH" sz="1800" dirty="0">
              <a:solidFill>
                <a:schemeClr val="bg1"/>
              </a:solidFill>
              <a:latin typeface="BrowalliaUPC"/>
              <a:cs typeface="BrowalliaUPC"/>
            </a:endParaRPr>
          </a:p>
          <a:p>
            <a:r>
              <a:rPr lang="th-TH" sz="1800">
                <a:solidFill>
                  <a:schemeClr val="bg1"/>
                </a:solidFill>
                <a:latin typeface="BrowalliaUPC"/>
                <a:cs typeface="BrowalliaUPC"/>
              </a:rPr>
              <a:t>กรณีได้รับแจ้ง เชิงรุก เชิงรับ เพื่อเปิดชดเชยรายได้</a:t>
            </a:r>
            <a:endParaRPr lang="th-TH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th-TH" sz="1800">
                <a:solidFill>
                  <a:schemeClr val="bg1"/>
                </a:solidFill>
                <a:latin typeface="BrowalliaUPC"/>
                <a:cs typeface="BrowalliaUPC"/>
              </a:rPr>
              <a:t>เจ้าของงานต้องดำเนินการคีย์ข้อมูลเอง</a:t>
            </a:r>
            <a:endParaRPr lang="th-TH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1844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7BA9B-C043-A80D-6F0E-B6F838754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4447D6C-330B-1BA0-B8CE-3703F9F56CBB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571529-6BB2-42AC-98B4-1B67332AA588}"/>
              </a:ext>
            </a:extLst>
          </p:cNvPr>
          <p:cNvSpPr txBox="1"/>
          <p:nvPr/>
        </p:nvSpPr>
        <p:spPr>
          <a:xfrm>
            <a:off x="775741" y="944380"/>
            <a:ext cx="1079664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400">
                <a:highlight>
                  <a:srgbClr val="C0C0C0"/>
                </a:highlight>
                <a:latin typeface="BrowalliaUPC"/>
                <a:cs typeface="BrowalliaUPC"/>
              </a:rPr>
              <a:t>แก้ไขระบบการสร้างเอกสารชดเชยรายได้</a:t>
            </a:r>
            <a:endParaRPr lang="th-TH"/>
          </a:p>
          <a:p>
            <a:r>
              <a:rPr lang="en-US" sz="2400">
                <a:solidFill>
                  <a:srgbClr val="FF0000"/>
                </a:solidFill>
                <a:highlight>
                  <a:srgbClr val="C0C0C0"/>
                </a:highlight>
                <a:latin typeface="BrowalliaUPC"/>
                <a:cs typeface="BrowalliaUPC"/>
              </a:rPr>
              <a:t>&gt;&gt;&gt;</a:t>
            </a:r>
            <a:r>
              <a:rPr lang="en-US" sz="2400" err="1">
                <a:solidFill>
                  <a:srgbClr val="FF0000"/>
                </a:solidFill>
                <a:highlight>
                  <a:srgbClr val="C0C0C0"/>
                </a:highlight>
                <a:latin typeface="BrowalliaUPC"/>
                <a:cs typeface="BrowalliaUPC"/>
              </a:rPr>
              <a:t>แก้ไขให้สามารถสร้างรายการคำขอชดเชยรายได้</a:t>
            </a:r>
            <a:r>
              <a:rPr lang="en-US" sz="2400">
                <a:solidFill>
                  <a:srgbClr val="FF0000"/>
                </a:solidFill>
                <a:highlight>
                  <a:srgbClr val="C0C0C0"/>
                </a:highlight>
                <a:latin typeface="BrowalliaUPC"/>
                <a:cs typeface="BrowalliaUPC"/>
              </a:rPr>
              <a:t> ของสาขาที่เคยถูกปฏิเสธการอนุมัติได้</a:t>
            </a:r>
          </a:p>
        </p:txBody>
      </p:sp>
      <p:sp>
        <p:nvSpPr>
          <p:cNvPr id="2" name="กล่องข้อความ 4">
            <a:extLst>
              <a:ext uri="{FF2B5EF4-FFF2-40B4-BE49-F238E27FC236}">
                <a16:creationId xmlns:a16="http://schemas.microsoft.com/office/drawing/2014/main" id="{48B5EE83-3CEC-A4A2-F2C7-9F5015DBD712}"/>
              </a:ext>
            </a:extLst>
          </p:cNvPr>
          <p:cNvSpPr txBox="1"/>
          <p:nvPr/>
        </p:nvSpPr>
        <p:spPr>
          <a:xfrm>
            <a:off x="2100" y="1709404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Step 1.1To-Be : ตรวจสอบตัวเลข และ Approve ชดเชยรายได้</a:t>
            </a:r>
            <a:endParaRPr lang="th-TH">
              <a:solidFill>
                <a:schemeClr val="bg1"/>
              </a:solidFill>
            </a:endParaRPr>
          </a:p>
        </p:txBody>
      </p:sp>
      <p:pic>
        <p:nvPicPr>
          <p:cNvPr id="3" name="รูปภาพ 2" descr="รูปภาพประกอบด้วย ข้อความ, ภาพหน้าจอ, ซอฟต์แวร์, หน้าเว็บ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C45A83A8-30C4-2B10-DDF4-FE4F5528C5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412" r="202" b="-235"/>
          <a:stretch>
            <a:fillRect/>
          </a:stretch>
        </p:blipFill>
        <p:spPr>
          <a:xfrm>
            <a:off x="4755250" y="2298109"/>
            <a:ext cx="7446587" cy="4036647"/>
          </a:xfrm>
          <a:prstGeom prst="rect">
            <a:avLst/>
          </a:prstGeom>
        </p:spPr>
      </p:pic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4758156E-BABC-BBD8-51F0-6DD26DDEACBA}"/>
              </a:ext>
            </a:extLst>
          </p:cNvPr>
          <p:cNvSpPr/>
          <p:nvPr/>
        </p:nvSpPr>
        <p:spPr>
          <a:xfrm>
            <a:off x="172190" y="2433508"/>
            <a:ext cx="2309567" cy="490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1800">
                <a:latin typeface="Cordia New"/>
                <a:cs typeface="Cordia New"/>
              </a:rPr>
              <a:t>ฝ่าย SBP DSA </a:t>
            </a:r>
            <a:endParaRPr lang="en-US"/>
          </a:p>
        </p:txBody>
      </p:sp>
      <p:sp>
        <p:nvSpPr>
          <p:cNvPr id="7" name="กล่องข้อความ 5">
            <a:extLst>
              <a:ext uri="{FF2B5EF4-FFF2-40B4-BE49-F238E27FC236}">
                <a16:creationId xmlns:a16="http://schemas.microsoft.com/office/drawing/2014/main" id="{28AC41B1-0F0C-4DBB-699D-D6B12C888326}"/>
              </a:ext>
            </a:extLst>
          </p:cNvPr>
          <p:cNvSpPr txBox="1"/>
          <p:nvPr/>
        </p:nvSpPr>
        <p:spPr>
          <a:xfrm>
            <a:off x="170093" y="2928933"/>
            <a:ext cx="4519013" cy="230832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th-TH" sz="2000" dirty="0">
                <a:latin typeface="Browallia New"/>
                <a:cs typeface="Browallia New"/>
              </a:rPr>
              <a:t>ตรวจสอบตัวเลข และนำส่งข้อมูลให้ฝ่ายส่งเสริม</a:t>
            </a:r>
          </a:p>
          <a:p>
            <a:pPr marL="514350" indent="-514350">
              <a:buAutoNum type="arabicPeriod"/>
            </a:pPr>
            <a:r>
              <a:rPr lang="th-TH" sz="2000" dirty="0">
                <a:latin typeface="Browallia New"/>
                <a:cs typeface="Browallia New"/>
              </a:rPr>
              <a:t>แสดงปุ่มพิจารณาตามการใช้งาน ได้แก่</a:t>
            </a:r>
          </a:p>
          <a:p>
            <a:pPr marL="971550" lvl="1" indent="-514350">
              <a:buFont typeface="Courier New"/>
              <a:buChar char="o"/>
            </a:pPr>
            <a:r>
              <a:rPr lang="th-TH" sz="2000" dirty="0">
                <a:latin typeface="Browallia New"/>
                <a:cs typeface="Browallia New"/>
              </a:rPr>
              <a:t>เห็นควรไม่ชดเชยรายได้</a:t>
            </a:r>
          </a:p>
          <a:p>
            <a:pPr marL="971550" lvl="1" indent="-514350">
              <a:buFont typeface="Courier New"/>
              <a:buChar char="o"/>
            </a:pPr>
            <a:r>
              <a:rPr lang="th-TH" sz="2000" dirty="0">
                <a:latin typeface="Browallia New"/>
                <a:cs typeface="Browallia New"/>
              </a:rPr>
              <a:t>หยุดชดเชยรายได้</a:t>
            </a:r>
          </a:p>
          <a:p>
            <a:pPr marL="971550" lvl="1" indent="-514350">
              <a:buFont typeface="Courier New"/>
              <a:buChar char="o"/>
            </a:pPr>
            <a:r>
              <a:rPr lang="th-TH" sz="2000" dirty="0">
                <a:latin typeface="Browallia New"/>
                <a:cs typeface="Browallia New"/>
              </a:rPr>
              <a:t>หน่วยงานส่งเสริมฯ SBP</a:t>
            </a:r>
          </a:p>
          <a:p>
            <a:pPr marL="971550" lvl="1" indent="-514350">
              <a:buFont typeface="Courier New"/>
              <a:buChar char="o"/>
            </a:pPr>
            <a:r>
              <a:rPr lang="th-TH" sz="2000" dirty="0">
                <a:latin typeface="Browallia New"/>
                <a:cs typeface="Browallia New"/>
              </a:rPr>
              <a:t>เจ้าหน้าที่ SBP DSA</a:t>
            </a:r>
          </a:p>
          <a:p>
            <a:endParaRPr lang="th-TH" sz="2400">
              <a:latin typeface="Browallia New"/>
              <a:cs typeface="Browallia New"/>
            </a:endParaRP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7467948B-75C9-CB34-0F92-D0BA99C625B3}"/>
              </a:ext>
            </a:extLst>
          </p:cNvPr>
          <p:cNvSpPr/>
          <p:nvPr/>
        </p:nvSpPr>
        <p:spPr>
          <a:xfrm>
            <a:off x="7975756" y="4865379"/>
            <a:ext cx="878449" cy="1744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th-TH"/>
          </a:p>
        </p:txBody>
      </p:sp>
      <p:pic>
        <p:nvPicPr>
          <p:cNvPr id="10" name="รูปภาพ 9" descr="รูปภาพประกอบด้วย ข้อความ, อิเล็กทรอนิกส์, ภาพหน้าจอ, ซอฟต์แวร์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227AD288-650A-D2A4-F383-AB987BE386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38" t="37510" r="2911" b="-339"/>
          <a:stretch>
            <a:fillRect/>
          </a:stretch>
        </p:blipFill>
        <p:spPr>
          <a:xfrm>
            <a:off x="4755964" y="4236897"/>
            <a:ext cx="7669403" cy="2621428"/>
          </a:xfrm>
          <a:prstGeom prst="rect">
            <a:avLst/>
          </a:prstGeom>
        </p:spPr>
      </p:pic>
      <p:sp>
        <p:nvSpPr>
          <p:cNvPr id="11" name="Rectangle 14">
            <a:extLst>
              <a:ext uri="{FF2B5EF4-FFF2-40B4-BE49-F238E27FC236}">
                <a16:creationId xmlns:a16="http://schemas.microsoft.com/office/drawing/2014/main" id="{C75297FD-0007-B6A9-9490-F9808572290B}"/>
              </a:ext>
            </a:extLst>
          </p:cNvPr>
          <p:cNvSpPr/>
          <p:nvPr/>
        </p:nvSpPr>
        <p:spPr>
          <a:xfrm>
            <a:off x="7804027" y="5101098"/>
            <a:ext cx="1098550" cy="215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489AE056-01FE-5600-1CAB-396131B16215}"/>
              </a:ext>
            </a:extLst>
          </p:cNvPr>
          <p:cNvSpPr/>
          <p:nvPr/>
        </p:nvSpPr>
        <p:spPr>
          <a:xfrm>
            <a:off x="5883152" y="5544796"/>
            <a:ext cx="1204383" cy="215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กล่องข้อความ 1">
            <a:extLst>
              <a:ext uri="{FF2B5EF4-FFF2-40B4-BE49-F238E27FC236}">
                <a16:creationId xmlns:a16="http://schemas.microsoft.com/office/drawing/2014/main" id="{8B1737B9-535B-29A2-6E2F-EC3C17602B86}"/>
              </a:ext>
            </a:extLst>
          </p:cNvPr>
          <p:cNvSpPr txBox="1"/>
          <p:nvPr/>
        </p:nvSpPr>
        <p:spPr>
          <a:xfrm>
            <a:off x="7089598" y="6706374"/>
            <a:ext cx="923047" cy="307777"/>
          </a:xfrm>
          <a:prstGeom prst="rect">
            <a:avLst/>
          </a:prstGeom>
          <a:solidFill>
            <a:srgbClr val="00B0F0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th-TH" sz="1400" b="1">
                <a:solidFill>
                  <a:schemeClr val="bg1"/>
                </a:solidFill>
                <a:cs typeface="Cordia New"/>
              </a:rPr>
              <a:t>ส่งดำเนินการ</a:t>
            </a:r>
          </a:p>
        </p:txBody>
      </p:sp>
      <p:sp>
        <p:nvSpPr>
          <p:cNvPr id="14" name="กล่องข้อความ 3">
            <a:extLst>
              <a:ext uri="{FF2B5EF4-FFF2-40B4-BE49-F238E27FC236}">
                <a16:creationId xmlns:a16="http://schemas.microsoft.com/office/drawing/2014/main" id="{1DEEB6C6-D25C-91DF-B945-9325669249F3}"/>
              </a:ext>
            </a:extLst>
          </p:cNvPr>
          <p:cNvSpPr txBox="1"/>
          <p:nvPr/>
        </p:nvSpPr>
        <p:spPr>
          <a:xfrm>
            <a:off x="8356165" y="6706374"/>
            <a:ext cx="923047" cy="307777"/>
          </a:xfrm>
          <a:prstGeom prst="rect">
            <a:avLst/>
          </a:prstGeom>
          <a:solidFill>
            <a:srgbClr val="00B0F0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1400" b="1">
                <a:solidFill>
                  <a:schemeClr val="bg1"/>
                </a:solidFill>
                <a:cs typeface="Cordia New"/>
              </a:rPr>
              <a:t>บันทึก</a:t>
            </a:r>
            <a:endParaRPr lang="th-TH">
              <a:solidFill>
                <a:schemeClr val="bg1"/>
              </a:solidFill>
            </a:endParaRPr>
          </a:p>
        </p:txBody>
      </p:sp>
      <p:pic>
        <p:nvPicPr>
          <p:cNvPr id="8" name="รูปภาพ 7" descr="รูปภาพประกอบด้วย ข้อความ, ภาพหน้าจอ, ซอฟต์แวร์, ไอคอนคอมพิวเตอร์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5A967DFA-733D-BC6B-4F6E-B8D5DA3ED07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0" t="31632" r="-115" b="14280"/>
          <a:stretch>
            <a:fillRect/>
          </a:stretch>
        </p:blipFill>
        <p:spPr>
          <a:xfrm>
            <a:off x="4756896" y="2024967"/>
            <a:ext cx="7449071" cy="1779426"/>
          </a:xfrm>
          <a:prstGeom prst="rect">
            <a:avLst/>
          </a:prstGeom>
        </p:spPr>
      </p:pic>
      <p:sp>
        <p:nvSpPr>
          <p:cNvPr id="17" name="กล่องข้อความ 16">
            <a:extLst>
              <a:ext uri="{FF2B5EF4-FFF2-40B4-BE49-F238E27FC236}">
                <a16:creationId xmlns:a16="http://schemas.microsoft.com/office/drawing/2014/main" id="{2D765422-9766-7EAE-E6F0-B31092D63FAC}"/>
              </a:ext>
            </a:extLst>
          </p:cNvPr>
          <p:cNvSpPr txBox="1"/>
          <p:nvPr/>
        </p:nvSpPr>
        <p:spPr>
          <a:xfrm>
            <a:off x="9627559" y="17442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6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AD7A932D-00DA-3DCF-D640-AEDEFB4695D7}"/>
              </a:ext>
            </a:extLst>
          </p:cNvPr>
          <p:cNvSpPr/>
          <p:nvPr/>
        </p:nvSpPr>
        <p:spPr>
          <a:xfrm>
            <a:off x="6069188" y="5101167"/>
            <a:ext cx="1100666" cy="135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700" b="0" dirty="0">
                <a:solidFill>
                  <a:schemeClr val="tx1"/>
                </a:solidFill>
                <a:ea typeface="Tahoma"/>
              </a:rPr>
              <a:t>หน่วยงานส่งเสริมฯ SBP</a:t>
            </a:r>
          </a:p>
        </p:txBody>
      </p:sp>
    </p:spTree>
    <p:extLst>
      <p:ext uri="{BB962C8B-B14F-4D97-AF65-F5344CB8AC3E}">
        <p14:creationId xmlns:p14="http://schemas.microsoft.com/office/powerpoint/2010/main" val="41701331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1D150-30BB-3F8B-1A97-9A075A4B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B664597-803E-70A6-1023-A61C8AC23E3F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F6C786-BB6B-C8A5-D73B-CDCE47BFF77E}"/>
              </a:ext>
            </a:extLst>
          </p:cNvPr>
          <p:cNvSpPr txBox="1"/>
          <p:nvPr/>
        </p:nvSpPr>
        <p:spPr>
          <a:xfrm>
            <a:off x="775741" y="944380"/>
            <a:ext cx="1079664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400">
                <a:highlight>
                  <a:srgbClr val="C0C0C0"/>
                </a:highlight>
                <a:latin typeface="BrowalliaUPC"/>
                <a:cs typeface="BrowalliaUPC"/>
              </a:rPr>
              <a:t>แก้ไขระบบการสร้างเอกสารชดเชยรายได้</a:t>
            </a:r>
            <a:endParaRPr lang="th-TH"/>
          </a:p>
          <a:p>
            <a:r>
              <a:rPr lang="en-US" sz="2400">
                <a:solidFill>
                  <a:srgbClr val="FF0000"/>
                </a:solidFill>
                <a:highlight>
                  <a:srgbClr val="C0C0C0"/>
                </a:highlight>
                <a:latin typeface="BrowalliaUPC"/>
                <a:cs typeface="BrowalliaUPC"/>
              </a:rPr>
              <a:t>&gt;&gt;&gt;</a:t>
            </a:r>
            <a:r>
              <a:rPr lang="en-US" sz="2400" err="1">
                <a:solidFill>
                  <a:srgbClr val="FF0000"/>
                </a:solidFill>
                <a:highlight>
                  <a:srgbClr val="C0C0C0"/>
                </a:highlight>
                <a:latin typeface="BrowalliaUPC"/>
                <a:cs typeface="BrowalliaUPC"/>
              </a:rPr>
              <a:t>แก้ไขให้สามารถสร้างรายการคำขอชดเชยรายได้</a:t>
            </a:r>
            <a:r>
              <a:rPr lang="en-US" sz="2400">
                <a:solidFill>
                  <a:srgbClr val="FF0000"/>
                </a:solidFill>
                <a:highlight>
                  <a:srgbClr val="C0C0C0"/>
                </a:highlight>
                <a:latin typeface="BrowalliaUPC"/>
                <a:cs typeface="BrowalliaUPC"/>
              </a:rPr>
              <a:t> ของสาขาที่เคยถูกปฏิเสธการอนุมัติได้</a:t>
            </a:r>
          </a:p>
        </p:txBody>
      </p:sp>
      <p:sp>
        <p:nvSpPr>
          <p:cNvPr id="2" name="กล่องข้อความ 4">
            <a:extLst>
              <a:ext uri="{FF2B5EF4-FFF2-40B4-BE49-F238E27FC236}">
                <a16:creationId xmlns:a16="http://schemas.microsoft.com/office/drawing/2014/main" id="{E366D79A-A8FA-136F-026F-C3021DF753CA}"/>
              </a:ext>
            </a:extLst>
          </p:cNvPr>
          <p:cNvSpPr txBox="1"/>
          <p:nvPr/>
        </p:nvSpPr>
        <p:spPr>
          <a:xfrm>
            <a:off x="2100" y="1709404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Step 1.1To-Be : ตรวจสอบตัวเลข และ Approve ชดเชยรายได้</a:t>
            </a:r>
            <a:endParaRPr lang="th-TH">
              <a:solidFill>
                <a:schemeClr val="bg1"/>
              </a:solidFill>
            </a:endParaRPr>
          </a:p>
        </p:txBody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0EACECA2-0490-A784-BBAA-99358E5CE0B1}"/>
              </a:ext>
            </a:extLst>
          </p:cNvPr>
          <p:cNvSpPr/>
          <p:nvPr/>
        </p:nvSpPr>
        <p:spPr>
          <a:xfrm>
            <a:off x="172190" y="2433508"/>
            <a:ext cx="2309567" cy="490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1800">
                <a:latin typeface="Cordia New"/>
                <a:cs typeface="Cordia New"/>
              </a:rPr>
              <a:t>ฝ่าย SBP DSA </a:t>
            </a:r>
            <a:endParaRPr lang="en-US"/>
          </a:p>
        </p:txBody>
      </p:sp>
      <p:sp>
        <p:nvSpPr>
          <p:cNvPr id="7" name="กล่องข้อความ 5">
            <a:extLst>
              <a:ext uri="{FF2B5EF4-FFF2-40B4-BE49-F238E27FC236}">
                <a16:creationId xmlns:a16="http://schemas.microsoft.com/office/drawing/2014/main" id="{D1821CCE-3820-85B8-CC73-1610DE9AD40C}"/>
              </a:ext>
            </a:extLst>
          </p:cNvPr>
          <p:cNvSpPr txBox="1"/>
          <p:nvPr/>
        </p:nvSpPr>
        <p:spPr>
          <a:xfrm>
            <a:off x="170093" y="2928933"/>
            <a:ext cx="4519013" cy="230832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th-TH" sz="2000" dirty="0">
                <a:latin typeface="Browallia New"/>
                <a:cs typeface="Browallia New"/>
              </a:rPr>
              <a:t>ตรวจสอบตัวเลข และนำส่งข้อมูลให้ฝ่ายส่งเสริม</a:t>
            </a:r>
          </a:p>
          <a:p>
            <a:pPr marL="514350" indent="-514350">
              <a:buAutoNum type="arabicPeriod"/>
            </a:pPr>
            <a:r>
              <a:rPr lang="th-TH" sz="2000" dirty="0">
                <a:latin typeface="Browallia New"/>
                <a:cs typeface="Browallia New"/>
              </a:rPr>
              <a:t>แสดงปุ่มพิจารณาตามการใช้งาน ได้แก่</a:t>
            </a:r>
          </a:p>
          <a:p>
            <a:pPr marL="971550" lvl="1" indent="-514350">
              <a:buFont typeface="Courier New,monospace"/>
              <a:buChar char="o"/>
            </a:pPr>
            <a:r>
              <a:rPr lang="th-TH" sz="2000" dirty="0">
                <a:latin typeface="Browallia New"/>
                <a:cs typeface="Browallia New"/>
              </a:rPr>
              <a:t>เห็นควรไม่ชดเชยรายได้</a:t>
            </a:r>
            <a:endParaRPr lang="en-US" sz="2000" b="0">
              <a:latin typeface="Browallia New"/>
              <a:cs typeface="Arial"/>
            </a:endParaRPr>
          </a:p>
          <a:p>
            <a:pPr marL="971550" lvl="1" indent="-514350">
              <a:buFont typeface="Courier New,monospace"/>
              <a:buChar char="o"/>
            </a:pPr>
            <a:r>
              <a:rPr lang="th-TH" sz="2000" dirty="0">
                <a:latin typeface="Browallia New"/>
                <a:cs typeface="Browallia New"/>
              </a:rPr>
              <a:t>หยุดชดเชยรายได้</a:t>
            </a:r>
            <a:endParaRPr lang="en-US" sz="2000" b="0">
              <a:latin typeface="Browallia New"/>
              <a:cs typeface="Arial"/>
            </a:endParaRPr>
          </a:p>
          <a:p>
            <a:pPr marL="971550" lvl="1" indent="-514350">
              <a:buFont typeface="Courier New,monospace"/>
              <a:buChar char="o"/>
            </a:pPr>
            <a:r>
              <a:rPr lang="th-TH" sz="2000" dirty="0">
                <a:latin typeface="Browallia New"/>
                <a:cs typeface="Browallia New"/>
              </a:rPr>
              <a:t>หน่วยงานส่งเสริมฯ SBP</a:t>
            </a:r>
            <a:endParaRPr lang="en-US" sz="2000" b="0">
              <a:latin typeface="Browallia New"/>
              <a:cs typeface="Arial"/>
            </a:endParaRPr>
          </a:p>
          <a:p>
            <a:pPr marL="971550" lvl="1" indent="-514350">
              <a:buFont typeface="Courier New,monospace"/>
              <a:buChar char="o"/>
            </a:pPr>
            <a:r>
              <a:rPr lang="th-TH" sz="2000" dirty="0">
                <a:latin typeface="Browallia New"/>
                <a:cs typeface="Browallia New"/>
              </a:rPr>
              <a:t>เจ้าหน้าที่ SBP DSA</a:t>
            </a:r>
            <a:endParaRPr lang="th-TH" dirty="0"/>
          </a:p>
          <a:p>
            <a:endParaRPr lang="th-TH" sz="2400">
              <a:latin typeface="Browallia New"/>
              <a:cs typeface="Browallia New"/>
            </a:endParaRPr>
          </a:p>
        </p:txBody>
      </p:sp>
      <p:sp>
        <p:nvSpPr>
          <p:cNvPr id="17" name="กล่องข้อความ 16">
            <a:extLst>
              <a:ext uri="{FF2B5EF4-FFF2-40B4-BE49-F238E27FC236}">
                <a16:creationId xmlns:a16="http://schemas.microsoft.com/office/drawing/2014/main" id="{F79BBF65-E8BF-25EB-C639-C53AA2FF68FA}"/>
              </a:ext>
            </a:extLst>
          </p:cNvPr>
          <p:cNvSpPr txBox="1"/>
          <p:nvPr/>
        </p:nvSpPr>
        <p:spPr>
          <a:xfrm>
            <a:off x="9138729" y="-64508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3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880C1B3A-0713-B23B-F929-A5628E20B785}"/>
              </a:ext>
            </a:extLst>
          </p:cNvPr>
          <p:cNvSpPr/>
          <p:nvPr/>
        </p:nvSpPr>
        <p:spPr>
          <a:xfrm>
            <a:off x="7011399" y="2165169"/>
            <a:ext cx="4705879" cy="277224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th-TH" sz="1800" dirty="0">
                <a:latin typeface="Browallia New"/>
                <a:ea typeface="Tahoma"/>
                <a:cs typeface="Browallia New"/>
              </a:rPr>
              <a:t>หมายเหตุ 1 :</a:t>
            </a:r>
          </a:p>
          <a:p>
            <a:pPr marL="342900" indent="-342900">
              <a:buAutoNum type="arabicPeriod"/>
            </a:pPr>
            <a:r>
              <a:rPr lang="th-TH" sz="1800" dirty="0">
                <a:latin typeface="Browallia New"/>
                <a:ea typeface="Tahoma"/>
                <a:cs typeface="Browallia New"/>
              </a:rPr>
              <a:t>ฝ่าย SBP DSA ดำเนินการ</a:t>
            </a:r>
          </a:p>
          <a:p>
            <a:pPr marL="800100" lvl="1" indent="-342900">
              <a:buFont typeface="Courier New"/>
              <a:buChar char="o"/>
            </a:pPr>
            <a:r>
              <a:rPr lang="th-TH" sz="1800" dirty="0">
                <a:latin typeface="Browallia New"/>
                <a:ea typeface="Tahoma"/>
                <a:cs typeface="Browallia New"/>
              </a:rPr>
              <a:t>กรณีเปิดเรื่องชดเชยรายได้ครั้งแรก</a:t>
            </a:r>
          </a:p>
          <a:p>
            <a:pPr marL="800100" lvl="1" indent="-342900">
              <a:buFont typeface="Courier New,monospace"/>
              <a:buChar char="o"/>
            </a:pPr>
            <a:r>
              <a:rPr lang="th-TH" sz="1800" dirty="0">
                <a:latin typeface="Browallia New"/>
                <a:ea typeface="Tahoma"/>
                <a:cs typeface="Browallia New"/>
              </a:rPr>
              <a:t>กรณีชดเชยต่อเนื่อง และมียอดชดเชยรายได้</a:t>
            </a:r>
            <a:endParaRPr lang="th-TH" sz="1800" b="0" dirty="0">
              <a:solidFill>
                <a:srgbClr val="000000"/>
              </a:solidFill>
              <a:latin typeface="Browallia New"/>
              <a:ea typeface="Tahoma"/>
              <a:cs typeface="Browallia New"/>
            </a:endParaRPr>
          </a:p>
          <a:p>
            <a:pPr marL="800100" lvl="1" indent="-342900">
              <a:buFont typeface="Courier New"/>
              <a:buChar char="o"/>
            </a:pPr>
            <a:r>
              <a:rPr lang="th-TH" sz="1800" dirty="0">
                <a:latin typeface="Browallia New"/>
                <a:ea typeface="Tahoma"/>
                <a:cs typeface="Browallia New"/>
              </a:rPr>
              <a:t>กรณียอดชดเชยรายได้เป็น 0</a:t>
            </a:r>
          </a:p>
          <a:p>
            <a:pPr marL="1257300" lvl="2" indent="-342900">
              <a:buFont typeface="Wingdings"/>
              <a:buChar char="§"/>
            </a:pPr>
            <a:r>
              <a:rPr lang="th-TH" sz="1800" dirty="0">
                <a:latin typeface="Browallia New"/>
                <a:ea typeface="Tahoma"/>
                <a:cs typeface="Browallia New"/>
              </a:rPr>
              <a:t>ยอดชดเชยรายได้เป็น 0 เดือนที่ 1-3 คล</a:t>
            </a:r>
            <a:r>
              <a:rPr lang="th-TH" sz="1800" dirty="0" err="1">
                <a:latin typeface="Browallia New"/>
                <a:ea typeface="Tahoma"/>
                <a:cs typeface="Browallia New"/>
              </a:rPr>
              <a:t>ิ๊ก</a:t>
            </a:r>
            <a:r>
              <a:rPr lang="th-TH" sz="1800" dirty="0">
                <a:latin typeface="Browallia New"/>
                <a:ea typeface="Tahoma"/>
                <a:cs typeface="Browallia New"/>
              </a:rPr>
              <a:t> "หน่วยงานส่งเสริมธุรกิจ SBP"</a:t>
            </a:r>
          </a:p>
          <a:p>
            <a:pPr marL="1257300" lvl="2" indent="-342900">
              <a:buFont typeface="Wingdings"/>
              <a:buChar char="§"/>
            </a:pPr>
            <a:r>
              <a:rPr lang="th-TH" sz="1800" dirty="0">
                <a:latin typeface="Browallia New"/>
                <a:ea typeface="Tahoma"/>
                <a:cs typeface="Browallia New"/>
              </a:rPr>
              <a:t>ยอดชดเชยรายได้เป็น 0 เดือนที่ 4 คล</a:t>
            </a:r>
            <a:r>
              <a:rPr lang="th-TH" sz="1800" dirty="0" err="1">
                <a:latin typeface="Browallia New"/>
                <a:ea typeface="Tahoma"/>
                <a:cs typeface="Browallia New"/>
              </a:rPr>
              <a:t>ิ๊ก</a:t>
            </a:r>
            <a:r>
              <a:rPr lang="th-TH" sz="1800" dirty="0">
                <a:latin typeface="Browallia New"/>
                <a:ea typeface="Tahoma"/>
                <a:cs typeface="Browallia New"/>
              </a:rPr>
              <a:t> "หยุดชดเชยรายได้"</a:t>
            </a:r>
          </a:p>
          <a:p>
            <a:endParaRPr lang="th-TH">
              <a:solidFill>
                <a:schemeClr val="bg1"/>
              </a:solidFill>
              <a:latin typeface="Browallia New"/>
              <a:ea typeface="Tahoma"/>
              <a:cs typeface="Browallia New"/>
            </a:endParaRPr>
          </a:p>
          <a:p>
            <a:pPr marL="342900" indent="-342900">
              <a:buAutoNum type="arabicPeriod"/>
            </a:pPr>
            <a:endParaRPr lang="th-TH">
              <a:solidFill>
                <a:schemeClr val="bg1"/>
              </a:solidFill>
              <a:latin typeface="Browallia New"/>
              <a:ea typeface="Tahoma"/>
              <a:cs typeface="Browallia New"/>
            </a:endParaRPr>
          </a:p>
        </p:txBody>
      </p:sp>
      <p:sp>
        <p:nvSpPr>
          <p:cNvPr id="18" name="กล่องข้อความ 17">
            <a:extLst>
              <a:ext uri="{FF2B5EF4-FFF2-40B4-BE49-F238E27FC236}">
                <a16:creationId xmlns:a16="http://schemas.microsoft.com/office/drawing/2014/main" id="{8EF48DBA-02E7-AA4C-3BE7-5822A898BF07}"/>
              </a:ext>
            </a:extLst>
          </p:cNvPr>
          <p:cNvSpPr txBox="1"/>
          <p:nvPr/>
        </p:nvSpPr>
        <p:spPr>
          <a:xfrm>
            <a:off x="7013904" y="5218981"/>
            <a:ext cx="4703644" cy="923330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1800" dirty="0">
                <a:solidFill>
                  <a:schemeClr val="bg1"/>
                </a:solidFill>
                <a:latin typeface="Browallia New"/>
                <a:cs typeface="Browallia New"/>
              </a:rPr>
              <a:t>หมายเหตุ 2 :</a:t>
            </a:r>
            <a:endParaRPr lang="th-TH" sz="1800" b="0" dirty="0">
              <a:solidFill>
                <a:schemeClr val="bg1"/>
              </a:solidFill>
              <a:latin typeface="Browallia New"/>
              <a:cs typeface="Browallia New"/>
            </a:endParaRPr>
          </a:p>
          <a:p>
            <a:pPr marL="342900" indent="-342900">
              <a:buAutoNum type="arabicPeriod"/>
            </a:pPr>
            <a:r>
              <a:rPr lang="th-TH" sz="1800" dirty="0">
                <a:solidFill>
                  <a:schemeClr val="bg1"/>
                </a:solidFill>
                <a:latin typeface="Browallia New"/>
                <a:cs typeface="Browallia New"/>
              </a:rPr>
              <a:t>กรณีหยุดเรื่องชดเชยแล้ว ต้องการเปิดเรื่องใหม่ ต้องสามารถ</a:t>
            </a:r>
            <a:r>
              <a:rPr lang="th-TH" sz="1800">
                <a:solidFill>
                  <a:schemeClr val="bg1"/>
                </a:solidFill>
                <a:latin typeface="Browallia New"/>
                <a:cs typeface="Browallia New"/>
              </a:rPr>
              <a:t>เปิดเรื่องใหม่ได้ในเดือนเดียวกัน หรือเดือนถัดๆไปได้</a:t>
            </a:r>
            <a:endParaRPr lang="th-TH" b="0">
              <a:solidFill>
                <a:schemeClr val="bg1"/>
              </a:solidFill>
              <a:latin typeface="Browallia New"/>
              <a:cs typeface="Browallia New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499AD164-0D62-837E-4067-F6F635285657}"/>
              </a:ext>
            </a:extLst>
          </p:cNvPr>
          <p:cNvSpPr txBox="1"/>
          <p:nvPr/>
        </p:nvSpPr>
        <p:spPr>
          <a:xfrm>
            <a:off x="0" y="4917281"/>
            <a:ext cx="6096000" cy="19389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000" u="sng">
                <a:latin typeface="BrowalliaUPC"/>
                <a:cs typeface="BrowalliaUPC"/>
              </a:rPr>
              <a:t>สิทธิ์การมองเห็นเอกสาร</a:t>
            </a:r>
          </a:p>
          <a:p>
            <a:pPr>
              <a:buFont typeface="Arial"/>
              <a:buChar char="•"/>
            </a:pPr>
            <a:r>
              <a:rPr lang="th-TH" sz="2000">
                <a:latin typeface="BrowalliaUPC"/>
                <a:cs typeface="BrowalliaUPC"/>
              </a:rPr>
              <a:t>เจ้าหน้าที่ SBP DSA และฝ่าย SBP DSA</a:t>
            </a:r>
            <a:br>
              <a:rPr lang="th-TH" sz="2000" dirty="0">
                <a:latin typeface="BrowalliaUPC"/>
                <a:cs typeface="BrowalliaUPC"/>
              </a:rPr>
            </a:br>
            <a:r>
              <a:rPr lang="th-TH" sz="2000" dirty="0">
                <a:latin typeface="BrowalliaUPC"/>
                <a:cs typeface="BrowalliaUPC"/>
              </a:rPr>
              <a:t> </a:t>
            </a:r>
            <a:r>
              <a:rPr lang="th-TH" sz="2000">
                <a:latin typeface="BrowalliaUPC"/>
                <a:cs typeface="BrowalliaUPC"/>
              </a:rPr>
              <a:t>สามารถเข้าดูรายละเอียดของร้านสาขาได้ทุกสาขา โดยไม่จำกัดเฉพาะงานที่รับผิดชอบ</a:t>
            </a:r>
            <a:endParaRPr lang="th-TH" sz="2000" dirty="0">
              <a:latin typeface="BrowalliaUPC"/>
              <a:cs typeface="BrowalliaUPC"/>
            </a:endParaRPr>
          </a:p>
          <a:p>
            <a:pPr>
              <a:buFont typeface="Arial"/>
              <a:buChar char="•"/>
            </a:pPr>
            <a:r>
              <a:rPr lang="th-TH" sz="2000">
                <a:latin typeface="BrowalliaUPC"/>
                <a:cs typeface="BrowalliaUPC"/>
              </a:rPr>
              <a:t>ทีมส่งเสริม และทีมบัญชี</a:t>
            </a:r>
            <a:br>
              <a:rPr lang="th-TH" sz="2000" dirty="0">
                <a:latin typeface="BrowalliaUPC"/>
                <a:cs typeface="BrowalliaUPC"/>
              </a:rPr>
            </a:br>
            <a:r>
              <a:rPr lang="th-TH" sz="2000">
                <a:latin typeface="BrowalliaUPC"/>
                <a:cs typeface="BrowalliaUPC"/>
              </a:rPr>
              <a:t> สามารถเข้าดูรายละเอียดเอกสารได้ตามสิทธิ์การเข้าถึงเดิมของแต่ละทีม</a:t>
            </a:r>
            <a:endParaRPr lang="th-TH" sz="2000" dirty="0">
              <a:latin typeface="BrowalliaUPC"/>
              <a:cs typeface="BrowalliaUPC"/>
            </a:endParaRPr>
          </a:p>
        </p:txBody>
      </p:sp>
    </p:spTree>
    <p:extLst>
      <p:ext uri="{BB962C8B-B14F-4D97-AF65-F5344CB8AC3E}">
        <p14:creationId xmlns:p14="http://schemas.microsoft.com/office/powerpoint/2010/main" val="5825734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FCFC9-C0E0-CAB8-0102-FF2267C7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7F39B7C-E705-AB55-0971-FBB2469A0491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E44838-D4CD-F1B2-B853-7AABF3458E3F}"/>
              </a:ext>
            </a:extLst>
          </p:cNvPr>
          <p:cNvSpPr txBox="1"/>
          <p:nvPr/>
        </p:nvSpPr>
        <p:spPr>
          <a:xfrm>
            <a:off x="775741" y="944380"/>
            <a:ext cx="1079664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highlight>
                  <a:srgbClr val="C0C0C0"/>
                </a:highlight>
                <a:latin typeface="BrowalliaUPC"/>
                <a:cs typeface="BrowalliaUPC"/>
              </a:rPr>
              <a:t>2.  </a:t>
            </a:r>
            <a:r>
              <a:rPr lang="en-US" sz="2400" dirty="0" err="1">
                <a:highlight>
                  <a:srgbClr val="C0C0C0"/>
                </a:highlight>
                <a:latin typeface="BrowalliaUPC"/>
                <a:cs typeface="BrowalliaUPC"/>
              </a:rPr>
              <a:t>ปรับสิทธิ์การตรวจสอบยอดชดเชยรายได้และกระบวนการทำงาน</a:t>
            </a:r>
            <a:r>
              <a:rPr lang="en-US" sz="2400" dirty="0">
                <a:highlight>
                  <a:srgbClr val="C0C0C0"/>
                </a:highlight>
                <a:latin typeface="BrowalliaUPC"/>
                <a:cs typeface="BrowalliaUPC"/>
              </a:rPr>
              <a:t> </a:t>
            </a:r>
            <a:r>
              <a:rPr lang="en-US" sz="2400" dirty="0" err="1">
                <a:highlight>
                  <a:srgbClr val="C0C0C0"/>
                </a:highlight>
                <a:latin typeface="BrowalliaUPC"/>
                <a:cs typeface="BrowalliaUPC"/>
              </a:rPr>
              <a:t>ของทีมส่งเสริม</a:t>
            </a:r>
          </a:p>
          <a:p>
            <a:endParaRPr lang="en-US" sz="2400">
              <a:solidFill>
                <a:srgbClr val="FF0000"/>
              </a:solidFill>
              <a:highlight>
                <a:srgbClr val="C0C0C0"/>
              </a:highlight>
              <a:latin typeface="BrowalliaUPC"/>
              <a:cs typeface="BrowalliaUPC"/>
            </a:endParaRPr>
          </a:p>
        </p:txBody>
      </p:sp>
      <p:sp>
        <p:nvSpPr>
          <p:cNvPr id="16" name="กล่องข้อความ 4">
            <a:extLst>
              <a:ext uri="{FF2B5EF4-FFF2-40B4-BE49-F238E27FC236}">
                <a16:creationId xmlns:a16="http://schemas.microsoft.com/office/drawing/2014/main" id="{69395487-4D33-3568-D125-68C813366FB9}"/>
              </a:ext>
            </a:extLst>
          </p:cNvPr>
          <p:cNvSpPr txBox="1"/>
          <p:nvPr/>
        </p:nvSpPr>
        <p:spPr>
          <a:xfrm>
            <a:off x="522209" y="1541905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 dirty="0" err="1">
                <a:solidFill>
                  <a:schemeClr val="bg1"/>
                </a:solidFill>
                <a:latin typeface="Cordia New"/>
                <a:cs typeface="Cordia New"/>
              </a:rPr>
              <a:t>Step</a:t>
            </a:r>
            <a:r>
              <a:rPr lang="th-TH" sz="2400" b="1" dirty="0">
                <a:solidFill>
                  <a:schemeClr val="bg1"/>
                </a:solidFill>
                <a:latin typeface="Cordia New"/>
                <a:cs typeface="Cordia New"/>
              </a:rPr>
              <a:t> 2.1 </a:t>
            </a:r>
            <a:r>
              <a:rPr lang="th-TH" sz="2400" dirty="0">
                <a:solidFill>
                  <a:schemeClr val="bg1"/>
                </a:solidFill>
                <a:latin typeface="Cordia New"/>
                <a:cs typeface="Cordia New"/>
              </a:rPr>
              <a:t>หน่วยงานส่งเสริมและ</a:t>
            </a:r>
            <a:r>
              <a:rPr lang="th-TH" sz="2400" b="1" dirty="0">
                <a:solidFill>
                  <a:schemeClr val="bg1"/>
                </a:solidFill>
                <a:latin typeface="Cordia New"/>
                <a:cs typeface="Cordia New"/>
              </a:rPr>
              <a:t>GMส่งเสริม : </a:t>
            </a:r>
            <a:r>
              <a:rPr lang="th-TH" sz="2400" b="1" dirty="0" err="1">
                <a:solidFill>
                  <a:schemeClr val="bg1"/>
                </a:solidFill>
                <a:latin typeface="Cordia New"/>
                <a:cs typeface="Cordia New"/>
              </a:rPr>
              <a:t>Approve</a:t>
            </a:r>
            <a:r>
              <a:rPr lang="th-TH" sz="2400" b="1" dirty="0">
                <a:solidFill>
                  <a:schemeClr val="bg1"/>
                </a:solidFill>
                <a:latin typeface="Cordia New"/>
                <a:cs typeface="Cordia New"/>
              </a:rPr>
              <a:t> ค่าใช้จ่าย</a:t>
            </a:r>
          </a:p>
        </p:txBody>
      </p:sp>
      <p:pic>
        <p:nvPicPr>
          <p:cNvPr id="17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4DBD9C-209A-CEEE-1F3A-6F00AF87B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79" y="2289739"/>
            <a:ext cx="11172825" cy="4191000"/>
          </a:xfrm>
          <a:prstGeom prst="rect">
            <a:avLst/>
          </a:prstGeom>
        </p:spPr>
      </p:pic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F078D6E3-CD5A-C2F7-D41B-9D73B75CB378}"/>
              </a:ext>
            </a:extLst>
          </p:cNvPr>
          <p:cNvSpPr txBox="1"/>
          <p:nvPr/>
        </p:nvSpPr>
        <p:spPr>
          <a:xfrm>
            <a:off x="616645" y="4387241"/>
            <a:ext cx="6353036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000" u="sng" dirty="0">
                <a:latin typeface="BrowalliaUPC"/>
                <a:cs typeface="BrowalliaUPC"/>
              </a:rPr>
              <a:t>ลำดับการตรวจสอบยอดชดเชยรายได้(</a:t>
            </a:r>
            <a:r>
              <a:rPr lang="th-TH" sz="2000" u="sng" dirty="0" err="1">
                <a:latin typeface="BrowalliaUPC"/>
                <a:cs typeface="BrowalliaUPC"/>
              </a:rPr>
              <a:t>To</a:t>
            </a:r>
            <a:r>
              <a:rPr lang="th-TH" sz="2000" u="sng" dirty="0">
                <a:latin typeface="BrowalliaUPC"/>
                <a:cs typeface="BrowalliaUPC"/>
              </a:rPr>
              <a:t>-</a:t>
            </a:r>
            <a:r>
              <a:rPr lang="th-TH" sz="2000" u="sng" dirty="0" err="1">
                <a:latin typeface="BrowalliaUPC"/>
                <a:cs typeface="BrowalliaUPC"/>
              </a:rPr>
              <a:t>Be</a:t>
            </a:r>
            <a:r>
              <a:rPr lang="th-TH" sz="2000" u="sng" dirty="0">
                <a:latin typeface="BrowalliaUPC"/>
                <a:cs typeface="BrowalliaUPC"/>
              </a:rPr>
              <a:t>)</a:t>
            </a:r>
          </a:p>
          <a:p>
            <a:r>
              <a:rPr lang="th-TH" sz="2000" b="0" dirty="0">
                <a:latin typeface="BrowalliaUPC"/>
                <a:cs typeface="BrowalliaUPC"/>
              </a:rPr>
              <a:t>1.หน่วยงานส่งเสริม (ผู้จัดการฝ่าย/ผู้เชี่ยวชาญ, เจ้าหน้าที่อาวุโส)</a:t>
            </a:r>
          </a:p>
          <a:p>
            <a:r>
              <a:rPr lang="th-TH" sz="2000" b="0" dirty="0">
                <a:latin typeface="BrowalliaUPC"/>
                <a:cs typeface="BrowalliaUPC"/>
              </a:rPr>
              <a:t>2. GM ส่งเสริม</a:t>
            </a:r>
          </a:p>
        </p:txBody>
      </p: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8DEB68DB-892A-B030-80B8-FD1797495130}"/>
              </a:ext>
            </a:extLst>
          </p:cNvPr>
          <p:cNvSpPr txBox="1"/>
          <p:nvPr/>
        </p:nvSpPr>
        <p:spPr>
          <a:xfrm>
            <a:off x="9793573" y="8119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4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1ABCC261-C052-898A-B513-13C89EBC8B5F}"/>
              </a:ext>
            </a:extLst>
          </p:cNvPr>
          <p:cNvSpPr/>
          <p:nvPr/>
        </p:nvSpPr>
        <p:spPr>
          <a:xfrm>
            <a:off x="2699719" y="3291417"/>
            <a:ext cx="1338790" cy="1235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th-TH" sz="900" b="0" dirty="0">
                <a:solidFill>
                  <a:schemeClr val="tx1"/>
                </a:solidFill>
                <a:ea typeface="Tahoma"/>
              </a:rPr>
              <a:t>หน่วยงานส่งเสริมฯ SBP</a:t>
            </a:r>
          </a:p>
        </p:txBody>
      </p:sp>
    </p:spTree>
    <p:extLst>
      <p:ext uri="{BB962C8B-B14F-4D97-AF65-F5344CB8AC3E}">
        <p14:creationId xmlns:p14="http://schemas.microsoft.com/office/powerpoint/2010/main" val="2963034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DFC3C-2184-237A-2692-1F6697332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44549B0-A371-F889-3ED4-91FDE9603123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CBD05B-EEE3-AB38-DD30-9E5ADC5C72DE}"/>
              </a:ext>
            </a:extLst>
          </p:cNvPr>
          <p:cNvSpPr txBox="1"/>
          <p:nvPr/>
        </p:nvSpPr>
        <p:spPr>
          <a:xfrm>
            <a:off x="775741" y="944380"/>
            <a:ext cx="1079664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highlight>
                  <a:srgbClr val="C0C0C0"/>
                </a:highlight>
                <a:latin typeface="BrowalliaUPC"/>
                <a:cs typeface="BrowalliaUPC"/>
              </a:rPr>
              <a:t>2.  </a:t>
            </a:r>
            <a:r>
              <a:rPr lang="en-US" sz="2400" dirty="0" err="1">
                <a:highlight>
                  <a:srgbClr val="C0C0C0"/>
                </a:highlight>
                <a:latin typeface="BrowalliaUPC"/>
                <a:cs typeface="BrowalliaUPC"/>
              </a:rPr>
              <a:t>ปรับสิทธิ์การตรวจสอบยอดชดเชยรายได้และกระบวนการทำงาน</a:t>
            </a:r>
            <a:r>
              <a:rPr lang="en-US" sz="2400" dirty="0">
                <a:highlight>
                  <a:srgbClr val="C0C0C0"/>
                </a:highlight>
                <a:latin typeface="BrowalliaUPC"/>
                <a:cs typeface="BrowalliaUPC"/>
              </a:rPr>
              <a:t> </a:t>
            </a:r>
            <a:r>
              <a:rPr lang="en-US" sz="2400" dirty="0" err="1">
                <a:highlight>
                  <a:srgbClr val="C0C0C0"/>
                </a:highlight>
                <a:latin typeface="BrowalliaUPC"/>
                <a:cs typeface="BrowalliaUPC"/>
              </a:rPr>
              <a:t>ของทีมส่งเสริม</a:t>
            </a:r>
          </a:p>
          <a:p>
            <a:endParaRPr lang="en-US" sz="2400">
              <a:solidFill>
                <a:srgbClr val="FF0000"/>
              </a:solidFill>
              <a:highlight>
                <a:srgbClr val="C0C0C0"/>
              </a:highlight>
              <a:latin typeface="BrowalliaUPC"/>
              <a:cs typeface="BrowalliaUPC"/>
            </a:endParaRPr>
          </a:p>
        </p:txBody>
      </p: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5AB545B3-21D6-3C41-A576-F34EEDAB8B10}"/>
              </a:ext>
            </a:extLst>
          </p:cNvPr>
          <p:cNvSpPr txBox="1"/>
          <p:nvPr/>
        </p:nvSpPr>
        <p:spPr>
          <a:xfrm>
            <a:off x="9793573" y="8119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3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969BD159-E331-B4EC-745C-608038DBC4D4}"/>
              </a:ext>
            </a:extLst>
          </p:cNvPr>
          <p:cNvSpPr txBox="1"/>
          <p:nvPr/>
        </p:nvSpPr>
        <p:spPr>
          <a:xfrm>
            <a:off x="626341" y="1365250"/>
            <a:ext cx="11134146" cy="424116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sng">
                <a:solidFill>
                  <a:srgbClr val="000000"/>
                </a:solidFill>
                <a:latin typeface="BrowalliaUPC"/>
                <a:cs typeface="BrowalliaUPC"/>
              </a:rPr>
              <a:t>ปรับสิทธิ์การตรวจสอบยอดชดเชยรายได้</a:t>
            </a:r>
            <a:endParaRPr lang="en-US" sz="2400" b="0" dirty="0">
              <a:solidFill>
                <a:srgbClr val="000000"/>
              </a:solidFill>
              <a:latin typeface="BrowalliaUPC"/>
              <a:cs typeface="BrowalliaUPC"/>
            </a:endParaRPr>
          </a:p>
          <a:p>
            <a:pPr marL="342900" indent="-342900">
              <a:buFont typeface="Calibri"/>
              <a:buChar char="-"/>
            </a:pPr>
            <a:r>
              <a:rPr lang="en-US" sz="2400" b="0">
                <a:solidFill>
                  <a:srgbClr val="000000"/>
                </a:solidFill>
                <a:latin typeface="BrowalliaUPC"/>
                <a:ea typeface="Aptos"/>
                <a:cs typeface="Aptos"/>
              </a:rPr>
              <a:t>เปลี่ยนชื่อปุ่มของ "</a:t>
            </a:r>
            <a:r>
              <a:rPr lang="en-US" sz="2400" b="0" err="1">
                <a:solidFill>
                  <a:srgbClr val="000000"/>
                </a:solidFill>
                <a:latin typeface="BrowalliaUPC"/>
                <a:ea typeface="Aptos"/>
                <a:cs typeface="Aptos"/>
              </a:rPr>
              <a:t>ฝ่ายส่งเสริมธุรกิจฯ</a:t>
            </a:r>
            <a:r>
              <a:rPr lang="en-US" sz="2400" b="0">
                <a:solidFill>
                  <a:srgbClr val="000000"/>
                </a:solidFill>
                <a:latin typeface="BrowalliaUPC"/>
                <a:ea typeface="Aptos"/>
                <a:cs typeface="Aptos"/>
              </a:rPr>
              <a:t> SBP"</a:t>
            </a:r>
            <a:br>
              <a:rPr lang="en-US" sz="2400" dirty="0">
                <a:latin typeface="BrowalliaUPC"/>
                <a:ea typeface="Aptos"/>
                <a:cs typeface="Aptos"/>
              </a:rPr>
            </a:br>
            <a:r>
              <a:rPr lang="en-US" sz="2400" err="1">
                <a:solidFill>
                  <a:srgbClr val="000000"/>
                </a:solidFill>
                <a:latin typeface="BrowalliaUPC"/>
                <a:ea typeface="Aptos"/>
                <a:cs typeface="Aptos"/>
              </a:rPr>
              <a:t>เดิม</a:t>
            </a:r>
            <a:r>
              <a:rPr lang="en-US" sz="2400" dirty="0">
                <a:solidFill>
                  <a:srgbClr val="000000"/>
                </a:solidFill>
                <a:latin typeface="BrowalliaUPC"/>
                <a:ea typeface="Aptos"/>
                <a:cs typeface="Aptos"/>
              </a:rPr>
              <a:t> </a:t>
            </a:r>
            <a:r>
              <a:rPr lang="en-US" sz="2400" b="0">
                <a:solidFill>
                  <a:srgbClr val="000000"/>
                </a:solidFill>
                <a:latin typeface="BrowalliaUPC"/>
                <a:ea typeface="Aptos"/>
                <a:cs typeface="Aptos"/>
              </a:rPr>
              <a:t>: </a:t>
            </a:r>
            <a:r>
              <a:rPr lang="en-US" sz="2400" b="0" err="1">
                <a:solidFill>
                  <a:srgbClr val="000000"/>
                </a:solidFill>
                <a:latin typeface="BrowalliaUPC"/>
                <a:ea typeface="Aptos"/>
                <a:cs typeface="Aptos"/>
              </a:rPr>
              <a:t>ฝ่ายส่งเสริมธุรกิจ</a:t>
            </a:r>
            <a:r>
              <a:rPr lang="en-US" sz="2400" b="0">
                <a:solidFill>
                  <a:srgbClr val="000000"/>
                </a:solidFill>
                <a:latin typeface="BrowalliaUPC"/>
                <a:ea typeface="Aptos"/>
                <a:cs typeface="Aptos"/>
              </a:rPr>
              <a:t> SBP</a:t>
            </a:r>
            <a:br>
              <a:rPr lang="en-US" sz="2400" b="0" dirty="0">
                <a:latin typeface="BrowalliaUPC"/>
                <a:ea typeface="Aptos"/>
                <a:cs typeface="Aptos"/>
              </a:rPr>
            </a:br>
            <a:r>
              <a:rPr lang="en-US" sz="2400" err="1">
                <a:solidFill>
                  <a:srgbClr val="FF0000"/>
                </a:solidFill>
                <a:latin typeface="BrowalliaUPC"/>
                <a:ea typeface="Aptos"/>
                <a:cs typeface="Aptos"/>
              </a:rPr>
              <a:t>ใหม่</a:t>
            </a:r>
            <a:r>
              <a:rPr lang="en-US" sz="2400" dirty="0">
                <a:solidFill>
                  <a:srgbClr val="FF0000"/>
                </a:solidFill>
                <a:latin typeface="BrowalliaUPC"/>
                <a:ea typeface="Aptos"/>
                <a:cs typeface="Aptos"/>
              </a:rPr>
              <a:t> </a:t>
            </a:r>
            <a:r>
              <a:rPr lang="en-US" sz="2400" b="0">
                <a:solidFill>
                  <a:srgbClr val="000000"/>
                </a:solidFill>
                <a:latin typeface="BrowalliaUPC"/>
                <a:ea typeface="Aptos"/>
                <a:cs typeface="Aptos"/>
              </a:rPr>
              <a:t>: </a:t>
            </a:r>
            <a:r>
              <a:rPr lang="en-US" sz="2400" b="0" err="1">
                <a:solidFill>
                  <a:srgbClr val="000000"/>
                </a:solidFill>
                <a:latin typeface="BrowalliaUPC"/>
                <a:ea typeface="Aptos"/>
                <a:cs typeface="Aptos"/>
              </a:rPr>
              <a:t>หน่วยงานส่งเสริม</a:t>
            </a:r>
            <a:r>
              <a:rPr lang="en-US" sz="2400" b="0" err="1">
                <a:solidFill>
                  <a:srgbClr val="000000"/>
                </a:solidFill>
                <a:latin typeface="BrowalliaUPC"/>
                <a:ea typeface="Calibri"/>
                <a:cs typeface="Calibri"/>
              </a:rPr>
              <a:t>ธุรกิจ</a:t>
            </a:r>
            <a:r>
              <a:rPr lang="en-US" sz="2400" b="0">
                <a:solidFill>
                  <a:srgbClr val="000000"/>
                </a:solidFill>
                <a:latin typeface="BrowalliaUPC"/>
                <a:ea typeface="Calibri"/>
                <a:cs typeface="Calibri"/>
              </a:rPr>
              <a:t> SBP (ระดับตำแหน่ง :</a:t>
            </a:r>
            <a:r>
              <a:rPr lang="en-US" sz="2400" b="0" err="1">
                <a:solidFill>
                  <a:srgbClr val="000000"/>
                </a:solidFill>
                <a:latin typeface="BrowalliaUPC"/>
                <a:ea typeface="Calibri"/>
                <a:cs typeface="Calibri"/>
              </a:rPr>
              <a:t>เจ้าหน้าที่อาวุโสขึ้นไป</a:t>
            </a:r>
            <a:r>
              <a:rPr lang="en-US" sz="2400" b="0" dirty="0">
                <a:solidFill>
                  <a:srgbClr val="000000"/>
                </a:solidFill>
                <a:latin typeface="BrowalliaUPC"/>
                <a:ea typeface="Calibri"/>
                <a:cs typeface="Calibri"/>
              </a:rPr>
              <a:t> </a:t>
            </a:r>
            <a:r>
              <a:rPr lang="en-US" sz="2400" b="0" err="1">
                <a:solidFill>
                  <a:srgbClr val="000000"/>
                </a:solidFill>
                <a:latin typeface="BrowalliaUPC"/>
                <a:ea typeface="Calibri"/>
                <a:cs typeface="Calibri"/>
              </a:rPr>
              <a:t>ยกเว้น</a:t>
            </a:r>
            <a:r>
              <a:rPr lang="en-US" sz="2400" b="0">
                <a:solidFill>
                  <a:srgbClr val="000000"/>
                </a:solidFill>
                <a:latin typeface="BrowalliaUPC"/>
                <a:ea typeface="Calibri"/>
                <a:cs typeface="Calibri"/>
              </a:rPr>
              <a:t> GM ส่งเสริม)</a:t>
            </a:r>
            <a:br>
              <a:rPr lang="en-US" sz="2400" b="0" dirty="0">
                <a:latin typeface="BrowalliaUPC"/>
                <a:ea typeface="Calibri"/>
                <a:cs typeface="Calibri"/>
              </a:rPr>
            </a:br>
            <a:br>
              <a:rPr lang="en-US" sz="2400" b="0" dirty="0">
                <a:latin typeface="BrowalliaUPC"/>
                <a:ea typeface="Aptos"/>
                <a:cs typeface="Aptos"/>
              </a:rPr>
            </a:br>
            <a:r>
              <a:rPr lang="en-US" sz="2400" b="0">
                <a:solidFill>
                  <a:srgbClr val="000000"/>
                </a:solidFill>
                <a:latin typeface="BrowalliaUPC"/>
                <a:ea typeface="Aptos"/>
                <a:cs typeface="Aptos"/>
              </a:rPr>
              <a:t>รวมถึงเพิ่มสิทธิ์การเข้าใช้งานของหน่วยงานส่งเสริม</a:t>
            </a:r>
            <a:r>
              <a:rPr lang="en-US" sz="2400" b="0">
                <a:solidFill>
                  <a:srgbClr val="FF0000"/>
                </a:solidFill>
                <a:highlight>
                  <a:srgbClr val="FFFF00"/>
                </a:highlight>
                <a:latin typeface="BrowalliaUPC"/>
                <a:ea typeface="Aptos"/>
                <a:cs typeface="Aptos"/>
              </a:rPr>
              <a:t>(ระดับตำแหน่ง </a:t>
            </a:r>
            <a:r>
              <a:rPr lang="en-US" sz="2400" b="0" err="1">
                <a:solidFill>
                  <a:srgbClr val="FF0000"/>
                </a:solidFill>
                <a:highlight>
                  <a:srgbClr val="FFFF00"/>
                </a:highlight>
                <a:latin typeface="BrowalliaUPC"/>
                <a:ea typeface="Aptos"/>
                <a:cs typeface="Aptos"/>
              </a:rPr>
              <a:t>ตามข้อมูล</a:t>
            </a:r>
            <a:r>
              <a:rPr lang="en-US" sz="2400" b="0">
                <a:solidFill>
                  <a:srgbClr val="FF0000"/>
                </a:solidFill>
                <a:highlight>
                  <a:srgbClr val="FFFF00"/>
                </a:highlight>
                <a:latin typeface="BrowalliaUPC"/>
                <a:ea typeface="Aptos"/>
                <a:cs typeface="Aptos"/>
              </a:rPr>
              <a:t> HR :</a:t>
            </a:r>
            <a:r>
              <a:rPr lang="en-US" sz="2400" b="0" err="1">
                <a:solidFill>
                  <a:srgbClr val="FF0000"/>
                </a:solidFill>
                <a:highlight>
                  <a:srgbClr val="FFFF00"/>
                </a:highlight>
                <a:latin typeface="BrowalliaUPC"/>
                <a:ea typeface="Aptos"/>
                <a:cs typeface="Aptos"/>
              </a:rPr>
              <a:t>เจ้าหน้าที่อาวุโส</a:t>
            </a:r>
            <a:r>
              <a:rPr lang="en-US" sz="2400" b="0">
                <a:solidFill>
                  <a:srgbClr val="FF0000"/>
                </a:solidFill>
                <a:highlight>
                  <a:srgbClr val="FFFF00"/>
                </a:highlight>
                <a:latin typeface="BrowalliaUPC"/>
                <a:ea typeface="Aptos"/>
                <a:cs typeface="Aptos"/>
              </a:rPr>
              <a:t> - </a:t>
            </a:r>
            <a:r>
              <a:rPr lang="en-US" sz="2400" b="0" err="1">
                <a:solidFill>
                  <a:srgbClr val="FF0000"/>
                </a:solidFill>
                <a:highlight>
                  <a:srgbClr val="FFFF00"/>
                </a:highlight>
                <a:latin typeface="BrowalliaUPC"/>
                <a:ea typeface="Aptos"/>
                <a:cs typeface="Aptos"/>
              </a:rPr>
              <a:t>ฝ่ายส่งเสริม</a:t>
            </a:r>
            <a:r>
              <a:rPr lang="en-US" sz="2400" b="0" dirty="0">
                <a:solidFill>
                  <a:srgbClr val="FF0000"/>
                </a:solidFill>
                <a:highlight>
                  <a:srgbClr val="FFFF00"/>
                </a:highlight>
                <a:latin typeface="BrowalliaUPC"/>
                <a:ea typeface="Aptos"/>
                <a:cs typeface="Aptos"/>
              </a:rPr>
              <a:t>)</a:t>
            </a:r>
            <a:r>
              <a:rPr lang="en-US" sz="2400" b="0" dirty="0">
                <a:solidFill>
                  <a:srgbClr val="000000"/>
                </a:solidFill>
                <a:latin typeface="BrowalliaUPC"/>
                <a:ea typeface="Aptos"/>
                <a:cs typeface="Aptos"/>
              </a:rPr>
              <a:t> </a:t>
            </a:r>
            <a:r>
              <a:rPr lang="en-US" sz="2400" b="0" err="1">
                <a:solidFill>
                  <a:srgbClr val="000000"/>
                </a:solidFill>
                <a:latin typeface="BrowalliaUPC"/>
                <a:ea typeface="Aptos"/>
                <a:cs typeface="Aptos"/>
              </a:rPr>
              <a:t>สามารถเข้ามาดำเนินการส่งต่อ</a:t>
            </a:r>
            <a:r>
              <a:rPr lang="en-US" sz="2400" b="0">
                <a:solidFill>
                  <a:srgbClr val="000000"/>
                </a:solidFill>
                <a:latin typeface="BrowalliaUPC"/>
                <a:ea typeface="Aptos"/>
                <a:cs typeface="Aptos"/>
              </a:rPr>
              <a:t> Flow </a:t>
            </a:r>
            <a:r>
              <a:rPr lang="en-US" sz="2400" b="0" err="1">
                <a:solidFill>
                  <a:srgbClr val="000000"/>
                </a:solidFill>
                <a:latin typeface="BrowalliaUPC"/>
                <a:ea typeface="Aptos"/>
                <a:cs typeface="Aptos"/>
              </a:rPr>
              <a:t>ให้</a:t>
            </a:r>
            <a:r>
              <a:rPr lang="en-US" sz="2400" b="0">
                <a:solidFill>
                  <a:srgbClr val="000000"/>
                </a:solidFill>
                <a:latin typeface="BrowalliaUPC"/>
                <a:ea typeface="Aptos"/>
                <a:cs typeface="Aptos"/>
              </a:rPr>
              <a:t> GM </a:t>
            </a:r>
            <a:r>
              <a:rPr lang="en-US" sz="2400" b="0" err="1">
                <a:solidFill>
                  <a:srgbClr val="000000"/>
                </a:solidFill>
                <a:latin typeface="BrowalliaUPC"/>
                <a:ea typeface="Aptos"/>
                <a:cs typeface="Aptos"/>
              </a:rPr>
              <a:t>ส่งเสริมได้</a:t>
            </a:r>
            <a:endParaRPr lang="en-US" sz="2400" b="0">
              <a:solidFill>
                <a:srgbClr val="000000"/>
              </a:solidFill>
              <a:latin typeface="BrowalliaUPC"/>
              <a:ea typeface="Aptos"/>
              <a:cs typeface="Aptos"/>
            </a:endParaRPr>
          </a:p>
          <a:p>
            <a:pPr algn="ctr"/>
            <a:endParaRPr lang="th-TH" sz="2000" dirty="0">
              <a:latin typeface="Calibri"/>
              <a:ea typeface="Calibri"/>
              <a:cs typeface="Cordia New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E0401C35-0D81-ACE9-5776-6D7124707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84" y="4483893"/>
            <a:ext cx="2649393" cy="501650"/>
          </a:xfrm>
          <a:prstGeom prst="rect">
            <a:avLst/>
          </a:prstGeom>
        </p:spPr>
      </p:pic>
      <p:sp>
        <p:nvSpPr>
          <p:cNvPr id="9" name="กล่องข้อความ 1">
            <a:extLst>
              <a:ext uri="{FF2B5EF4-FFF2-40B4-BE49-F238E27FC236}">
                <a16:creationId xmlns:a16="http://schemas.microsoft.com/office/drawing/2014/main" id="{569DA2F3-CB50-3529-46CC-DE0970111AB8}"/>
              </a:ext>
            </a:extLst>
          </p:cNvPr>
          <p:cNvSpPr txBox="1"/>
          <p:nvPr/>
        </p:nvSpPr>
        <p:spPr>
          <a:xfrm>
            <a:off x="80313" y="5609575"/>
            <a:ext cx="1050022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dirty="0">
                <a:solidFill>
                  <a:srgbClr val="FF0000"/>
                </a:solidFill>
                <a:latin typeface="BrowalliaUPC"/>
                <a:cs typeface="BrowalliaUPC"/>
              </a:rPr>
              <a:t>พนักงานภายใต้ฝ่ายส่งเสริม SBP (ระดับพนักงาน :เจ้าหน้าที่อาวุโส - ฝ่ายส่งเสริม - GM ส่งเสริม)</a:t>
            </a:r>
          </a:p>
        </p:txBody>
      </p:sp>
      <p:sp>
        <p:nvSpPr>
          <p:cNvPr id="10" name="ลูกศร: ขวา 9">
            <a:extLst>
              <a:ext uri="{FF2B5EF4-FFF2-40B4-BE49-F238E27FC236}">
                <a16:creationId xmlns:a16="http://schemas.microsoft.com/office/drawing/2014/main" id="{1B3CA071-92BE-A424-9539-2125AF387E2D}"/>
              </a:ext>
            </a:extLst>
          </p:cNvPr>
          <p:cNvSpPr/>
          <p:nvPr/>
        </p:nvSpPr>
        <p:spPr>
          <a:xfrm>
            <a:off x="4088390" y="4647983"/>
            <a:ext cx="762000" cy="29094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th-TH"/>
          </a:p>
        </p:txBody>
      </p:sp>
      <p:sp>
        <p:nvSpPr>
          <p:cNvPr id="11" name="วงรี 10">
            <a:extLst>
              <a:ext uri="{FF2B5EF4-FFF2-40B4-BE49-F238E27FC236}">
                <a16:creationId xmlns:a16="http://schemas.microsoft.com/office/drawing/2014/main" id="{9788693D-B061-8625-B55A-B01A91CB2954}"/>
              </a:ext>
            </a:extLst>
          </p:cNvPr>
          <p:cNvSpPr/>
          <p:nvPr/>
        </p:nvSpPr>
        <p:spPr>
          <a:xfrm>
            <a:off x="5285292" y="4615944"/>
            <a:ext cx="318654" cy="33250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th-TH"/>
          </a:p>
        </p:txBody>
      </p:sp>
      <p:sp>
        <p:nvSpPr>
          <p:cNvPr id="12" name="กล่องข้อความ 6">
            <a:extLst>
              <a:ext uri="{FF2B5EF4-FFF2-40B4-BE49-F238E27FC236}">
                <a16:creationId xmlns:a16="http://schemas.microsoft.com/office/drawing/2014/main" id="{7E237225-508E-FBAF-7E67-803B2801C65B}"/>
              </a:ext>
            </a:extLst>
          </p:cNvPr>
          <p:cNvSpPr txBox="1"/>
          <p:nvPr/>
        </p:nvSpPr>
        <p:spPr>
          <a:xfrm>
            <a:off x="5715216" y="4560743"/>
            <a:ext cx="3920836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dirty="0">
                <a:latin typeface="BrowalliaUPC"/>
                <a:cs typeface="BrowalliaUPC"/>
              </a:rPr>
              <a:t>หน่วยงานส่งเสริมธุรกิจฯ SBP</a:t>
            </a:r>
            <a:endParaRPr lang="th-TH" dirty="0">
              <a:latin typeface="BrowalliaUPC"/>
              <a:cs typeface="BrowalliaUPC"/>
            </a:endParaRPr>
          </a:p>
        </p:txBody>
      </p:sp>
    </p:spTree>
    <p:extLst>
      <p:ext uri="{BB962C8B-B14F-4D97-AF65-F5344CB8AC3E}">
        <p14:creationId xmlns:p14="http://schemas.microsoft.com/office/powerpoint/2010/main" val="32329954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7FE0D-5F15-AE15-2A64-79DBF9E8D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7E5168-4FEE-9E03-72F2-CFB8500BEA35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7C9B45-6841-7C06-B1FD-2CC0F1D72D28}"/>
              </a:ext>
            </a:extLst>
          </p:cNvPr>
          <p:cNvSpPr txBox="1"/>
          <p:nvPr/>
        </p:nvSpPr>
        <p:spPr>
          <a:xfrm>
            <a:off x="775741" y="944380"/>
            <a:ext cx="1079664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highlight>
                  <a:srgbClr val="C0C0C0"/>
                </a:highlight>
                <a:latin typeface="BrowalliaUPC"/>
                <a:cs typeface="BrowalliaUPC"/>
              </a:rPr>
              <a:t>2.  </a:t>
            </a:r>
            <a:r>
              <a:rPr lang="en-US" sz="2400" dirty="0" err="1">
                <a:highlight>
                  <a:srgbClr val="C0C0C0"/>
                </a:highlight>
                <a:latin typeface="BrowalliaUPC"/>
                <a:cs typeface="BrowalliaUPC"/>
              </a:rPr>
              <a:t>ปรับสิทธิ์การตรวจสอบยอดชดเชยรายได้และกระบวนการทำงาน</a:t>
            </a:r>
            <a:r>
              <a:rPr lang="en-US" sz="2400" dirty="0">
                <a:highlight>
                  <a:srgbClr val="C0C0C0"/>
                </a:highlight>
                <a:latin typeface="BrowalliaUPC"/>
                <a:cs typeface="BrowalliaUPC"/>
              </a:rPr>
              <a:t> </a:t>
            </a:r>
            <a:r>
              <a:rPr lang="en-US" sz="2400" dirty="0" err="1">
                <a:highlight>
                  <a:srgbClr val="C0C0C0"/>
                </a:highlight>
                <a:latin typeface="BrowalliaUPC"/>
                <a:cs typeface="BrowalliaUPC"/>
              </a:rPr>
              <a:t>ของทีมส่งเสริม</a:t>
            </a:r>
          </a:p>
          <a:p>
            <a:endParaRPr lang="en-US" sz="2400">
              <a:solidFill>
                <a:srgbClr val="FF0000"/>
              </a:solidFill>
              <a:highlight>
                <a:srgbClr val="C0C0C0"/>
              </a:highlight>
              <a:latin typeface="BrowalliaUPC"/>
              <a:cs typeface="BrowalliaUPC"/>
            </a:endParaRPr>
          </a:p>
        </p:txBody>
      </p: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6343EE05-1039-D9BA-16DE-EE9DFCB4AEF8}"/>
              </a:ext>
            </a:extLst>
          </p:cNvPr>
          <p:cNvSpPr txBox="1"/>
          <p:nvPr/>
        </p:nvSpPr>
        <p:spPr>
          <a:xfrm>
            <a:off x="9793573" y="8119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3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  <p:graphicFrame>
        <p:nvGraphicFramePr>
          <p:cNvPr id="14" name="ตาราง 13">
            <a:extLst>
              <a:ext uri="{FF2B5EF4-FFF2-40B4-BE49-F238E27FC236}">
                <a16:creationId xmlns:a16="http://schemas.microsoft.com/office/drawing/2014/main" id="{554FA275-1DBE-2F5B-5D8C-1A815A289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184577"/>
              </p:ext>
            </p:extLst>
          </p:nvPr>
        </p:nvGraphicFramePr>
        <p:xfrm>
          <a:off x="2500313" y="3905248"/>
          <a:ext cx="7179782" cy="292608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2258290">
                  <a:extLst>
                    <a:ext uri="{9D8B030D-6E8A-4147-A177-3AD203B41FA5}">
                      <a16:colId xmlns:a16="http://schemas.microsoft.com/office/drawing/2014/main" val="2106804082"/>
                    </a:ext>
                  </a:extLst>
                </a:gridCol>
                <a:gridCol w="1513343">
                  <a:extLst>
                    <a:ext uri="{9D8B030D-6E8A-4147-A177-3AD203B41FA5}">
                      <a16:colId xmlns:a16="http://schemas.microsoft.com/office/drawing/2014/main" val="3805107488"/>
                    </a:ext>
                  </a:extLst>
                </a:gridCol>
                <a:gridCol w="3408149">
                  <a:extLst>
                    <a:ext uri="{9D8B030D-6E8A-4147-A177-3AD203B41FA5}">
                      <a16:colId xmlns:a16="http://schemas.microsoft.com/office/drawing/2014/main" val="39600271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h-TH" sz="1800" b="0" dirty="0">
                        <a:latin typeface="BrowalliaUPC"/>
                        <a:cs typeface="BrowalliaU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th-TH" sz="1800" b="1" dirty="0">
                        <a:latin typeface="BrowalliaUPC"/>
                        <a:cs typeface="BrowalliaU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 sz="1800" b="1" dirty="0">
                          <a:latin typeface="BrowalliaUPC"/>
                          <a:cs typeface="BrowalliaUPC"/>
                        </a:rPr>
                        <a:t>ตำแหน่ง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7629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1800" b="0" dirty="0">
                          <a:latin typeface="BrowalliaUPC"/>
                          <a:cs typeface="BrowalliaUPC"/>
                        </a:rPr>
                        <a:t>กล่อง AVP ส่งเสริม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1800" b="0" dirty="0">
                          <a:latin typeface="BrowalliaUPC"/>
                          <a:cs typeface="BrowalliaUPC"/>
                        </a:rPr>
                        <a:t>AVP อนุมัติเงิน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th-TH" sz="1800" b="0" i="0" u="none" strike="noStrike" baseline="0" noProof="0" dirty="0">
                          <a:solidFill>
                            <a:srgbClr val="000000"/>
                          </a:solidFill>
                          <a:latin typeface="BrowalliaUPC"/>
                          <a:cs typeface="BrowalliaUPC"/>
                        </a:rPr>
                        <a:t>ผู้ช่วยกรรมการผู้จัดการ หรือเทียบเท่า</a:t>
                      </a:r>
                      <a:endParaRPr lang="th-TH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007356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 sz="1800" b="0" dirty="0">
                          <a:latin typeface="BrowalliaUPC"/>
                          <a:cs typeface="BrowalliaUPC"/>
                        </a:rPr>
                        <a:t>กล่อง </a:t>
                      </a:r>
                      <a:r>
                        <a:rPr lang="af-ZA" sz="1800" b="0" dirty="0">
                          <a:latin typeface="BrowalliaUPC"/>
                        </a:rPr>
                        <a:t>GM </a:t>
                      </a:r>
                      <a:r>
                        <a:rPr lang="th-TH" sz="1800" b="0" dirty="0">
                          <a:latin typeface="BrowalliaUPC"/>
                          <a:cs typeface="BrowalliaUPC"/>
                        </a:rPr>
                        <a:t>ส่งเสริม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800" b="0" dirty="0">
                          <a:latin typeface="BrowalliaUPC"/>
                        </a:rPr>
                        <a:t>GM </a:t>
                      </a:r>
                      <a:r>
                        <a:rPr lang="th-TH" sz="1800" b="0" dirty="0">
                          <a:latin typeface="BrowalliaUPC"/>
                          <a:cs typeface="BrowalliaUPC"/>
                        </a:rPr>
                        <a:t>อนุมัติเงิน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 sz="1800" b="0" dirty="0">
                          <a:latin typeface="BrowalliaUPC"/>
                          <a:cs typeface="BrowalliaUPC"/>
                        </a:rPr>
                        <a:t>ผู้จัดการทั่วไป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29662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 sz="1800" b="0" dirty="0">
                          <a:latin typeface="BrowalliaUPC"/>
                          <a:cs typeface="BrowalliaUPC"/>
                        </a:rPr>
                        <a:t>รองผู้จัดการทั่วไป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58657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 sz="1800" b="0" dirty="0">
                          <a:latin typeface="BrowalliaUPC"/>
                          <a:cs typeface="BrowalliaUPC"/>
                        </a:rPr>
                        <a:t>ผู้ช่วยผู้จัดการทั่วไป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5058651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 sz="1800" b="0" dirty="0">
                          <a:latin typeface="BrowalliaUPC"/>
                          <a:cs typeface="BrowalliaUPC"/>
                        </a:rPr>
                        <a:t>กล่อง หน่วยงานส่งเสริม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 sz="1800" b="0" dirty="0">
                          <a:latin typeface="BrowalliaUPC"/>
                          <a:cs typeface="BrowalliaUPC"/>
                        </a:rPr>
                        <a:t>ฝ่าย กลั่นกรอง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 sz="1800" b="0" dirty="0">
                          <a:latin typeface="BrowalliaUPC"/>
                          <a:cs typeface="BrowalliaUPC"/>
                        </a:rPr>
                        <a:t>ผู้จัดการฝ่าย/ผู้เชี่ยวชาญ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874886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 marL="0" marR="0" marT="0" marB="0" horzOverflow="overflow"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 sz="1800" b="0" dirty="0">
                          <a:latin typeface="BrowalliaUPC"/>
                          <a:cs typeface="BrowalliaUPC"/>
                        </a:rPr>
                        <a:t>เจ้าหน้าที่อาวุโส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6907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 sz="1800" b="0">
                          <a:latin typeface="BrowalliaUPC"/>
                          <a:cs typeface="BrowalliaUPC"/>
                        </a:rPr>
                        <a:t>-</a:t>
                      </a:r>
                      <a:endParaRPr lang="th-TH" sz="1800" b="0" dirty="0">
                        <a:latin typeface="BrowalliaUPC"/>
                        <a:cs typeface="BrowalliaU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 sz="1800" b="0">
                          <a:latin typeface="BrowalliaUPC"/>
                          <a:cs typeface="BrowalliaUPC"/>
                        </a:rPr>
                        <a:t>-</a:t>
                      </a:r>
                      <a:endParaRPr lang="th-TH" sz="1800" b="0" dirty="0">
                        <a:latin typeface="BrowalliaUPC"/>
                        <a:cs typeface="BrowalliaU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 sz="1800" b="0" dirty="0">
                          <a:latin typeface="BrowalliaUPC"/>
                          <a:cs typeface="BrowalliaUPC"/>
                        </a:rPr>
                        <a:t>เจ้าหน้าที่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841523"/>
                  </a:ext>
                </a:extLst>
              </a:tr>
            </a:tbl>
          </a:graphicData>
        </a:graphic>
      </p:graphicFrame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D4AAF20C-84B9-6478-3A7C-D0CC7C63F451}"/>
              </a:ext>
            </a:extLst>
          </p:cNvPr>
          <p:cNvSpPr txBox="1"/>
          <p:nvPr/>
        </p:nvSpPr>
        <p:spPr>
          <a:xfrm>
            <a:off x="626341" y="1365250"/>
            <a:ext cx="11134146" cy="33547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sng">
                <a:solidFill>
                  <a:srgbClr val="000000"/>
                </a:solidFill>
                <a:latin typeface="BrowalliaUPC"/>
                <a:cs typeface="BrowalliaUPC"/>
              </a:rPr>
              <a:t>ปรับสิทธิ์การตรวจสอบยอดชดเชยรายได้</a:t>
            </a:r>
            <a:endParaRPr lang="en-US" sz="2400" b="0" dirty="0">
              <a:solidFill>
                <a:srgbClr val="000000"/>
              </a:solidFill>
              <a:latin typeface="BrowalliaUPC"/>
              <a:cs typeface="BrowalliaUPC"/>
            </a:endParaRPr>
          </a:p>
          <a:p>
            <a:pPr marL="342900" indent="-342900">
              <a:buFont typeface="Calibri,Sans-Serif"/>
              <a:buChar char="-"/>
            </a:pPr>
            <a:r>
              <a:rPr lang="en-US" sz="2400" b="0">
                <a:solidFill>
                  <a:srgbClr val="000000"/>
                </a:solidFill>
                <a:latin typeface="BrowalliaUPC"/>
                <a:ea typeface="Aptos"/>
                <a:cs typeface="BrowalliaUPC"/>
              </a:rPr>
              <a:t>เปลี่ยนชื่อปุ่มของ "ฝ่ายส่งเสริมธุรกิจฯ SBP"</a:t>
            </a:r>
            <a:br>
              <a:rPr lang="en-US" sz="2400" b="0" dirty="0">
                <a:latin typeface="BrowalliaUPC"/>
                <a:ea typeface="Aptos"/>
                <a:cs typeface="BrowalliaUPC"/>
              </a:rPr>
            </a:br>
            <a:r>
              <a:rPr lang="en-US" sz="2400" b="0">
                <a:solidFill>
                  <a:srgbClr val="000000"/>
                </a:solidFill>
                <a:latin typeface="BrowalliaUPC"/>
                <a:ea typeface="Aptos"/>
                <a:cs typeface="BrowalliaUPC"/>
              </a:rPr>
              <a:t>เดิม</a:t>
            </a:r>
            <a:r>
              <a:rPr lang="en-US" sz="2400" dirty="0">
                <a:solidFill>
                  <a:srgbClr val="000000"/>
                </a:solidFill>
                <a:latin typeface="BrowalliaUPC"/>
                <a:ea typeface="Aptos"/>
                <a:cs typeface="BrowalliaUPC"/>
              </a:rPr>
              <a:t> </a:t>
            </a:r>
            <a:r>
              <a:rPr lang="en-US" sz="2400" b="0">
                <a:solidFill>
                  <a:srgbClr val="000000"/>
                </a:solidFill>
                <a:latin typeface="BrowalliaUPC"/>
                <a:ea typeface="Aptos"/>
                <a:cs typeface="BrowalliaUPC"/>
              </a:rPr>
              <a:t>: ฝ่ายส่งเสริมธุรกิจ SBP</a:t>
            </a:r>
            <a:br>
              <a:rPr lang="en-US" sz="2400" b="0" dirty="0">
                <a:latin typeface="BrowalliaUPC"/>
                <a:ea typeface="Aptos"/>
                <a:cs typeface="BrowalliaUPC"/>
              </a:rPr>
            </a:br>
            <a:r>
              <a:rPr lang="en-US" sz="2400" b="0">
                <a:solidFill>
                  <a:srgbClr val="000000"/>
                </a:solidFill>
                <a:latin typeface="BrowalliaUPC"/>
                <a:ea typeface="Aptos"/>
                <a:cs typeface="BrowalliaUPC"/>
              </a:rPr>
              <a:t>ใหม่</a:t>
            </a:r>
            <a:r>
              <a:rPr lang="en-US" sz="2400" dirty="0">
                <a:solidFill>
                  <a:srgbClr val="FF0000"/>
                </a:solidFill>
                <a:latin typeface="BrowalliaUPC"/>
                <a:ea typeface="Aptos"/>
                <a:cs typeface="BrowalliaUPC"/>
              </a:rPr>
              <a:t> </a:t>
            </a:r>
            <a:r>
              <a:rPr lang="en-US" sz="2400" b="0">
                <a:solidFill>
                  <a:srgbClr val="000000"/>
                </a:solidFill>
                <a:latin typeface="BrowalliaUPC"/>
                <a:ea typeface="Aptos"/>
                <a:cs typeface="BrowalliaUPC"/>
              </a:rPr>
              <a:t>: หน่วยงานส่งเสริม</a:t>
            </a:r>
            <a:r>
              <a:rPr lang="en-US" sz="2400" b="0">
                <a:solidFill>
                  <a:srgbClr val="000000"/>
                </a:solidFill>
                <a:latin typeface="BrowalliaUPC"/>
                <a:ea typeface="Calibri"/>
                <a:cs typeface="BrowalliaUPC"/>
              </a:rPr>
              <a:t>ธุรกิจ SBP (ระดับตำแหน่ง :เจ้าหน้าที่อาวุโสขึ้นไป ยกเว้น GM ส่งเสริม)</a:t>
            </a:r>
            <a:br>
              <a:rPr lang="en-US" sz="2400" b="0" dirty="0">
                <a:latin typeface="BrowalliaUPC"/>
                <a:ea typeface="Calibri"/>
                <a:cs typeface="BrowalliaUPC"/>
              </a:rPr>
            </a:br>
            <a:br>
              <a:rPr lang="en-US" sz="2400" b="0" dirty="0">
                <a:latin typeface="BrowalliaUPC"/>
                <a:ea typeface="Aptos"/>
                <a:cs typeface="BrowalliaUPC"/>
              </a:rPr>
            </a:br>
            <a:r>
              <a:rPr lang="en-US" sz="2400" b="0">
                <a:solidFill>
                  <a:srgbClr val="000000"/>
                </a:solidFill>
                <a:latin typeface="BrowalliaUPC"/>
                <a:ea typeface="Aptos"/>
                <a:cs typeface="BrowalliaUPC"/>
              </a:rPr>
              <a:t>รวมถึงเพิ่มสิทธิ์การเข้าใช้งานของหน่วยงานส่งเสริม</a:t>
            </a:r>
            <a:r>
              <a:rPr lang="en-US" sz="2400" b="0">
                <a:solidFill>
                  <a:srgbClr val="FF0000"/>
                </a:solidFill>
                <a:highlight>
                  <a:srgbClr val="FFFF00"/>
                </a:highlight>
                <a:latin typeface="BrowalliaUPC"/>
                <a:ea typeface="Aptos"/>
                <a:cs typeface="BrowalliaUPC"/>
              </a:rPr>
              <a:t>(ระดับตำแหน่ง ตามข้อมูล HR :เจ้าหน้าที่อาวุโส - ฝ่ายส่งเสริม)</a:t>
            </a:r>
            <a:r>
              <a:rPr lang="en-US" sz="2400" b="0">
                <a:solidFill>
                  <a:srgbClr val="000000"/>
                </a:solidFill>
                <a:latin typeface="BrowalliaUPC"/>
                <a:ea typeface="Aptos"/>
                <a:cs typeface="BrowalliaUPC"/>
              </a:rPr>
              <a:t> สามารถเข้ามาดำเนินการส่งต่อ Flow ให้ GM ส่งเสริมได้</a:t>
            </a:r>
          </a:p>
          <a:p>
            <a:pPr marL="342900" indent="-342900">
              <a:buFont typeface="Calibri"/>
              <a:buChar char="-"/>
            </a:pPr>
            <a:endParaRPr lang="en-US" sz="2400" b="0" dirty="0">
              <a:solidFill>
                <a:srgbClr val="000000"/>
              </a:solidFill>
              <a:latin typeface="BrowalliaUPC"/>
              <a:ea typeface="Aptos"/>
              <a:cs typeface="Aptos"/>
            </a:endParaRPr>
          </a:p>
          <a:p>
            <a:pPr algn="ctr"/>
            <a:endParaRPr lang="th-TH" sz="2000" dirty="0">
              <a:latin typeface="Calibri"/>
              <a:ea typeface="Calibri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19960386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C6C16-9080-3C44-3FC3-B31F0E70E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105B396-EB50-5E1A-8510-E7D8A8820A6A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745095-2300-DF50-AC0C-920596CBCAE9}"/>
              </a:ext>
            </a:extLst>
          </p:cNvPr>
          <p:cNvSpPr txBox="1"/>
          <p:nvPr/>
        </p:nvSpPr>
        <p:spPr>
          <a:xfrm>
            <a:off x="775741" y="944380"/>
            <a:ext cx="1079664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highlight>
                  <a:srgbClr val="C0C0C0"/>
                </a:highlight>
                <a:latin typeface="BrowalliaUPC"/>
                <a:cs typeface="BrowalliaUPC"/>
              </a:rPr>
              <a:t>2.  ปรับสิทธิ์การตรวจสอบยอดชดเชยรายได้และกระบวนการทำงาน ของทีมส่งเสริม</a:t>
            </a:r>
          </a:p>
          <a:p>
            <a:endParaRPr lang="en-US" sz="2400">
              <a:solidFill>
                <a:srgbClr val="FF0000"/>
              </a:solidFill>
              <a:highlight>
                <a:srgbClr val="C0C0C0"/>
              </a:highlight>
              <a:latin typeface="BrowalliaUPC"/>
              <a:cs typeface="BrowalliaUPC"/>
            </a:endParaRPr>
          </a:p>
        </p:txBody>
      </p:sp>
      <p:sp>
        <p:nvSpPr>
          <p:cNvPr id="6" name="กล่องข้อความ 4">
            <a:extLst>
              <a:ext uri="{FF2B5EF4-FFF2-40B4-BE49-F238E27FC236}">
                <a16:creationId xmlns:a16="http://schemas.microsoft.com/office/drawing/2014/main" id="{0A2E02B9-40EF-A9B8-7AED-7219CC75058E}"/>
              </a:ext>
            </a:extLst>
          </p:cNvPr>
          <p:cNvSpPr txBox="1"/>
          <p:nvPr/>
        </p:nvSpPr>
        <p:spPr>
          <a:xfrm>
            <a:off x="522209" y="1363311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Step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2.1 </a:t>
            </a:r>
            <a:r>
              <a:rPr lang="th-TH" sz="2400">
                <a:solidFill>
                  <a:schemeClr val="bg1"/>
                </a:solidFill>
                <a:latin typeface="Cordia New"/>
                <a:cs typeface="Cordia New"/>
              </a:rPr>
              <a:t>เจ้าหน้าที่ส่งเสริมอาวุโสและ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GMส่งเสริม : </a:t>
            </a:r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Approve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ค่าใช้จ่าย</a:t>
            </a: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A5C65C1E-8876-1BF5-B448-2F25FA38C990}"/>
              </a:ext>
            </a:extLst>
          </p:cNvPr>
          <p:cNvSpPr txBox="1"/>
          <p:nvPr/>
        </p:nvSpPr>
        <p:spPr>
          <a:xfrm>
            <a:off x="9793573" y="8119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3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C6982D3B-FBA4-1F18-0512-EDBDACE54416}"/>
              </a:ext>
            </a:extLst>
          </p:cNvPr>
          <p:cNvSpPr txBox="1"/>
          <p:nvPr/>
        </p:nvSpPr>
        <p:spPr>
          <a:xfrm>
            <a:off x="1030227" y="3975699"/>
            <a:ext cx="10307398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400" b="0" dirty="0">
                <a:latin typeface="Browallia New"/>
                <a:cs typeface="Browallia New"/>
              </a:rPr>
              <a:t>ลำดับการ </a:t>
            </a:r>
            <a:r>
              <a:rPr lang="th-TH" sz="2400" b="0" dirty="0" err="1">
                <a:latin typeface="Browallia New"/>
                <a:cs typeface="Browallia New"/>
              </a:rPr>
              <a:t>Approve</a:t>
            </a:r>
            <a:r>
              <a:rPr lang="th-TH" sz="2400" b="0" dirty="0">
                <a:latin typeface="Browallia New"/>
                <a:cs typeface="Browallia New"/>
              </a:rPr>
              <a:t> ยอดค่าใช้จ่ายไม่เกิน 50,000</a:t>
            </a:r>
          </a:p>
          <a:p>
            <a:pPr marL="342900" indent="-342900">
              <a:buAutoNum type="arabicPeriod"/>
            </a:pPr>
            <a:r>
              <a:rPr lang="th-TH" sz="2400" b="0" dirty="0">
                <a:solidFill>
                  <a:srgbClr val="FF0000"/>
                </a:solidFill>
                <a:latin typeface="Browallia New"/>
                <a:cs typeface="Browallia New"/>
              </a:rPr>
              <a:t>กลั่นกรอง : หน่วยงานส่งเสริมธุรกิจฯ SBP</a:t>
            </a:r>
            <a:endParaRPr lang="th-TH" b="0" dirty="0">
              <a:solidFill>
                <a:srgbClr val="FF0000"/>
              </a:solidFill>
              <a:latin typeface="Browallia New"/>
              <a:cs typeface="Browallia New"/>
            </a:endParaRPr>
          </a:p>
          <a:p>
            <a:pPr marL="342900" indent="-342900">
              <a:buAutoNum type="arabicPeriod"/>
            </a:pPr>
            <a:r>
              <a:rPr lang="th-TH" sz="2400" b="0" dirty="0" err="1">
                <a:solidFill>
                  <a:srgbClr val="FF0000"/>
                </a:solidFill>
                <a:latin typeface="Browallia New"/>
                <a:cs typeface="Browallia New"/>
              </a:rPr>
              <a:t>Approve</a:t>
            </a:r>
            <a:r>
              <a:rPr lang="th-TH" sz="2400" b="0" dirty="0">
                <a:solidFill>
                  <a:srgbClr val="FF0000"/>
                </a:solidFill>
                <a:latin typeface="Browallia New"/>
                <a:cs typeface="Browallia New"/>
              </a:rPr>
              <a:t> : GM ส่งเสริม </a:t>
            </a:r>
          </a:p>
        </p:txBody>
      </p:sp>
      <p:graphicFrame>
        <p:nvGraphicFramePr>
          <p:cNvPr id="10" name="ตาราง 9">
            <a:extLst>
              <a:ext uri="{FF2B5EF4-FFF2-40B4-BE49-F238E27FC236}">
                <a16:creationId xmlns:a16="http://schemas.microsoft.com/office/drawing/2014/main" id="{013B90A9-3B4B-3800-B434-E43ACF62C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815328"/>
              </p:ext>
            </p:extLst>
          </p:nvPr>
        </p:nvGraphicFramePr>
        <p:xfrm>
          <a:off x="1302223" y="2479786"/>
          <a:ext cx="9753599" cy="137160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1288472">
                  <a:extLst>
                    <a:ext uri="{9D8B030D-6E8A-4147-A177-3AD203B41FA5}">
                      <a16:colId xmlns:a16="http://schemas.microsoft.com/office/drawing/2014/main" val="3510736362"/>
                    </a:ext>
                  </a:extLst>
                </a:gridCol>
                <a:gridCol w="5999018">
                  <a:extLst>
                    <a:ext uri="{9D8B030D-6E8A-4147-A177-3AD203B41FA5}">
                      <a16:colId xmlns:a16="http://schemas.microsoft.com/office/drawing/2014/main" val="2830422358"/>
                    </a:ext>
                  </a:extLst>
                </a:gridCol>
                <a:gridCol w="2466109">
                  <a:extLst>
                    <a:ext uri="{9D8B030D-6E8A-4147-A177-3AD203B41FA5}">
                      <a16:colId xmlns:a16="http://schemas.microsoft.com/office/drawing/2014/main" val="2915401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h-TH" sz="2400" b="1">
                          <a:effectLst/>
                          <a:latin typeface="Browallia New"/>
                          <a:cs typeface="Browallia New"/>
                        </a:rPr>
                        <a:t>ตำแหน่งย่อ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h-TH" sz="2400" b="1">
                          <a:effectLst/>
                          <a:latin typeface="Browallia New"/>
                          <a:cs typeface="Browallia New"/>
                        </a:rPr>
                        <a:t>ระดับของผู้ได้รับมอบอำนาจ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h-TH" sz="2400" b="1">
                          <a:effectLst/>
                          <a:latin typeface="Browallia New"/>
                          <a:cs typeface="Browallia New"/>
                        </a:rPr>
                        <a:t>วงเงินอนุมัติ/รายการ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9722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2400">
                          <a:effectLst/>
                          <a:latin typeface="Browallia New"/>
                        </a:rPr>
                        <a:t>GM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 sz="2400">
                          <a:effectLst/>
                          <a:latin typeface="Browallia New"/>
                          <a:cs typeface="Browallia New"/>
                        </a:rPr>
                        <a:t>ผู้จัดการทั่วไป รองผู้จัดการทั่วไป ผู้ช่วยผู้จัดการทั่วไป หรือเทียบเท่า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h-TH" sz="2400">
                          <a:effectLst/>
                          <a:latin typeface="Browallia New"/>
                          <a:cs typeface="Browallia New"/>
                        </a:rPr>
                        <a:t>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5531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2400">
                          <a:effectLst/>
                          <a:latin typeface="Browallia New"/>
                        </a:rPr>
                        <a:t>AVP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h-TH" sz="2400">
                          <a:effectLst/>
                          <a:latin typeface="Browallia New"/>
                          <a:cs typeface="Browallia New"/>
                        </a:rPr>
                        <a:t>ผู้ช่วยกรรมการผู้จัดการ หรือเทียบเท่า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h-TH" sz="2400">
                          <a:effectLst/>
                          <a:latin typeface="Browallia New"/>
                          <a:cs typeface="Browallia New"/>
                        </a:rPr>
                        <a:t>300,000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1387509"/>
                  </a:ext>
                </a:extLst>
              </a:tr>
            </a:tbl>
          </a:graphicData>
        </a:graphic>
      </p:graphicFrame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C9828767-3001-56D1-AF9F-376887270C7C}"/>
              </a:ext>
            </a:extLst>
          </p:cNvPr>
          <p:cNvSpPr txBox="1"/>
          <p:nvPr/>
        </p:nvSpPr>
        <p:spPr>
          <a:xfrm>
            <a:off x="1030226" y="5284937"/>
            <a:ext cx="10307398" cy="15696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400" b="0" dirty="0">
                <a:latin typeface="Browallia New"/>
                <a:cs typeface="Browallia New"/>
              </a:rPr>
              <a:t>ลำดับการ </a:t>
            </a:r>
            <a:r>
              <a:rPr lang="th-TH" sz="2400" b="0" dirty="0" err="1">
                <a:latin typeface="Browallia New"/>
                <a:cs typeface="Browallia New"/>
              </a:rPr>
              <a:t>Approve</a:t>
            </a:r>
            <a:r>
              <a:rPr lang="th-TH" sz="2400" b="0" dirty="0">
                <a:latin typeface="Browallia New"/>
                <a:cs typeface="Browallia New"/>
              </a:rPr>
              <a:t> ยอดค่าใช้จ่าย 50,001 - 300,000</a:t>
            </a:r>
          </a:p>
          <a:p>
            <a:pPr marL="342900" indent="-342900">
              <a:buAutoNum type="arabicPeriod"/>
            </a:pPr>
            <a:r>
              <a:rPr lang="th-TH" sz="2400" b="0" dirty="0">
                <a:solidFill>
                  <a:srgbClr val="FF0000"/>
                </a:solidFill>
                <a:latin typeface="Browallia New"/>
                <a:cs typeface="Browallia New"/>
              </a:rPr>
              <a:t>กลั่นกรอง1 : หน่วยงานส่งเสริมธุรกิจฯ SBP</a:t>
            </a:r>
          </a:p>
          <a:p>
            <a:pPr marL="342900" indent="-342900">
              <a:buAutoNum type="arabicPeriod"/>
            </a:pPr>
            <a:r>
              <a:rPr lang="th-TH" sz="2400" b="0" dirty="0">
                <a:solidFill>
                  <a:srgbClr val="FF0000"/>
                </a:solidFill>
                <a:latin typeface="Browallia New"/>
                <a:cs typeface="Browallia New"/>
              </a:rPr>
              <a:t>กลั่นกรอง2 GM ส่งเสริม </a:t>
            </a:r>
          </a:p>
          <a:p>
            <a:pPr marL="342900" indent="-342900">
              <a:buAutoNum type="arabicPeriod"/>
            </a:pPr>
            <a:r>
              <a:rPr lang="th-TH" sz="2400" b="0" dirty="0" err="1">
                <a:latin typeface="Browallia New"/>
                <a:cs typeface="Browallia New"/>
              </a:rPr>
              <a:t>Approve</a:t>
            </a:r>
            <a:r>
              <a:rPr lang="th-TH" sz="2400" b="0" dirty="0">
                <a:latin typeface="Browallia New"/>
                <a:cs typeface="Browallia New"/>
              </a:rPr>
              <a:t> : AVP สำนัก SBPM</a:t>
            </a: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CFD1E56F-1365-2F80-7934-941F45E01F76}"/>
              </a:ext>
            </a:extLst>
          </p:cNvPr>
          <p:cNvSpPr txBox="1"/>
          <p:nvPr/>
        </p:nvSpPr>
        <p:spPr>
          <a:xfrm>
            <a:off x="404813" y="1928813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u="sng" baseline="0">
                <a:latin typeface="BrowalliaUPC"/>
              </a:rPr>
              <a:t>ปรับสิทธิ์การตรวจสอบยอดชดเชยรายได้</a:t>
            </a:r>
            <a:endParaRPr lang="th-TH"/>
          </a:p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301087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B486A-71B0-E554-F04E-850EF5C04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FCAC413-1AE3-4726-ED13-4A09AC041B54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197851-8A59-889E-A514-59AEFB2D7BC0}"/>
              </a:ext>
            </a:extLst>
          </p:cNvPr>
          <p:cNvSpPr txBox="1"/>
          <p:nvPr/>
        </p:nvSpPr>
        <p:spPr>
          <a:xfrm>
            <a:off x="775741" y="944380"/>
            <a:ext cx="1079664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highlight>
                  <a:srgbClr val="C0C0C0"/>
                </a:highlight>
                <a:latin typeface="BrowalliaUPC"/>
                <a:cs typeface="BrowalliaUPC"/>
              </a:rPr>
              <a:t>2.  ปรับสิทธิ์การตรวจสอบยอดชดเชยรายได้ จากฝ่าย </a:t>
            </a:r>
            <a:r>
              <a:rPr lang="en-US" sz="2400" err="1">
                <a:highlight>
                  <a:srgbClr val="C0C0C0"/>
                </a:highlight>
                <a:latin typeface="BrowalliaUPC"/>
                <a:cs typeface="BrowalliaUPC"/>
              </a:rPr>
              <a:t>ส่งเสริม</a:t>
            </a:r>
            <a:r>
              <a:rPr lang="en-US" sz="2400">
                <a:highlight>
                  <a:srgbClr val="C0C0C0"/>
                </a:highlight>
                <a:latin typeface="BrowalliaUPC"/>
                <a:cs typeface="BrowalliaUPC"/>
              </a:rPr>
              <a:t> </a:t>
            </a:r>
            <a:r>
              <a:rPr lang="en-US" sz="2400" err="1">
                <a:highlight>
                  <a:srgbClr val="C0C0C0"/>
                </a:highlight>
                <a:latin typeface="BrowalliaUPC"/>
                <a:cs typeface="BrowalliaUPC"/>
              </a:rPr>
              <a:t>เป็น</a:t>
            </a:r>
            <a:r>
              <a:rPr lang="en-US" sz="2400">
                <a:highlight>
                  <a:srgbClr val="C0C0C0"/>
                </a:highlight>
                <a:latin typeface="BrowalliaUPC"/>
                <a:cs typeface="BrowalliaUPC"/>
              </a:rPr>
              <a:t> </a:t>
            </a:r>
            <a:r>
              <a:rPr lang="en-US" sz="2400" err="1">
                <a:highlight>
                  <a:srgbClr val="C0C0C0"/>
                </a:highlight>
                <a:latin typeface="BrowalliaUPC"/>
                <a:cs typeface="BrowalliaUPC"/>
              </a:rPr>
              <a:t>เจ้าหน้าที่ส่งเสริม</a:t>
            </a:r>
            <a:endParaRPr lang="en-US" sz="2400">
              <a:highlight>
                <a:srgbClr val="C0C0C0"/>
              </a:highlight>
              <a:latin typeface="BrowalliaUPC"/>
              <a:cs typeface="BrowalliaUPC"/>
            </a:endParaRPr>
          </a:p>
          <a:p>
            <a:endParaRPr lang="en-US" sz="2400">
              <a:solidFill>
                <a:srgbClr val="FF0000"/>
              </a:solidFill>
              <a:highlight>
                <a:srgbClr val="C0C0C0"/>
              </a:highlight>
              <a:latin typeface="BrowalliaUPC"/>
              <a:cs typeface="BrowalliaUPC"/>
            </a:endParaRPr>
          </a:p>
        </p:txBody>
      </p:sp>
      <p:sp>
        <p:nvSpPr>
          <p:cNvPr id="6" name="กล่องข้อความ 4">
            <a:extLst>
              <a:ext uri="{FF2B5EF4-FFF2-40B4-BE49-F238E27FC236}">
                <a16:creationId xmlns:a16="http://schemas.microsoft.com/office/drawing/2014/main" id="{71E22FCA-B2C6-C195-C735-92111D3BFA01}"/>
              </a:ext>
            </a:extLst>
          </p:cNvPr>
          <p:cNvSpPr txBox="1"/>
          <p:nvPr/>
        </p:nvSpPr>
        <p:spPr>
          <a:xfrm>
            <a:off x="522209" y="1541905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Step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2.1 </a:t>
            </a:r>
            <a:r>
              <a:rPr lang="th-TH" sz="2400">
                <a:solidFill>
                  <a:schemeClr val="bg1"/>
                </a:solidFill>
                <a:latin typeface="Cordia New"/>
                <a:cs typeface="Cordia New"/>
              </a:rPr>
              <a:t>เจ้าหน้าที่และ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GMส่งเสริม : </a:t>
            </a:r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Approve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ค่าใช้จ่าย</a:t>
            </a: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70F92AFE-8E6C-B0DB-E31F-6DF422E30E74}"/>
              </a:ext>
            </a:extLst>
          </p:cNvPr>
          <p:cNvSpPr txBox="1"/>
          <p:nvPr/>
        </p:nvSpPr>
        <p:spPr>
          <a:xfrm>
            <a:off x="9793573" y="8119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3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  <p:pic>
        <p:nvPicPr>
          <p:cNvPr id="2" name="รูปภาพ 1" descr="รูปภาพประกอบด้วย ข้อความ, ภาพหน้าจอ, จำนวน, ตัวอักษร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14895C30-737A-B409-19C1-44F2DAFC7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19" y="2808750"/>
            <a:ext cx="9084470" cy="4050377"/>
          </a:xfrm>
          <a:prstGeom prst="rect">
            <a:avLst/>
          </a:prstGeom>
        </p:spPr>
      </p:pic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D8A4A199-8A26-DD38-CD7F-CCE5C9093345}"/>
              </a:ext>
            </a:extLst>
          </p:cNvPr>
          <p:cNvSpPr txBox="1"/>
          <p:nvPr/>
        </p:nvSpPr>
        <p:spPr>
          <a:xfrm>
            <a:off x="623454" y="2064327"/>
            <a:ext cx="817418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000">
                <a:latin typeface="Browallia New"/>
                <a:cs typeface="Browallia New"/>
              </a:rPr>
              <a:t>เลขเอกสารบันทึก : CPA-SBPM-IDSM-69-00020</a:t>
            </a:r>
          </a:p>
          <a:p>
            <a:r>
              <a:rPr lang="th-TH" sz="2000">
                <a:latin typeface="Browallia New"/>
                <a:cs typeface="Browallia New"/>
              </a:rPr>
              <a:t>BSR #</a:t>
            </a:r>
            <a:r>
              <a:rPr lang="th-TH" sz="2000" b="0">
                <a:latin typeface="Browallia New"/>
                <a:cs typeface="Browallia New"/>
              </a:rPr>
              <a:t>2026-00136</a:t>
            </a:r>
            <a:endParaRPr lang="th-TH" sz="2000">
              <a:latin typeface="Browallia New"/>
              <a:cs typeface="Browallia New"/>
            </a:endParaRPr>
          </a:p>
        </p:txBody>
      </p:sp>
    </p:spTree>
    <p:extLst>
      <p:ext uri="{BB962C8B-B14F-4D97-AF65-F5344CB8AC3E}">
        <p14:creationId xmlns:p14="http://schemas.microsoft.com/office/powerpoint/2010/main" val="5839755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37A9C-DDC3-D82A-C35C-7E7422F88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1D87ED7-71B0-7B4B-92CF-4B2FBDD2E799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2F0CC1-6AF3-F66A-0F0E-1F3B8715D05C}"/>
              </a:ext>
            </a:extLst>
          </p:cNvPr>
          <p:cNvSpPr txBox="1"/>
          <p:nvPr/>
        </p:nvSpPr>
        <p:spPr>
          <a:xfrm>
            <a:off x="775741" y="944380"/>
            <a:ext cx="1079664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highlight>
                  <a:srgbClr val="C0C0C0"/>
                </a:highlight>
                <a:latin typeface="BrowalliaUPC"/>
                <a:cs typeface="BrowalliaUPC"/>
              </a:rPr>
              <a:t>2.  ปรับสิทธิ์การตรวจสอบยอดชดเชยรายได้ จากฝ่าย </a:t>
            </a:r>
            <a:r>
              <a:rPr lang="en-US" sz="2400" err="1">
                <a:highlight>
                  <a:srgbClr val="C0C0C0"/>
                </a:highlight>
                <a:latin typeface="BrowalliaUPC"/>
                <a:cs typeface="BrowalliaUPC"/>
              </a:rPr>
              <a:t>ส่งเสริม</a:t>
            </a:r>
            <a:r>
              <a:rPr lang="en-US" sz="2400">
                <a:highlight>
                  <a:srgbClr val="C0C0C0"/>
                </a:highlight>
                <a:latin typeface="BrowalliaUPC"/>
                <a:cs typeface="BrowalliaUPC"/>
              </a:rPr>
              <a:t> </a:t>
            </a:r>
            <a:r>
              <a:rPr lang="en-US" sz="2400" err="1">
                <a:highlight>
                  <a:srgbClr val="C0C0C0"/>
                </a:highlight>
                <a:latin typeface="BrowalliaUPC"/>
                <a:cs typeface="BrowalliaUPC"/>
              </a:rPr>
              <a:t>เป็น</a:t>
            </a:r>
            <a:r>
              <a:rPr lang="en-US" sz="2400">
                <a:highlight>
                  <a:srgbClr val="C0C0C0"/>
                </a:highlight>
                <a:latin typeface="BrowalliaUPC"/>
                <a:cs typeface="BrowalliaUPC"/>
              </a:rPr>
              <a:t> </a:t>
            </a:r>
            <a:r>
              <a:rPr lang="en-US" sz="2400" err="1">
                <a:highlight>
                  <a:srgbClr val="C0C0C0"/>
                </a:highlight>
                <a:latin typeface="BrowalliaUPC"/>
                <a:cs typeface="BrowalliaUPC"/>
              </a:rPr>
              <a:t>เจ้าหน้าที่ส่งเสริม</a:t>
            </a:r>
            <a:endParaRPr lang="en-US" sz="2400">
              <a:highlight>
                <a:srgbClr val="C0C0C0"/>
              </a:highlight>
              <a:latin typeface="BrowalliaUPC"/>
              <a:cs typeface="BrowalliaUPC"/>
            </a:endParaRPr>
          </a:p>
          <a:p>
            <a:endParaRPr lang="en-US" sz="2400">
              <a:solidFill>
                <a:srgbClr val="FF0000"/>
              </a:solidFill>
              <a:highlight>
                <a:srgbClr val="C0C0C0"/>
              </a:highlight>
              <a:latin typeface="BrowalliaUPC"/>
              <a:cs typeface="BrowalliaUPC"/>
            </a:endParaRPr>
          </a:p>
        </p:txBody>
      </p:sp>
      <p:sp>
        <p:nvSpPr>
          <p:cNvPr id="6" name="กล่องข้อความ 4">
            <a:extLst>
              <a:ext uri="{FF2B5EF4-FFF2-40B4-BE49-F238E27FC236}">
                <a16:creationId xmlns:a16="http://schemas.microsoft.com/office/drawing/2014/main" id="{FF0863A1-D17E-E92B-8D60-31A9318DBE91}"/>
              </a:ext>
            </a:extLst>
          </p:cNvPr>
          <p:cNvSpPr txBox="1"/>
          <p:nvPr/>
        </p:nvSpPr>
        <p:spPr>
          <a:xfrm>
            <a:off x="522209" y="1541905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Step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2.1 </a:t>
            </a:r>
            <a:r>
              <a:rPr lang="th-TH" sz="2400">
                <a:solidFill>
                  <a:schemeClr val="bg1"/>
                </a:solidFill>
                <a:latin typeface="Cordia New"/>
                <a:cs typeface="Cordia New"/>
              </a:rPr>
              <a:t>เจ้าหน้าที่และ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GMส่งเสริม : </a:t>
            </a:r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Approve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ค่าใช้จ่าย</a:t>
            </a: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34BF46F3-91BA-B487-FA18-E469E5F0B441}"/>
              </a:ext>
            </a:extLst>
          </p:cNvPr>
          <p:cNvSpPr txBox="1"/>
          <p:nvPr/>
        </p:nvSpPr>
        <p:spPr>
          <a:xfrm>
            <a:off x="9793573" y="8119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3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  <p:pic>
        <p:nvPicPr>
          <p:cNvPr id="7" name="รูปภาพ 6" descr="รูปภาพประกอบด้วย ข้อความ, ภาพหน้าจอ, ตัวอักษร, ไลน์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10854514-EB45-5216-8449-612B61FC3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" y="2466975"/>
            <a:ext cx="1151572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6053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9ADA-FFC4-DE49-4041-25577D17C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F62B183-1417-3393-FBD7-EAAFD26DCA30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874284-750D-C187-5485-D2C9747BFB8E}"/>
              </a:ext>
            </a:extLst>
          </p:cNvPr>
          <p:cNvSpPr txBox="1"/>
          <p:nvPr/>
        </p:nvSpPr>
        <p:spPr>
          <a:xfrm>
            <a:off x="775741" y="944380"/>
            <a:ext cx="1079664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highlight>
                  <a:srgbClr val="C0C0C0"/>
                </a:highlight>
                <a:latin typeface="BrowalliaUPC"/>
                <a:cs typeface="BrowalliaUPC"/>
              </a:rPr>
              <a:t>2.  ปรับสิทธิ์การตรวจสอบยอดชดเชยรายได้ จากฝ่าย </a:t>
            </a:r>
            <a:r>
              <a:rPr lang="en-US" sz="2400" err="1">
                <a:highlight>
                  <a:srgbClr val="C0C0C0"/>
                </a:highlight>
                <a:latin typeface="BrowalliaUPC"/>
                <a:cs typeface="BrowalliaUPC"/>
              </a:rPr>
              <a:t>ส่งเสริม</a:t>
            </a:r>
            <a:r>
              <a:rPr lang="en-US" sz="2400">
                <a:highlight>
                  <a:srgbClr val="C0C0C0"/>
                </a:highlight>
                <a:latin typeface="BrowalliaUPC"/>
                <a:cs typeface="BrowalliaUPC"/>
              </a:rPr>
              <a:t> </a:t>
            </a:r>
            <a:r>
              <a:rPr lang="en-US" sz="2400" err="1">
                <a:highlight>
                  <a:srgbClr val="C0C0C0"/>
                </a:highlight>
                <a:latin typeface="BrowalliaUPC"/>
                <a:cs typeface="BrowalliaUPC"/>
              </a:rPr>
              <a:t>เป็น</a:t>
            </a:r>
            <a:r>
              <a:rPr lang="en-US" sz="2400">
                <a:highlight>
                  <a:srgbClr val="C0C0C0"/>
                </a:highlight>
                <a:latin typeface="BrowalliaUPC"/>
                <a:cs typeface="BrowalliaUPC"/>
              </a:rPr>
              <a:t> </a:t>
            </a:r>
            <a:r>
              <a:rPr lang="en-US" sz="2400" err="1">
                <a:highlight>
                  <a:srgbClr val="C0C0C0"/>
                </a:highlight>
                <a:latin typeface="BrowalliaUPC"/>
                <a:cs typeface="BrowalliaUPC"/>
              </a:rPr>
              <a:t>เจ้าหน้าที่ส่งเสริม</a:t>
            </a:r>
            <a:endParaRPr lang="en-US" sz="2400">
              <a:highlight>
                <a:srgbClr val="C0C0C0"/>
              </a:highlight>
              <a:latin typeface="BrowalliaUPC"/>
              <a:cs typeface="BrowalliaUPC"/>
            </a:endParaRPr>
          </a:p>
          <a:p>
            <a:endParaRPr lang="en-US" sz="2400">
              <a:solidFill>
                <a:srgbClr val="FF0000"/>
              </a:solidFill>
              <a:highlight>
                <a:srgbClr val="C0C0C0"/>
              </a:highlight>
              <a:latin typeface="BrowalliaUPC"/>
              <a:cs typeface="BrowalliaUPC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B7ED63C3-8C1A-2863-8EA1-FA00204A127F}"/>
              </a:ext>
            </a:extLst>
          </p:cNvPr>
          <p:cNvSpPr txBox="1"/>
          <p:nvPr/>
        </p:nvSpPr>
        <p:spPr>
          <a:xfrm>
            <a:off x="9793573" y="81197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rial"/>
                <a:cs typeface="Angsana New"/>
                <a:hlinkClick r:id="rId3"/>
              </a:rPr>
              <a:t>เอกสาร : หน้าจอการใช้งาน</a:t>
            </a:r>
            <a:endParaRPr lang="en-US" sz="1800">
              <a:latin typeface="Arial"/>
              <a:cs typeface="Angsana New"/>
            </a:endParaRPr>
          </a:p>
          <a:p>
            <a:pPr algn="ctr"/>
            <a:endParaRPr lang="th-TH"/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20336291-0010-4E81-CC62-833D9B5DFACA}"/>
              </a:ext>
            </a:extLst>
          </p:cNvPr>
          <p:cNvSpPr txBox="1"/>
          <p:nvPr/>
        </p:nvSpPr>
        <p:spPr>
          <a:xfrm>
            <a:off x="773906" y="1428750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u="sng" baseline="0">
                <a:latin typeface="BrowalliaUPC"/>
              </a:rPr>
              <a:t>ปรับกระบวนการทำงานส่งเสริม กรณีเห็นควรไม่ชดเชย</a:t>
            </a:r>
            <a:endParaRPr lang="th-TH"/>
          </a:p>
          <a:p>
            <a:pPr algn="ctr"/>
            <a:endParaRPr lang="th-TH"/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C8F0D0EE-79DB-BD00-7B66-7636F5B956CF}"/>
              </a:ext>
            </a:extLst>
          </p:cNvPr>
          <p:cNvSpPr txBox="1"/>
          <p:nvPr/>
        </p:nvSpPr>
        <p:spPr>
          <a:xfrm>
            <a:off x="523875" y="1785937"/>
            <a:ext cx="11310937" cy="4462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lvl="0" indent="-514350" rtl="0">
              <a:buFont typeface=""/>
              <a:buAutoNum type="arabicPeriod"/>
            </a:pPr>
            <a:r>
              <a:rPr lang="th-TH" sz="2400" baseline="0">
                <a:latin typeface="BrowalliaUPC"/>
                <a:ea typeface="Arial"/>
                <a:cs typeface="BrowalliaUPC"/>
              </a:rPr>
              <a:t>ระดับ </a:t>
            </a:r>
            <a:r>
              <a:rPr lang="th-TH" sz="2400">
                <a:latin typeface="BrowalliaUPC"/>
                <a:ea typeface="Arial"/>
                <a:cs typeface="BrowalliaUPC"/>
              </a:rPr>
              <a:t>หน่วยงาน</a:t>
            </a:r>
            <a:r>
              <a:rPr lang="th-TH" sz="2400" baseline="0">
                <a:latin typeface="BrowalliaUPC"/>
                <a:ea typeface="Arial"/>
                <a:cs typeface="BrowalliaUPC"/>
              </a:rPr>
              <a:t>ส่งเสริม</a:t>
            </a:r>
            <a:r>
              <a:rPr lang="en-US" sz="2400" dirty="0">
                <a:latin typeface="BrowalliaUPC"/>
                <a:ea typeface="Arial"/>
                <a:cs typeface="Arial"/>
              </a:rPr>
              <a:t>​</a:t>
            </a:r>
          </a:p>
          <a:p>
            <a:pPr marL="971550" lvl="1" indent="-514350">
              <a:buFont typeface="Courier New,monospace"/>
              <a:buChar char="o"/>
            </a:pPr>
            <a:r>
              <a:rPr lang="th-TH" sz="2400" b="0">
                <a:latin typeface="BrowalliaUPC"/>
                <a:cs typeface="BrowalliaUPC"/>
              </a:rPr>
              <a:t>กรณีเห็นควรไม่ชดเชย</a:t>
            </a:r>
            <a:r>
              <a:rPr lang="en-US" sz="2400" b="0" dirty="0">
                <a:latin typeface="BrowalliaUPC"/>
                <a:cs typeface="BrowalliaUPC"/>
              </a:rPr>
              <a:t> </a:t>
            </a:r>
          </a:p>
          <a:p>
            <a:pPr marL="1428750" lvl="2" indent="-514350">
              <a:buFont typeface="Wingdings,Sans-Serif"/>
              <a:buChar char="§"/>
            </a:pPr>
            <a:r>
              <a:rPr lang="th-TH" sz="2400" b="0">
                <a:latin typeface="BrowalliaUPC"/>
                <a:cs typeface="BrowalliaUPC"/>
              </a:rPr>
              <a:t>As-Is : เห็นควรไม่ชดเชย &gt; ตีกลับ "ฝ่าย SBP DSA" </a:t>
            </a:r>
            <a:r>
              <a:rPr lang="th-TH" sz="2400" b="0">
                <a:solidFill>
                  <a:srgbClr val="FF0000"/>
                </a:solidFill>
                <a:latin typeface="BrowalliaUPC"/>
                <a:cs typeface="BrowalliaUPC"/>
              </a:rPr>
              <a:t>รับทราบ คลิ๊ก เห็นควรไม่ชดเชย</a:t>
            </a:r>
            <a:r>
              <a:rPr lang="th-TH" sz="2400" b="0">
                <a:latin typeface="BrowalliaUPC"/>
                <a:cs typeface="BrowalliaUPC"/>
              </a:rPr>
              <a:t> &gt;  "ไม่อนุมัติในเดือนนั้นๆ"จบกระบวนการ </a:t>
            </a:r>
            <a:endParaRPr lang="en-US" sz="2400" b="0">
              <a:latin typeface="BrowalliaUPC"/>
              <a:cs typeface="BrowalliaUPC"/>
            </a:endParaRPr>
          </a:p>
          <a:p>
            <a:pPr marL="1428750" lvl="2" indent="-514350">
              <a:buFont typeface="Wingdings,Sans-Serif"/>
              <a:buChar char="§"/>
            </a:pPr>
            <a:r>
              <a:rPr lang="th-TH" sz="2400" b="0">
                <a:latin typeface="BrowalliaUPC"/>
                <a:cs typeface="BrowalliaUPC"/>
              </a:rPr>
              <a:t>To-Be : เห็นควรไม่ชดเชย &gt; "ไม่อนุมัติในเดือนนั้นๆ"จบกระบวนการ</a:t>
            </a:r>
            <a:endParaRPr lang="en-US" sz="2400"/>
          </a:p>
          <a:p>
            <a:pPr marL="514350" indent="-514350">
              <a:buAutoNum type="arabicPeriod"/>
            </a:pPr>
            <a:r>
              <a:rPr lang="en-US" sz="2400">
                <a:latin typeface="BrowalliaUPC"/>
                <a:ea typeface="Arial"/>
                <a:cs typeface="Arial"/>
              </a:rPr>
              <a:t>ระดับ GM ส่งเสริม</a:t>
            </a:r>
            <a:endParaRPr lang="en-US" sz="2400" dirty="0">
              <a:latin typeface="BrowalliaUPC"/>
              <a:ea typeface="Arial"/>
              <a:cs typeface="Arial"/>
            </a:endParaRPr>
          </a:p>
          <a:p>
            <a:pPr marL="971550" lvl="1" indent="-514350">
              <a:spcBef>
                <a:spcPts val="0"/>
              </a:spcBef>
              <a:spcAft>
                <a:spcPts val="0"/>
              </a:spcAft>
              <a:buFont typeface="Courier New,monospace"/>
              <a:buChar char="o"/>
            </a:pPr>
            <a:r>
              <a:rPr lang="th-TH" sz="2400" b="0">
                <a:latin typeface="Cordia New"/>
                <a:cs typeface="Cordia New"/>
              </a:rPr>
              <a:t>กรณีเห็นควรไม่ชดเชย</a:t>
            </a:r>
            <a:endParaRPr lang="en-US" sz="2400" b="0">
              <a:latin typeface="Cordia New"/>
              <a:cs typeface="Cordia New"/>
            </a:endParaRPr>
          </a:p>
          <a:p>
            <a:pPr marL="1428750" lvl="2" indent="-514350">
              <a:spcBef>
                <a:spcPts val="0"/>
              </a:spcBef>
              <a:spcAft>
                <a:spcPts val="0"/>
              </a:spcAft>
              <a:buFont typeface="Wingdings,Sans-Serif"/>
              <a:buChar char="§"/>
            </a:pPr>
            <a:r>
              <a:rPr lang="th-TH" sz="2400" b="0">
                <a:latin typeface="Cordia New"/>
                <a:cs typeface="Cordia New"/>
              </a:rPr>
              <a:t>As-Is : เห็นควรไม่ชดเชย &gt; ตีกลับ "ฝ่ายส่งเสริม SBP " </a:t>
            </a:r>
            <a:r>
              <a:rPr lang="th-TH" sz="2400" b="0">
                <a:solidFill>
                  <a:srgbClr val="FF0000"/>
                </a:solidFill>
                <a:latin typeface="Cordia New"/>
                <a:cs typeface="Cordia New"/>
              </a:rPr>
              <a:t>รับทราบ คลิ๊ก เห็นควรไม่ชดเชย</a:t>
            </a:r>
            <a:r>
              <a:rPr lang="th-TH" sz="2400" b="0">
                <a:latin typeface="Cordia New"/>
                <a:cs typeface="Cordia New"/>
              </a:rPr>
              <a:t> &gt;  ตีกลับ "ฝ่าย SBP DSA" </a:t>
            </a:r>
            <a:r>
              <a:rPr lang="th-TH" sz="2400" b="0">
                <a:solidFill>
                  <a:srgbClr val="FF0000"/>
                </a:solidFill>
                <a:latin typeface="Cordia New"/>
                <a:cs typeface="Cordia New"/>
              </a:rPr>
              <a:t>รับทราบ คลิ๊ก เห็นควรไม่ชดเชย </a:t>
            </a:r>
            <a:r>
              <a:rPr lang="th-TH" sz="2400" b="0">
                <a:latin typeface="Cordia New"/>
                <a:cs typeface="Cordia New"/>
              </a:rPr>
              <a:t>"ไม่อนุมัติในเดือนนั้นๆ"จบกระบวนการ</a:t>
            </a:r>
            <a:endParaRPr lang="en-US" sz="2400" b="0">
              <a:latin typeface="Cordia New"/>
              <a:cs typeface="Cordia New"/>
            </a:endParaRPr>
          </a:p>
          <a:p>
            <a:pPr marL="1428750" lvl="2" indent="-514350">
              <a:spcBef>
                <a:spcPts val="0"/>
              </a:spcBef>
              <a:spcAft>
                <a:spcPts val="0"/>
              </a:spcAft>
              <a:buFont typeface="Wingdings,Sans-Serif"/>
              <a:buChar char="§"/>
            </a:pPr>
            <a:r>
              <a:rPr lang="th-TH" sz="2400" b="0">
                <a:latin typeface="Cordia New"/>
                <a:cs typeface="Cordia New"/>
              </a:rPr>
              <a:t>To-Be : เห็นควรไม่ชดเชย &gt; "ไม่อนุมัติในเดือนนั้นๆ"จบกระบวนการ</a:t>
            </a:r>
            <a:endParaRPr lang="en-US" sz="2400"/>
          </a:p>
          <a:p>
            <a:pPr marL="971550" lvl="1" indent="-514350" rtl="0">
              <a:buFont typeface="Courier New,monospace"/>
              <a:buChar char="o"/>
            </a:pPr>
            <a:endParaRPr lang="en-US" sz="2800" b="0" baseline="0" dirty="0">
              <a:latin typeface="BrowalliaUPC"/>
              <a:ea typeface="Arial"/>
              <a:cs typeface="Arial"/>
            </a:endParaRPr>
          </a:p>
          <a:p>
            <a:pPr algn="ctr"/>
            <a:endParaRPr lang="th-TH" b="0" dirty="0">
              <a:latin typeface="BrowalliaUPC"/>
              <a:cs typeface="BrowalliaUPC"/>
            </a:endParaRPr>
          </a:p>
        </p:txBody>
      </p:sp>
      <p:pic>
        <p:nvPicPr>
          <p:cNvPr id="9" name="รูปภาพ 8" descr="รูปภาพประกอบด้วย ข้อความ, แผนภาพ, ภาพหน้าจอ, ไลน์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124BF206-111F-FC2A-7650-DC340566D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4437" y="4645819"/>
            <a:ext cx="3357563" cy="220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6098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5EBD8-7CD5-E3B9-80BD-C558DA7AC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1E73288-FA6D-0797-182A-1F050A87BA1D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54" name="กล่องข้อความ 53">
            <a:extLst>
              <a:ext uri="{FF2B5EF4-FFF2-40B4-BE49-F238E27FC236}">
                <a16:creationId xmlns:a16="http://schemas.microsoft.com/office/drawing/2014/main" id="{4BEA878F-F0C2-1E61-3512-D02F0450CFB9}"/>
              </a:ext>
            </a:extLst>
          </p:cNvPr>
          <p:cNvSpPr txBox="1"/>
          <p:nvPr/>
        </p:nvSpPr>
        <p:spPr>
          <a:xfrm>
            <a:off x="611941" y="1110081"/>
            <a:ext cx="10277258" cy="23062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400">
                <a:highlight>
                  <a:srgbClr val="C0C0C0"/>
                </a:highlight>
                <a:latin typeface="BrowalliaUPC"/>
                <a:cs typeface="BrowalliaUPC"/>
              </a:rPr>
              <a:t>3. ปรับระบบยกเลิก </a:t>
            </a:r>
            <a:r>
              <a:rPr lang="th-TH" sz="2400" err="1">
                <a:highlight>
                  <a:srgbClr val="C0C0C0"/>
                </a:highlight>
                <a:latin typeface="BrowalliaUPC"/>
                <a:cs typeface="BrowalliaUPC"/>
              </a:rPr>
              <a:t>Process</a:t>
            </a:r>
            <a:r>
              <a:rPr lang="th-TH" sz="2400">
                <a:highlight>
                  <a:srgbClr val="C0C0C0"/>
                </a:highlight>
                <a:latin typeface="BrowalliaUPC"/>
                <a:cs typeface="BrowalliaUPC"/>
              </a:rPr>
              <a:t> บัญชี SBP ในการ </a:t>
            </a:r>
            <a:r>
              <a:rPr lang="th-TH" sz="2400" err="1">
                <a:highlight>
                  <a:srgbClr val="C0C0C0"/>
                </a:highlight>
                <a:latin typeface="BrowalliaUPC"/>
                <a:cs typeface="BrowalliaUPC"/>
              </a:rPr>
              <a:t>Approve</a:t>
            </a:r>
            <a:r>
              <a:rPr lang="th-TH" sz="2400">
                <a:highlight>
                  <a:srgbClr val="C0C0C0"/>
                </a:highlight>
                <a:latin typeface="BrowalliaUPC"/>
                <a:cs typeface="BrowalliaUPC"/>
              </a:rPr>
              <a:t> ค่าใช้จ่าย ในการชดเชยรายได้</a:t>
            </a:r>
            <a:endParaRPr lang="en-US" sz="2400" b="0">
              <a:latin typeface="BrowalliaUPC"/>
              <a:cs typeface="Tahoma"/>
            </a:endParaRPr>
          </a:p>
          <a:p>
            <a:pPr marL="457200" indent="-457200">
              <a:buFont typeface="Arial"/>
              <a:buChar char="•"/>
            </a:pPr>
            <a:r>
              <a:rPr lang="en-US" sz="2800" b="0" err="1">
                <a:latin typeface="BrowalliaUPC"/>
                <a:cs typeface="Tahoma"/>
              </a:rPr>
              <a:t>ยกเลิก</a:t>
            </a:r>
            <a:r>
              <a:rPr lang="en-US" sz="2800" b="0">
                <a:latin typeface="BrowalliaUPC"/>
                <a:cs typeface="Tahoma"/>
              </a:rPr>
              <a:t> </a:t>
            </a:r>
            <a:r>
              <a:rPr lang="en-US" sz="2800" b="0" err="1">
                <a:latin typeface="BrowalliaUPC"/>
                <a:cs typeface="Tahoma"/>
              </a:rPr>
              <a:t>Precess</a:t>
            </a:r>
            <a:r>
              <a:rPr lang="en-US" sz="2800" b="0">
                <a:latin typeface="BrowalliaUPC"/>
                <a:cs typeface="Tahoma"/>
              </a:rPr>
              <a:t> </a:t>
            </a:r>
            <a:r>
              <a:rPr lang="en-US" sz="2800" b="0" err="1">
                <a:latin typeface="BrowalliaUPC"/>
                <a:cs typeface="Tahoma"/>
              </a:rPr>
              <a:t>บัญชี</a:t>
            </a:r>
            <a:r>
              <a:rPr lang="en-US" sz="2800" b="0">
                <a:latin typeface="BrowalliaUPC"/>
                <a:cs typeface="Tahoma"/>
              </a:rPr>
              <a:t> Approve </a:t>
            </a:r>
            <a:r>
              <a:rPr lang="en-US" sz="2800" b="0" err="1">
                <a:latin typeface="BrowalliaUPC"/>
                <a:cs typeface="Tahoma"/>
              </a:rPr>
              <a:t>ยอดชดเชยรายได้</a:t>
            </a:r>
          </a:p>
          <a:p>
            <a:pPr marL="457200" indent="-457200">
              <a:buFont typeface="Arial"/>
              <a:buChar char="•"/>
            </a:pPr>
            <a:r>
              <a:rPr lang="en-US" sz="2800" b="0" err="1">
                <a:latin typeface="BrowalliaUPC"/>
                <a:cs typeface="Tahoma"/>
              </a:rPr>
              <a:t>สร้างหน้าจอ</a:t>
            </a:r>
            <a:r>
              <a:rPr lang="en-US" sz="2800" b="0">
                <a:latin typeface="BrowalliaUPC"/>
                <a:cs typeface="Tahoma"/>
              </a:rPr>
              <a:t> </a:t>
            </a:r>
            <a:r>
              <a:rPr lang="en-US" sz="2800" b="0" err="1">
                <a:latin typeface="BrowalliaUPC"/>
                <a:cs typeface="Tahoma"/>
              </a:rPr>
              <a:t>หรือตารางข้อมูลในระบบ</a:t>
            </a:r>
            <a:r>
              <a:rPr lang="en-US" sz="2800" b="0">
                <a:latin typeface="BrowalliaUPC"/>
                <a:cs typeface="Tahoma"/>
              </a:rPr>
              <a:t> SBP Mall </a:t>
            </a:r>
            <a:r>
              <a:rPr lang="en-US" sz="2800" b="0" err="1">
                <a:latin typeface="BrowalliaUPC"/>
                <a:cs typeface="Tahoma"/>
              </a:rPr>
              <a:t>เพื่อให้ทีมบัญชี</a:t>
            </a:r>
            <a:r>
              <a:rPr lang="en-US" sz="2800" b="0">
                <a:latin typeface="BrowalliaUPC"/>
                <a:cs typeface="Tahoma"/>
              </a:rPr>
              <a:t> </a:t>
            </a:r>
            <a:r>
              <a:rPr lang="en-US" sz="2800" b="0" err="1">
                <a:latin typeface="BrowalliaUPC"/>
                <a:cs typeface="Tahoma"/>
              </a:rPr>
              <a:t>สามารถดึงข้อมูลเพื่อไปใช้ต่อได้</a:t>
            </a:r>
          </a:p>
          <a:p>
            <a:pPr algn="l"/>
            <a:endParaRPr lang="en-US" b="0">
              <a:cs typeface="Tahoma"/>
            </a:endParaRPr>
          </a:p>
          <a:p>
            <a:endParaRPr lang="th-TH"/>
          </a:p>
        </p:txBody>
      </p:sp>
      <p:pic>
        <p:nvPicPr>
          <p:cNvPr id="55" name="รูปภาพ 54" descr="รูปภาพประกอบด้วย ข้อความ, ภาพหน้าจอ, จำนวน, ตัวอักษร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72627F35-86A0-5F92-9D6F-E7B8C59CD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543" y="2566987"/>
            <a:ext cx="8515351" cy="4295776"/>
          </a:xfrm>
          <a:prstGeom prst="rect">
            <a:avLst/>
          </a:prstGeom>
        </p:spPr>
      </p:pic>
      <p:pic>
        <p:nvPicPr>
          <p:cNvPr id="56" name="รูปภาพ 55" descr="รูปภาพประกอบด้วย ข้อความ, ภาพหน้าจอ, ตัวอักษร, จำนวน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36C481CB-02ED-85F6-C9E9-F9BC524D3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512" y="4210050"/>
            <a:ext cx="2276476" cy="676276"/>
          </a:xfrm>
          <a:prstGeom prst="rect">
            <a:avLst/>
          </a:prstGeom>
        </p:spPr>
      </p:pic>
      <p:pic>
        <p:nvPicPr>
          <p:cNvPr id="2" name="รูปภาพ 1">
            <a:extLst>
              <a:ext uri="{FF2B5EF4-FFF2-40B4-BE49-F238E27FC236}">
                <a16:creationId xmlns:a16="http://schemas.microsoft.com/office/drawing/2014/main" id="{D417EA4A-A8B8-3B81-C8BE-611271566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3912" y="3138487"/>
            <a:ext cx="352425" cy="295275"/>
          </a:xfrm>
          <a:prstGeom prst="rect">
            <a:avLst/>
          </a:prstGeom>
        </p:spPr>
      </p:pic>
      <p:pic>
        <p:nvPicPr>
          <p:cNvPr id="3" name="รูปภาพ 2" descr="รูปภาพประกอบด้วย ข้อความ, ภาพหน้าจอ, ตัวอักษร, ไลน์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EFB46A10-FA75-B498-8FC3-99587F5036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2594" y="4731544"/>
            <a:ext cx="1809751" cy="288132"/>
          </a:xfrm>
          <a:prstGeom prst="rect">
            <a:avLst/>
          </a:prstGeom>
        </p:spPr>
      </p:pic>
      <p:pic>
        <p:nvPicPr>
          <p:cNvPr id="4" name="รูปภาพ 3" descr="รูปภาพประกอบด้วย ข้อความ, ภาพหน้าจอ, ตัวอักษร, เครื่องหมาย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DCB2313A-BCB5-9CA0-346F-91EA3E171D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3326" y="4026694"/>
            <a:ext cx="1240630" cy="995362"/>
          </a:xfrm>
          <a:prstGeom prst="rect">
            <a:avLst/>
          </a:prstGeom>
        </p:spPr>
      </p:pic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C6C702C7-3225-3156-9762-214AF4DE446B}"/>
              </a:ext>
            </a:extLst>
          </p:cNvPr>
          <p:cNvSpPr/>
          <p:nvPr/>
        </p:nvSpPr>
        <p:spPr>
          <a:xfrm>
            <a:off x="1703644" y="3426516"/>
            <a:ext cx="2158926" cy="161905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100" b="0">
                <a:solidFill>
                  <a:schemeClr val="bg1">
                    <a:lumMod val="49000"/>
                  </a:schemeClr>
                </a:solidFill>
                <a:latin typeface="Segoe UI"/>
                <a:ea typeface="Segoe UI"/>
                <a:cs typeface="Segoe UI"/>
              </a:rPr>
              <a:t>Choose an option</a:t>
            </a:r>
            <a:endParaRPr lang="th-TH" sz="1100" b="0">
              <a:solidFill>
                <a:schemeClr val="bg1">
                  <a:lumMod val="49000"/>
                </a:schemeClr>
              </a:solidFill>
              <a:ea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0658061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8657B-92A0-05B0-B255-F7750EF4F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9588ECB-7EE1-6781-16AE-7B9E9D52D8C0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54" name="กล่องข้อความ 53">
            <a:extLst>
              <a:ext uri="{FF2B5EF4-FFF2-40B4-BE49-F238E27FC236}">
                <a16:creationId xmlns:a16="http://schemas.microsoft.com/office/drawing/2014/main" id="{AAF89D88-B0CD-4B12-5DAB-8BD91BF81C26}"/>
              </a:ext>
            </a:extLst>
          </p:cNvPr>
          <p:cNvSpPr txBox="1"/>
          <p:nvPr/>
        </p:nvSpPr>
        <p:spPr>
          <a:xfrm>
            <a:off x="623847" y="860050"/>
            <a:ext cx="1027725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400">
                <a:highlight>
                  <a:srgbClr val="C0C0C0"/>
                </a:highlight>
                <a:latin typeface="BrowalliaUPC"/>
                <a:cs typeface="BrowalliaUPC"/>
              </a:rPr>
              <a:t>3. ปรับระบบยกเลิก Process บัญชี SBP ในการ Approve ค่าใช้จ่าย ในการชดเชยรายได้</a:t>
            </a:r>
            <a:r>
              <a:rPr lang="en-US" sz="2800" b="0">
                <a:latin typeface="BrowalliaUPC"/>
                <a:cs typeface="Tahoma"/>
              </a:rPr>
              <a:t>้</a:t>
            </a:r>
          </a:p>
          <a:p>
            <a:pPr algn="l"/>
            <a:endParaRPr lang="en-US" b="0">
              <a:cs typeface="Tahoma"/>
            </a:endParaRPr>
          </a:p>
          <a:p>
            <a:endParaRPr lang="th-TH"/>
          </a:p>
        </p:txBody>
      </p:sp>
      <p:sp>
        <p:nvSpPr>
          <p:cNvPr id="2" name="กล่องข้อความ 14">
            <a:extLst>
              <a:ext uri="{FF2B5EF4-FFF2-40B4-BE49-F238E27FC236}">
                <a16:creationId xmlns:a16="http://schemas.microsoft.com/office/drawing/2014/main" id="{1BCD89A7-FBB8-9C5B-6464-650D798F7A1E}"/>
              </a:ext>
            </a:extLst>
          </p:cNvPr>
          <p:cNvSpPr txBox="1"/>
          <p:nvPr/>
        </p:nvSpPr>
        <p:spPr>
          <a:xfrm>
            <a:off x="9999785" y="844433"/>
            <a:ext cx="2743200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hlinkClick r:id="rId3"/>
              </a:rPr>
              <a:t>ภาคตาม Area และตารางข้อมูล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3B1312C-9E17-F700-4E62-34A34C98B807}"/>
              </a:ext>
            </a:extLst>
          </p:cNvPr>
          <p:cNvSpPr txBox="1">
            <a:spLocks/>
          </p:cNvSpPr>
          <p:nvPr/>
        </p:nvSpPr>
        <p:spPr bwMode="auto">
          <a:xfrm>
            <a:off x="462916" y="1752599"/>
            <a:ext cx="699874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marL="9144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marL="13716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marL="18288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sz="2800">
                <a:latin typeface="CordiaUPC"/>
                <a:ea typeface="Tahoma"/>
                <a:cs typeface="CordiaUPC"/>
              </a:rPr>
              <a:t>1.</a:t>
            </a:r>
            <a:r>
              <a:rPr lang="th-TH" altLang="en-US" sz="2800">
                <a:latin typeface="CordiaUPC"/>
                <a:ea typeface="Tahoma"/>
                <a:cs typeface="CordiaUPC"/>
              </a:rPr>
              <a:t> ออกแบบหรือสร้าง </a:t>
            </a:r>
            <a:r>
              <a:rPr lang="en-US" altLang="en-US" sz="2800">
                <a:latin typeface="CordiaUPC"/>
                <a:ea typeface="Tahoma"/>
                <a:cs typeface="CordiaUPC"/>
              </a:rPr>
              <a:t>Menu </a:t>
            </a:r>
            <a:r>
              <a:rPr lang="th-TH" altLang="en-US" sz="2800">
                <a:latin typeface="CordiaUPC"/>
                <a:ea typeface="Tahoma"/>
                <a:cs typeface="CordiaUPC"/>
              </a:rPr>
              <a:t>ใหม่ในระบบ </a:t>
            </a:r>
            <a:r>
              <a:rPr lang="en-US" altLang="en-US" sz="2800">
                <a:latin typeface="CordiaUPC"/>
                <a:ea typeface="Tahoma"/>
                <a:cs typeface="CordiaUPC"/>
              </a:rPr>
              <a:t>SBP Mall</a:t>
            </a:r>
            <a:endParaRPr lang="th-TH" altLang="en-US" sz="2800" b="1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934AEA6E-1482-A5C3-A2F0-0F6237F73098}"/>
              </a:ext>
            </a:extLst>
          </p:cNvPr>
          <p:cNvSpPr txBox="1"/>
          <p:nvPr/>
        </p:nvSpPr>
        <p:spPr>
          <a:xfrm>
            <a:off x="6265223" y="1930952"/>
            <a:ext cx="6096000" cy="4370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r>
              <a:rPr lang="th-TH"/>
              <a:t>✅  </a:t>
            </a:r>
            <a:r>
              <a:rPr lang="en-US"/>
              <a:t>Menu                   &gt;</a:t>
            </a:r>
            <a:r>
              <a:rPr lang="th-TH"/>
              <a:t>   </a:t>
            </a:r>
            <a:r>
              <a:rPr lang="th-TH" sz="2200">
                <a:latin typeface="CordiaUPC" panose="020B0304020202020204" pitchFamily="34" charset="-34"/>
                <a:cs typeface="CordiaUPC" panose="020B0304020202020204" pitchFamily="34" charset="-34"/>
              </a:rPr>
              <a:t>รายงานตรวจสอบประกันรายได้</a:t>
            </a:r>
          </a:p>
        </p:txBody>
      </p:sp>
      <p:pic>
        <p:nvPicPr>
          <p:cNvPr id="6" name="Picture 83">
            <a:extLst>
              <a:ext uri="{FF2B5EF4-FFF2-40B4-BE49-F238E27FC236}">
                <a16:creationId xmlns:a16="http://schemas.microsoft.com/office/drawing/2014/main" id="{61F09700-23D8-181A-91E1-2D2702D49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995" y="1945512"/>
            <a:ext cx="794658" cy="360539"/>
          </a:xfrm>
          <a:prstGeom prst="rect">
            <a:avLst/>
          </a:prstGeom>
        </p:spPr>
      </p:pic>
      <p:grpSp>
        <p:nvGrpSpPr>
          <p:cNvPr id="7" name="กลุ่ม 6">
            <a:extLst>
              <a:ext uri="{FF2B5EF4-FFF2-40B4-BE49-F238E27FC236}">
                <a16:creationId xmlns:a16="http://schemas.microsoft.com/office/drawing/2014/main" id="{ED7A1C25-31A5-5849-9ABD-1DA0E9433BE4}"/>
              </a:ext>
            </a:extLst>
          </p:cNvPr>
          <p:cNvGrpSpPr/>
          <p:nvPr/>
        </p:nvGrpSpPr>
        <p:grpSpPr>
          <a:xfrm>
            <a:off x="18379" y="2321974"/>
            <a:ext cx="12194434" cy="5718615"/>
            <a:chOff x="18379" y="1143255"/>
            <a:chExt cx="12194434" cy="5718615"/>
          </a:xfrm>
        </p:grpSpPr>
        <p:sp>
          <p:nvSpPr>
            <p:cNvPr id="48" name="สี่เหลี่ยมผืนผ้า 47">
              <a:extLst>
                <a:ext uri="{FF2B5EF4-FFF2-40B4-BE49-F238E27FC236}">
                  <a16:creationId xmlns:a16="http://schemas.microsoft.com/office/drawing/2014/main" id="{7811A15B-BF49-E0C9-03D5-ACFCDA9EF9D3}"/>
                </a:ext>
              </a:extLst>
            </p:cNvPr>
            <p:cNvSpPr/>
            <p:nvPr/>
          </p:nvSpPr>
          <p:spPr>
            <a:xfrm>
              <a:off x="18379" y="1143255"/>
              <a:ext cx="12194434" cy="571861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49" name="สี่เหลี่ยมผืนผ้า: มุมมน 48">
              <a:extLst>
                <a:ext uri="{FF2B5EF4-FFF2-40B4-BE49-F238E27FC236}">
                  <a16:creationId xmlns:a16="http://schemas.microsoft.com/office/drawing/2014/main" id="{416A0346-6A80-9CDB-ED9C-71BEEFA2C70A}"/>
                </a:ext>
              </a:extLst>
            </p:cNvPr>
            <p:cNvSpPr/>
            <p:nvPr/>
          </p:nvSpPr>
          <p:spPr>
            <a:xfrm>
              <a:off x="150551" y="1204669"/>
              <a:ext cx="12033467" cy="319888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</p:grpSp>
      <p:sp>
        <p:nvSpPr>
          <p:cNvPr id="8" name="กล่องข้อความ 43">
            <a:extLst>
              <a:ext uri="{FF2B5EF4-FFF2-40B4-BE49-F238E27FC236}">
                <a16:creationId xmlns:a16="http://schemas.microsoft.com/office/drawing/2014/main" id="{49593FB4-94F6-2EFF-9CBE-C4AD9674CA66}"/>
              </a:ext>
            </a:extLst>
          </p:cNvPr>
          <p:cNvSpPr txBox="1"/>
          <p:nvPr/>
        </p:nvSpPr>
        <p:spPr>
          <a:xfrm>
            <a:off x="796753" y="2674734"/>
            <a:ext cx="1279503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r>
              <a:rPr lang="th-TH" sz="2000">
                <a:latin typeface="CordiaUPC"/>
                <a:cs typeface="CordiaUPC"/>
              </a:rPr>
              <a:t>สถานะ</a:t>
            </a:r>
            <a:r>
              <a:rPr lang="th-TH" sz="2000">
                <a:solidFill>
                  <a:srgbClr val="FF0000"/>
                </a:solidFill>
                <a:latin typeface="CordiaUPC"/>
                <a:cs typeface="CordiaUPC"/>
              </a:rPr>
              <a:t>*</a:t>
            </a:r>
          </a:p>
        </p:txBody>
      </p:sp>
      <p:pic>
        <p:nvPicPr>
          <p:cNvPr id="9" name="รูปภาพ 8">
            <a:extLst>
              <a:ext uri="{FF2B5EF4-FFF2-40B4-BE49-F238E27FC236}">
                <a16:creationId xmlns:a16="http://schemas.microsoft.com/office/drawing/2014/main" id="{14011BF9-3691-92FA-E66C-CF1FD8FA6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5668" y="3105367"/>
            <a:ext cx="299027" cy="164522"/>
          </a:xfrm>
          <a:prstGeom prst="rect">
            <a:avLst/>
          </a:prstGeom>
        </p:spPr>
      </p:pic>
      <p:sp>
        <p:nvSpPr>
          <p:cNvPr id="10" name="กล่องข้อความ 47">
            <a:extLst>
              <a:ext uri="{FF2B5EF4-FFF2-40B4-BE49-F238E27FC236}">
                <a16:creationId xmlns:a16="http://schemas.microsoft.com/office/drawing/2014/main" id="{64CE4854-17D3-99CE-F3AC-9FF2447D12D3}"/>
              </a:ext>
            </a:extLst>
          </p:cNvPr>
          <p:cNvSpPr txBox="1"/>
          <p:nvPr/>
        </p:nvSpPr>
        <p:spPr>
          <a:xfrm>
            <a:off x="9096803" y="4167787"/>
            <a:ext cx="1595683" cy="338554"/>
          </a:xfrm>
          <a:prstGeom prst="rect">
            <a:avLst/>
          </a:prstGeom>
          <a:solidFill>
            <a:srgbClr val="0070C0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ctr"/>
            <a:r>
              <a:rPr lang="th-TH" dirty="0">
                <a:solidFill>
                  <a:schemeClr val="bg1"/>
                </a:solidFill>
                <a:latin typeface="CordiaUPC"/>
                <a:cs typeface="CordiaUPC"/>
              </a:rPr>
              <a:t>ค้นหาข้อมูล</a:t>
            </a:r>
          </a:p>
        </p:txBody>
      </p:sp>
      <p:sp>
        <p:nvSpPr>
          <p:cNvPr id="11" name="กล่องข้อความ 48">
            <a:extLst>
              <a:ext uri="{FF2B5EF4-FFF2-40B4-BE49-F238E27FC236}">
                <a16:creationId xmlns:a16="http://schemas.microsoft.com/office/drawing/2014/main" id="{CD4B3CEB-C07A-C90C-259A-CDC7A0B78392}"/>
              </a:ext>
            </a:extLst>
          </p:cNvPr>
          <p:cNvSpPr txBox="1"/>
          <p:nvPr/>
        </p:nvSpPr>
        <p:spPr>
          <a:xfrm>
            <a:off x="9682162" y="4636894"/>
            <a:ext cx="1017790" cy="338554"/>
          </a:xfrm>
          <a:prstGeom prst="rect">
            <a:avLst/>
          </a:prstGeom>
          <a:solidFill>
            <a:srgbClr val="00B050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r>
              <a:rPr lang="th-TH" dirty="0" err="1">
                <a:solidFill>
                  <a:schemeClr val="bg1"/>
                </a:solidFill>
                <a:latin typeface="CordiaUPC"/>
                <a:cs typeface="CordiaUPC"/>
              </a:rPr>
              <a:t>Export</a:t>
            </a:r>
            <a:r>
              <a:rPr lang="th-TH" dirty="0">
                <a:solidFill>
                  <a:schemeClr val="bg1"/>
                </a:solidFill>
                <a:latin typeface="CordiaUPC"/>
                <a:cs typeface="CordiaUPC"/>
              </a:rPr>
              <a:t> Excel</a:t>
            </a:r>
          </a:p>
        </p:txBody>
      </p:sp>
      <p:sp>
        <p:nvSpPr>
          <p:cNvPr id="12" name="กล่องข้อความ 49">
            <a:extLst>
              <a:ext uri="{FF2B5EF4-FFF2-40B4-BE49-F238E27FC236}">
                <a16:creationId xmlns:a16="http://schemas.microsoft.com/office/drawing/2014/main" id="{15B379C8-13E1-B75F-B39F-7A3DA6C5B8ED}"/>
              </a:ext>
            </a:extLst>
          </p:cNvPr>
          <p:cNvSpPr txBox="1"/>
          <p:nvPr/>
        </p:nvSpPr>
        <p:spPr>
          <a:xfrm>
            <a:off x="9485934" y="5105265"/>
            <a:ext cx="1222722" cy="33855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r>
              <a:rPr lang="th-TH" dirty="0">
                <a:solidFill>
                  <a:schemeClr val="bg1"/>
                </a:solidFill>
                <a:latin typeface="CordiaUPC"/>
                <a:cs typeface="CordiaUPC"/>
              </a:rPr>
              <a:t>เคลียร์ค่าเริ่มใหม่</a:t>
            </a:r>
            <a:endParaRPr lang="th-TH" dirty="0">
              <a:solidFill>
                <a:schemeClr val="bg1"/>
              </a:solidFill>
            </a:endParaRPr>
          </a:p>
        </p:txBody>
      </p:sp>
      <p:grpSp>
        <p:nvGrpSpPr>
          <p:cNvPr id="13" name="กลุ่ม 12">
            <a:extLst>
              <a:ext uri="{FF2B5EF4-FFF2-40B4-BE49-F238E27FC236}">
                <a16:creationId xmlns:a16="http://schemas.microsoft.com/office/drawing/2014/main" id="{00613098-E87E-124F-B5B7-197A65F65069}"/>
              </a:ext>
            </a:extLst>
          </p:cNvPr>
          <p:cNvGrpSpPr/>
          <p:nvPr/>
        </p:nvGrpSpPr>
        <p:grpSpPr>
          <a:xfrm>
            <a:off x="5244062" y="2875090"/>
            <a:ext cx="1637411" cy="984976"/>
            <a:chOff x="5244062" y="1696371"/>
            <a:chExt cx="1637411" cy="984976"/>
          </a:xfrm>
        </p:grpSpPr>
        <p:sp>
          <p:nvSpPr>
            <p:cNvPr id="42" name="กล่องข้อความ 51">
              <a:extLst>
                <a:ext uri="{FF2B5EF4-FFF2-40B4-BE49-F238E27FC236}">
                  <a16:creationId xmlns:a16="http://schemas.microsoft.com/office/drawing/2014/main" id="{C6B94FC1-64D5-6EEF-BB36-15E709C052AF}"/>
                </a:ext>
              </a:extLst>
            </p:cNvPr>
            <p:cNvSpPr txBox="1"/>
            <p:nvPr/>
          </p:nvSpPr>
          <p:spPr>
            <a:xfrm>
              <a:off x="5244062" y="1696371"/>
              <a:ext cx="1279503" cy="400110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5pPr>
              <a:lvl6pPr marL="22860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6pPr>
              <a:lvl7pPr marL="27432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7pPr>
              <a:lvl8pPr marL="32004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8pPr>
              <a:lvl9pPr marL="36576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9pPr>
            </a:lstStyle>
            <a:p>
              <a:pPr algn="l"/>
              <a:r>
                <a:rPr lang="th-TH" sz="2000">
                  <a:latin typeface="CordiaUPC"/>
                  <a:cs typeface="CordiaUPC"/>
                </a:rPr>
                <a:t>ประเภทร้าน</a:t>
              </a:r>
            </a:p>
          </p:txBody>
        </p:sp>
        <p:sp>
          <p:nvSpPr>
            <p:cNvPr id="43" name="กล่องข้อความ 52">
              <a:extLst>
                <a:ext uri="{FF2B5EF4-FFF2-40B4-BE49-F238E27FC236}">
                  <a16:creationId xmlns:a16="http://schemas.microsoft.com/office/drawing/2014/main" id="{CE22C369-070B-3BA5-8856-ECCAC094C598}"/>
                </a:ext>
              </a:extLst>
            </p:cNvPr>
            <p:cNvSpPr txBox="1"/>
            <p:nvPr/>
          </p:nvSpPr>
          <p:spPr>
            <a:xfrm>
              <a:off x="5388128" y="2068459"/>
              <a:ext cx="210907" cy="19684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5pPr>
              <a:lvl6pPr marL="22860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6pPr>
              <a:lvl7pPr marL="27432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7pPr>
              <a:lvl8pPr marL="32004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8pPr>
              <a:lvl9pPr marL="36576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9pPr>
            </a:lstStyle>
            <a:p>
              <a:pPr algn="l"/>
              <a:endParaRPr lang="th-TH"/>
            </a:p>
          </p:txBody>
        </p:sp>
        <p:sp>
          <p:nvSpPr>
            <p:cNvPr id="44" name="กล่องข้อความ 53">
              <a:extLst>
                <a:ext uri="{FF2B5EF4-FFF2-40B4-BE49-F238E27FC236}">
                  <a16:creationId xmlns:a16="http://schemas.microsoft.com/office/drawing/2014/main" id="{7AC3D303-009F-44C3-DE7A-31EBE3D5DD74}"/>
                </a:ext>
              </a:extLst>
            </p:cNvPr>
            <p:cNvSpPr txBox="1"/>
            <p:nvPr/>
          </p:nvSpPr>
          <p:spPr>
            <a:xfrm>
              <a:off x="5601970" y="1973461"/>
              <a:ext cx="1279503" cy="70788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5pPr>
              <a:lvl6pPr marL="22860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6pPr>
              <a:lvl7pPr marL="27432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7pPr>
              <a:lvl8pPr marL="32004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8pPr>
              <a:lvl9pPr marL="36576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9pPr>
            </a:lstStyle>
            <a:p>
              <a:r>
                <a:rPr lang="th-TH" sz="2000" b="0">
                  <a:latin typeface="CordiaUPC"/>
                  <a:cs typeface="CordiaUPC"/>
                </a:rPr>
                <a:t>A         B     </a:t>
              </a:r>
            </a:p>
            <a:p>
              <a:r>
                <a:rPr lang="th-TH" sz="2000" b="0">
                  <a:latin typeface="CordiaUPC"/>
                  <a:cs typeface="CordiaUPC"/>
                </a:rPr>
                <a:t>C         D</a:t>
              </a:r>
            </a:p>
          </p:txBody>
        </p:sp>
        <p:sp>
          <p:nvSpPr>
            <p:cNvPr id="45" name="กล่องข้อความ 54">
              <a:extLst>
                <a:ext uri="{FF2B5EF4-FFF2-40B4-BE49-F238E27FC236}">
                  <a16:creationId xmlns:a16="http://schemas.microsoft.com/office/drawing/2014/main" id="{47E328D3-2A40-99A2-E55E-0C1CE36BE301}"/>
                </a:ext>
              </a:extLst>
            </p:cNvPr>
            <p:cNvSpPr txBox="1"/>
            <p:nvPr/>
          </p:nvSpPr>
          <p:spPr>
            <a:xfrm>
              <a:off x="5388128" y="2345549"/>
              <a:ext cx="210907" cy="19684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5pPr>
              <a:lvl6pPr marL="22860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6pPr>
              <a:lvl7pPr marL="27432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7pPr>
              <a:lvl8pPr marL="32004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8pPr>
              <a:lvl9pPr marL="36576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9pPr>
            </a:lstStyle>
            <a:p>
              <a:pPr algn="l"/>
              <a:endParaRPr lang="th-TH"/>
            </a:p>
          </p:txBody>
        </p:sp>
        <p:sp>
          <p:nvSpPr>
            <p:cNvPr id="46" name="กล่องข้อความ 55">
              <a:extLst>
                <a:ext uri="{FF2B5EF4-FFF2-40B4-BE49-F238E27FC236}">
                  <a16:creationId xmlns:a16="http://schemas.microsoft.com/office/drawing/2014/main" id="{619205E3-7F2B-33C3-AC16-DE97AC8ED2C1}"/>
                </a:ext>
              </a:extLst>
            </p:cNvPr>
            <p:cNvSpPr txBox="1"/>
            <p:nvPr/>
          </p:nvSpPr>
          <p:spPr>
            <a:xfrm>
              <a:off x="5965400" y="2345549"/>
              <a:ext cx="210907" cy="19684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5pPr>
              <a:lvl6pPr marL="22860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6pPr>
              <a:lvl7pPr marL="27432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7pPr>
              <a:lvl8pPr marL="32004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8pPr>
              <a:lvl9pPr marL="36576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9pPr>
            </a:lstStyle>
            <a:p>
              <a:pPr algn="l"/>
              <a:endParaRPr lang="th-TH"/>
            </a:p>
          </p:txBody>
        </p:sp>
        <p:sp>
          <p:nvSpPr>
            <p:cNvPr id="47" name="กล่องข้อความ 56">
              <a:extLst>
                <a:ext uri="{FF2B5EF4-FFF2-40B4-BE49-F238E27FC236}">
                  <a16:creationId xmlns:a16="http://schemas.microsoft.com/office/drawing/2014/main" id="{ECAD57BB-E557-8725-4475-70C38E15863E}"/>
                </a:ext>
              </a:extLst>
            </p:cNvPr>
            <p:cNvSpPr txBox="1"/>
            <p:nvPr/>
          </p:nvSpPr>
          <p:spPr>
            <a:xfrm>
              <a:off x="5965400" y="2056913"/>
              <a:ext cx="210907" cy="19684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5pPr>
              <a:lvl6pPr marL="22860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6pPr>
              <a:lvl7pPr marL="27432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7pPr>
              <a:lvl8pPr marL="32004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8pPr>
              <a:lvl9pPr marL="36576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9pPr>
            </a:lstStyle>
            <a:p>
              <a:pPr algn="l"/>
              <a:endParaRPr lang="th-TH"/>
            </a:p>
          </p:txBody>
        </p:sp>
      </p:grpSp>
      <p:sp>
        <p:nvSpPr>
          <p:cNvPr id="14" name="กล่องข้อความ 57">
            <a:extLst>
              <a:ext uri="{FF2B5EF4-FFF2-40B4-BE49-F238E27FC236}">
                <a16:creationId xmlns:a16="http://schemas.microsoft.com/office/drawing/2014/main" id="{726105D7-D580-41B2-8E85-77DE4D0B206F}"/>
              </a:ext>
            </a:extLst>
          </p:cNvPr>
          <p:cNvSpPr txBox="1"/>
          <p:nvPr/>
        </p:nvSpPr>
        <p:spPr>
          <a:xfrm>
            <a:off x="697639" y="3460712"/>
            <a:ext cx="1879867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r>
              <a:rPr lang="th-TH" sz="2000">
                <a:latin typeface="CordiaUPC"/>
                <a:cs typeface="CordiaUPC"/>
              </a:rPr>
              <a:t>รหัสร้านถูกกระทบ</a:t>
            </a:r>
            <a:endParaRPr lang="th-TH"/>
          </a:p>
        </p:txBody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3891B143-8B47-5DDF-B5F3-20A8F2BEEB80}"/>
              </a:ext>
            </a:extLst>
          </p:cNvPr>
          <p:cNvSpPr/>
          <p:nvPr/>
        </p:nvSpPr>
        <p:spPr>
          <a:xfrm>
            <a:off x="610128" y="3905904"/>
            <a:ext cx="2913009" cy="20988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>
                <a:solidFill>
                  <a:schemeClr val="tx1"/>
                </a:solidFill>
                <a:latin typeface="CordiaUPC"/>
                <a:ea typeface="Tahoma"/>
                <a:cs typeface="CordiaUPC"/>
              </a:rPr>
              <a:t>XXXXXX</a:t>
            </a:r>
            <a:endParaRPr lang="th-TH"/>
          </a:p>
        </p:txBody>
      </p: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6F8C9A3D-B5D5-A78B-7C54-00799E45A177}"/>
              </a:ext>
            </a:extLst>
          </p:cNvPr>
          <p:cNvSpPr/>
          <p:nvPr/>
        </p:nvSpPr>
        <p:spPr>
          <a:xfrm>
            <a:off x="5289392" y="4241116"/>
            <a:ext cx="3082519" cy="85961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th-TH"/>
          </a:p>
        </p:txBody>
      </p:sp>
      <p:sp>
        <p:nvSpPr>
          <p:cNvPr id="17" name="กล่องข้อความ 79">
            <a:extLst>
              <a:ext uri="{FF2B5EF4-FFF2-40B4-BE49-F238E27FC236}">
                <a16:creationId xmlns:a16="http://schemas.microsoft.com/office/drawing/2014/main" id="{1772B193-312E-4F02-A2A6-B1A1A7980EDC}"/>
              </a:ext>
            </a:extLst>
          </p:cNvPr>
          <p:cNvSpPr txBox="1"/>
          <p:nvPr/>
        </p:nvSpPr>
        <p:spPr>
          <a:xfrm>
            <a:off x="7743402" y="4286269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18" name="กล่องข้อความ 80">
            <a:extLst>
              <a:ext uri="{FF2B5EF4-FFF2-40B4-BE49-F238E27FC236}">
                <a16:creationId xmlns:a16="http://schemas.microsoft.com/office/drawing/2014/main" id="{FB80539F-F25E-8A3C-E208-84ACE93E256F}"/>
              </a:ext>
            </a:extLst>
          </p:cNvPr>
          <p:cNvSpPr txBox="1"/>
          <p:nvPr/>
        </p:nvSpPr>
        <p:spPr>
          <a:xfrm>
            <a:off x="5399673" y="4840452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19" name="กล่องข้อความ 81">
            <a:extLst>
              <a:ext uri="{FF2B5EF4-FFF2-40B4-BE49-F238E27FC236}">
                <a16:creationId xmlns:a16="http://schemas.microsoft.com/office/drawing/2014/main" id="{780B8D7C-3318-7EAD-2CC7-1596CE7E6452}"/>
              </a:ext>
            </a:extLst>
          </p:cNvPr>
          <p:cNvSpPr txBox="1"/>
          <p:nvPr/>
        </p:nvSpPr>
        <p:spPr>
          <a:xfrm>
            <a:off x="5399673" y="4574905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20" name="กล่องข้อความ 82">
            <a:extLst>
              <a:ext uri="{FF2B5EF4-FFF2-40B4-BE49-F238E27FC236}">
                <a16:creationId xmlns:a16="http://schemas.microsoft.com/office/drawing/2014/main" id="{B44BCD5F-BA99-10CE-6327-AA5DDB00C956}"/>
              </a:ext>
            </a:extLst>
          </p:cNvPr>
          <p:cNvSpPr txBox="1"/>
          <p:nvPr/>
        </p:nvSpPr>
        <p:spPr>
          <a:xfrm>
            <a:off x="5399674" y="4320905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21" name="กล่องข้อความ 85">
            <a:extLst>
              <a:ext uri="{FF2B5EF4-FFF2-40B4-BE49-F238E27FC236}">
                <a16:creationId xmlns:a16="http://schemas.microsoft.com/office/drawing/2014/main" id="{85B55E42-870E-A313-1DAE-F8550227FE30}"/>
              </a:ext>
            </a:extLst>
          </p:cNvPr>
          <p:cNvSpPr txBox="1"/>
          <p:nvPr/>
        </p:nvSpPr>
        <p:spPr>
          <a:xfrm>
            <a:off x="6011582" y="4828906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22" name="กล่องข้อความ 86">
            <a:extLst>
              <a:ext uri="{FF2B5EF4-FFF2-40B4-BE49-F238E27FC236}">
                <a16:creationId xmlns:a16="http://schemas.microsoft.com/office/drawing/2014/main" id="{F3CF194D-3BB7-909E-C1C4-5A16CE89FE6B}"/>
              </a:ext>
            </a:extLst>
          </p:cNvPr>
          <p:cNvSpPr txBox="1"/>
          <p:nvPr/>
        </p:nvSpPr>
        <p:spPr>
          <a:xfrm>
            <a:off x="6011582" y="4563361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23" name="กล่องข้อความ 87">
            <a:extLst>
              <a:ext uri="{FF2B5EF4-FFF2-40B4-BE49-F238E27FC236}">
                <a16:creationId xmlns:a16="http://schemas.microsoft.com/office/drawing/2014/main" id="{533B4FEF-E928-0396-7CFE-15447FC7CEA2}"/>
              </a:ext>
            </a:extLst>
          </p:cNvPr>
          <p:cNvSpPr txBox="1"/>
          <p:nvPr/>
        </p:nvSpPr>
        <p:spPr>
          <a:xfrm>
            <a:off x="6011583" y="4309360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24" name="กล่องข้อความ 89">
            <a:extLst>
              <a:ext uri="{FF2B5EF4-FFF2-40B4-BE49-F238E27FC236}">
                <a16:creationId xmlns:a16="http://schemas.microsoft.com/office/drawing/2014/main" id="{DA2E4A91-44DA-6F45-35D2-4D56DFCCDB44}"/>
              </a:ext>
            </a:extLst>
          </p:cNvPr>
          <p:cNvSpPr txBox="1"/>
          <p:nvPr/>
        </p:nvSpPr>
        <p:spPr>
          <a:xfrm>
            <a:off x="6588854" y="4805814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25" name="กล่องข้อความ 90">
            <a:extLst>
              <a:ext uri="{FF2B5EF4-FFF2-40B4-BE49-F238E27FC236}">
                <a16:creationId xmlns:a16="http://schemas.microsoft.com/office/drawing/2014/main" id="{7E9D8884-859A-E391-0CCF-B277B553ADFA}"/>
              </a:ext>
            </a:extLst>
          </p:cNvPr>
          <p:cNvSpPr txBox="1"/>
          <p:nvPr/>
        </p:nvSpPr>
        <p:spPr>
          <a:xfrm>
            <a:off x="6588854" y="4540269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26" name="กล่องข้อความ 91">
            <a:extLst>
              <a:ext uri="{FF2B5EF4-FFF2-40B4-BE49-F238E27FC236}">
                <a16:creationId xmlns:a16="http://schemas.microsoft.com/office/drawing/2014/main" id="{52E8338A-8A03-29C3-C76F-37A8CEE3ADB9}"/>
              </a:ext>
            </a:extLst>
          </p:cNvPr>
          <p:cNvSpPr txBox="1"/>
          <p:nvPr/>
        </p:nvSpPr>
        <p:spPr>
          <a:xfrm>
            <a:off x="6588855" y="4286268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27" name="กล่องข้อความ 93">
            <a:extLst>
              <a:ext uri="{FF2B5EF4-FFF2-40B4-BE49-F238E27FC236}">
                <a16:creationId xmlns:a16="http://schemas.microsoft.com/office/drawing/2014/main" id="{D7692D70-9D1F-7F27-580D-DA51FDB90EAE}"/>
              </a:ext>
            </a:extLst>
          </p:cNvPr>
          <p:cNvSpPr txBox="1"/>
          <p:nvPr/>
        </p:nvSpPr>
        <p:spPr>
          <a:xfrm>
            <a:off x="7200764" y="4805814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28" name="กล่องข้อความ 94">
            <a:extLst>
              <a:ext uri="{FF2B5EF4-FFF2-40B4-BE49-F238E27FC236}">
                <a16:creationId xmlns:a16="http://schemas.microsoft.com/office/drawing/2014/main" id="{089032D1-2E27-C7B5-8F21-298BE79D9161}"/>
              </a:ext>
            </a:extLst>
          </p:cNvPr>
          <p:cNvSpPr txBox="1"/>
          <p:nvPr/>
        </p:nvSpPr>
        <p:spPr>
          <a:xfrm>
            <a:off x="7200764" y="4540269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29" name="กล่องข้อความ 95">
            <a:extLst>
              <a:ext uri="{FF2B5EF4-FFF2-40B4-BE49-F238E27FC236}">
                <a16:creationId xmlns:a16="http://schemas.microsoft.com/office/drawing/2014/main" id="{FD21CD29-24CC-6534-F4D2-153ECFA17404}"/>
              </a:ext>
            </a:extLst>
          </p:cNvPr>
          <p:cNvSpPr txBox="1"/>
          <p:nvPr/>
        </p:nvSpPr>
        <p:spPr>
          <a:xfrm>
            <a:off x="7200765" y="4286268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30" name="กล่องข้อความ 103">
            <a:extLst>
              <a:ext uri="{FF2B5EF4-FFF2-40B4-BE49-F238E27FC236}">
                <a16:creationId xmlns:a16="http://schemas.microsoft.com/office/drawing/2014/main" id="{D69E17D5-1A2C-747D-5A3D-4500874A7BF8}"/>
              </a:ext>
            </a:extLst>
          </p:cNvPr>
          <p:cNvSpPr txBox="1"/>
          <p:nvPr/>
        </p:nvSpPr>
        <p:spPr>
          <a:xfrm>
            <a:off x="8974903" y="2816928"/>
            <a:ext cx="2743200" cy="101566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r>
              <a:rPr lang="th-TH" sz="2000">
                <a:latin typeface="Arial"/>
                <a:cs typeface="CordiaUPC"/>
              </a:rPr>
              <a:t>ผลการพิจารณา</a:t>
            </a:r>
            <a:endParaRPr lang="th-TH" sz="2000">
              <a:solidFill>
                <a:srgbClr val="FF0000"/>
              </a:solidFill>
              <a:latin typeface="Arial"/>
              <a:cs typeface="CordiaUPC"/>
            </a:endParaRPr>
          </a:p>
          <a:p>
            <a:r>
              <a:rPr lang="th-TH" sz="2000" b="0">
                <a:latin typeface="Arial"/>
                <a:cs typeface="CordiaUPC"/>
              </a:rPr>
              <a:t>     ประกันรายได้</a:t>
            </a:r>
          </a:p>
          <a:p>
            <a:r>
              <a:rPr lang="th-TH" sz="2000" b="0">
                <a:latin typeface="Arial"/>
                <a:cs typeface="CordiaUPC"/>
              </a:rPr>
              <a:t>     ไม่ประกันรายได้</a:t>
            </a:r>
            <a:endParaRPr lang="th-TH" sz="2000" b="0">
              <a:cs typeface="CordiaUPC"/>
            </a:endParaRPr>
          </a:p>
        </p:txBody>
      </p:sp>
      <p:sp>
        <p:nvSpPr>
          <p:cNvPr id="31" name="วงรี 30">
            <a:extLst>
              <a:ext uri="{FF2B5EF4-FFF2-40B4-BE49-F238E27FC236}">
                <a16:creationId xmlns:a16="http://schemas.microsoft.com/office/drawing/2014/main" id="{045FD5B8-7483-B446-61E2-AF1784EFFB6D}"/>
              </a:ext>
            </a:extLst>
          </p:cNvPr>
          <p:cNvSpPr/>
          <p:nvPr/>
        </p:nvSpPr>
        <p:spPr>
          <a:xfrm>
            <a:off x="9078546" y="3201887"/>
            <a:ext cx="232801" cy="245054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th-TH"/>
          </a:p>
        </p:txBody>
      </p:sp>
      <p:sp>
        <p:nvSpPr>
          <p:cNvPr id="32" name="วงรี 31">
            <a:extLst>
              <a:ext uri="{FF2B5EF4-FFF2-40B4-BE49-F238E27FC236}">
                <a16:creationId xmlns:a16="http://schemas.microsoft.com/office/drawing/2014/main" id="{26C81484-C67C-CCBC-CAA0-8050D2284032}"/>
              </a:ext>
            </a:extLst>
          </p:cNvPr>
          <p:cNvSpPr/>
          <p:nvPr/>
        </p:nvSpPr>
        <p:spPr>
          <a:xfrm>
            <a:off x="9078545" y="3559795"/>
            <a:ext cx="232801" cy="245054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th-TH"/>
          </a:p>
        </p:txBody>
      </p:sp>
      <p:sp>
        <p:nvSpPr>
          <p:cNvPr id="33" name="สี่เหลี่ยมผืนผ้า: มุมมน 32">
            <a:extLst>
              <a:ext uri="{FF2B5EF4-FFF2-40B4-BE49-F238E27FC236}">
                <a16:creationId xmlns:a16="http://schemas.microsoft.com/office/drawing/2014/main" id="{2356E324-7DC1-7E69-A908-7514A26982AD}"/>
              </a:ext>
            </a:extLst>
          </p:cNvPr>
          <p:cNvSpPr/>
          <p:nvPr/>
        </p:nvSpPr>
        <p:spPr>
          <a:xfrm>
            <a:off x="137802" y="5526691"/>
            <a:ext cx="12055761" cy="232294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th-TH"/>
          </a:p>
        </p:txBody>
      </p:sp>
      <p:sp>
        <p:nvSpPr>
          <p:cNvPr id="34" name="กล่องข้อความ 111">
            <a:extLst>
              <a:ext uri="{FF2B5EF4-FFF2-40B4-BE49-F238E27FC236}">
                <a16:creationId xmlns:a16="http://schemas.microsoft.com/office/drawing/2014/main" id="{58285C8C-D74D-6607-963F-085018B3AEC7}"/>
              </a:ext>
            </a:extLst>
          </p:cNvPr>
          <p:cNvSpPr txBox="1"/>
          <p:nvPr/>
        </p:nvSpPr>
        <p:spPr>
          <a:xfrm>
            <a:off x="464127" y="2300937"/>
            <a:ext cx="2743200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r>
              <a:rPr lang="en-US" sz="2400">
                <a:solidFill>
                  <a:srgbClr val="242424"/>
                </a:solidFill>
                <a:latin typeface="CordiaUPC"/>
                <a:cs typeface="Angsana New"/>
              </a:rPr>
              <a:t>รายงานแสดงร้านถูกกระทบ</a:t>
            </a:r>
            <a:endParaRPr lang="en-US" sz="2400">
              <a:latin typeface="CordiaUPC"/>
              <a:cs typeface="Angsana New"/>
            </a:endParaRPr>
          </a:p>
        </p:txBody>
      </p:sp>
      <p:sp>
        <p:nvSpPr>
          <p:cNvPr id="35" name="กล่องข้อความ 2">
            <a:extLst>
              <a:ext uri="{FF2B5EF4-FFF2-40B4-BE49-F238E27FC236}">
                <a16:creationId xmlns:a16="http://schemas.microsoft.com/office/drawing/2014/main" id="{F0AA5A8E-E9C4-F4CC-04ED-5CDE41EAF47F}"/>
              </a:ext>
            </a:extLst>
          </p:cNvPr>
          <p:cNvSpPr txBox="1"/>
          <p:nvPr/>
        </p:nvSpPr>
        <p:spPr>
          <a:xfrm>
            <a:off x="697816" y="4272269"/>
            <a:ext cx="1879867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r>
              <a:rPr lang="th-TH" sz="2000">
                <a:latin typeface="CordiaUPC"/>
                <a:cs typeface="CordiaUPC"/>
              </a:rPr>
              <a:t>รหัสร้านเปิดกระทบบ</a:t>
            </a:r>
            <a:endParaRPr lang="th-TH"/>
          </a:p>
        </p:txBody>
      </p:sp>
      <p:sp>
        <p:nvSpPr>
          <p:cNvPr id="36" name="กล่องข้อความ 6">
            <a:extLst>
              <a:ext uri="{FF2B5EF4-FFF2-40B4-BE49-F238E27FC236}">
                <a16:creationId xmlns:a16="http://schemas.microsoft.com/office/drawing/2014/main" id="{4EA8F372-CCA3-0F6A-46F7-F531DA98986C}"/>
              </a:ext>
            </a:extLst>
          </p:cNvPr>
          <p:cNvSpPr txBox="1"/>
          <p:nvPr/>
        </p:nvSpPr>
        <p:spPr>
          <a:xfrm>
            <a:off x="5290242" y="3925726"/>
            <a:ext cx="1879867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r>
              <a:rPr lang="th-TH" sz="2000">
                <a:latin typeface="CordiaUPC"/>
                <a:cs typeface="CordiaUPC"/>
              </a:rPr>
              <a:t>ภาค</a:t>
            </a:r>
            <a:endParaRPr lang="th-TH"/>
          </a:p>
        </p:txBody>
      </p:sp>
      <p:sp>
        <p:nvSpPr>
          <p:cNvPr id="37" name="กล่องข้อความ 8">
            <a:extLst>
              <a:ext uri="{FF2B5EF4-FFF2-40B4-BE49-F238E27FC236}">
                <a16:creationId xmlns:a16="http://schemas.microsoft.com/office/drawing/2014/main" id="{19BFB649-D8A4-B0B9-844C-930B78430D3D}"/>
              </a:ext>
            </a:extLst>
          </p:cNvPr>
          <p:cNvSpPr txBox="1"/>
          <p:nvPr/>
        </p:nvSpPr>
        <p:spPr>
          <a:xfrm>
            <a:off x="349531" y="2758243"/>
            <a:ext cx="3616469" cy="280076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>
              <a:latin typeface="Browallia New"/>
              <a:cs typeface="Browallia New"/>
            </a:endParaRPr>
          </a:p>
          <a:p>
            <a:endParaRPr lang="th-TH">
              <a:latin typeface="Browallia New"/>
              <a:cs typeface="Browallia New"/>
            </a:endParaRPr>
          </a:p>
          <a:p>
            <a:endParaRPr lang="th-TH">
              <a:latin typeface="Browallia New"/>
              <a:cs typeface="Browallia New"/>
            </a:endParaRPr>
          </a:p>
          <a:p>
            <a:endParaRPr lang="th-TH">
              <a:latin typeface="Browallia New"/>
              <a:cs typeface="Browallia New"/>
            </a:endParaRPr>
          </a:p>
          <a:p>
            <a:endParaRPr lang="th-TH">
              <a:latin typeface="Browallia New"/>
              <a:cs typeface="Browallia New"/>
            </a:endParaRPr>
          </a:p>
          <a:p>
            <a:endParaRPr lang="th-TH">
              <a:latin typeface="Browallia New"/>
              <a:cs typeface="Browallia New"/>
            </a:endParaRPr>
          </a:p>
          <a:p>
            <a:endParaRPr lang="th-TH">
              <a:latin typeface="Browallia New"/>
              <a:cs typeface="Browallia New"/>
            </a:endParaRPr>
          </a:p>
          <a:p>
            <a:endParaRPr lang="th-TH">
              <a:latin typeface="Browallia New"/>
              <a:cs typeface="Browallia New"/>
            </a:endParaRPr>
          </a:p>
          <a:p>
            <a:endParaRPr lang="th-TH">
              <a:latin typeface="Browallia New"/>
              <a:cs typeface="Browallia New"/>
            </a:endParaRPr>
          </a:p>
          <a:p>
            <a:r>
              <a:rPr lang="th-TH">
                <a:latin typeface="Browallia New"/>
                <a:cs typeface="Browallia New"/>
              </a:rPr>
              <a:t>Period Statement</a:t>
            </a:r>
          </a:p>
          <a:p>
            <a:r>
              <a:rPr lang="th-TH">
                <a:latin typeface="Browallia New"/>
                <a:cs typeface="Browallia New"/>
              </a:rPr>
              <a:t>                                        To</a:t>
            </a:r>
          </a:p>
        </p:txBody>
      </p:sp>
      <p:sp>
        <p:nvSpPr>
          <p:cNvPr id="38" name="สี่เหลี่ยมผืนผ้า 37">
            <a:extLst>
              <a:ext uri="{FF2B5EF4-FFF2-40B4-BE49-F238E27FC236}">
                <a16:creationId xmlns:a16="http://schemas.microsoft.com/office/drawing/2014/main" id="{740E2946-4558-DF61-D16D-B8945280DA86}"/>
              </a:ext>
            </a:extLst>
          </p:cNvPr>
          <p:cNvSpPr/>
          <p:nvPr/>
        </p:nvSpPr>
        <p:spPr>
          <a:xfrm>
            <a:off x="563235" y="4667903"/>
            <a:ext cx="2913009" cy="20988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>
                <a:solidFill>
                  <a:schemeClr val="tx1"/>
                </a:solidFill>
                <a:latin typeface="CordiaUPC"/>
                <a:ea typeface="Tahoma"/>
                <a:cs typeface="CordiaUPC"/>
              </a:rPr>
              <a:t>XXXXXX</a:t>
            </a:r>
            <a:endParaRPr lang="th-TH"/>
          </a:p>
        </p:txBody>
      </p:sp>
      <p:sp>
        <p:nvSpPr>
          <p:cNvPr id="39" name="กล่องข้อความ 10">
            <a:extLst>
              <a:ext uri="{FF2B5EF4-FFF2-40B4-BE49-F238E27FC236}">
                <a16:creationId xmlns:a16="http://schemas.microsoft.com/office/drawing/2014/main" id="{E8F5F6A1-04DD-7251-80A9-E96ED2B20F3A}"/>
              </a:ext>
            </a:extLst>
          </p:cNvPr>
          <p:cNvSpPr txBox="1"/>
          <p:nvPr/>
        </p:nvSpPr>
        <p:spPr>
          <a:xfrm>
            <a:off x="5100567" y="2735532"/>
            <a:ext cx="6336661" cy="281879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40" name="กล่องข้อความ 2">
            <a:extLst>
              <a:ext uri="{FF2B5EF4-FFF2-40B4-BE49-F238E27FC236}">
                <a16:creationId xmlns:a16="http://schemas.microsoft.com/office/drawing/2014/main" id="{6DE3A099-2B5C-4543-0BD6-A4B69910C5E0}"/>
              </a:ext>
            </a:extLst>
          </p:cNvPr>
          <p:cNvSpPr txBox="1"/>
          <p:nvPr/>
        </p:nvSpPr>
        <p:spPr>
          <a:xfrm>
            <a:off x="279400" y="1377950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Step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3 ทีมบัญชี : สามารถเข้ามาดูข้อมูลยอดชดเชยรายได้ในระบบ</a:t>
            </a:r>
          </a:p>
        </p:txBody>
      </p:sp>
      <p:pic>
        <p:nvPicPr>
          <p:cNvPr id="41" name="รูปภาพ 40" descr="รูปภาพประกอบด้วย ข้อความ, ภาพหน้าจอ, ไลน์, ตัวอักษร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4F59412D-DBE7-4C28-7964-E746B04AEC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50511" y="5112471"/>
            <a:ext cx="4095750" cy="1285875"/>
          </a:xfrm>
          <a:prstGeom prst="rect">
            <a:avLst/>
          </a:prstGeom>
        </p:spPr>
      </p:pic>
      <p:pic>
        <p:nvPicPr>
          <p:cNvPr id="50" name="รูปภาพ 49" descr="รูปภาพประกอบด้วย ข้อความ, ภาพหน้าจอ, จำนวน, ไลน์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E3289B81-CCE7-C312-3D34-3EA1571A03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424" y="5755481"/>
            <a:ext cx="11368087" cy="1883568"/>
          </a:xfrm>
          <a:prstGeom prst="rect">
            <a:avLst/>
          </a:prstGeom>
        </p:spPr>
      </p:pic>
      <p:pic>
        <p:nvPicPr>
          <p:cNvPr id="52" name="รูปภาพ 51" descr="รูปภาพประกอบด้วย ข้อความ, ภาพหน้าจอ, ตัวอักษร, จำนวน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8FD4F72A-AA6B-55F0-852F-A34CC7E865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9230" y="4233862"/>
            <a:ext cx="3467101" cy="985838"/>
          </a:xfrm>
          <a:prstGeom prst="rect">
            <a:avLst/>
          </a:prstGeom>
        </p:spPr>
      </p:pic>
      <p:sp>
        <p:nvSpPr>
          <p:cNvPr id="53" name="สี่เหลี่ยมผืนผ้า 52">
            <a:extLst>
              <a:ext uri="{FF2B5EF4-FFF2-40B4-BE49-F238E27FC236}">
                <a16:creationId xmlns:a16="http://schemas.microsoft.com/office/drawing/2014/main" id="{FF0AB6C5-9CFE-65D9-C44B-84FCBF2CFB16}"/>
              </a:ext>
            </a:extLst>
          </p:cNvPr>
          <p:cNvSpPr/>
          <p:nvPr/>
        </p:nvSpPr>
        <p:spPr>
          <a:xfrm>
            <a:off x="608269" y="3057423"/>
            <a:ext cx="2599457" cy="316685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100" b="0">
                <a:solidFill>
                  <a:schemeClr val="bg1">
                    <a:lumMod val="49000"/>
                  </a:schemeClr>
                </a:solidFill>
                <a:latin typeface="Segoe UI"/>
                <a:ea typeface="Segoe UI"/>
                <a:cs typeface="Segoe UI"/>
              </a:rPr>
              <a:t>Choose an option</a:t>
            </a:r>
            <a:endParaRPr lang="th-TH" sz="1100" b="0">
              <a:solidFill>
                <a:schemeClr val="bg1">
                  <a:lumMod val="49000"/>
                </a:schemeClr>
              </a:solidFill>
              <a:ea typeface="Tahoma"/>
            </a:endParaRPr>
          </a:p>
        </p:txBody>
      </p:sp>
      <p:sp>
        <p:nvSpPr>
          <p:cNvPr id="51" name="กล่องข้อความ 20">
            <a:extLst>
              <a:ext uri="{FF2B5EF4-FFF2-40B4-BE49-F238E27FC236}">
                <a16:creationId xmlns:a16="http://schemas.microsoft.com/office/drawing/2014/main" id="{2F3E06CA-B56C-FAE2-50B4-93F6F193D370}"/>
              </a:ext>
            </a:extLst>
          </p:cNvPr>
          <p:cNvSpPr txBox="1"/>
          <p:nvPr/>
        </p:nvSpPr>
        <p:spPr>
          <a:xfrm>
            <a:off x="2729945" y="6340389"/>
            <a:ext cx="9479171" cy="31393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หมายเหตุ:</a:t>
            </a:r>
          </a:p>
          <a:p>
            <a:r>
              <a:rPr lang="th-TH" sz="1800" dirty="0">
                <a:latin typeface="CordiaUPC"/>
                <a:cs typeface="CordiaUPC"/>
              </a:rPr>
              <a:t>[ สถานะ: </a:t>
            </a:r>
            <a:r>
              <a:rPr lang="th-TH" sz="1800" dirty="0" err="1">
                <a:latin typeface="CordiaUPC"/>
                <a:cs typeface="CordiaUPC"/>
              </a:rPr>
              <a:t>Drop</a:t>
            </a:r>
            <a:r>
              <a:rPr lang="th-TH" sz="1800" dirty="0">
                <a:latin typeface="CordiaUPC"/>
                <a:cs typeface="CordiaUPC"/>
              </a:rPr>
              <a:t>-</a:t>
            </a:r>
            <a:r>
              <a:rPr lang="th-TH" sz="1800" dirty="0" err="1">
                <a:latin typeface="CordiaUPC"/>
                <a:cs typeface="CordiaUPC"/>
              </a:rPr>
              <a:t>down</a:t>
            </a:r>
            <a:r>
              <a:rPr lang="th-TH" sz="1800" dirty="0">
                <a:latin typeface="CordiaUPC"/>
                <a:cs typeface="CordiaUPC"/>
              </a:rPr>
              <a:t> ] </a:t>
            </a:r>
            <a:r>
              <a:rPr lang="th-TH" sz="1800" dirty="0">
                <a:solidFill>
                  <a:srgbClr val="FF0000"/>
                </a:solidFill>
                <a:highlight>
                  <a:srgbClr val="FFFF00"/>
                </a:highlight>
                <a:latin typeface="CordiaUPC"/>
                <a:cs typeface="CordiaUPC"/>
              </a:rPr>
              <a:t>บังคับ </a:t>
            </a:r>
            <a:r>
              <a:rPr lang="th-TH" sz="1800" dirty="0" err="1">
                <a:solidFill>
                  <a:srgbClr val="FF0000"/>
                </a:solidFill>
                <a:highlight>
                  <a:srgbClr val="FFFF00"/>
                </a:highlight>
                <a:latin typeface="CordiaUPC"/>
                <a:cs typeface="CordiaUPC"/>
              </a:rPr>
              <a:t>Required</a:t>
            </a:r>
            <a:r>
              <a:rPr lang="th-TH" sz="1800" dirty="0">
                <a:solidFill>
                  <a:srgbClr val="FF0000"/>
                </a:solidFill>
                <a:highlight>
                  <a:srgbClr val="FFFF00"/>
                </a:highlight>
                <a:latin typeface="CordiaUPC"/>
                <a:cs typeface="CordiaUPC"/>
              </a:rPr>
              <a:t> </a:t>
            </a:r>
            <a:r>
              <a:rPr lang="th-TH" sz="1800" dirty="0" err="1">
                <a:solidFill>
                  <a:srgbClr val="FF0000"/>
                </a:solidFill>
                <a:highlight>
                  <a:srgbClr val="FFFF00"/>
                </a:highlight>
                <a:latin typeface="CordiaUPC"/>
                <a:cs typeface="CordiaUPC"/>
              </a:rPr>
              <a:t>Field</a:t>
            </a:r>
            <a:endParaRPr lang="th-TH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th-TH" sz="1800" dirty="0">
                <a:latin typeface="CordiaUPC"/>
                <a:cs typeface="CordiaUPC"/>
              </a:rPr>
              <a:t>[ รหัสร้านถูกกระทบ: </a:t>
            </a:r>
            <a:r>
              <a:rPr lang="th-TH" sz="1800" dirty="0" err="1">
                <a:latin typeface="CordiaUPC"/>
                <a:cs typeface="CordiaUPC"/>
              </a:rPr>
              <a:t>Text</a:t>
            </a:r>
            <a:r>
              <a:rPr lang="th-TH" sz="1800" dirty="0">
                <a:latin typeface="CordiaUPC"/>
                <a:cs typeface="CordiaUPC"/>
              </a:rPr>
              <a:t> </a:t>
            </a:r>
            <a:r>
              <a:rPr lang="th-TH" sz="1800" dirty="0" err="1">
                <a:latin typeface="CordiaUPC"/>
                <a:cs typeface="CordiaUPC"/>
              </a:rPr>
              <a:t>Box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(</a:t>
            </a:r>
            <a:r>
              <a:rPr lang="th-TH" sz="1800" dirty="0" err="1">
                <a:solidFill>
                  <a:srgbClr val="FF0000"/>
                </a:solidFill>
                <a:latin typeface="CordiaUPC"/>
                <a:cs typeface="CordiaUPC"/>
              </a:rPr>
              <a:t>Numeric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 </a:t>
            </a:r>
            <a:r>
              <a:rPr lang="th-TH" sz="1800" dirty="0" err="1">
                <a:solidFill>
                  <a:srgbClr val="FF0000"/>
                </a:solidFill>
                <a:latin typeface="CordiaUPC"/>
                <a:cs typeface="CordiaUPC"/>
              </a:rPr>
              <a:t>input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)</a:t>
            </a:r>
            <a:r>
              <a:rPr lang="th-TH" sz="1800" dirty="0">
                <a:latin typeface="CordiaUPC"/>
                <a:cs typeface="CordiaUPC"/>
              </a:rPr>
              <a:t> ] กรณี ระบุสาขาถูกกระทบ ต้องระบุรหัสที่ถูกเปิดกระทบ</a:t>
            </a:r>
          </a:p>
          <a:p>
            <a:r>
              <a:rPr lang="th-TH" sz="1800" dirty="0">
                <a:latin typeface="CordiaUPC"/>
                <a:cs typeface="CordiaUPC"/>
              </a:rPr>
              <a:t>[ รหัสร้านเปิดกระทบ: </a:t>
            </a:r>
            <a:r>
              <a:rPr lang="th-TH" sz="1800" dirty="0" err="1">
                <a:latin typeface="CordiaUPC"/>
                <a:cs typeface="CordiaUPC"/>
              </a:rPr>
              <a:t>Text</a:t>
            </a:r>
            <a:r>
              <a:rPr lang="th-TH" sz="1800" dirty="0">
                <a:latin typeface="CordiaUPC"/>
                <a:cs typeface="CordiaUPC"/>
              </a:rPr>
              <a:t> </a:t>
            </a:r>
            <a:r>
              <a:rPr lang="th-TH" sz="1800" dirty="0" err="1">
                <a:latin typeface="CordiaUPC"/>
                <a:cs typeface="CordiaUPC"/>
              </a:rPr>
              <a:t>Box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(</a:t>
            </a:r>
            <a:r>
              <a:rPr lang="th-TH" sz="1800" dirty="0" err="1">
                <a:solidFill>
                  <a:srgbClr val="FF0000"/>
                </a:solidFill>
                <a:latin typeface="CordiaUPC"/>
                <a:cs typeface="CordiaUPC"/>
              </a:rPr>
              <a:t>Numeric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 </a:t>
            </a:r>
            <a:r>
              <a:rPr lang="th-TH" sz="1800" dirty="0" err="1">
                <a:solidFill>
                  <a:srgbClr val="FF0000"/>
                </a:solidFill>
                <a:latin typeface="CordiaUPC"/>
                <a:cs typeface="CordiaUPC"/>
              </a:rPr>
              <a:t>input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)</a:t>
            </a:r>
            <a:r>
              <a:rPr lang="th-TH" sz="1800" dirty="0">
                <a:latin typeface="CordiaUPC"/>
                <a:cs typeface="CordiaUPC"/>
              </a:rPr>
              <a:t> ] กรณี ระบุสาขาถูกกระทบ ต้องระบุรหัสที่ถูกเปิดกระทบ</a:t>
            </a:r>
            <a:endParaRPr lang="th-TH"/>
          </a:p>
          <a:p>
            <a:r>
              <a:rPr lang="th-TH" sz="1800" dirty="0">
                <a:latin typeface="CordiaUPC"/>
                <a:cs typeface="CordiaUPC"/>
              </a:rPr>
              <a:t>[ </a:t>
            </a:r>
            <a:r>
              <a:rPr lang="th-TH" sz="1800" dirty="0" err="1">
                <a:latin typeface="CordiaUPC"/>
                <a:cs typeface="CordiaUPC"/>
              </a:rPr>
              <a:t>Period</a:t>
            </a:r>
            <a:r>
              <a:rPr lang="th-TH" sz="1800" dirty="0">
                <a:latin typeface="CordiaUPC"/>
                <a:cs typeface="CordiaUPC"/>
              </a:rPr>
              <a:t> </a:t>
            </a:r>
            <a:r>
              <a:rPr lang="th-TH" sz="1800" dirty="0" err="1">
                <a:latin typeface="CordiaUPC"/>
                <a:cs typeface="CordiaUPC"/>
              </a:rPr>
              <a:t>Statement</a:t>
            </a:r>
            <a:r>
              <a:rPr lang="th-TH" sz="1800" dirty="0">
                <a:latin typeface="CordiaUPC"/>
                <a:cs typeface="CordiaUPC"/>
              </a:rPr>
              <a:t> : </a:t>
            </a:r>
            <a:r>
              <a:rPr lang="th-TH" sz="1800" dirty="0" err="1">
                <a:latin typeface="CordiaUPC"/>
                <a:cs typeface="CordiaUPC"/>
              </a:rPr>
              <a:t>Text</a:t>
            </a:r>
            <a:r>
              <a:rPr lang="th-TH" sz="1800" dirty="0">
                <a:latin typeface="CordiaUPC"/>
                <a:cs typeface="CordiaUPC"/>
              </a:rPr>
              <a:t> </a:t>
            </a:r>
            <a:r>
              <a:rPr lang="th-TH" sz="1800" dirty="0" err="1">
                <a:latin typeface="CordiaUPC"/>
                <a:cs typeface="CordiaUPC"/>
              </a:rPr>
              <a:t>Box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(</a:t>
            </a:r>
            <a:r>
              <a:rPr lang="th-TH" sz="1800" dirty="0" err="1">
                <a:solidFill>
                  <a:srgbClr val="FF0000"/>
                </a:solidFill>
                <a:latin typeface="CordiaUPC"/>
                <a:cs typeface="CordiaUPC"/>
              </a:rPr>
              <a:t>Numeric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 </a:t>
            </a:r>
            <a:r>
              <a:rPr lang="th-TH" sz="1800" dirty="0" err="1">
                <a:solidFill>
                  <a:srgbClr val="FF0000"/>
                </a:solidFill>
                <a:latin typeface="CordiaUPC"/>
                <a:cs typeface="CordiaUPC"/>
              </a:rPr>
              <a:t>input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) </a:t>
            </a:r>
            <a:r>
              <a:rPr lang="th-TH" sz="1800" dirty="0">
                <a:latin typeface="CordiaUPC"/>
                <a:cs typeface="CordiaUPC"/>
              </a:rPr>
              <a:t>] แสดง </a:t>
            </a:r>
            <a:r>
              <a:rPr lang="th-TH" sz="1800" dirty="0" err="1">
                <a:latin typeface="CordiaUPC"/>
                <a:cs typeface="CordiaUPC"/>
              </a:rPr>
              <a:t>Calendar</a:t>
            </a:r>
            <a:r>
              <a:rPr lang="th-TH" sz="1800" dirty="0">
                <a:latin typeface="CordiaUPC"/>
                <a:cs typeface="CordiaUPC"/>
              </a:rPr>
              <a:t> เพื่อเลือก วัน/เดือน/ปี(ค.ศ.) หรือกรอกเองได้</a:t>
            </a:r>
          </a:p>
          <a:p>
            <a:r>
              <a:rPr lang="th-TH" sz="1800" dirty="0">
                <a:latin typeface="CordiaUPC"/>
                <a:cs typeface="CordiaUPC"/>
              </a:rPr>
              <a:t>[ ประเภทร้าน: </a:t>
            </a:r>
            <a:r>
              <a:rPr lang="th-TH" sz="1800" dirty="0" err="1">
                <a:latin typeface="CordiaUPC"/>
                <a:cs typeface="CordiaUPC"/>
              </a:rPr>
              <a:t>Checkbox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(เลือกได้หลายปุ่ม)</a:t>
            </a:r>
            <a:r>
              <a:rPr lang="th-TH" sz="1800" dirty="0">
                <a:latin typeface="CordiaUPC"/>
                <a:cs typeface="CordiaUPC"/>
              </a:rPr>
              <a:t> ]</a:t>
            </a:r>
            <a:endParaRPr lang="th-TH"/>
          </a:p>
          <a:p>
            <a:r>
              <a:rPr lang="th-TH" sz="1800" dirty="0">
                <a:latin typeface="CordiaUPC"/>
                <a:cs typeface="CordiaUPC"/>
              </a:rPr>
              <a:t>[ ภาค: </a:t>
            </a:r>
            <a:r>
              <a:rPr lang="th-TH" sz="1800" dirty="0" err="1">
                <a:latin typeface="CordiaUPC"/>
                <a:cs typeface="CordiaUPC"/>
              </a:rPr>
              <a:t>Checkbox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(เลือกได้หลายปุ่ม)</a:t>
            </a:r>
            <a:r>
              <a:rPr lang="th-TH" sz="1800" dirty="0">
                <a:latin typeface="CordiaUPC"/>
                <a:cs typeface="CordiaUPC"/>
              </a:rPr>
              <a:t> ] 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หมายเหตุ กรณีมีการเพิ่มภาคในระบบ ให้แสดง </a:t>
            </a:r>
            <a:r>
              <a:rPr lang="th-TH" sz="1800" dirty="0" err="1">
                <a:solidFill>
                  <a:srgbClr val="FF0000"/>
                </a:solidFill>
                <a:latin typeface="CordiaUPC"/>
                <a:cs typeface="CordiaUPC"/>
              </a:rPr>
              <a:t>Checkbox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 เพิ่มแบบ Auto โดยไม่ต้องแก้หน้าจอ</a:t>
            </a:r>
            <a:endParaRPr lang="th-TH">
              <a:solidFill>
                <a:srgbClr val="FF0000"/>
              </a:solidFill>
            </a:endParaRPr>
          </a:p>
          <a:p>
            <a:r>
              <a:rPr lang="th-TH" sz="1800" dirty="0">
                <a:latin typeface="CordiaUPC"/>
                <a:cs typeface="CordiaUPC"/>
              </a:rPr>
              <a:t>[ ผลการพิจารณา: </a:t>
            </a:r>
            <a:r>
              <a:rPr lang="th-TH" sz="1800" dirty="0" err="1">
                <a:latin typeface="CordiaUPC"/>
                <a:cs typeface="CordiaUPC"/>
              </a:rPr>
              <a:t>Radio</a:t>
            </a:r>
            <a:r>
              <a:rPr lang="th-TH" sz="1800" dirty="0">
                <a:latin typeface="CordiaUPC"/>
                <a:cs typeface="CordiaUPC"/>
              </a:rPr>
              <a:t> 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(เลือกอย่างใดอย่างหนึ่ง)</a:t>
            </a:r>
            <a:r>
              <a:rPr lang="th-TH" sz="1800" dirty="0">
                <a:latin typeface="CordiaUPC"/>
                <a:cs typeface="CordiaUPC"/>
              </a:rPr>
              <a:t> ]</a:t>
            </a:r>
          </a:p>
          <a:p>
            <a:r>
              <a:rPr lang="th-TH" sz="1800" dirty="0">
                <a:latin typeface="CordiaUPC"/>
                <a:cs typeface="CordiaUPC"/>
              </a:rPr>
              <a:t>[ค้นหาข้อมูล] กรณีที่เลือกข้อมูลและประมวลผล เพ</a:t>
            </a:r>
            <a:r>
              <a:rPr lang="th-TH" sz="1800" dirty="0" err="1">
                <a:latin typeface="CordiaUPC"/>
                <a:cs typeface="CordiaUPC"/>
              </a:rPr>
              <a:t>ื่</a:t>
            </a:r>
            <a:r>
              <a:rPr lang="th-TH" sz="1800" dirty="0">
                <a:latin typeface="CordiaUPC"/>
                <a:cs typeface="CordiaUPC"/>
              </a:rPr>
              <a:t>ออ</a:t>
            </a:r>
            <a:r>
              <a:rPr lang="th-TH" sz="1800" dirty="0" err="1">
                <a:latin typeface="CordiaUPC"/>
                <a:cs typeface="CordiaUPC"/>
              </a:rPr>
              <a:t>ัป</a:t>
            </a:r>
            <a:r>
              <a:rPr lang="th-TH" sz="1800" dirty="0">
                <a:latin typeface="CordiaUPC"/>
                <a:cs typeface="CordiaUPC"/>
              </a:rPr>
              <a:t>เดตข้อมูลในตาราง</a:t>
            </a:r>
            <a:endParaRPr lang="th-TH" dirty="0"/>
          </a:p>
          <a:p>
            <a:r>
              <a:rPr lang="th-TH" sz="1800" dirty="0">
                <a:latin typeface="CordiaUPC"/>
                <a:cs typeface="CordiaUPC"/>
              </a:rPr>
              <a:t>[</a:t>
            </a:r>
            <a:r>
              <a:rPr lang="th-TH" sz="1800" err="1">
                <a:latin typeface="CordiaUPC"/>
                <a:cs typeface="CordiaUPC"/>
              </a:rPr>
              <a:t>Export</a:t>
            </a:r>
            <a:r>
              <a:rPr lang="th-TH" sz="1800" dirty="0">
                <a:latin typeface="CordiaUPC"/>
                <a:cs typeface="CordiaUPC"/>
              </a:rPr>
              <a:t> Excel] </a:t>
            </a:r>
            <a:r>
              <a:rPr lang="th-TH" sz="1800" err="1">
                <a:latin typeface="CordiaUPC"/>
                <a:cs typeface="CordiaUPC"/>
              </a:rPr>
              <a:t>Export</a:t>
            </a:r>
            <a:r>
              <a:rPr lang="th-TH" sz="1800" dirty="0">
                <a:latin typeface="CordiaUPC"/>
                <a:cs typeface="CordiaUPC"/>
              </a:rPr>
              <a:t> Excel</a:t>
            </a:r>
          </a:p>
          <a:p>
            <a:r>
              <a:rPr lang="th-TH" sz="1800" dirty="0">
                <a:latin typeface="CordiaUPC"/>
                <a:cs typeface="CordiaUPC"/>
              </a:rPr>
              <a:t>[เคลียร์ค่าเริ่มต้น] สำหรับล้างข้อมูลเพื่อเริ่มกรอกใหม่</a:t>
            </a:r>
          </a:p>
        </p:txBody>
      </p:sp>
      <p:sp>
        <p:nvSpPr>
          <p:cNvPr id="55" name="สี่เหลี่ยมผืนผ้า 54">
            <a:extLst>
              <a:ext uri="{FF2B5EF4-FFF2-40B4-BE49-F238E27FC236}">
                <a16:creationId xmlns:a16="http://schemas.microsoft.com/office/drawing/2014/main" id="{6D185A20-6091-02E8-DBCB-7F0336AA4ACA}"/>
              </a:ext>
            </a:extLst>
          </p:cNvPr>
          <p:cNvSpPr/>
          <p:nvPr/>
        </p:nvSpPr>
        <p:spPr>
          <a:xfrm>
            <a:off x="555584" y="5278056"/>
            <a:ext cx="740779" cy="16204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6" name="สี่เหลี่ยมผืนผ้า 55">
            <a:extLst>
              <a:ext uri="{FF2B5EF4-FFF2-40B4-BE49-F238E27FC236}">
                <a16:creationId xmlns:a16="http://schemas.microsoft.com/office/drawing/2014/main" id="{E365C38F-C9D5-EA7B-0F71-9FE99A640F80}"/>
              </a:ext>
            </a:extLst>
          </p:cNvPr>
          <p:cNvSpPr/>
          <p:nvPr/>
        </p:nvSpPr>
        <p:spPr>
          <a:xfrm>
            <a:off x="2460583" y="5289962"/>
            <a:ext cx="740779" cy="16204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58" name="รูปภาพ 57" descr="Calendar Background PNGs for Free Download">
            <a:extLst>
              <a:ext uri="{FF2B5EF4-FFF2-40B4-BE49-F238E27FC236}">
                <a16:creationId xmlns:a16="http://schemas.microsoft.com/office/drawing/2014/main" id="{4D340C81-9A0F-DBFF-E322-CD3DE1506B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1131" y="5210175"/>
            <a:ext cx="352425" cy="295275"/>
          </a:xfrm>
          <a:prstGeom prst="rect">
            <a:avLst/>
          </a:prstGeom>
        </p:spPr>
      </p:pic>
      <p:pic>
        <p:nvPicPr>
          <p:cNvPr id="59" name="รูปภาพ 58" descr="Calendar Background PNGs for Free Download">
            <a:extLst>
              <a:ext uri="{FF2B5EF4-FFF2-40B4-BE49-F238E27FC236}">
                <a16:creationId xmlns:a16="http://schemas.microsoft.com/office/drawing/2014/main" id="{B2F3BB9D-CF9E-02C9-6369-0EBA5C29AC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4694" y="5174455"/>
            <a:ext cx="352425" cy="295275"/>
          </a:xfrm>
          <a:prstGeom prst="rect">
            <a:avLst/>
          </a:prstGeom>
        </p:spPr>
      </p:pic>
      <p:pic>
        <p:nvPicPr>
          <p:cNvPr id="60" name="รูปภาพ 59" descr="รูปภาพประกอบด้วย ข้อความ, ตัวอักษร, ภาพหน้าจอ, จำนวน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179DA10D-BD6E-FD43-E33E-040C0129666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67075" y="3969544"/>
            <a:ext cx="1871663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1457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964B4-4ADE-9130-F74D-230483A75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8454870-20B9-E5AB-B986-99FF2F79FCB5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54" name="กล่องข้อความ 53">
            <a:extLst>
              <a:ext uri="{FF2B5EF4-FFF2-40B4-BE49-F238E27FC236}">
                <a16:creationId xmlns:a16="http://schemas.microsoft.com/office/drawing/2014/main" id="{DC6D7C72-4A06-7775-27B0-09638F161C12}"/>
              </a:ext>
            </a:extLst>
          </p:cNvPr>
          <p:cNvSpPr txBox="1"/>
          <p:nvPr/>
        </p:nvSpPr>
        <p:spPr>
          <a:xfrm>
            <a:off x="623847" y="860050"/>
            <a:ext cx="1027725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400">
                <a:highlight>
                  <a:srgbClr val="C0C0C0"/>
                </a:highlight>
                <a:latin typeface="BrowalliaUPC"/>
                <a:cs typeface="BrowalliaUPC"/>
              </a:rPr>
              <a:t>3. ปรับระบบยกเลิก Process บัญชี SBP ในการ Approve ค่าใช้จ่าย ในการชดเชยรายได้</a:t>
            </a:r>
            <a:r>
              <a:rPr lang="en-US" sz="2800" b="0">
                <a:latin typeface="BrowalliaUPC"/>
                <a:cs typeface="Tahoma"/>
              </a:rPr>
              <a:t>้</a:t>
            </a:r>
          </a:p>
          <a:p>
            <a:pPr algn="l"/>
            <a:endParaRPr lang="en-US" b="0">
              <a:cs typeface="Tahoma"/>
            </a:endParaRPr>
          </a:p>
          <a:p>
            <a:endParaRPr lang="th-TH"/>
          </a:p>
        </p:txBody>
      </p:sp>
      <p:sp>
        <p:nvSpPr>
          <p:cNvPr id="2" name="กล่องข้อความ 14">
            <a:extLst>
              <a:ext uri="{FF2B5EF4-FFF2-40B4-BE49-F238E27FC236}">
                <a16:creationId xmlns:a16="http://schemas.microsoft.com/office/drawing/2014/main" id="{2B696435-C785-ACE9-462F-A438C63EA3C2}"/>
              </a:ext>
            </a:extLst>
          </p:cNvPr>
          <p:cNvSpPr txBox="1"/>
          <p:nvPr/>
        </p:nvSpPr>
        <p:spPr>
          <a:xfrm>
            <a:off x="9999785" y="844433"/>
            <a:ext cx="2743200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hlinkClick r:id="rId3"/>
              </a:rPr>
              <a:t>ภาคตาม Area และตารางข้อมูล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FFB9E59-3432-BB4B-99D3-1AB219B6DB55}"/>
              </a:ext>
            </a:extLst>
          </p:cNvPr>
          <p:cNvSpPr txBox="1">
            <a:spLocks/>
          </p:cNvSpPr>
          <p:nvPr/>
        </p:nvSpPr>
        <p:spPr bwMode="auto">
          <a:xfrm>
            <a:off x="462916" y="1752599"/>
            <a:ext cx="699874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marL="9144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marL="13716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marL="18288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sz="2800">
                <a:latin typeface="CordiaUPC"/>
                <a:ea typeface="Tahoma"/>
                <a:cs typeface="CordiaUPC"/>
              </a:rPr>
              <a:t>1.</a:t>
            </a:r>
            <a:r>
              <a:rPr lang="th-TH" altLang="en-US" sz="2800">
                <a:latin typeface="CordiaUPC"/>
                <a:ea typeface="Tahoma"/>
                <a:cs typeface="CordiaUPC"/>
              </a:rPr>
              <a:t> ออกแบบหรือสร้าง </a:t>
            </a:r>
            <a:r>
              <a:rPr lang="en-US" altLang="en-US" sz="2800">
                <a:latin typeface="CordiaUPC"/>
                <a:ea typeface="Tahoma"/>
                <a:cs typeface="CordiaUPC"/>
              </a:rPr>
              <a:t>Menu </a:t>
            </a:r>
            <a:r>
              <a:rPr lang="th-TH" altLang="en-US" sz="2800">
                <a:latin typeface="CordiaUPC"/>
                <a:ea typeface="Tahoma"/>
                <a:cs typeface="CordiaUPC"/>
              </a:rPr>
              <a:t>ใหม่ในระบบ </a:t>
            </a:r>
            <a:r>
              <a:rPr lang="en-US" altLang="en-US" sz="2800">
                <a:latin typeface="CordiaUPC"/>
                <a:ea typeface="Tahoma"/>
                <a:cs typeface="CordiaUPC"/>
              </a:rPr>
              <a:t>SBP Mall</a:t>
            </a:r>
            <a:endParaRPr lang="th-TH" altLang="en-US" sz="2800" b="1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81CDFE76-EEFB-F210-DF9A-B81E2792E36B}"/>
              </a:ext>
            </a:extLst>
          </p:cNvPr>
          <p:cNvSpPr txBox="1"/>
          <p:nvPr/>
        </p:nvSpPr>
        <p:spPr>
          <a:xfrm>
            <a:off x="6265223" y="1930952"/>
            <a:ext cx="6096000" cy="4370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r>
              <a:rPr lang="th-TH"/>
              <a:t>✅  </a:t>
            </a:r>
            <a:r>
              <a:rPr lang="en-US"/>
              <a:t>Menu                   &gt;</a:t>
            </a:r>
            <a:r>
              <a:rPr lang="th-TH"/>
              <a:t>   </a:t>
            </a:r>
            <a:r>
              <a:rPr lang="th-TH" sz="2200">
                <a:latin typeface="CordiaUPC" panose="020B0304020202020204" pitchFamily="34" charset="-34"/>
                <a:cs typeface="CordiaUPC" panose="020B0304020202020204" pitchFamily="34" charset="-34"/>
              </a:rPr>
              <a:t>รายงานตรวจสอบประกันรายได้</a:t>
            </a:r>
          </a:p>
        </p:txBody>
      </p:sp>
      <p:pic>
        <p:nvPicPr>
          <p:cNvPr id="6" name="Picture 83">
            <a:extLst>
              <a:ext uri="{FF2B5EF4-FFF2-40B4-BE49-F238E27FC236}">
                <a16:creationId xmlns:a16="http://schemas.microsoft.com/office/drawing/2014/main" id="{8D99E289-552B-68C0-B2FB-0352B47A3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995" y="1945512"/>
            <a:ext cx="794658" cy="360539"/>
          </a:xfrm>
          <a:prstGeom prst="rect">
            <a:avLst/>
          </a:prstGeom>
        </p:spPr>
      </p:pic>
      <p:sp>
        <p:nvSpPr>
          <p:cNvPr id="40" name="กล่องข้อความ 2">
            <a:extLst>
              <a:ext uri="{FF2B5EF4-FFF2-40B4-BE49-F238E27FC236}">
                <a16:creationId xmlns:a16="http://schemas.microsoft.com/office/drawing/2014/main" id="{A1C4BF4A-17FC-19D9-D316-690A32F07A2B}"/>
              </a:ext>
            </a:extLst>
          </p:cNvPr>
          <p:cNvSpPr txBox="1"/>
          <p:nvPr/>
        </p:nvSpPr>
        <p:spPr>
          <a:xfrm>
            <a:off x="279400" y="1377950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Step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3 ทีมบัญชี : สามารถเข้ามาดูข้อมูลยอดชดเชยรายได้ในระบบ</a:t>
            </a:r>
          </a:p>
        </p:txBody>
      </p:sp>
      <p:sp>
        <p:nvSpPr>
          <p:cNvPr id="51" name="กล่องข้อความ 20">
            <a:extLst>
              <a:ext uri="{FF2B5EF4-FFF2-40B4-BE49-F238E27FC236}">
                <a16:creationId xmlns:a16="http://schemas.microsoft.com/office/drawing/2014/main" id="{841EC7D8-6090-B867-059E-EB5FE18D71CC}"/>
              </a:ext>
            </a:extLst>
          </p:cNvPr>
          <p:cNvSpPr txBox="1"/>
          <p:nvPr/>
        </p:nvSpPr>
        <p:spPr>
          <a:xfrm>
            <a:off x="614002" y="2542295"/>
            <a:ext cx="9395828" cy="31393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หมายเหตุ:</a:t>
            </a:r>
          </a:p>
          <a:p>
            <a:r>
              <a:rPr lang="th-TH" sz="1800" dirty="0">
                <a:latin typeface="CordiaUPC"/>
                <a:cs typeface="CordiaUPC"/>
              </a:rPr>
              <a:t>[ สถานะ: </a:t>
            </a:r>
            <a:r>
              <a:rPr lang="th-TH" sz="1800" dirty="0" err="1">
                <a:latin typeface="CordiaUPC"/>
                <a:cs typeface="CordiaUPC"/>
              </a:rPr>
              <a:t>Drop</a:t>
            </a:r>
            <a:r>
              <a:rPr lang="th-TH" sz="1800" dirty="0">
                <a:latin typeface="CordiaUPC"/>
                <a:cs typeface="CordiaUPC"/>
              </a:rPr>
              <a:t>-</a:t>
            </a:r>
            <a:r>
              <a:rPr lang="th-TH" sz="1800" dirty="0" err="1">
                <a:latin typeface="CordiaUPC"/>
                <a:cs typeface="CordiaUPC"/>
              </a:rPr>
              <a:t>down</a:t>
            </a:r>
            <a:r>
              <a:rPr lang="th-TH" sz="1800" dirty="0">
                <a:latin typeface="CordiaUPC"/>
                <a:cs typeface="CordiaUPC"/>
              </a:rPr>
              <a:t> ] </a:t>
            </a:r>
            <a:r>
              <a:rPr lang="th-TH" sz="1800" dirty="0">
                <a:solidFill>
                  <a:srgbClr val="FF0000"/>
                </a:solidFill>
                <a:highlight>
                  <a:srgbClr val="FFFF00"/>
                </a:highlight>
                <a:latin typeface="CordiaUPC"/>
                <a:cs typeface="CordiaUPC"/>
              </a:rPr>
              <a:t>บังคับ </a:t>
            </a:r>
            <a:r>
              <a:rPr lang="th-TH" sz="1800" dirty="0" err="1">
                <a:solidFill>
                  <a:srgbClr val="FF0000"/>
                </a:solidFill>
                <a:highlight>
                  <a:srgbClr val="FFFF00"/>
                </a:highlight>
                <a:latin typeface="CordiaUPC"/>
                <a:cs typeface="CordiaUPC"/>
              </a:rPr>
              <a:t>Required</a:t>
            </a:r>
            <a:r>
              <a:rPr lang="th-TH" sz="1800" dirty="0">
                <a:solidFill>
                  <a:srgbClr val="FF0000"/>
                </a:solidFill>
                <a:highlight>
                  <a:srgbClr val="FFFF00"/>
                </a:highlight>
                <a:latin typeface="CordiaUPC"/>
                <a:cs typeface="CordiaUPC"/>
              </a:rPr>
              <a:t> </a:t>
            </a:r>
            <a:r>
              <a:rPr lang="th-TH" sz="1800" dirty="0" err="1">
                <a:solidFill>
                  <a:srgbClr val="FF0000"/>
                </a:solidFill>
                <a:highlight>
                  <a:srgbClr val="FFFF00"/>
                </a:highlight>
                <a:latin typeface="CordiaUPC"/>
                <a:cs typeface="CordiaUPC"/>
              </a:rPr>
              <a:t>Field</a:t>
            </a:r>
            <a:endParaRPr lang="th-TH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th-TH" sz="1800" dirty="0">
                <a:latin typeface="CordiaUPC"/>
                <a:cs typeface="CordiaUPC"/>
              </a:rPr>
              <a:t>[ รหัสร้านถูกกระทบ: </a:t>
            </a:r>
            <a:r>
              <a:rPr lang="th-TH" sz="1800" dirty="0" err="1">
                <a:latin typeface="CordiaUPC"/>
                <a:cs typeface="CordiaUPC"/>
              </a:rPr>
              <a:t>Text</a:t>
            </a:r>
            <a:r>
              <a:rPr lang="th-TH" sz="1800" dirty="0">
                <a:latin typeface="CordiaUPC"/>
                <a:cs typeface="CordiaUPC"/>
              </a:rPr>
              <a:t> </a:t>
            </a:r>
            <a:r>
              <a:rPr lang="th-TH" sz="1800" dirty="0" err="1">
                <a:latin typeface="CordiaUPC"/>
                <a:cs typeface="CordiaUPC"/>
              </a:rPr>
              <a:t>Box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(</a:t>
            </a:r>
            <a:r>
              <a:rPr lang="th-TH" sz="1800" dirty="0" err="1">
                <a:solidFill>
                  <a:srgbClr val="FF0000"/>
                </a:solidFill>
                <a:latin typeface="CordiaUPC"/>
                <a:cs typeface="CordiaUPC"/>
              </a:rPr>
              <a:t>Numeric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 </a:t>
            </a:r>
            <a:r>
              <a:rPr lang="th-TH" sz="1800" dirty="0" err="1">
                <a:solidFill>
                  <a:srgbClr val="FF0000"/>
                </a:solidFill>
                <a:latin typeface="CordiaUPC"/>
                <a:cs typeface="CordiaUPC"/>
              </a:rPr>
              <a:t>input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)</a:t>
            </a:r>
            <a:r>
              <a:rPr lang="th-TH" sz="1800" dirty="0">
                <a:latin typeface="CordiaUPC"/>
                <a:cs typeface="CordiaUPC"/>
              </a:rPr>
              <a:t> ] กรณี ระบุสาขาถูกกระทบ ต้องระบุรหัสที่ถูกเปิดกระทบ</a:t>
            </a:r>
          </a:p>
          <a:p>
            <a:r>
              <a:rPr lang="th-TH" sz="1800" dirty="0">
                <a:latin typeface="CordiaUPC"/>
                <a:cs typeface="CordiaUPC"/>
              </a:rPr>
              <a:t>[ รหัสร้านเปิดกระทบ: </a:t>
            </a:r>
            <a:r>
              <a:rPr lang="th-TH" sz="1800" dirty="0" err="1">
                <a:latin typeface="CordiaUPC"/>
                <a:cs typeface="CordiaUPC"/>
              </a:rPr>
              <a:t>Text</a:t>
            </a:r>
            <a:r>
              <a:rPr lang="th-TH" sz="1800" dirty="0">
                <a:latin typeface="CordiaUPC"/>
                <a:cs typeface="CordiaUPC"/>
              </a:rPr>
              <a:t> </a:t>
            </a:r>
            <a:r>
              <a:rPr lang="th-TH" sz="1800" dirty="0" err="1">
                <a:latin typeface="CordiaUPC"/>
                <a:cs typeface="CordiaUPC"/>
              </a:rPr>
              <a:t>Box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(</a:t>
            </a:r>
            <a:r>
              <a:rPr lang="th-TH" sz="1800" dirty="0" err="1">
                <a:solidFill>
                  <a:srgbClr val="FF0000"/>
                </a:solidFill>
                <a:latin typeface="CordiaUPC"/>
                <a:cs typeface="CordiaUPC"/>
              </a:rPr>
              <a:t>Numeric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 </a:t>
            </a:r>
            <a:r>
              <a:rPr lang="th-TH" sz="1800" dirty="0" err="1">
                <a:solidFill>
                  <a:srgbClr val="FF0000"/>
                </a:solidFill>
                <a:latin typeface="CordiaUPC"/>
                <a:cs typeface="CordiaUPC"/>
              </a:rPr>
              <a:t>input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)</a:t>
            </a:r>
            <a:r>
              <a:rPr lang="th-TH" sz="1800" dirty="0">
                <a:latin typeface="CordiaUPC"/>
                <a:cs typeface="CordiaUPC"/>
              </a:rPr>
              <a:t> ] กรณี ระบุสาขาถูกกระทบ ต้องระบุรหัสที่ถูกเปิดกระทบ</a:t>
            </a:r>
            <a:endParaRPr lang="th-TH" dirty="0"/>
          </a:p>
          <a:p>
            <a:r>
              <a:rPr lang="th-TH" sz="1800" dirty="0">
                <a:latin typeface="CordiaUPC"/>
                <a:cs typeface="CordiaUPC"/>
              </a:rPr>
              <a:t>[ </a:t>
            </a:r>
            <a:r>
              <a:rPr lang="th-TH" sz="1800" dirty="0" err="1">
                <a:latin typeface="CordiaUPC"/>
                <a:cs typeface="CordiaUPC"/>
              </a:rPr>
              <a:t>Period</a:t>
            </a:r>
            <a:r>
              <a:rPr lang="th-TH" sz="1800" dirty="0">
                <a:latin typeface="CordiaUPC"/>
                <a:cs typeface="CordiaUPC"/>
              </a:rPr>
              <a:t> </a:t>
            </a:r>
            <a:r>
              <a:rPr lang="th-TH" sz="1800" dirty="0" err="1">
                <a:latin typeface="CordiaUPC"/>
                <a:cs typeface="CordiaUPC"/>
              </a:rPr>
              <a:t>Statement</a:t>
            </a:r>
            <a:r>
              <a:rPr lang="th-TH" sz="1800" dirty="0">
                <a:latin typeface="CordiaUPC"/>
                <a:cs typeface="CordiaUPC"/>
              </a:rPr>
              <a:t> : </a:t>
            </a:r>
            <a:r>
              <a:rPr lang="th-TH" sz="1800" dirty="0" err="1">
                <a:latin typeface="CordiaUPC"/>
                <a:cs typeface="CordiaUPC"/>
              </a:rPr>
              <a:t>Text</a:t>
            </a:r>
            <a:r>
              <a:rPr lang="th-TH" sz="1800" dirty="0">
                <a:latin typeface="CordiaUPC"/>
                <a:cs typeface="CordiaUPC"/>
              </a:rPr>
              <a:t> </a:t>
            </a:r>
            <a:r>
              <a:rPr lang="th-TH" sz="1800" dirty="0" err="1">
                <a:latin typeface="CordiaUPC"/>
                <a:cs typeface="CordiaUPC"/>
              </a:rPr>
              <a:t>Box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(</a:t>
            </a:r>
            <a:r>
              <a:rPr lang="th-TH" sz="1800" dirty="0" err="1">
                <a:solidFill>
                  <a:srgbClr val="FF0000"/>
                </a:solidFill>
                <a:latin typeface="CordiaUPC"/>
                <a:cs typeface="CordiaUPC"/>
              </a:rPr>
              <a:t>Numeric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 </a:t>
            </a:r>
            <a:r>
              <a:rPr lang="th-TH" sz="1800" dirty="0" err="1">
                <a:solidFill>
                  <a:srgbClr val="FF0000"/>
                </a:solidFill>
                <a:latin typeface="CordiaUPC"/>
                <a:cs typeface="CordiaUPC"/>
              </a:rPr>
              <a:t>input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) </a:t>
            </a:r>
            <a:r>
              <a:rPr lang="th-TH" sz="1800" dirty="0">
                <a:latin typeface="CordiaUPC"/>
                <a:cs typeface="CordiaUPC"/>
              </a:rPr>
              <a:t>] แสดง </a:t>
            </a:r>
            <a:r>
              <a:rPr lang="th-TH" sz="1800" dirty="0" err="1">
                <a:latin typeface="CordiaUPC"/>
                <a:cs typeface="CordiaUPC"/>
              </a:rPr>
              <a:t>Calendar</a:t>
            </a:r>
            <a:r>
              <a:rPr lang="th-TH" sz="1800" dirty="0">
                <a:latin typeface="CordiaUPC"/>
                <a:cs typeface="CordiaUPC"/>
              </a:rPr>
              <a:t> เพื่อเลือก วัน/เดือน/ปี(ค.ศ.) หรือกรอกเองได้ ไม่อิงสถานะ</a:t>
            </a:r>
          </a:p>
          <a:p>
            <a:r>
              <a:rPr lang="th-TH" sz="1800" dirty="0">
                <a:latin typeface="CordiaUPC"/>
                <a:cs typeface="CordiaUPC"/>
              </a:rPr>
              <a:t>[ ประเภทร้าน: </a:t>
            </a:r>
            <a:r>
              <a:rPr lang="th-TH" sz="1800" dirty="0" err="1">
                <a:latin typeface="CordiaUPC"/>
                <a:cs typeface="CordiaUPC"/>
              </a:rPr>
              <a:t>Checkbox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(เลือกได้หลายปุ่ม)</a:t>
            </a:r>
            <a:r>
              <a:rPr lang="th-TH" sz="1800" dirty="0">
                <a:latin typeface="CordiaUPC"/>
                <a:cs typeface="CordiaUPC"/>
              </a:rPr>
              <a:t> ]</a:t>
            </a:r>
            <a:endParaRPr lang="th-TH" dirty="0"/>
          </a:p>
          <a:p>
            <a:r>
              <a:rPr lang="th-TH" sz="1800" dirty="0">
                <a:latin typeface="CordiaUPC"/>
                <a:cs typeface="CordiaUPC"/>
              </a:rPr>
              <a:t>[ ภาค: </a:t>
            </a:r>
            <a:r>
              <a:rPr lang="th-TH" sz="1800" dirty="0" err="1">
                <a:latin typeface="CordiaUPC"/>
                <a:cs typeface="CordiaUPC"/>
              </a:rPr>
              <a:t>Checkbox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(เลือกได้หลายปุ่ม)</a:t>
            </a:r>
            <a:r>
              <a:rPr lang="th-TH" sz="1800" dirty="0">
                <a:latin typeface="CordiaUPC"/>
                <a:cs typeface="CordiaUPC"/>
              </a:rPr>
              <a:t> ] 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หมายเหตุ กรณีมีการเพิ่มภาคในระบบ ให้แสดง </a:t>
            </a:r>
            <a:r>
              <a:rPr lang="th-TH" sz="1800" dirty="0" err="1">
                <a:solidFill>
                  <a:srgbClr val="FF0000"/>
                </a:solidFill>
                <a:latin typeface="CordiaUPC"/>
                <a:cs typeface="CordiaUPC"/>
              </a:rPr>
              <a:t>Checkbox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 เพิ่มแบบ Auto โดยไม่ต้องแก้หน้าจอ</a:t>
            </a:r>
            <a:endParaRPr lang="th-TH" dirty="0">
              <a:solidFill>
                <a:srgbClr val="FF0000"/>
              </a:solidFill>
            </a:endParaRPr>
          </a:p>
          <a:p>
            <a:r>
              <a:rPr lang="th-TH" sz="1800" dirty="0">
                <a:latin typeface="CordiaUPC"/>
                <a:cs typeface="CordiaUPC"/>
              </a:rPr>
              <a:t>[ ผลการพิจารณา: </a:t>
            </a:r>
            <a:r>
              <a:rPr lang="th-TH" sz="1800" dirty="0" err="1">
                <a:latin typeface="CordiaUPC"/>
                <a:cs typeface="CordiaUPC"/>
              </a:rPr>
              <a:t>Radio</a:t>
            </a:r>
            <a:r>
              <a:rPr lang="th-TH" sz="1800" dirty="0">
                <a:latin typeface="CordiaUPC"/>
                <a:cs typeface="CordiaUPC"/>
              </a:rPr>
              <a:t> </a:t>
            </a:r>
            <a:r>
              <a:rPr lang="th-TH" sz="1800" dirty="0">
                <a:solidFill>
                  <a:srgbClr val="FF0000"/>
                </a:solidFill>
                <a:latin typeface="CordiaUPC"/>
                <a:cs typeface="CordiaUPC"/>
              </a:rPr>
              <a:t>(เลือกอย่างใดอย่างหนึ่ง)</a:t>
            </a:r>
            <a:r>
              <a:rPr lang="th-TH" sz="1800" dirty="0">
                <a:latin typeface="CordiaUPC"/>
                <a:cs typeface="CordiaUPC"/>
              </a:rPr>
              <a:t> ]</a:t>
            </a:r>
          </a:p>
          <a:p>
            <a:r>
              <a:rPr lang="th-TH" sz="1800" dirty="0">
                <a:latin typeface="CordiaUPC"/>
                <a:cs typeface="CordiaUPC"/>
              </a:rPr>
              <a:t>[ค้นหาข้อมูล] กรณีที่เลือกข้อมูลและประมวลผล เพ</a:t>
            </a:r>
            <a:r>
              <a:rPr lang="th-TH" sz="1800" dirty="0" err="1">
                <a:latin typeface="CordiaUPC"/>
                <a:cs typeface="CordiaUPC"/>
              </a:rPr>
              <a:t>ื่</a:t>
            </a:r>
            <a:r>
              <a:rPr lang="th-TH" sz="1800" dirty="0">
                <a:latin typeface="CordiaUPC"/>
                <a:cs typeface="CordiaUPC"/>
              </a:rPr>
              <a:t>ออ</a:t>
            </a:r>
            <a:r>
              <a:rPr lang="th-TH" sz="1800" dirty="0" err="1">
                <a:latin typeface="CordiaUPC"/>
                <a:cs typeface="CordiaUPC"/>
              </a:rPr>
              <a:t>ัป</a:t>
            </a:r>
            <a:r>
              <a:rPr lang="th-TH" sz="1800" dirty="0">
                <a:latin typeface="CordiaUPC"/>
                <a:cs typeface="CordiaUPC"/>
              </a:rPr>
              <a:t>เดตข้อมูลในตาราง</a:t>
            </a:r>
            <a:endParaRPr lang="th-TH" sz="1800" b="0" dirty="0">
              <a:latin typeface="CordiaUPC"/>
              <a:cs typeface="CordiaUPC"/>
            </a:endParaRPr>
          </a:p>
          <a:p>
            <a:r>
              <a:rPr lang="th-TH" sz="1800" dirty="0">
                <a:latin typeface="CordiaUPC"/>
                <a:cs typeface="CordiaUPC"/>
              </a:rPr>
              <a:t>[</a:t>
            </a:r>
            <a:r>
              <a:rPr lang="th-TH" sz="1800" dirty="0" err="1">
                <a:latin typeface="CordiaUPC"/>
                <a:cs typeface="CordiaUPC"/>
              </a:rPr>
              <a:t>Export</a:t>
            </a:r>
            <a:r>
              <a:rPr lang="th-TH" sz="1800" dirty="0">
                <a:latin typeface="CordiaUPC"/>
                <a:cs typeface="CordiaUPC"/>
              </a:rPr>
              <a:t> Excel] </a:t>
            </a:r>
            <a:r>
              <a:rPr lang="th-TH" sz="1800" dirty="0" err="1">
                <a:latin typeface="CordiaUPC"/>
                <a:cs typeface="CordiaUPC"/>
              </a:rPr>
              <a:t>Export</a:t>
            </a:r>
            <a:r>
              <a:rPr lang="th-TH" sz="1800" dirty="0">
                <a:latin typeface="CordiaUPC"/>
                <a:cs typeface="CordiaUPC"/>
              </a:rPr>
              <a:t> Excel</a:t>
            </a:r>
            <a:endParaRPr lang="en-US" sz="1800" b="0" dirty="0">
              <a:latin typeface="CordiaUPC"/>
              <a:cs typeface="Tahoma"/>
            </a:endParaRPr>
          </a:p>
          <a:p>
            <a:r>
              <a:rPr lang="th-TH" sz="1800" dirty="0">
                <a:latin typeface="CordiaUPC"/>
                <a:cs typeface="CordiaUPC"/>
              </a:rPr>
              <a:t>[เคลียร์ค่าเริ่มต้น] สำหรับล้างข้อมูลเพื่อเริ่มกรอกใหม่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3923605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807CB-FE5F-D1B5-9B0C-BCC7F1F69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C303888-3414-9A05-FC07-6E9D9B0EDF85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470748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1.9 To-Be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 Business Process</a:t>
            </a:r>
            <a:r>
              <a:rPr lang="en-US" altLang="en-US" u="sng">
                <a:latin typeface="CordiaUPC"/>
                <a:ea typeface="Tahoma"/>
                <a:cs typeface="CordiaUPC"/>
              </a:rPr>
              <a:t> 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54" name="กล่องข้อความ 53">
            <a:extLst>
              <a:ext uri="{FF2B5EF4-FFF2-40B4-BE49-F238E27FC236}">
                <a16:creationId xmlns:a16="http://schemas.microsoft.com/office/drawing/2014/main" id="{0DFA1048-76F7-0B3E-F3E0-5F8423647B85}"/>
              </a:ext>
            </a:extLst>
          </p:cNvPr>
          <p:cNvSpPr txBox="1"/>
          <p:nvPr/>
        </p:nvSpPr>
        <p:spPr>
          <a:xfrm>
            <a:off x="623847" y="860050"/>
            <a:ext cx="1027725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2400">
                <a:highlight>
                  <a:srgbClr val="C0C0C0"/>
                </a:highlight>
                <a:latin typeface="BrowalliaUPC"/>
                <a:cs typeface="BrowalliaUPC"/>
              </a:rPr>
              <a:t>3. ปรับระบบยกเลิก Process บัญชี SBP ในการ Approve ค่าใช้จ่าย ในการชดเชยรายได้</a:t>
            </a:r>
            <a:r>
              <a:rPr lang="en-US" sz="2800" b="0">
                <a:latin typeface="BrowalliaUPC"/>
                <a:cs typeface="Tahoma"/>
              </a:rPr>
              <a:t>้</a:t>
            </a:r>
          </a:p>
          <a:p>
            <a:pPr algn="l"/>
            <a:endParaRPr lang="en-US" b="0">
              <a:cs typeface="Tahoma"/>
            </a:endParaRPr>
          </a:p>
          <a:p>
            <a:endParaRPr lang="th-TH"/>
          </a:p>
        </p:txBody>
      </p:sp>
      <p:sp>
        <p:nvSpPr>
          <p:cNvPr id="2" name="กล่องข้อความ 14">
            <a:extLst>
              <a:ext uri="{FF2B5EF4-FFF2-40B4-BE49-F238E27FC236}">
                <a16:creationId xmlns:a16="http://schemas.microsoft.com/office/drawing/2014/main" id="{F432E24D-5F15-6967-30DC-0F7CCA63C03D}"/>
              </a:ext>
            </a:extLst>
          </p:cNvPr>
          <p:cNvSpPr txBox="1"/>
          <p:nvPr/>
        </p:nvSpPr>
        <p:spPr>
          <a:xfrm>
            <a:off x="9999785" y="844433"/>
            <a:ext cx="2743200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hlinkClick r:id="rId3"/>
              </a:rPr>
              <a:t>ภาคตาม Area และตารางข้อมูล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A3694C8-370D-17FF-625F-72A13545E957}"/>
              </a:ext>
            </a:extLst>
          </p:cNvPr>
          <p:cNvSpPr txBox="1">
            <a:spLocks/>
          </p:cNvSpPr>
          <p:nvPr/>
        </p:nvSpPr>
        <p:spPr bwMode="auto">
          <a:xfrm>
            <a:off x="462916" y="1752599"/>
            <a:ext cx="699874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marL="9144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marL="13716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marL="18288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sz="2800">
                <a:latin typeface="CordiaUPC"/>
                <a:ea typeface="Tahoma"/>
                <a:cs typeface="CordiaUPC"/>
              </a:rPr>
              <a:t>1.</a:t>
            </a:r>
            <a:r>
              <a:rPr lang="th-TH" altLang="en-US" sz="2800">
                <a:latin typeface="CordiaUPC"/>
                <a:ea typeface="Tahoma"/>
                <a:cs typeface="CordiaUPC"/>
              </a:rPr>
              <a:t> ออกแบบหรือสร้าง </a:t>
            </a:r>
            <a:r>
              <a:rPr lang="en-US" altLang="en-US" sz="2800">
                <a:latin typeface="CordiaUPC"/>
                <a:ea typeface="Tahoma"/>
                <a:cs typeface="CordiaUPC"/>
              </a:rPr>
              <a:t>Menu </a:t>
            </a:r>
            <a:r>
              <a:rPr lang="th-TH" altLang="en-US" sz="2800">
                <a:latin typeface="CordiaUPC"/>
                <a:ea typeface="Tahoma"/>
                <a:cs typeface="CordiaUPC"/>
              </a:rPr>
              <a:t>ใหม่ในระบบ </a:t>
            </a:r>
            <a:r>
              <a:rPr lang="en-US" altLang="en-US" sz="2800">
                <a:latin typeface="CordiaUPC"/>
                <a:ea typeface="Tahoma"/>
                <a:cs typeface="CordiaUPC"/>
              </a:rPr>
              <a:t>SBP Mall</a:t>
            </a:r>
            <a:endParaRPr lang="th-TH" altLang="en-US" sz="2800" b="1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29FE6A61-8E1C-42C3-13E5-36B05643606D}"/>
              </a:ext>
            </a:extLst>
          </p:cNvPr>
          <p:cNvSpPr txBox="1"/>
          <p:nvPr/>
        </p:nvSpPr>
        <p:spPr>
          <a:xfrm>
            <a:off x="6265223" y="1930952"/>
            <a:ext cx="6096000" cy="4370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r>
              <a:rPr lang="th-TH"/>
              <a:t>✅  </a:t>
            </a:r>
            <a:r>
              <a:rPr lang="en-US"/>
              <a:t>Menu                   &gt;</a:t>
            </a:r>
            <a:r>
              <a:rPr lang="th-TH"/>
              <a:t>   </a:t>
            </a:r>
            <a:r>
              <a:rPr lang="th-TH" sz="2200">
                <a:latin typeface="CordiaUPC" panose="020B0304020202020204" pitchFamily="34" charset="-34"/>
                <a:cs typeface="CordiaUPC" panose="020B0304020202020204" pitchFamily="34" charset="-34"/>
              </a:rPr>
              <a:t>รายงานตรวจสอบประกันรายได้</a:t>
            </a:r>
          </a:p>
        </p:txBody>
      </p:sp>
      <p:pic>
        <p:nvPicPr>
          <p:cNvPr id="6" name="Picture 83">
            <a:extLst>
              <a:ext uri="{FF2B5EF4-FFF2-40B4-BE49-F238E27FC236}">
                <a16:creationId xmlns:a16="http://schemas.microsoft.com/office/drawing/2014/main" id="{D4836FE5-EB84-B037-1C62-4F6ED6F5D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995" y="1945512"/>
            <a:ext cx="794658" cy="360539"/>
          </a:xfrm>
          <a:prstGeom prst="rect">
            <a:avLst/>
          </a:prstGeom>
        </p:spPr>
      </p:pic>
      <p:grpSp>
        <p:nvGrpSpPr>
          <p:cNvPr id="7" name="กลุ่ม 6">
            <a:extLst>
              <a:ext uri="{FF2B5EF4-FFF2-40B4-BE49-F238E27FC236}">
                <a16:creationId xmlns:a16="http://schemas.microsoft.com/office/drawing/2014/main" id="{2C19866A-7576-F886-7D8C-086EC2753F5E}"/>
              </a:ext>
            </a:extLst>
          </p:cNvPr>
          <p:cNvGrpSpPr/>
          <p:nvPr/>
        </p:nvGrpSpPr>
        <p:grpSpPr>
          <a:xfrm>
            <a:off x="18379" y="2321974"/>
            <a:ext cx="12194434" cy="5718615"/>
            <a:chOff x="18379" y="1143255"/>
            <a:chExt cx="12194434" cy="5718615"/>
          </a:xfrm>
        </p:grpSpPr>
        <p:sp>
          <p:nvSpPr>
            <p:cNvPr id="48" name="สี่เหลี่ยมผืนผ้า 47">
              <a:extLst>
                <a:ext uri="{FF2B5EF4-FFF2-40B4-BE49-F238E27FC236}">
                  <a16:creationId xmlns:a16="http://schemas.microsoft.com/office/drawing/2014/main" id="{603AF840-1264-1FCA-91A1-9EE7DD39404B}"/>
                </a:ext>
              </a:extLst>
            </p:cNvPr>
            <p:cNvSpPr/>
            <p:nvPr/>
          </p:nvSpPr>
          <p:spPr>
            <a:xfrm>
              <a:off x="18379" y="1143255"/>
              <a:ext cx="12194434" cy="571861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  <p:sp>
          <p:nvSpPr>
            <p:cNvPr id="49" name="สี่เหลี่ยมผืนผ้า: มุมมน 48">
              <a:extLst>
                <a:ext uri="{FF2B5EF4-FFF2-40B4-BE49-F238E27FC236}">
                  <a16:creationId xmlns:a16="http://schemas.microsoft.com/office/drawing/2014/main" id="{99A224E8-4EE3-BF4D-6AD5-53DABB7CF634}"/>
                </a:ext>
              </a:extLst>
            </p:cNvPr>
            <p:cNvSpPr/>
            <p:nvPr/>
          </p:nvSpPr>
          <p:spPr>
            <a:xfrm>
              <a:off x="150551" y="1204669"/>
              <a:ext cx="12033467" cy="319888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h-TH"/>
            </a:p>
          </p:txBody>
        </p:sp>
      </p:grpSp>
      <p:sp>
        <p:nvSpPr>
          <p:cNvPr id="8" name="กล่องข้อความ 43">
            <a:extLst>
              <a:ext uri="{FF2B5EF4-FFF2-40B4-BE49-F238E27FC236}">
                <a16:creationId xmlns:a16="http://schemas.microsoft.com/office/drawing/2014/main" id="{0E5E556E-9D9A-35BE-284E-FC72AF848265}"/>
              </a:ext>
            </a:extLst>
          </p:cNvPr>
          <p:cNvSpPr txBox="1"/>
          <p:nvPr/>
        </p:nvSpPr>
        <p:spPr>
          <a:xfrm>
            <a:off x="796753" y="2674734"/>
            <a:ext cx="1279503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r>
              <a:rPr lang="th-TH" sz="2000">
                <a:latin typeface="CordiaUPC"/>
                <a:cs typeface="CordiaUPC"/>
              </a:rPr>
              <a:t>สถานะ</a:t>
            </a:r>
            <a:r>
              <a:rPr lang="th-TH" sz="2000">
                <a:solidFill>
                  <a:srgbClr val="FF0000"/>
                </a:solidFill>
                <a:latin typeface="CordiaUPC"/>
                <a:cs typeface="CordiaUPC"/>
              </a:rPr>
              <a:t>*</a:t>
            </a:r>
          </a:p>
        </p:txBody>
      </p:sp>
      <p:pic>
        <p:nvPicPr>
          <p:cNvPr id="9" name="รูปภาพ 8">
            <a:extLst>
              <a:ext uri="{FF2B5EF4-FFF2-40B4-BE49-F238E27FC236}">
                <a16:creationId xmlns:a16="http://schemas.microsoft.com/office/drawing/2014/main" id="{564A0B04-F695-8289-1937-B41485922E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5668" y="3105367"/>
            <a:ext cx="299027" cy="164522"/>
          </a:xfrm>
          <a:prstGeom prst="rect">
            <a:avLst/>
          </a:prstGeom>
        </p:spPr>
      </p:pic>
      <p:sp>
        <p:nvSpPr>
          <p:cNvPr id="10" name="กล่องข้อความ 47">
            <a:extLst>
              <a:ext uri="{FF2B5EF4-FFF2-40B4-BE49-F238E27FC236}">
                <a16:creationId xmlns:a16="http://schemas.microsoft.com/office/drawing/2014/main" id="{023A3A3C-663C-BDD2-B370-F75A4ECA9A47}"/>
              </a:ext>
            </a:extLst>
          </p:cNvPr>
          <p:cNvSpPr txBox="1"/>
          <p:nvPr/>
        </p:nvSpPr>
        <p:spPr>
          <a:xfrm>
            <a:off x="9108709" y="4084444"/>
            <a:ext cx="1595683" cy="338554"/>
          </a:xfrm>
          <a:prstGeom prst="rect">
            <a:avLst/>
          </a:prstGeom>
          <a:solidFill>
            <a:srgbClr val="0070C0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ctr"/>
            <a:r>
              <a:rPr lang="th-TH" err="1">
                <a:solidFill>
                  <a:schemeClr val="bg1"/>
                </a:solidFill>
                <a:latin typeface="CordiaUPC"/>
                <a:cs typeface="CordiaUPC"/>
              </a:rPr>
              <a:t>Preview</a:t>
            </a:r>
            <a:r>
              <a:rPr lang="th-TH">
                <a:solidFill>
                  <a:schemeClr val="bg1"/>
                </a:solidFill>
                <a:latin typeface="CordiaUPC"/>
                <a:cs typeface="CordiaUPC"/>
              </a:rPr>
              <a:t> </a:t>
            </a:r>
            <a:r>
              <a:rPr lang="th-TH" err="1">
                <a:solidFill>
                  <a:schemeClr val="bg1"/>
                </a:solidFill>
                <a:latin typeface="CordiaUPC"/>
                <a:cs typeface="CordiaUPC"/>
              </a:rPr>
              <a:t>Report</a:t>
            </a:r>
            <a:endParaRPr lang="th-TH">
              <a:solidFill>
                <a:schemeClr val="bg1"/>
              </a:solidFill>
              <a:latin typeface="CordiaUPC"/>
              <a:cs typeface="CordiaUPC"/>
            </a:endParaRPr>
          </a:p>
        </p:txBody>
      </p:sp>
      <p:sp>
        <p:nvSpPr>
          <p:cNvPr id="11" name="กล่องข้อความ 48">
            <a:extLst>
              <a:ext uri="{FF2B5EF4-FFF2-40B4-BE49-F238E27FC236}">
                <a16:creationId xmlns:a16="http://schemas.microsoft.com/office/drawing/2014/main" id="{FCDF8542-7EFF-D399-854F-05EF5E0F05B0}"/>
              </a:ext>
            </a:extLst>
          </p:cNvPr>
          <p:cNvSpPr txBox="1"/>
          <p:nvPr/>
        </p:nvSpPr>
        <p:spPr>
          <a:xfrm>
            <a:off x="9110662" y="4541644"/>
            <a:ext cx="1589290" cy="338554"/>
          </a:xfrm>
          <a:prstGeom prst="rect">
            <a:avLst/>
          </a:prstGeom>
          <a:solidFill>
            <a:srgbClr val="00B050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r>
              <a:rPr lang="th-TH" err="1">
                <a:solidFill>
                  <a:schemeClr val="bg1"/>
                </a:solidFill>
                <a:latin typeface="CordiaUPC"/>
                <a:cs typeface="CordiaUPC"/>
              </a:rPr>
              <a:t>Export</a:t>
            </a:r>
            <a:r>
              <a:rPr lang="th-TH">
                <a:solidFill>
                  <a:schemeClr val="bg1"/>
                </a:solidFill>
                <a:latin typeface="CordiaUPC"/>
                <a:cs typeface="CordiaUPC"/>
              </a:rPr>
              <a:t> CSV </a:t>
            </a:r>
            <a:r>
              <a:rPr lang="th-TH" err="1">
                <a:solidFill>
                  <a:schemeClr val="bg1"/>
                </a:solidFill>
                <a:latin typeface="CordiaUPC"/>
                <a:cs typeface="CordiaUPC"/>
              </a:rPr>
              <a:t>to</a:t>
            </a:r>
            <a:r>
              <a:rPr lang="th-TH">
                <a:solidFill>
                  <a:schemeClr val="bg1"/>
                </a:solidFill>
                <a:latin typeface="CordiaUPC"/>
                <a:cs typeface="CordiaUPC"/>
              </a:rPr>
              <a:t> </a:t>
            </a:r>
            <a:r>
              <a:rPr lang="th-TH" err="1">
                <a:solidFill>
                  <a:schemeClr val="bg1"/>
                </a:solidFill>
                <a:latin typeface="CordiaUPC"/>
                <a:cs typeface="CordiaUPC"/>
              </a:rPr>
              <a:t>Batch</a:t>
            </a:r>
            <a:endParaRPr lang="th-TH" err="1">
              <a:solidFill>
                <a:schemeClr val="bg1"/>
              </a:solidFill>
            </a:endParaRPr>
          </a:p>
        </p:txBody>
      </p:sp>
      <p:sp>
        <p:nvSpPr>
          <p:cNvPr id="12" name="กล่องข้อความ 49">
            <a:extLst>
              <a:ext uri="{FF2B5EF4-FFF2-40B4-BE49-F238E27FC236}">
                <a16:creationId xmlns:a16="http://schemas.microsoft.com/office/drawing/2014/main" id="{13A99B35-B0EB-8ADF-2DB6-D2AAF706F452}"/>
              </a:ext>
            </a:extLst>
          </p:cNvPr>
          <p:cNvSpPr txBox="1"/>
          <p:nvPr/>
        </p:nvSpPr>
        <p:spPr>
          <a:xfrm>
            <a:off x="9962184" y="5045734"/>
            <a:ext cx="746472" cy="33855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r>
              <a:rPr lang="th-TH">
                <a:solidFill>
                  <a:schemeClr val="bg1"/>
                </a:solidFill>
                <a:latin typeface="CordiaUPC"/>
                <a:cs typeface="CordiaUPC"/>
              </a:rPr>
              <a:t>ย้อนกลับ</a:t>
            </a:r>
            <a:endParaRPr lang="th-TH"/>
          </a:p>
        </p:txBody>
      </p:sp>
      <p:grpSp>
        <p:nvGrpSpPr>
          <p:cNvPr id="13" name="กลุ่ม 12">
            <a:extLst>
              <a:ext uri="{FF2B5EF4-FFF2-40B4-BE49-F238E27FC236}">
                <a16:creationId xmlns:a16="http://schemas.microsoft.com/office/drawing/2014/main" id="{EA3DB37E-D8D6-D395-D84C-C48ED8C84E9E}"/>
              </a:ext>
            </a:extLst>
          </p:cNvPr>
          <p:cNvGrpSpPr/>
          <p:nvPr/>
        </p:nvGrpSpPr>
        <p:grpSpPr>
          <a:xfrm>
            <a:off x="5244062" y="2875090"/>
            <a:ext cx="1637411" cy="984976"/>
            <a:chOff x="5244062" y="1696371"/>
            <a:chExt cx="1637411" cy="984976"/>
          </a:xfrm>
        </p:grpSpPr>
        <p:sp>
          <p:nvSpPr>
            <p:cNvPr id="42" name="กล่องข้อความ 51">
              <a:extLst>
                <a:ext uri="{FF2B5EF4-FFF2-40B4-BE49-F238E27FC236}">
                  <a16:creationId xmlns:a16="http://schemas.microsoft.com/office/drawing/2014/main" id="{BFEFF5FC-4F69-3C76-8A91-A27BE91AD2CE}"/>
                </a:ext>
              </a:extLst>
            </p:cNvPr>
            <p:cNvSpPr txBox="1"/>
            <p:nvPr/>
          </p:nvSpPr>
          <p:spPr>
            <a:xfrm>
              <a:off x="5244062" y="1696371"/>
              <a:ext cx="1279503" cy="400110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5pPr>
              <a:lvl6pPr marL="22860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6pPr>
              <a:lvl7pPr marL="27432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7pPr>
              <a:lvl8pPr marL="32004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8pPr>
              <a:lvl9pPr marL="36576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9pPr>
            </a:lstStyle>
            <a:p>
              <a:pPr algn="l"/>
              <a:r>
                <a:rPr lang="th-TH" sz="2000">
                  <a:latin typeface="CordiaUPC"/>
                  <a:cs typeface="CordiaUPC"/>
                </a:rPr>
                <a:t>ประเภทร้าน</a:t>
              </a:r>
            </a:p>
          </p:txBody>
        </p:sp>
        <p:sp>
          <p:nvSpPr>
            <p:cNvPr id="43" name="กล่องข้อความ 52">
              <a:extLst>
                <a:ext uri="{FF2B5EF4-FFF2-40B4-BE49-F238E27FC236}">
                  <a16:creationId xmlns:a16="http://schemas.microsoft.com/office/drawing/2014/main" id="{D67A6337-F2F7-74A1-CA80-8FB2397CED3C}"/>
                </a:ext>
              </a:extLst>
            </p:cNvPr>
            <p:cNvSpPr txBox="1"/>
            <p:nvPr/>
          </p:nvSpPr>
          <p:spPr>
            <a:xfrm>
              <a:off x="5388128" y="2068459"/>
              <a:ext cx="210907" cy="19684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5pPr>
              <a:lvl6pPr marL="22860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6pPr>
              <a:lvl7pPr marL="27432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7pPr>
              <a:lvl8pPr marL="32004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8pPr>
              <a:lvl9pPr marL="36576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9pPr>
            </a:lstStyle>
            <a:p>
              <a:pPr algn="l"/>
              <a:endParaRPr lang="th-TH"/>
            </a:p>
          </p:txBody>
        </p:sp>
        <p:sp>
          <p:nvSpPr>
            <p:cNvPr id="44" name="กล่องข้อความ 53">
              <a:extLst>
                <a:ext uri="{FF2B5EF4-FFF2-40B4-BE49-F238E27FC236}">
                  <a16:creationId xmlns:a16="http://schemas.microsoft.com/office/drawing/2014/main" id="{EE523130-8083-C145-5001-B4A5A87E1B9D}"/>
                </a:ext>
              </a:extLst>
            </p:cNvPr>
            <p:cNvSpPr txBox="1"/>
            <p:nvPr/>
          </p:nvSpPr>
          <p:spPr>
            <a:xfrm>
              <a:off x="5601970" y="1973461"/>
              <a:ext cx="1279503" cy="70788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5pPr>
              <a:lvl6pPr marL="22860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6pPr>
              <a:lvl7pPr marL="27432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7pPr>
              <a:lvl8pPr marL="32004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8pPr>
              <a:lvl9pPr marL="36576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9pPr>
            </a:lstStyle>
            <a:p>
              <a:r>
                <a:rPr lang="th-TH" sz="2000" b="0">
                  <a:latin typeface="CordiaUPC"/>
                  <a:cs typeface="CordiaUPC"/>
                </a:rPr>
                <a:t>A         B     </a:t>
              </a:r>
            </a:p>
            <a:p>
              <a:r>
                <a:rPr lang="th-TH" sz="2000" b="0">
                  <a:latin typeface="CordiaUPC"/>
                  <a:cs typeface="CordiaUPC"/>
                </a:rPr>
                <a:t>C         D</a:t>
              </a:r>
            </a:p>
          </p:txBody>
        </p:sp>
        <p:sp>
          <p:nvSpPr>
            <p:cNvPr id="45" name="กล่องข้อความ 54">
              <a:extLst>
                <a:ext uri="{FF2B5EF4-FFF2-40B4-BE49-F238E27FC236}">
                  <a16:creationId xmlns:a16="http://schemas.microsoft.com/office/drawing/2014/main" id="{F583E041-3432-E60C-F95A-8995656B9312}"/>
                </a:ext>
              </a:extLst>
            </p:cNvPr>
            <p:cNvSpPr txBox="1"/>
            <p:nvPr/>
          </p:nvSpPr>
          <p:spPr>
            <a:xfrm>
              <a:off x="5388128" y="2345549"/>
              <a:ext cx="210907" cy="19684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5pPr>
              <a:lvl6pPr marL="22860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6pPr>
              <a:lvl7pPr marL="27432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7pPr>
              <a:lvl8pPr marL="32004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8pPr>
              <a:lvl9pPr marL="36576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9pPr>
            </a:lstStyle>
            <a:p>
              <a:pPr algn="l"/>
              <a:endParaRPr lang="th-TH"/>
            </a:p>
          </p:txBody>
        </p:sp>
        <p:sp>
          <p:nvSpPr>
            <p:cNvPr id="46" name="กล่องข้อความ 55">
              <a:extLst>
                <a:ext uri="{FF2B5EF4-FFF2-40B4-BE49-F238E27FC236}">
                  <a16:creationId xmlns:a16="http://schemas.microsoft.com/office/drawing/2014/main" id="{DF6301AC-0A92-A391-6064-D0FA899CE8C7}"/>
                </a:ext>
              </a:extLst>
            </p:cNvPr>
            <p:cNvSpPr txBox="1"/>
            <p:nvPr/>
          </p:nvSpPr>
          <p:spPr>
            <a:xfrm>
              <a:off x="5965400" y="2345549"/>
              <a:ext cx="210907" cy="19684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5pPr>
              <a:lvl6pPr marL="22860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6pPr>
              <a:lvl7pPr marL="27432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7pPr>
              <a:lvl8pPr marL="32004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8pPr>
              <a:lvl9pPr marL="36576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9pPr>
            </a:lstStyle>
            <a:p>
              <a:pPr algn="l"/>
              <a:endParaRPr lang="th-TH"/>
            </a:p>
          </p:txBody>
        </p:sp>
        <p:sp>
          <p:nvSpPr>
            <p:cNvPr id="47" name="กล่องข้อความ 56">
              <a:extLst>
                <a:ext uri="{FF2B5EF4-FFF2-40B4-BE49-F238E27FC236}">
                  <a16:creationId xmlns:a16="http://schemas.microsoft.com/office/drawing/2014/main" id="{B069AB7A-0D40-2E92-4D75-64F32D036F81}"/>
                </a:ext>
              </a:extLst>
            </p:cNvPr>
            <p:cNvSpPr txBox="1"/>
            <p:nvPr/>
          </p:nvSpPr>
          <p:spPr>
            <a:xfrm>
              <a:off x="5965400" y="2056913"/>
              <a:ext cx="210907" cy="19684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5pPr>
              <a:lvl6pPr marL="22860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6pPr>
              <a:lvl7pPr marL="27432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7pPr>
              <a:lvl8pPr marL="32004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8pPr>
              <a:lvl9pPr marL="3657600" algn="l" defTabSz="914400" rtl="0" eaLnBrk="1" latinLnBrk="0" hangingPunct="1">
                <a:defRPr sz="1600" b="1" kern="1200">
                  <a:solidFill>
                    <a:schemeClr val="tx1"/>
                  </a:solidFill>
                  <a:latin typeface="Arial" charset="0"/>
                  <a:ea typeface="+mn-ea"/>
                  <a:cs typeface="Angsana New" charset="-34"/>
                </a:defRPr>
              </a:lvl9pPr>
            </a:lstStyle>
            <a:p>
              <a:pPr algn="l"/>
              <a:endParaRPr lang="th-TH"/>
            </a:p>
          </p:txBody>
        </p:sp>
      </p:grpSp>
      <p:sp>
        <p:nvSpPr>
          <p:cNvPr id="14" name="กล่องข้อความ 57">
            <a:extLst>
              <a:ext uri="{FF2B5EF4-FFF2-40B4-BE49-F238E27FC236}">
                <a16:creationId xmlns:a16="http://schemas.microsoft.com/office/drawing/2014/main" id="{3113B7D0-BC32-0E86-5FA6-8197FEDCB98A}"/>
              </a:ext>
            </a:extLst>
          </p:cNvPr>
          <p:cNvSpPr txBox="1"/>
          <p:nvPr/>
        </p:nvSpPr>
        <p:spPr>
          <a:xfrm>
            <a:off x="697639" y="3460712"/>
            <a:ext cx="1879867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r>
              <a:rPr lang="th-TH" sz="2000">
                <a:latin typeface="CordiaUPC"/>
                <a:cs typeface="CordiaUPC"/>
              </a:rPr>
              <a:t>รหัสร้านถูกกระทบ</a:t>
            </a:r>
            <a:endParaRPr lang="th-TH"/>
          </a:p>
        </p:txBody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EFE3D90F-F8EE-BAEE-1CF3-F55C33390E72}"/>
              </a:ext>
            </a:extLst>
          </p:cNvPr>
          <p:cNvSpPr/>
          <p:nvPr/>
        </p:nvSpPr>
        <p:spPr>
          <a:xfrm>
            <a:off x="610128" y="3905904"/>
            <a:ext cx="2913009" cy="20988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>
                <a:solidFill>
                  <a:schemeClr val="tx1"/>
                </a:solidFill>
                <a:latin typeface="CordiaUPC"/>
                <a:ea typeface="Tahoma"/>
                <a:cs typeface="CordiaUPC"/>
              </a:rPr>
              <a:t>XXXXXX</a:t>
            </a:r>
            <a:endParaRPr lang="th-TH"/>
          </a:p>
        </p:txBody>
      </p: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D5611A1B-2F07-19E0-047B-EAD0A428E993}"/>
              </a:ext>
            </a:extLst>
          </p:cNvPr>
          <p:cNvSpPr/>
          <p:nvPr/>
        </p:nvSpPr>
        <p:spPr>
          <a:xfrm>
            <a:off x="5289392" y="4241116"/>
            <a:ext cx="3082519" cy="85961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th-TH"/>
          </a:p>
        </p:txBody>
      </p:sp>
      <p:sp>
        <p:nvSpPr>
          <p:cNvPr id="17" name="กล่องข้อความ 79">
            <a:extLst>
              <a:ext uri="{FF2B5EF4-FFF2-40B4-BE49-F238E27FC236}">
                <a16:creationId xmlns:a16="http://schemas.microsoft.com/office/drawing/2014/main" id="{5F38813D-2897-C5F2-FAB2-A074A57D16B0}"/>
              </a:ext>
            </a:extLst>
          </p:cNvPr>
          <p:cNvSpPr txBox="1"/>
          <p:nvPr/>
        </p:nvSpPr>
        <p:spPr>
          <a:xfrm>
            <a:off x="7743402" y="4286269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18" name="กล่องข้อความ 80">
            <a:extLst>
              <a:ext uri="{FF2B5EF4-FFF2-40B4-BE49-F238E27FC236}">
                <a16:creationId xmlns:a16="http://schemas.microsoft.com/office/drawing/2014/main" id="{E708F482-B20D-1D96-0031-55A7A57DEA2B}"/>
              </a:ext>
            </a:extLst>
          </p:cNvPr>
          <p:cNvSpPr txBox="1"/>
          <p:nvPr/>
        </p:nvSpPr>
        <p:spPr>
          <a:xfrm>
            <a:off x="5399673" y="4840452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19" name="กล่องข้อความ 81">
            <a:extLst>
              <a:ext uri="{FF2B5EF4-FFF2-40B4-BE49-F238E27FC236}">
                <a16:creationId xmlns:a16="http://schemas.microsoft.com/office/drawing/2014/main" id="{0C2DE402-0DDF-80A4-F7BE-3F7813B461BE}"/>
              </a:ext>
            </a:extLst>
          </p:cNvPr>
          <p:cNvSpPr txBox="1"/>
          <p:nvPr/>
        </p:nvSpPr>
        <p:spPr>
          <a:xfrm>
            <a:off x="5399673" y="4574905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20" name="กล่องข้อความ 82">
            <a:extLst>
              <a:ext uri="{FF2B5EF4-FFF2-40B4-BE49-F238E27FC236}">
                <a16:creationId xmlns:a16="http://schemas.microsoft.com/office/drawing/2014/main" id="{2DDF724A-5173-A8B9-C944-1E979C3E5308}"/>
              </a:ext>
            </a:extLst>
          </p:cNvPr>
          <p:cNvSpPr txBox="1"/>
          <p:nvPr/>
        </p:nvSpPr>
        <p:spPr>
          <a:xfrm>
            <a:off x="5399674" y="4320905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21" name="กล่องข้อความ 85">
            <a:extLst>
              <a:ext uri="{FF2B5EF4-FFF2-40B4-BE49-F238E27FC236}">
                <a16:creationId xmlns:a16="http://schemas.microsoft.com/office/drawing/2014/main" id="{3059DBE6-3B1B-E809-5FCF-140E785CDFEE}"/>
              </a:ext>
            </a:extLst>
          </p:cNvPr>
          <p:cNvSpPr txBox="1"/>
          <p:nvPr/>
        </p:nvSpPr>
        <p:spPr>
          <a:xfrm>
            <a:off x="6011582" y="4828906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22" name="กล่องข้อความ 86">
            <a:extLst>
              <a:ext uri="{FF2B5EF4-FFF2-40B4-BE49-F238E27FC236}">
                <a16:creationId xmlns:a16="http://schemas.microsoft.com/office/drawing/2014/main" id="{8D75AEAA-11C3-2C0F-BB43-3B8928707E2B}"/>
              </a:ext>
            </a:extLst>
          </p:cNvPr>
          <p:cNvSpPr txBox="1"/>
          <p:nvPr/>
        </p:nvSpPr>
        <p:spPr>
          <a:xfrm>
            <a:off x="6011582" y="4563361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23" name="กล่องข้อความ 87">
            <a:extLst>
              <a:ext uri="{FF2B5EF4-FFF2-40B4-BE49-F238E27FC236}">
                <a16:creationId xmlns:a16="http://schemas.microsoft.com/office/drawing/2014/main" id="{4321E937-B743-8C46-1AFB-26F73E9E0CF0}"/>
              </a:ext>
            </a:extLst>
          </p:cNvPr>
          <p:cNvSpPr txBox="1"/>
          <p:nvPr/>
        </p:nvSpPr>
        <p:spPr>
          <a:xfrm>
            <a:off x="6011583" y="4309360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24" name="กล่องข้อความ 89">
            <a:extLst>
              <a:ext uri="{FF2B5EF4-FFF2-40B4-BE49-F238E27FC236}">
                <a16:creationId xmlns:a16="http://schemas.microsoft.com/office/drawing/2014/main" id="{3F6A125D-9B84-E8A1-9DE4-36099CBFC036}"/>
              </a:ext>
            </a:extLst>
          </p:cNvPr>
          <p:cNvSpPr txBox="1"/>
          <p:nvPr/>
        </p:nvSpPr>
        <p:spPr>
          <a:xfrm>
            <a:off x="6588854" y="4805814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25" name="กล่องข้อความ 90">
            <a:extLst>
              <a:ext uri="{FF2B5EF4-FFF2-40B4-BE49-F238E27FC236}">
                <a16:creationId xmlns:a16="http://schemas.microsoft.com/office/drawing/2014/main" id="{B362EA6E-CC83-3990-91AA-331690B6C87B}"/>
              </a:ext>
            </a:extLst>
          </p:cNvPr>
          <p:cNvSpPr txBox="1"/>
          <p:nvPr/>
        </p:nvSpPr>
        <p:spPr>
          <a:xfrm>
            <a:off x="6588854" y="4540269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26" name="กล่องข้อความ 91">
            <a:extLst>
              <a:ext uri="{FF2B5EF4-FFF2-40B4-BE49-F238E27FC236}">
                <a16:creationId xmlns:a16="http://schemas.microsoft.com/office/drawing/2014/main" id="{D28321A9-3DC0-9E10-C11E-96927EF79953}"/>
              </a:ext>
            </a:extLst>
          </p:cNvPr>
          <p:cNvSpPr txBox="1"/>
          <p:nvPr/>
        </p:nvSpPr>
        <p:spPr>
          <a:xfrm>
            <a:off x="6588855" y="4286268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27" name="กล่องข้อความ 93">
            <a:extLst>
              <a:ext uri="{FF2B5EF4-FFF2-40B4-BE49-F238E27FC236}">
                <a16:creationId xmlns:a16="http://schemas.microsoft.com/office/drawing/2014/main" id="{68EAC324-0ABE-294B-9068-9E200A7E9008}"/>
              </a:ext>
            </a:extLst>
          </p:cNvPr>
          <p:cNvSpPr txBox="1"/>
          <p:nvPr/>
        </p:nvSpPr>
        <p:spPr>
          <a:xfrm>
            <a:off x="7200764" y="4805814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28" name="กล่องข้อความ 94">
            <a:extLst>
              <a:ext uri="{FF2B5EF4-FFF2-40B4-BE49-F238E27FC236}">
                <a16:creationId xmlns:a16="http://schemas.microsoft.com/office/drawing/2014/main" id="{28792584-7475-EE82-1519-93FFBBC1C38B}"/>
              </a:ext>
            </a:extLst>
          </p:cNvPr>
          <p:cNvSpPr txBox="1"/>
          <p:nvPr/>
        </p:nvSpPr>
        <p:spPr>
          <a:xfrm>
            <a:off x="7200764" y="4540269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29" name="กล่องข้อความ 95">
            <a:extLst>
              <a:ext uri="{FF2B5EF4-FFF2-40B4-BE49-F238E27FC236}">
                <a16:creationId xmlns:a16="http://schemas.microsoft.com/office/drawing/2014/main" id="{7CA1395E-292D-AC2E-F9D5-3A4EDABA9277}"/>
              </a:ext>
            </a:extLst>
          </p:cNvPr>
          <p:cNvSpPr txBox="1"/>
          <p:nvPr/>
        </p:nvSpPr>
        <p:spPr>
          <a:xfrm>
            <a:off x="7200765" y="4286268"/>
            <a:ext cx="210907" cy="19684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30" name="กล่องข้อความ 103">
            <a:extLst>
              <a:ext uri="{FF2B5EF4-FFF2-40B4-BE49-F238E27FC236}">
                <a16:creationId xmlns:a16="http://schemas.microsoft.com/office/drawing/2014/main" id="{C308A980-B4DA-3419-A2F0-85782DBBA747}"/>
              </a:ext>
            </a:extLst>
          </p:cNvPr>
          <p:cNvSpPr txBox="1"/>
          <p:nvPr/>
        </p:nvSpPr>
        <p:spPr>
          <a:xfrm>
            <a:off x="8974903" y="2816928"/>
            <a:ext cx="2743200" cy="101566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r>
              <a:rPr lang="th-TH" sz="2000">
                <a:latin typeface="Arial"/>
                <a:cs typeface="CordiaUPC"/>
              </a:rPr>
              <a:t>ผลการพิจารณา</a:t>
            </a:r>
            <a:endParaRPr lang="th-TH" sz="2000">
              <a:solidFill>
                <a:srgbClr val="FF0000"/>
              </a:solidFill>
              <a:latin typeface="Arial"/>
              <a:cs typeface="CordiaUPC"/>
            </a:endParaRPr>
          </a:p>
          <a:p>
            <a:r>
              <a:rPr lang="th-TH" sz="2000" b="0">
                <a:latin typeface="Arial"/>
                <a:cs typeface="CordiaUPC"/>
              </a:rPr>
              <a:t>     ประกันรายได้</a:t>
            </a:r>
          </a:p>
          <a:p>
            <a:r>
              <a:rPr lang="th-TH" sz="2000" b="0">
                <a:latin typeface="Arial"/>
                <a:cs typeface="CordiaUPC"/>
              </a:rPr>
              <a:t>     ไม่ประกันรายได้</a:t>
            </a:r>
            <a:endParaRPr lang="th-TH" sz="2000" b="0">
              <a:cs typeface="CordiaUPC"/>
            </a:endParaRPr>
          </a:p>
        </p:txBody>
      </p:sp>
      <p:sp>
        <p:nvSpPr>
          <p:cNvPr id="31" name="วงรี 30">
            <a:extLst>
              <a:ext uri="{FF2B5EF4-FFF2-40B4-BE49-F238E27FC236}">
                <a16:creationId xmlns:a16="http://schemas.microsoft.com/office/drawing/2014/main" id="{D6223A9B-444E-928A-F4F2-D3E8076E5228}"/>
              </a:ext>
            </a:extLst>
          </p:cNvPr>
          <p:cNvSpPr/>
          <p:nvPr/>
        </p:nvSpPr>
        <p:spPr>
          <a:xfrm>
            <a:off x="9078546" y="3201887"/>
            <a:ext cx="232801" cy="245054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th-TH"/>
          </a:p>
        </p:txBody>
      </p:sp>
      <p:sp>
        <p:nvSpPr>
          <p:cNvPr id="32" name="วงรี 31">
            <a:extLst>
              <a:ext uri="{FF2B5EF4-FFF2-40B4-BE49-F238E27FC236}">
                <a16:creationId xmlns:a16="http://schemas.microsoft.com/office/drawing/2014/main" id="{91975EB5-7992-227A-1C68-1F8CB4A94FE6}"/>
              </a:ext>
            </a:extLst>
          </p:cNvPr>
          <p:cNvSpPr/>
          <p:nvPr/>
        </p:nvSpPr>
        <p:spPr>
          <a:xfrm>
            <a:off x="9078545" y="3559795"/>
            <a:ext cx="232801" cy="245054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th-TH"/>
          </a:p>
        </p:txBody>
      </p:sp>
      <p:sp>
        <p:nvSpPr>
          <p:cNvPr id="33" name="สี่เหลี่ยมผืนผ้า: มุมมน 32">
            <a:extLst>
              <a:ext uri="{FF2B5EF4-FFF2-40B4-BE49-F238E27FC236}">
                <a16:creationId xmlns:a16="http://schemas.microsoft.com/office/drawing/2014/main" id="{57839B5D-BA61-61BD-349D-189DE36986AA}"/>
              </a:ext>
            </a:extLst>
          </p:cNvPr>
          <p:cNvSpPr/>
          <p:nvPr/>
        </p:nvSpPr>
        <p:spPr>
          <a:xfrm>
            <a:off x="137802" y="5526691"/>
            <a:ext cx="12055761" cy="232294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th-TH"/>
          </a:p>
        </p:txBody>
      </p:sp>
      <p:sp>
        <p:nvSpPr>
          <p:cNvPr id="34" name="กล่องข้อความ 111">
            <a:extLst>
              <a:ext uri="{FF2B5EF4-FFF2-40B4-BE49-F238E27FC236}">
                <a16:creationId xmlns:a16="http://schemas.microsoft.com/office/drawing/2014/main" id="{3C77CCB0-EB11-8D24-D488-41C34522319A}"/>
              </a:ext>
            </a:extLst>
          </p:cNvPr>
          <p:cNvSpPr txBox="1"/>
          <p:nvPr/>
        </p:nvSpPr>
        <p:spPr>
          <a:xfrm>
            <a:off x="464127" y="2300937"/>
            <a:ext cx="2743200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r>
              <a:rPr lang="en-US" sz="2400">
                <a:solidFill>
                  <a:srgbClr val="242424"/>
                </a:solidFill>
                <a:latin typeface="CordiaUPC"/>
                <a:cs typeface="Angsana New"/>
              </a:rPr>
              <a:t>รายงานแสดงร้านถูกกระทบ</a:t>
            </a:r>
            <a:endParaRPr lang="en-US" sz="2400">
              <a:latin typeface="CordiaUPC"/>
              <a:cs typeface="Angsana New"/>
            </a:endParaRPr>
          </a:p>
        </p:txBody>
      </p:sp>
      <p:sp>
        <p:nvSpPr>
          <p:cNvPr id="35" name="กล่องข้อความ 2">
            <a:extLst>
              <a:ext uri="{FF2B5EF4-FFF2-40B4-BE49-F238E27FC236}">
                <a16:creationId xmlns:a16="http://schemas.microsoft.com/office/drawing/2014/main" id="{F532DFF3-1590-6AD3-A7BD-F004AED24CD4}"/>
              </a:ext>
            </a:extLst>
          </p:cNvPr>
          <p:cNvSpPr txBox="1"/>
          <p:nvPr/>
        </p:nvSpPr>
        <p:spPr>
          <a:xfrm>
            <a:off x="697816" y="4272269"/>
            <a:ext cx="1879867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r>
              <a:rPr lang="th-TH" sz="2000">
                <a:latin typeface="CordiaUPC"/>
                <a:cs typeface="CordiaUPC"/>
              </a:rPr>
              <a:t>รหัสร้านเปิดกระทบบ</a:t>
            </a:r>
            <a:endParaRPr lang="th-TH"/>
          </a:p>
        </p:txBody>
      </p:sp>
      <p:sp>
        <p:nvSpPr>
          <p:cNvPr id="36" name="กล่องข้อความ 6">
            <a:extLst>
              <a:ext uri="{FF2B5EF4-FFF2-40B4-BE49-F238E27FC236}">
                <a16:creationId xmlns:a16="http://schemas.microsoft.com/office/drawing/2014/main" id="{A9FBC08C-1257-0DC9-AEE5-B543E2C357F3}"/>
              </a:ext>
            </a:extLst>
          </p:cNvPr>
          <p:cNvSpPr txBox="1"/>
          <p:nvPr/>
        </p:nvSpPr>
        <p:spPr>
          <a:xfrm>
            <a:off x="5290242" y="3925726"/>
            <a:ext cx="1879867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r>
              <a:rPr lang="th-TH" sz="2000">
                <a:latin typeface="CordiaUPC"/>
                <a:cs typeface="CordiaUPC"/>
              </a:rPr>
              <a:t>ภาค</a:t>
            </a:r>
            <a:endParaRPr lang="th-TH"/>
          </a:p>
        </p:txBody>
      </p:sp>
      <p:sp>
        <p:nvSpPr>
          <p:cNvPr id="37" name="กล่องข้อความ 8">
            <a:extLst>
              <a:ext uri="{FF2B5EF4-FFF2-40B4-BE49-F238E27FC236}">
                <a16:creationId xmlns:a16="http://schemas.microsoft.com/office/drawing/2014/main" id="{0E13BF08-3576-C0C8-7504-A91BCE86EDDB}"/>
              </a:ext>
            </a:extLst>
          </p:cNvPr>
          <p:cNvSpPr txBox="1"/>
          <p:nvPr/>
        </p:nvSpPr>
        <p:spPr>
          <a:xfrm>
            <a:off x="349531" y="2722525"/>
            <a:ext cx="3628375" cy="281326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38" name="สี่เหลี่ยมผืนผ้า 37">
            <a:extLst>
              <a:ext uri="{FF2B5EF4-FFF2-40B4-BE49-F238E27FC236}">
                <a16:creationId xmlns:a16="http://schemas.microsoft.com/office/drawing/2014/main" id="{69FAE42D-039E-B61F-3C0B-2DB047FFCEF8}"/>
              </a:ext>
            </a:extLst>
          </p:cNvPr>
          <p:cNvSpPr/>
          <p:nvPr/>
        </p:nvSpPr>
        <p:spPr>
          <a:xfrm>
            <a:off x="563235" y="4667903"/>
            <a:ext cx="2913009" cy="20988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>
                <a:solidFill>
                  <a:schemeClr val="tx1"/>
                </a:solidFill>
                <a:latin typeface="CordiaUPC"/>
                <a:ea typeface="Tahoma"/>
                <a:cs typeface="CordiaUPC"/>
              </a:rPr>
              <a:t>XXXXXX</a:t>
            </a:r>
            <a:endParaRPr lang="th-TH"/>
          </a:p>
        </p:txBody>
      </p:sp>
      <p:sp>
        <p:nvSpPr>
          <p:cNvPr id="39" name="กล่องข้อความ 10">
            <a:extLst>
              <a:ext uri="{FF2B5EF4-FFF2-40B4-BE49-F238E27FC236}">
                <a16:creationId xmlns:a16="http://schemas.microsoft.com/office/drawing/2014/main" id="{D244CF13-A7FD-E61F-4017-4000E36C8AE3}"/>
              </a:ext>
            </a:extLst>
          </p:cNvPr>
          <p:cNvSpPr txBox="1"/>
          <p:nvPr/>
        </p:nvSpPr>
        <p:spPr>
          <a:xfrm>
            <a:off x="5052941" y="2676002"/>
            <a:ext cx="6336661" cy="281879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5pPr>
            <a:lvl6pPr marL="22860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6pPr>
            <a:lvl7pPr marL="27432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7pPr>
            <a:lvl8pPr marL="32004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8pPr>
            <a:lvl9pPr marL="3657600" algn="l" defTabSz="914400" rtl="0" eaLnBrk="1" latinLnBrk="0" hangingPunct="1">
              <a:defRPr sz="1600" b="1" kern="1200">
                <a:solidFill>
                  <a:schemeClr val="tx1"/>
                </a:solidFill>
                <a:latin typeface="Arial" charset="0"/>
                <a:ea typeface="+mn-ea"/>
                <a:cs typeface="Angsana New" charset="-34"/>
              </a:defRPr>
            </a:lvl9pPr>
          </a:lstStyle>
          <a:p>
            <a:pPr algn="l"/>
            <a:endParaRPr lang="th-TH"/>
          </a:p>
        </p:txBody>
      </p:sp>
      <p:sp>
        <p:nvSpPr>
          <p:cNvPr id="40" name="กล่องข้อความ 2">
            <a:extLst>
              <a:ext uri="{FF2B5EF4-FFF2-40B4-BE49-F238E27FC236}">
                <a16:creationId xmlns:a16="http://schemas.microsoft.com/office/drawing/2014/main" id="{769B017F-2545-6AB2-8391-0011272CD2C6}"/>
              </a:ext>
            </a:extLst>
          </p:cNvPr>
          <p:cNvSpPr txBox="1"/>
          <p:nvPr/>
        </p:nvSpPr>
        <p:spPr>
          <a:xfrm>
            <a:off x="279400" y="1377950"/>
            <a:ext cx="9621953" cy="461665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2400" b="1" err="1">
                <a:solidFill>
                  <a:schemeClr val="bg1"/>
                </a:solidFill>
                <a:latin typeface="Cordia New"/>
                <a:cs typeface="Cordia New"/>
              </a:rPr>
              <a:t>Step</a:t>
            </a:r>
            <a:r>
              <a:rPr lang="th-TH" sz="2400" b="1">
                <a:solidFill>
                  <a:schemeClr val="bg1"/>
                </a:solidFill>
                <a:latin typeface="Cordia New"/>
                <a:cs typeface="Cordia New"/>
              </a:rPr>
              <a:t> 3 ทีมบัญชี : สามารถเข้ามาดูข้อมูลยอดชดเชยรายได้ในระบบ</a:t>
            </a:r>
          </a:p>
        </p:txBody>
      </p:sp>
      <p:pic>
        <p:nvPicPr>
          <p:cNvPr id="41" name="รูปภาพ 40" descr="รูปภาพประกอบด้วย ข้อความ, ภาพหน้าจอ, ไลน์, ตัวอักษร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D6A9446E-FC2B-1A99-4819-6710DAF7FB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50511" y="5112471"/>
            <a:ext cx="4095750" cy="1285875"/>
          </a:xfrm>
          <a:prstGeom prst="rect">
            <a:avLst/>
          </a:prstGeom>
        </p:spPr>
      </p:pic>
      <p:pic>
        <p:nvPicPr>
          <p:cNvPr id="50" name="รูปภาพ 49" descr="รูปภาพประกอบด้วย ข้อความ, ภาพหน้าจอ, จำนวน, ไลน์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73527C60-A2CF-8E28-FBA9-FDC3A05CD3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424" y="5755481"/>
            <a:ext cx="11368087" cy="1883568"/>
          </a:xfrm>
          <a:prstGeom prst="rect">
            <a:avLst/>
          </a:prstGeom>
        </p:spPr>
      </p:pic>
      <p:pic>
        <p:nvPicPr>
          <p:cNvPr id="52" name="รูปภาพ 51" descr="รูปภาพประกอบด้วย ข้อความ, ภาพหน้าจอ, ตัวอักษร, จำนวน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F0F75DAF-0E0B-ED9D-34AC-622275AFA7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9230" y="4233862"/>
            <a:ext cx="3467101" cy="985838"/>
          </a:xfrm>
          <a:prstGeom prst="rect">
            <a:avLst/>
          </a:prstGeom>
        </p:spPr>
      </p:pic>
      <p:sp>
        <p:nvSpPr>
          <p:cNvPr id="53" name="สี่เหลี่ยมผืนผ้า 52">
            <a:extLst>
              <a:ext uri="{FF2B5EF4-FFF2-40B4-BE49-F238E27FC236}">
                <a16:creationId xmlns:a16="http://schemas.microsoft.com/office/drawing/2014/main" id="{B20E3D8B-53E7-8ACE-9311-B96EAD5BCCF0}"/>
              </a:ext>
            </a:extLst>
          </p:cNvPr>
          <p:cNvSpPr/>
          <p:nvPr/>
        </p:nvSpPr>
        <p:spPr>
          <a:xfrm>
            <a:off x="608269" y="3057423"/>
            <a:ext cx="2599457" cy="316685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100" b="0">
                <a:solidFill>
                  <a:schemeClr val="bg1">
                    <a:lumMod val="49000"/>
                  </a:schemeClr>
                </a:solidFill>
                <a:latin typeface="Segoe UI"/>
                <a:ea typeface="Segoe UI"/>
                <a:cs typeface="Segoe UI"/>
              </a:rPr>
              <a:t>Choose an option</a:t>
            </a:r>
            <a:endParaRPr lang="th-TH" sz="1100" b="0">
              <a:solidFill>
                <a:schemeClr val="bg1">
                  <a:lumMod val="49000"/>
                </a:schemeClr>
              </a:solidFill>
              <a:ea typeface="Tahoma"/>
            </a:endParaRPr>
          </a:p>
        </p:txBody>
      </p:sp>
      <p:graphicFrame>
        <p:nvGraphicFramePr>
          <p:cNvPr id="55" name="ตาราง 54">
            <a:extLst>
              <a:ext uri="{FF2B5EF4-FFF2-40B4-BE49-F238E27FC236}">
                <a16:creationId xmlns:a16="http://schemas.microsoft.com/office/drawing/2014/main" id="{619C3BE0-27EA-A9F0-2DCB-C47AACE5F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691087"/>
              </p:ext>
            </p:extLst>
          </p:nvPr>
        </p:nvGraphicFramePr>
        <p:xfrm>
          <a:off x="442912" y="3058391"/>
          <a:ext cx="2924175" cy="2057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24175">
                  <a:extLst>
                    <a:ext uri="{9D8B030D-6E8A-4147-A177-3AD203B41FA5}">
                      <a16:colId xmlns:a16="http://schemas.microsoft.com/office/drawing/2014/main" val="17491072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th-TH" sz="1400">
                          <a:effectLst/>
                          <a:highlight>
                            <a:srgbClr val="FFFFFF"/>
                          </a:highlight>
                          <a:latin typeface="CordiaUPC" panose="020B0304020202020204" pitchFamily="34" charset="-34"/>
                        </a:rPr>
                        <a:t>รอ ฝ่ายส่งเสริมธุรกิจ </a:t>
                      </a:r>
                      <a:r>
                        <a:rPr lang="en-US" sz="1400">
                          <a:effectLst/>
                          <a:highlight>
                            <a:srgbClr val="FFFFFF"/>
                          </a:highlight>
                          <a:latin typeface="CordiaUPC" panose="020B0304020202020204" pitchFamily="34" charset="-34"/>
                        </a:rPr>
                        <a:t>SBP </a:t>
                      </a:r>
                      <a:r>
                        <a:rPr lang="th-TH" sz="1400">
                          <a:effectLst/>
                          <a:highlight>
                            <a:srgbClr val="FFFFFF"/>
                          </a:highlight>
                          <a:latin typeface="CordiaUPC" panose="020B0304020202020204" pitchFamily="34" charset="-34"/>
                        </a:rPr>
                        <a:t>ดำเนินการ</a:t>
                      </a:r>
                      <a:endParaRPr lang="th-TH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89342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th-TH" sz="1400">
                          <a:effectLst/>
                          <a:highlight>
                            <a:srgbClr val="FFFFFF"/>
                          </a:highlight>
                          <a:latin typeface="CordiaUPC" panose="020B0304020202020204" pitchFamily="34" charset="-34"/>
                        </a:rPr>
                        <a:t>รอ </a:t>
                      </a:r>
                      <a:r>
                        <a:rPr lang="en-US" sz="1400">
                          <a:effectLst/>
                          <a:highlight>
                            <a:srgbClr val="FFFFFF"/>
                          </a:highlight>
                          <a:latin typeface="CordiaUPC" panose="020B0304020202020204" pitchFamily="34" charset="-34"/>
                        </a:rPr>
                        <a:t>GM </a:t>
                      </a:r>
                      <a:r>
                        <a:rPr lang="th-TH" sz="1400">
                          <a:effectLst/>
                          <a:highlight>
                            <a:srgbClr val="FFFFFF"/>
                          </a:highlight>
                          <a:latin typeface="CordiaUPC" panose="020B0304020202020204" pitchFamily="34" charset="-34"/>
                        </a:rPr>
                        <a:t>ส่งเสริมธุรกิจ </a:t>
                      </a:r>
                      <a:r>
                        <a:rPr lang="en-US" sz="1400">
                          <a:effectLst/>
                          <a:highlight>
                            <a:srgbClr val="FFFFFF"/>
                          </a:highlight>
                          <a:latin typeface="CordiaUPC" panose="020B0304020202020204" pitchFamily="34" charset="-34"/>
                        </a:rPr>
                        <a:t>SBP </a:t>
                      </a:r>
                      <a:r>
                        <a:rPr lang="th-TH" sz="1400">
                          <a:effectLst/>
                          <a:highlight>
                            <a:srgbClr val="FFFFFF"/>
                          </a:highlight>
                          <a:latin typeface="CordiaUPC" panose="020B0304020202020204" pitchFamily="34" charset="-34"/>
                        </a:rPr>
                        <a:t>ดำเนินการ</a:t>
                      </a:r>
                      <a:endParaRPr lang="th-TH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8874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th-TH" sz="1400">
                          <a:effectLst/>
                          <a:highlight>
                            <a:srgbClr val="FFFFFF"/>
                          </a:highlight>
                          <a:latin typeface="CordiaUPC" panose="020B0304020202020204" pitchFamily="34" charset="-34"/>
                        </a:rPr>
                        <a:t>รอผู้บริหารสำนักงานบริการ </a:t>
                      </a:r>
                      <a:r>
                        <a:rPr lang="en-US" sz="1400">
                          <a:effectLst/>
                          <a:highlight>
                            <a:srgbClr val="FFFFFF"/>
                          </a:highlight>
                          <a:latin typeface="CordiaUPC" panose="020B0304020202020204" pitchFamily="34" charset="-34"/>
                        </a:rPr>
                        <a:t>SBP </a:t>
                      </a:r>
                      <a:r>
                        <a:rPr lang="th-TH" sz="1400">
                          <a:effectLst/>
                          <a:highlight>
                            <a:srgbClr val="FFFFFF"/>
                          </a:highlight>
                          <a:latin typeface="CordiaUPC" panose="020B0304020202020204" pitchFamily="34" charset="-34"/>
                        </a:rPr>
                        <a:t>ดำเนินการ</a:t>
                      </a:r>
                      <a:endParaRPr lang="th-TH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13667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th-TH" sz="1400">
                          <a:effectLst/>
                          <a:highlight>
                            <a:srgbClr val="FFFFFF"/>
                          </a:highlight>
                          <a:cs typeface="CordiaUPC" panose="020B0304020202020204" pitchFamily="34" charset="-34"/>
                        </a:rPr>
                        <a:t>รอฝ่าย </a:t>
                      </a:r>
                      <a:r>
                        <a:rPr lang="af-ZA" sz="1400">
                          <a:effectLst/>
                          <a:highlight>
                            <a:srgbClr val="FFFFFF"/>
                          </a:highlight>
                          <a:cs typeface="CordiaUPC" panose="020B0304020202020204" pitchFamily="34" charset="-34"/>
                        </a:rPr>
                        <a:t>SBP DSA </a:t>
                      </a:r>
                      <a:r>
                        <a:rPr lang="th-TH" sz="1400">
                          <a:effectLst/>
                          <a:highlight>
                            <a:srgbClr val="FFFFFF"/>
                          </a:highlight>
                          <a:cs typeface="CordiaUPC" panose="020B0304020202020204" pitchFamily="34" charset="-34"/>
                        </a:rPr>
                        <a:t>ดำเนินการ</a:t>
                      </a:r>
                      <a:endParaRPr lang="th-TH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60902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th-TH" sz="1400">
                          <a:effectLst/>
                          <a:highlight>
                            <a:srgbClr val="FFFFFF"/>
                          </a:highlight>
                          <a:latin typeface="CordiaUPC" panose="020B0304020202020204" pitchFamily="34" charset="-34"/>
                        </a:rPr>
                        <a:t>รอเจ้าหน้าที่ </a:t>
                      </a:r>
                      <a:r>
                        <a:rPr lang="en-US" sz="1400">
                          <a:effectLst/>
                          <a:highlight>
                            <a:srgbClr val="FFFFFF"/>
                          </a:highlight>
                          <a:latin typeface="CordiaUPC" panose="020B0304020202020204" pitchFamily="34" charset="-34"/>
                        </a:rPr>
                        <a:t>SBP DSA </a:t>
                      </a:r>
                      <a:r>
                        <a:rPr lang="th-TH" sz="1400">
                          <a:effectLst/>
                          <a:highlight>
                            <a:srgbClr val="FFFFFF"/>
                          </a:highlight>
                          <a:latin typeface="CordiaUPC" panose="020B0304020202020204" pitchFamily="34" charset="-34"/>
                        </a:rPr>
                        <a:t>ดำเนินการ</a:t>
                      </a:r>
                      <a:endParaRPr lang="th-TH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00192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th-TH" sz="1400">
                          <a:effectLst/>
                          <a:highlight>
                            <a:srgbClr val="FFFFFF"/>
                          </a:highlight>
                          <a:latin typeface="CordiaUPC" panose="020B0304020202020204" pitchFamily="34" charset="-34"/>
                        </a:rPr>
                        <a:t>เสร็จสิ้นดำเนินการ</a:t>
                      </a:r>
                      <a:endParaRPr lang="th-TH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873396"/>
                  </a:ext>
                </a:extLst>
              </a:tr>
            </a:tbl>
          </a:graphicData>
        </a:graphic>
      </p:graphicFrame>
      <p:pic>
        <p:nvPicPr>
          <p:cNvPr id="56" name="รูปภาพ 55" descr="รูปภาพประกอบด้วย ข้อความ, ภาพหน้าจอ, ตัวอักษร, ไลน์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9135A072-F25F-46BF-A9BE-CF6580E136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344" y="5017294"/>
            <a:ext cx="2702719" cy="442912"/>
          </a:xfrm>
          <a:prstGeom prst="rect">
            <a:avLst/>
          </a:prstGeom>
        </p:spPr>
      </p:pic>
      <p:pic>
        <p:nvPicPr>
          <p:cNvPr id="57" name="รูปภาพ 56" descr="รูปภาพประกอบด้วย ข้อความ, ภาพหน้าจอ, ตัวอักษร, เครื่องหมาย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ADD206B7-B5C3-EDB9-C488-46DC6597C9F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0170" y="3979069"/>
            <a:ext cx="1919286" cy="149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6317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6CA863-90ED-4BBC-9CED-FD5DEB9FDF13}"/>
              </a:ext>
            </a:extLst>
          </p:cNvPr>
          <p:cNvSpPr txBox="1"/>
          <p:nvPr/>
        </p:nvSpPr>
        <p:spPr>
          <a:xfrm>
            <a:off x="1790701" y="504826"/>
            <a:ext cx="7896225" cy="3508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กรุณาระบุว่า</a:t>
            </a:r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2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งานนี้มี</a:t>
            </a:r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Personal Data </a:t>
            </a:r>
            <a:r>
              <a:rPr lang="en-US" sz="12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หรือไม่</a:t>
            </a:r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2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โดยแบ่งกลุ่มเป็น</a:t>
            </a:r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Normal personal data </a:t>
            </a:r>
            <a:r>
              <a:rPr lang="en-US" sz="120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และ</a:t>
            </a:r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Sensitive Data </a:t>
            </a:r>
            <a:endParaRPr lang="en-US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889EE0E-5D96-4BF4-920B-092CA9AD5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112714"/>
            <a:ext cx="8229600" cy="352425"/>
          </a:xfrm>
        </p:spPr>
        <p:txBody>
          <a:bodyPr/>
          <a:lstStyle/>
          <a:p>
            <a:pPr algn="l"/>
            <a:r>
              <a:rPr lang="en-US" u="sng">
                <a:latin typeface="CordiaUPC"/>
                <a:ea typeface="Tahoma"/>
                <a:cs typeface="CordiaUPC"/>
              </a:rPr>
              <a:t>1</a:t>
            </a:r>
            <a:r>
              <a:rPr lang="en-US" b="1" u="sng">
                <a:latin typeface="CordiaUPC"/>
                <a:ea typeface="Tahoma"/>
                <a:cs typeface="CordiaUPC"/>
              </a:rPr>
              <a:t>.10 Personal Data (PDPA) Check List 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6E1AF32-3AAA-4D8F-9066-4552B23715D2}"/>
              </a:ext>
            </a:extLst>
          </p:cNvPr>
          <p:cNvGraphicFramePr>
            <a:graphicFrameLocks noGrp="1"/>
          </p:cNvGraphicFramePr>
          <p:nvPr/>
        </p:nvGraphicFramePr>
        <p:xfrm>
          <a:off x="6675120" y="1052897"/>
          <a:ext cx="5191761" cy="317366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62721">
                  <a:extLst>
                    <a:ext uri="{9D8B030D-6E8A-4147-A177-3AD203B41FA5}">
                      <a16:colId xmlns:a16="http://schemas.microsoft.com/office/drawing/2014/main" val="2583847317"/>
                    </a:ext>
                  </a:extLst>
                </a:gridCol>
                <a:gridCol w="3984159">
                  <a:extLst>
                    <a:ext uri="{9D8B030D-6E8A-4147-A177-3AD203B41FA5}">
                      <a16:colId xmlns:a16="http://schemas.microsoft.com/office/drawing/2014/main" val="1837550001"/>
                    </a:ext>
                  </a:extLst>
                </a:gridCol>
                <a:gridCol w="944881">
                  <a:extLst>
                    <a:ext uri="{9D8B030D-6E8A-4147-A177-3AD203B41FA5}">
                      <a16:colId xmlns:a16="http://schemas.microsoft.com/office/drawing/2014/main" val="1403879786"/>
                    </a:ext>
                  </a:extLst>
                </a:gridCol>
              </a:tblGrid>
              <a:tr h="841992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>
                          <a:solidFill>
                            <a:schemeClr val="lt1"/>
                          </a:solidFill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#</a:t>
                      </a:r>
                      <a:endParaRPr lang="en-US" sz="1400" b="1" kern="1200">
                        <a:solidFill>
                          <a:schemeClr val="lt1"/>
                        </a:solidFill>
                        <a:effectLst/>
                        <a:latin typeface="CordiaUPC" panose="020B0304020202020204" pitchFamily="34" charset="-34"/>
                        <a:ea typeface="+mn-ea"/>
                        <a:cs typeface="CordiaUPC" panose="020B0304020202020204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lt1"/>
                          </a:solidFill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Sensitive Data​​</a:t>
                      </a:r>
                      <a:br>
                        <a:rPr lang="en-US" sz="2400" b="1" kern="1200">
                          <a:solidFill>
                            <a:srgbClr val="FFFFFF"/>
                          </a:solidFill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</a:br>
                      <a:r>
                        <a:rPr lang="en-US" sz="1400" b="1" kern="1200">
                          <a:solidFill>
                            <a:schemeClr val="lt1"/>
                          </a:solidFill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(</a:t>
                      </a:r>
                      <a:r>
                        <a:rPr lang="th-TH" sz="1400" b="1" kern="1200">
                          <a:solidFill>
                            <a:schemeClr val="lt1"/>
                          </a:solidFill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หากมี </a:t>
                      </a:r>
                      <a:r>
                        <a:rPr lang="en-US" sz="1400" b="1" kern="1200">
                          <a:solidFill>
                            <a:schemeClr val="lt1"/>
                          </a:solidFill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Sensitive Data </a:t>
                      </a:r>
                      <a:r>
                        <a:rPr lang="th-TH" sz="1400" b="1" kern="1200">
                          <a:solidFill>
                            <a:schemeClr val="lt1"/>
                          </a:solidFill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จะ </a:t>
                      </a:r>
                      <a:r>
                        <a:rPr lang="en-US" sz="1400" b="1" kern="1200">
                          <a:solidFill>
                            <a:schemeClr val="lt1"/>
                          </a:solidFill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Review </a:t>
                      </a:r>
                      <a:r>
                        <a:rPr lang="th-TH" sz="1400" b="1" kern="1200">
                          <a:solidFill>
                            <a:schemeClr val="lt1"/>
                          </a:solidFill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ความจำเป็นในการเก็บ </a:t>
                      </a:r>
                      <a:endParaRPr lang="en-US" sz="1400" b="1" kern="1200">
                        <a:solidFill>
                          <a:schemeClr val="lt1"/>
                        </a:solidFill>
                        <a:effectLst/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  <a:p>
                      <a:pPr algn="ctr"/>
                      <a:r>
                        <a:rPr lang="th-TH" sz="1400" b="1" kern="1200">
                          <a:solidFill>
                            <a:schemeClr val="lt1"/>
                          </a:solidFill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หากจำเป็น จะมี</a:t>
                      </a:r>
                      <a:r>
                        <a:rPr lang="th-TH" sz="1400" b="1" kern="1200" err="1">
                          <a:solidFill>
                            <a:schemeClr val="lt1"/>
                          </a:solidFill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การทำ</a:t>
                      </a:r>
                      <a:r>
                        <a:rPr lang="th-TH" sz="1400" b="1" kern="1200">
                          <a:solidFill>
                            <a:schemeClr val="lt1"/>
                          </a:solidFill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 </a:t>
                      </a:r>
                      <a:r>
                        <a:rPr lang="en-US" sz="1400" b="1" kern="1200">
                          <a:solidFill>
                            <a:schemeClr val="lt1"/>
                          </a:solidFill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Consent) </a:t>
                      </a:r>
                      <a:endParaRPr lang="en-US" sz="1400" b="1" kern="1200">
                        <a:solidFill>
                          <a:schemeClr val="lt1"/>
                        </a:solidFill>
                        <a:effectLst/>
                        <a:latin typeface="CordiaUPC" panose="020B0304020202020204" pitchFamily="34" charset="-34"/>
                        <a:ea typeface="+mn-ea"/>
                        <a:cs typeface="CordiaUPC" panose="020B0304020202020204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lt1"/>
                          </a:solidFill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Yes / No​</a:t>
                      </a:r>
                      <a:endParaRPr lang="en-US" sz="2400" b="1" kern="1200">
                        <a:solidFill>
                          <a:schemeClr val="lt1"/>
                        </a:solidFill>
                        <a:effectLst/>
                        <a:latin typeface="CordiaUPC" panose="020B0304020202020204" pitchFamily="34" charset="-34"/>
                        <a:ea typeface="+mn-ea"/>
                        <a:cs typeface="CordiaUPC" panose="020B0304020202020204" pitchFamily="34" charset="-34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82937110"/>
                  </a:ext>
                </a:extLst>
              </a:tr>
              <a:tr h="25907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1</a:t>
                      </a:r>
                      <a:endParaRPr lang="th-TH" sz="1600">
                        <a:effectLst/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เชื้อชาติ เผ่าพันธุ์​​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​no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15966998"/>
                  </a:ext>
                </a:extLst>
              </a:tr>
              <a:tr h="25907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2</a:t>
                      </a:r>
                      <a:endParaRPr lang="th-TH" sz="1600">
                        <a:effectLst/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ความเชื่อในลัทธิ ศาสนา หรือปรัชญา​​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​no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8364012"/>
                  </a:ext>
                </a:extLst>
              </a:tr>
              <a:tr h="25907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3</a:t>
                      </a:r>
                      <a:endParaRPr lang="th-TH" sz="1600">
                        <a:effectLst/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ประวัติอาชญากรรม​​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​no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3943291"/>
                  </a:ext>
                </a:extLst>
              </a:tr>
              <a:tr h="25907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พฤติกรรมทางเพศ​ 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​no</a:t>
                      </a:r>
                      <a:endParaRPr lang="en-US" sz="48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20311656"/>
                  </a:ext>
                </a:extLst>
              </a:tr>
              <a:tr h="25907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5</a:t>
                      </a:r>
                      <a:endParaRPr lang="th-TH" sz="1600">
                        <a:effectLst/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ข้อมูลสหภาพแรงงาน​ เช่น ข้อมูลการเป็นสมาชิกสหภาพ​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​no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63392114"/>
                  </a:ext>
                </a:extLst>
              </a:tr>
              <a:tr h="25907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6</a:t>
                      </a:r>
                      <a:endParaRPr lang="th-TH" sz="1600">
                        <a:effectLst/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ข้อมูลสุขภาพ ความพิการ​​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​no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34878063"/>
                  </a:ext>
                </a:extLst>
              </a:tr>
              <a:tr h="25907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7</a:t>
                      </a:r>
                      <a:endParaRPr lang="th-TH" sz="1600">
                        <a:effectLst/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ความคิดเห็นทางการเมือง​​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​no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18801139"/>
                  </a:ext>
                </a:extLst>
              </a:tr>
              <a:tr h="25907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ข้อมูลพันธุกรรม​ เช่น ข้อมูล </a:t>
                      </a:r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DNA, </a:t>
                      </a:r>
                      <a:r>
                        <a:rPr lang="th-TH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ยีนส์ 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​no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8361643"/>
                  </a:ext>
                </a:extLst>
              </a:tr>
              <a:tr h="25907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9</a:t>
                      </a:r>
                      <a:endParaRPr lang="th-TH" sz="1600">
                        <a:effectLst/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ข้อมูลชีวภาพ เช่น ลายนิ้วมือ, รูปใบหน้า, ข้อมูล</a:t>
                      </a:r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scan </a:t>
                      </a:r>
                      <a:r>
                        <a:rPr lang="th-TH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ม่านตา​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​no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475163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BE38E46-3D1C-4982-BD21-3770C0C94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239347"/>
              </p:ext>
            </p:extLst>
          </p:nvPr>
        </p:nvGraphicFramePr>
        <p:xfrm>
          <a:off x="406401" y="1052897"/>
          <a:ext cx="6085839" cy="463546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97552">
                  <a:extLst>
                    <a:ext uri="{9D8B030D-6E8A-4147-A177-3AD203B41FA5}">
                      <a16:colId xmlns:a16="http://schemas.microsoft.com/office/drawing/2014/main" val="1743387186"/>
                    </a:ext>
                  </a:extLst>
                </a:gridCol>
                <a:gridCol w="4736312">
                  <a:extLst>
                    <a:ext uri="{9D8B030D-6E8A-4147-A177-3AD203B41FA5}">
                      <a16:colId xmlns:a16="http://schemas.microsoft.com/office/drawing/2014/main" val="2009779853"/>
                    </a:ext>
                  </a:extLst>
                </a:gridCol>
                <a:gridCol w="951975">
                  <a:extLst>
                    <a:ext uri="{9D8B030D-6E8A-4147-A177-3AD203B41FA5}">
                      <a16:colId xmlns:a16="http://schemas.microsoft.com/office/drawing/2014/main" val="3372730708"/>
                    </a:ext>
                  </a:extLst>
                </a:gridCol>
              </a:tblGrid>
              <a:tr h="847023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>
                          <a:solidFill>
                            <a:srgbClr val="FFFFFF"/>
                          </a:solidFill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#</a:t>
                      </a:r>
                      <a:endParaRPr lang="th-TH" sz="1400" b="1" kern="1200">
                        <a:solidFill>
                          <a:srgbClr val="FFFFFF"/>
                        </a:solidFill>
                        <a:effectLst/>
                        <a:latin typeface="CordiaUPC" panose="020B0304020202020204" pitchFamily="34" charset="-34"/>
                        <a:ea typeface="+mn-ea"/>
                        <a:cs typeface="CordiaUPC" panose="020B0304020202020204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Normal Personal data</a:t>
                      </a:r>
                      <a:br>
                        <a:rPr lang="en-US" sz="2400" b="1" kern="1200">
                          <a:solidFill>
                            <a:srgbClr val="FFFFFF"/>
                          </a:solidFill>
                          <a:effectLst/>
                          <a:latin typeface="CordiaUPC"/>
                          <a:cs typeface="CordiaUPC"/>
                        </a:rPr>
                      </a:br>
                      <a:r>
                        <a:rPr lang="en-US" sz="1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(</a:t>
                      </a:r>
                      <a:r>
                        <a:rPr lang="th-TH" sz="1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พิจารณาทำ </a:t>
                      </a:r>
                      <a:r>
                        <a:rPr lang="en-US" sz="1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Consent </a:t>
                      </a:r>
                      <a:r>
                        <a:rPr lang="th-TH" sz="1400" b="1" kern="1200">
                          <a:solidFill>
                            <a:schemeClr val="lt1"/>
                          </a:solidFill>
                          <a:effectLst/>
                          <a:latin typeface="CordiaUPC"/>
                          <a:cs typeface="CordiaUPC"/>
                        </a:rPr>
                        <a:t>เฉพาะเรื่อง จากการนำข้อมูลไปใช้)</a:t>
                      </a:r>
                      <a:endParaRPr lang="th-TH" sz="1400" b="1" kern="1200">
                        <a:solidFill>
                          <a:srgbClr val="FFFFFF"/>
                        </a:solidFill>
                        <a:effectLst/>
                        <a:latin typeface="CordiaUPC"/>
                        <a:ea typeface="+mn-ea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>
                          <a:solidFill>
                            <a:schemeClr val="lt1"/>
                          </a:solidFill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Yes / No​</a:t>
                      </a:r>
                      <a:endParaRPr lang="en-US" sz="2400" b="1" kern="1200">
                        <a:solidFill>
                          <a:schemeClr val="lt1"/>
                        </a:solidFill>
                        <a:effectLst/>
                        <a:latin typeface="CordiaUPC" panose="020B0304020202020204" pitchFamily="34" charset="-34"/>
                        <a:ea typeface="+mn-ea"/>
                        <a:cs typeface="CordiaUPC" panose="020B0304020202020204" pitchFamily="34" charset="-34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4613657"/>
                  </a:ext>
                </a:extLst>
              </a:tr>
              <a:tr h="288101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1</a:t>
                      </a:r>
                      <a:endParaRPr lang="th-TH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ชื่อ-นามสกุล​, ชื่อเล่น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Yes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39525984"/>
                  </a:ext>
                </a:extLst>
              </a:tr>
              <a:tr h="576201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2</a:t>
                      </a:r>
                      <a:endParaRPr lang="th-TH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เลขบัตรประชาชน, เลขหนังสือเดินทาง, เลขบัตรประกันสังคม, เลขใบอนุญาตขับขี่, </a:t>
                      </a:r>
                      <a:br>
                        <a:rPr lang="en-US" sz="1600">
                          <a:effectLst/>
                          <a:latin typeface="CordiaUPC"/>
                          <a:cs typeface="CordiaUPC"/>
                        </a:rPr>
                      </a:br>
                      <a:r>
                        <a:rPr lang="th-TH" sz="1600">
                          <a:effectLst/>
                          <a:latin typeface="CordiaUPC"/>
                          <a:cs typeface="CordiaUPC"/>
                        </a:rPr>
                        <a:t>เลขประจำตัวผู้เสียภาษี, เลขบัญชีธนาคาร, เลขบัตรเครดิต​​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3286813"/>
                  </a:ext>
                </a:extLst>
              </a:tr>
              <a:tr h="288101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3</a:t>
                      </a:r>
                      <a:endParaRPr lang="th-TH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ที่อยู่, อีเมล์, เลขโทรศัพท์​​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diaUPC"/>
                          <a:ea typeface="+mn-ea"/>
                          <a:cs typeface="CordiaUPC"/>
                        </a:rPr>
                        <a:t>Yes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96945645"/>
                  </a:ext>
                </a:extLst>
              </a:tr>
              <a:tr h="309669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ข้อมูลอุปกรณ์หรือเครื่องมือ เช่น </a:t>
                      </a:r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IP Address, MAC Address, Cookie ID​​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diaUPC" panose="020B0304020202020204" pitchFamily="34" charset="-34"/>
                          <a:ea typeface="+mn-ea"/>
                          <a:cs typeface="CordiaUPC" panose="020B0304020202020204" pitchFamily="34" charset="-34"/>
                        </a:rPr>
                        <a:t>no</a:t>
                      </a:r>
                      <a:endParaRPr lang="en-US" sz="1600">
                        <a:effectLst/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09863995"/>
                  </a:ext>
                </a:extLst>
              </a:tr>
              <a:tr h="864301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5</a:t>
                      </a:r>
                      <a:endParaRPr lang="th-TH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ข้อมูลที่สามารถเชื่อมโยงไปข้อมูลส่วนบุคคลได้ เช่น วันเกิด สถานที่เกิด น้ำหนัก ส่วนสูง ข้อมูลตำแหน่งที่อยู่ ข้อมูลการแพทย์ ข้อมูลการศึกษา ข้อมูลการเงิน ข้อมูลการจ้างาน​​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diaUPC" panose="020B0304020202020204" pitchFamily="34" charset="-34"/>
                          <a:ea typeface="+mn-ea"/>
                          <a:cs typeface="CordiaUPC" panose="020B0304020202020204" pitchFamily="34" charset="-34"/>
                        </a:rPr>
                        <a:t>no</a:t>
                      </a:r>
                      <a:endParaRPr lang="en-US" sz="1600">
                        <a:effectLst/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04794822"/>
                  </a:ext>
                </a:extLst>
              </a:tr>
              <a:tr h="288101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6</a:t>
                      </a:r>
                      <a:endParaRPr lang="th-TH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ข้อมูลหมายเลขอ้างอิงที่เก็บไว้ในไมโครฟิล์ม​​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diaUPC" panose="020B0304020202020204" pitchFamily="34" charset="-34"/>
                          <a:ea typeface="+mn-ea"/>
                          <a:cs typeface="CordiaUPC" panose="020B0304020202020204" pitchFamily="34" charset="-34"/>
                        </a:rPr>
                        <a:t>no</a:t>
                      </a:r>
                      <a:endParaRPr lang="en-US" sz="1600">
                        <a:effectLst/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38191869"/>
                  </a:ext>
                </a:extLst>
              </a:tr>
              <a:tr h="309669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7</a:t>
                      </a:r>
                      <a:endParaRPr lang="th-TH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ข้อมูลประเมินการทำงานหรือความเห็นของนายจ้างต่อการทำงานของลูกจ้าง​​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diaUPC" panose="020B0304020202020204" pitchFamily="34" charset="-34"/>
                          <a:ea typeface="+mn-ea"/>
                          <a:cs typeface="CordiaUPC" panose="020B0304020202020204" pitchFamily="34" charset="-34"/>
                        </a:rPr>
                        <a:t>no</a:t>
                      </a:r>
                      <a:endParaRPr lang="en-US" sz="1600">
                        <a:effectLst/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56737474"/>
                  </a:ext>
                </a:extLst>
              </a:tr>
              <a:tr h="576201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ข้อมูลบันทึกต่าง ๆ ที่ใช้ติดตามตรวจสอบกิจกรรมต่าง ๆ ของบุคคล เช่น </a:t>
                      </a:r>
                      <a:r>
                        <a:rPr lang="en-US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Log file​​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diaUPC" panose="020B0304020202020204" pitchFamily="34" charset="-34"/>
                          <a:ea typeface="+mn-ea"/>
                          <a:cs typeface="CordiaUPC" panose="020B0304020202020204" pitchFamily="34" charset="-34"/>
                        </a:rPr>
                        <a:t>no</a:t>
                      </a:r>
                      <a:endParaRPr lang="en-US" sz="1600">
                        <a:effectLst/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88618185"/>
                  </a:ext>
                </a:extLst>
              </a:tr>
              <a:tr h="288101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  <a:latin typeface="CordiaUPC"/>
                          <a:cs typeface="CordiaUPC"/>
                        </a:rPr>
                        <a:t>9</a:t>
                      </a:r>
                      <a:endParaRPr lang="th-TH" sz="1600">
                        <a:effectLst/>
                        <a:latin typeface="CordiaUPC"/>
                        <a:cs typeface="CordiaUPC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th-TH" sz="1600">
                          <a:effectLst/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ข้อมูลที่สามารถใช้ในการค้นหาข้อมูลส่วนบุคคลอื่นในอินเตอร์เน็ต ​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diaUPC" panose="020B0304020202020204" pitchFamily="34" charset="-34"/>
                          <a:ea typeface="+mn-ea"/>
                          <a:cs typeface="CordiaUPC" panose="020B0304020202020204" pitchFamily="34" charset="-34"/>
                        </a:rPr>
                        <a:t>no</a:t>
                      </a:r>
                      <a:endParaRPr lang="en-US" sz="1600">
                        <a:effectLst/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7751708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2829746-7A51-4542-92A3-5FBDA7515A80}"/>
              </a:ext>
            </a:extLst>
          </p:cNvPr>
          <p:cNvSpPr txBox="1"/>
          <p:nvPr/>
        </p:nvSpPr>
        <p:spPr>
          <a:xfrm>
            <a:off x="406401" y="5805103"/>
            <a:ext cx="9588500" cy="3508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กรณีมี</a:t>
            </a:r>
            <a:r>
              <a:rPr lang="en-US" sz="1200" b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Personal Data </a:t>
            </a:r>
            <a:r>
              <a:rPr lang="en-US" sz="1200" b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จะต้องเพิ่มเติมรายละเอียดตาม</a:t>
            </a:r>
            <a:r>
              <a:rPr lang="en-US" sz="1200" b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Template </a:t>
            </a:r>
            <a:r>
              <a:rPr lang="en-US" sz="1200" b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ของ</a:t>
            </a:r>
            <a:r>
              <a:rPr lang="en-US" sz="1200" b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PDPA Requirement </a:t>
            </a:r>
            <a:r>
              <a:rPr lang="en-US" sz="1200" b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ตาม</a:t>
            </a:r>
            <a:r>
              <a:rPr lang="en-US" sz="1200" b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200" b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เอกสารแนบ</a:t>
            </a:r>
            <a:endParaRPr lang="en-US" sz="1200" b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8BEABB-EEF3-4986-903A-232CA2C01E79}"/>
              </a:ext>
            </a:extLst>
          </p:cNvPr>
          <p:cNvSpPr/>
          <p:nvPr/>
        </p:nvSpPr>
        <p:spPr>
          <a:xfrm>
            <a:off x="6675120" y="4407627"/>
            <a:ext cx="5191761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th-TH">
                <a:solidFill>
                  <a:srgbClr val="C00000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หมายเหตุ</a:t>
            </a:r>
            <a:r>
              <a:rPr lang="en-US">
                <a:solidFill>
                  <a:srgbClr val="C00000"/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: </a:t>
            </a:r>
            <a:endParaRPr lang="th-TH">
              <a:solidFill>
                <a:srgbClr val="C00000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endParaRPr lang="th-TH" b="0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147606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C200C-7E55-3F69-302D-E52BD6774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D35C86D-D7D3-577C-FE1B-7FB224269784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7770392" cy="102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1.11 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Business Requirement Summary</a:t>
            </a:r>
            <a:endParaRPr 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92C8AA-E701-A793-5417-8D0053EC44AD}"/>
              </a:ext>
            </a:extLst>
          </p:cNvPr>
          <p:cNvSpPr txBox="1"/>
          <p:nvPr/>
        </p:nvSpPr>
        <p:spPr>
          <a:xfrm>
            <a:off x="132330" y="1110342"/>
            <a:ext cx="11428298" cy="629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highlight>
                  <a:srgbClr val="C0C0C0"/>
                </a:highlight>
                <a:latin typeface="BrowalliaUPC"/>
                <a:cs typeface="Segoe UI"/>
              </a:rPr>
              <a:t>1.กรณีมีการไม่อนุมัติประกันรายได้ ทำให้ไม่สามารถดำเนินการสร้างชดเชยรายได้ได้ใหม่</a:t>
            </a:r>
            <a:r>
              <a:rPr lang="en-US" sz="2400" b="0" dirty="0">
                <a:latin typeface="BrowalliaUPC"/>
                <a:cs typeface="Segoe UI"/>
              </a:rPr>
              <a:t>​ </a:t>
            </a:r>
            <a:r>
              <a:rPr lang="en-US" sz="2400" b="0">
                <a:solidFill>
                  <a:srgbClr val="FF0000"/>
                </a:solidFill>
                <a:latin typeface="BrowalliaUPC"/>
                <a:cs typeface="Segoe UI"/>
              </a:rPr>
              <a:t>(Pg. 46 - 51)</a:t>
            </a:r>
          </a:p>
          <a:p>
            <a:pPr marL="342900" indent="-342900">
              <a:buFont typeface="Calibri"/>
              <a:buChar char="-"/>
            </a:pPr>
            <a:r>
              <a:rPr lang="en-US" sz="2400" b="0">
                <a:latin typeface="BrowalliaUPC"/>
                <a:cs typeface="BrowalliaUPC"/>
              </a:rPr>
              <a:t>เจ้าหน้าที่ SBP DSA สามารถ กรอกข้อมูลร้านเปิดกระทบ เพื่อคำนวณยอดชดเชยรายได้ สำหรับข้อมูลเชิงรุกและเชิงรับ</a:t>
            </a:r>
          </a:p>
          <a:p>
            <a:pPr marL="342900" indent="-342900">
              <a:buFont typeface="Calibri"/>
              <a:buChar char="-"/>
            </a:pPr>
            <a:r>
              <a:rPr lang="en-US" sz="2400" b="0">
                <a:solidFill>
                  <a:srgbClr val="000000"/>
                </a:solidFill>
                <a:latin typeface="BrowalliaUPC"/>
                <a:cs typeface="BrowalliaUPC"/>
              </a:rPr>
              <a:t>เจ้าหน้าที่ SBP DSA สามารถเข้าเลือกงานของตนเองได้ เพื่อคำนวณยอดชดเชยรายได้ สำหรับข้อมูลจากระบบส่ง Auto</a:t>
            </a:r>
            <a:endParaRPr lang="en-US" sz="2400" b="0" dirty="0">
              <a:solidFill>
                <a:srgbClr val="000000"/>
              </a:solidFill>
              <a:latin typeface="BrowalliaUPC"/>
              <a:cs typeface="BrowalliaUPC"/>
            </a:endParaRPr>
          </a:p>
          <a:p>
            <a:pPr marL="342900" indent="-342900">
              <a:buFont typeface="Calibri"/>
              <a:buChar char="-"/>
            </a:pPr>
            <a:r>
              <a:rPr lang="en-US" sz="2400" b="0">
                <a:solidFill>
                  <a:srgbClr val="000000"/>
                </a:solidFill>
                <a:latin typeface="BrowalliaUPC"/>
                <a:cs typeface="BrowalliaUPC"/>
              </a:rPr>
              <a:t>กรณีฝ่าย SBP DSA หยุดชดเชยรายได้ เจ้าหน้าที่ SBP DSA สามารถสร้างเอกสารเปิดงานได้ในรอบเดือนเดียวกันหรือถัดไปได้</a:t>
            </a:r>
          </a:p>
          <a:p>
            <a:pPr marL="342900" indent="-342900">
              <a:buFont typeface="Calibri"/>
              <a:buChar char="-"/>
            </a:pPr>
            <a:r>
              <a:rPr lang="en-US" sz="2400" b="0">
                <a:solidFill>
                  <a:srgbClr val="000000"/>
                </a:solidFill>
                <a:latin typeface="BrowalliaUPC"/>
                <a:cs typeface="BrowalliaUPC"/>
              </a:rPr>
              <a:t>กรณีฝ่าย SBP DSA เห็นควรไม่ชดเชยรายได้ ในรอบเดือนถัดไประบบดึงข้อมูลไปที่หน้าจอคงค้าง พร้อมเจ้าของงานคนเดิม(เจ้าหน้าที่ SBP DSA)</a:t>
            </a:r>
          </a:p>
          <a:p>
            <a:pPr marL="342900" indent="-342900">
              <a:buFont typeface="Calibri"/>
              <a:buChar char="-"/>
            </a:pPr>
            <a:r>
              <a:rPr lang="en-US" sz="2400" b="0" u="sng">
                <a:solidFill>
                  <a:srgbClr val="000000"/>
                </a:solidFill>
                <a:latin typeface="BrowalliaUPC"/>
                <a:cs typeface="BrowalliaUPC"/>
              </a:rPr>
              <a:t>กรณียอดชดเชยรายได้เป็น 0</a:t>
            </a:r>
            <a:endParaRPr lang="en-US" sz="2400" b="0" u="sng" dirty="0">
              <a:solidFill>
                <a:srgbClr val="000000"/>
              </a:solidFill>
              <a:latin typeface="BrowalliaUPC"/>
              <a:cs typeface="BrowalliaUPC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 b="0">
                <a:solidFill>
                  <a:srgbClr val="000000"/>
                </a:solidFill>
                <a:latin typeface="BrowalliaUPC"/>
                <a:cs typeface="BrowalliaUPC"/>
              </a:rPr>
              <a:t>ยอดชดเชยรายได้เป็น 0 เดือนที่ 1-3 คลิ๊ก "ฝ่ายส่งเสริมธุรกิจ SBP"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400" b="0">
                <a:solidFill>
                  <a:srgbClr val="000000"/>
                </a:solidFill>
                <a:latin typeface="BrowalliaUPC"/>
                <a:cs typeface="BrowalliaUPC"/>
              </a:rPr>
              <a:t>ยอดชดเชยรายได้เป็น 0 เดือนที่ 4 คลิ๊ก "หยุดชดเชยรายได้"</a:t>
            </a:r>
            <a:endParaRPr lang="en-US"/>
          </a:p>
          <a:p>
            <a:pPr marL="342900" indent="-342900">
              <a:buFont typeface="Calibri"/>
              <a:buChar char="-"/>
            </a:pPr>
            <a:r>
              <a:rPr lang="en-US" sz="2400" b="0" u="sng">
                <a:solidFill>
                  <a:srgbClr val="000000"/>
                </a:solidFill>
                <a:latin typeface="BrowalliaUPC"/>
                <a:cs typeface="BrowalliaUPC"/>
              </a:rPr>
              <a:t>สิทธิ์การมองเห็นเอกสาร</a:t>
            </a:r>
            <a:endParaRPr lang="en-US" sz="2400" b="0" u="sng" dirty="0">
              <a:solidFill>
                <a:srgbClr val="000000"/>
              </a:solidFill>
              <a:latin typeface="BrowalliaUPC"/>
              <a:cs typeface="BrowalliaUPC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 b="0">
                <a:solidFill>
                  <a:srgbClr val="000000"/>
                </a:solidFill>
                <a:latin typeface="BrowalliaUPC"/>
                <a:cs typeface="BrowalliaUPC"/>
              </a:rPr>
              <a:t>เจ้าหน้าที่ SBP DSA และฝ่าย SBP DSA</a:t>
            </a:r>
            <a:br>
              <a:rPr lang="en-US" sz="2400" b="0" dirty="0">
                <a:solidFill>
                  <a:srgbClr val="000000"/>
                </a:solidFill>
                <a:latin typeface="BrowalliaUPC"/>
                <a:cs typeface="BrowalliaUPC"/>
              </a:rPr>
            </a:br>
            <a:r>
              <a:rPr lang="en-US" sz="2400" b="0">
                <a:solidFill>
                  <a:srgbClr val="000000"/>
                </a:solidFill>
                <a:latin typeface="BrowalliaUPC"/>
                <a:cs typeface="BrowalliaUPC"/>
              </a:rPr>
              <a:t> สามารถเข้าดูรายละเอียดของร้านสาขาได้ทุกสาขา โดยไม่จำกัดเฉพาะงานที่รับผิดชอบ</a:t>
            </a:r>
            <a:endParaRPr lang="en-US" sz="2400" b="0" dirty="0">
              <a:solidFill>
                <a:srgbClr val="000000"/>
              </a:solidFill>
              <a:latin typeface="BrowalliaUPC"/>
              <a:cs typeface="BrowalliaUPC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 b="0">
                <a:solidFill>
                  <a:srgbClr val="000000"/>
                </a:solidFill>
                <a:latin typeface="BrowalliaUPC"/>
                <a:cs typeface="BrowalliaUPC"/>
              </a:rPr>
              <a:t>ทีมส่งเสริม และทีมบัญชี</a:t>
            </a:r>
            <a:br>
              <a:rPr lang="en-US" sz="2400" b="0" dirty="0">
                <a:solidFill>
                  <a:srgbClr val="000000"/>
                </a:solidFill>
                <a:latin typeface="BrowalliaUPC"/>
                <a:cs typeface="BrowalliaUPC"/>
              </a:rPr>
            </a:br>
            <a:r>
              <a:rPr lang="en-US" sz="2400" b="0">
                <a:solidFill>
                  <a:srgbClr val="000000"/>
                </a:solidFill>
                <a:latin typeface="BrowalliaUPC"/>
                <a:cs typeface="BrowalliaUPC"/>
              </a:rPr>
              <a:t> สามารถเข้าดูรายละเอียดเอกสารได้ตามสิทธิ์การเข้าถึงเดิมของแต่ละทีม</a:t>
            </a:r>
            <a:endParaRPr lang="en-US"/>
          </a:p>
          <a:p>
            <a:pPr marL="800100" lvl="1" indent="-342900">
              <a:buFont typeface="Courier New"/>
              <a:buChar char="o"/>
            </a:pPr>
            <a:endParaRPr lang="en-US" sz="2400" b="0">
              <a:latin typeface="BrowalliaUPC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8969136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907996-4F6B-47B0-BA98-4844791050A1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7770392" cy="102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1.11 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Business Requirement Summary</a:t>
            </a:r>
            <a:endParaRPr 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1A5C48-5E2F-C330-F60B-27C555533A86}"/>
              </a:ext>
            </a:extLst>
          </p:cNvPr>
          <p:cNvSpPr txBox="1"/>
          <p:nvPr/>
        </p:nvSpPr>
        <p:spPr>
          <a:xfrm>
            <a:off x="168049" y="991279"/>
            <a:ext cx="11428298" cy="63709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highlight>
                  <a:srgbClr val="C0C0C0"/>
                </a:highlight>
                <a:latin typeface="BrowalliaUPC"/>
                <a:cs typeface="BrowalliaUPC"/>
              </a:rPr>
              <a:t>2. ปรับสิทธิ์การตรวจสอบยอดชดเชยรายได้และกระบวนการทำงาน ของทีมส่งเสริม</a:t>
            </a:r>
            <a:r>
              <a:rPr lang="en-US" sz="2400" b="0" dirty="0">
                <a:solidFill>
                  <a:srgbClr val="000000"/>
                </a:solidFill>
                <a:latin typeface="BrowalliaUPC"/>
                <a:cs typeface="BrowalliaUPC"/>
              </a:rPr>
              <a:t> </a:t>
            </a:r>
            <a:r>
              <a:rPr lang="en-US" sz="2400" b="0">
                <a:solidFill>
                  <a:srgbClr val="FF0000"/>
                </a:solidFill>
                <a:latin typeface="BrowalliaUPC"/>
                <a:cs typeface="BrowalliaUPC"/>
              </a:rPr>
              <a:t>(Pg. 52 - 57)</a:t>
            </a:r>
            <a:endParaRPr lang="en-US" sz="2400" b="0" dirty="0">
              <a:solidFill>
                <a:srgbClr val="FF0000"/>
              </a:solidFill>
              <a:latin typeface="BrowalliaUPC"/>
              <a:cs typeface="Segoe UI"/>
            </a:endParaRPr>
          </a:p>
          <a:p>
            <a:r>
              <a:rPr lang="en-US" sz="2400" u="sng">
                <a:solidFill>
                  <a:srgbClr val="000000"/>
                </a:solidFill>
                <a:latin typeface="BrowalliaUPC"/>
                <a:cs typeface="BrowalliaUPC"/>
              </a:rPr>
              <a:t>ปรับสิทธิ์การตรวจสอบยอดชดเชยรายได้</a:t>
            </a:r>
            <a:endParaRPr lang="en-US" sz="2400" b="0" dirty="0">
              <a:solidFill>
                <a:srgbClr val="000000"/>
              </a:solidFill>
              <a:latin typeface="BrowalliaUPC"/>
              <a:cs typeface="BrowalliaUPC"/>
            </a:endParaRPr>
          </a:p>
          <a:p>
            <a:pPr marL="342900" indent="-342900">
              <a:buFont typeface="Calibri"/>
              <a:buChar char="-"/>
            </a:pPr>
            <a:r>
              <a:rPr lang="en-US" sz="2400" b="0">
                <a:solidFill>
                  <a:srgbClr val="000000"/>
                </a:solidFill>
                <a:latin typeface="BrowalliaUPC"/>
                <a:cs typeface="BrowalliaUPC"/>
              </a:rPr>
              <a:t>ปรับสิทธิ์การตรวจสอบยอดชดเชยรายได้ จากฝ่าย ส่งเสริม เป็น หน่วยงานส่งเสริม (ระดับพนักงาน ตามข้อมูล HR :เจ้าหน้าที่อาวุโส - ฝ่ายส่งเสริม ยกเว้น GM) สามารถเข้ามาดำเนินการส่งต่อ Flow ให้ GM ส่งเสริมได้</a:t>
            </a:r>
            <a:endParaRPr lang="en-US"/>
          </a:p>
          <a:p>
            <a:pPr marL="342900" indent="-342900">
              <a:buFont typeface="Calibri"/>
              <a:buChar char="-"/>
            </a:pPr>
            <a:endParaRPr lang="en-US" sz="2400" b="0" dirty="0">
              <a:solidFill>
                <a:srgbClr val="000000"/>
              </a:solidFill>
              <a:latin typeface="BrowalliaUPC"/>
              <a:cs typeface="BrowalliaUPC"/>
            </a:endParaRPr>
          </a:p>
          <a:p>
            <a:pPr marL="342900" indent="-342900">
              <a:buFont typeface="Calibri"/>
              <a:buChar char="-"/>
            </a:pPr>
            <a:endParaRPr lang="en-US" sz="2400" b="0" dirty="0">
              <a:solidFill>
                <a:srgbClr val="000000"/>
              </a:solidFill>
              <a:latin typeface="BrowalliaUPC"/>
              <a:cs typeface="BrowalliaUPC"/>
            </a:endParaRPr>
          </a:p>
          <a:p>
            <a:pPr marL="342900" indent="-342900">
              <a:buFont typeface="Calibri"/>
              <a:buChar char="-"/>
            </a:pPr>
            <a:endParaRPr lang="en-US" sz="2400" b="0" dirty="0">
              <a:solidFill>
                <a:srgbClr val="000000"/>
              </a:solidFill>
              <a:latin typeface="BrowalliaUPC"/>
              <a:cs typeface="BrowalliaUPC"/>
            </a:endParaRPr>
          </a:p>
          <a:p>
            <a:pPr marL="342900" indent="-342900">
              <a:buFont typeface="Calibri"/>
              <a:buChar char="-"/>
            </a:pPr>
            <a:endParaRPr lang="en-US" sz="2400" b="0" dirty="0">
              <a:solidFill>
                <a:srgbClr val="000000"/>
              </a:solidFill>
              <a:latin typeface="BrowalliaUPC"/>
              <a:cs typeface="BrowalliaUPC"/>
            </a:endParaRPr>
          </a:p>
          <a:p>
            <a:pPr marL="342900" indent="-342900">
              <a:buFont typeface="Calibri"/>
              <a:buChar char="-"/>
            </a:pPr>
            <a:endParaRPr lang="en-US" sz="2400" b="0" dirty="0">
              <a:solidFill>
                <a:srgbClr val="000000"/>
              </a:solidFill>
              <a:latin typeface="BrowalliaUPC"/>
              <a:cs typeface="BrowalliaUPC"/>
            </a:endParaRPr>
          </a:p>
          <a:p>
            <a:pPr marL="342900" indent="-342900">
              <a:buFont typeface="Calibri"/>
              <a:buChar char="-"/>
            </a:pPr>
            <a:endParaRPr lang="en-US" sz="2400" b="0" dirty="0">
              <a:solidFill>
                <a:srgbClr val="000000"/>
              </a:solidFill>
              <a:latin typeface="BrowalliaUPC"/>
              <a:cs typeface="BrowalliaUPC"/>
            </a:endParaRPr>
          </a:p>
          <a:p>
            <a:pPr marL="342900" indent="-342900">
              <a:buFont typeface="Calibri"/>
              <a:buChar char="-"/>
            </a:pPr>
            <a:endParaRPr lang="en-US" sz="2400" b="0" dirty="0">
              <a:solidFill>
                <a:srgbClr val="000000"/>
              </a:solidFill>
              <a:latin typeface="BrowalliaUPC"/>
              <a:cs typeface="BrowalliaUPC"/>
            </a:endParaRPr>
          </a:p>
          <a:p>
            <a:pPr marL="342900" indent="-342900">
              <a:buFont typeface="Calibri"/>
              <a:buChar char="-"/>
            </a:pPr>
            <a:endParaRPr lang="en-US" sz="2400" b="0" dirty="0">
              <a:solidFill>
                <a:srgbClr val="000000"/>
              </a:solidFill>
              <a:latin typeface="BrowalliaUPC"/>
              <a:cs typeface="BrowalliaUPC"/>
            </a:endParaRPr>
          </a:p>
          <a:p>
            <a:pPr marL="342900" indent="-342900">
              <a:buFont typeface="Calibri"/>
              <a:buChar char="-"/>
            </a:pPr>
            <a:endParaRPr lang="en-US" sz="2400" b="0" dirty="0">
              <a:solidFill>
                <a:srgbClr val="000000"/>
              </a:solidFill>
              <a:latin typeface="BrowalliaUPC"/>
              <a:cs typeface="BrowalliaUPC"/>
            </a:endParaRPr>
          </a:p>
          <a:p>
            <a:pPr marL="342900" indent="-342900">
              <a:buFont typeface="Calibri"/>
              <a:buChar char="-"/>
            </a:pPr>
            <a:r>
              <a:rPr lang="en-US" sz="2400" b="0">
                <a:solidFill>
                  <a:srgbClr val="000000"/>
                </a:solidFill>
                <a:latin typeface="BrowalliaUPC"/>
                <a:cs typeface="BrowalliaUPC"/>
              </a:rPr>
              <a:t>ปรับชื่อปุ่ม ฝ่ายส่งเสริม เป็น หน่วยงานส่งเสริม</a:t>
            </a:r>
            <a:endParaRPr lang="en-US" sz="2400" b="0" dirty="0">
              <a:solidFill>
                <a:srgbClr val="000000"/>
              </a:solidFill>
              <a:latin typeface="BrowalliaUPC"/>
              <a:cs typeface="BrowalliaUPC"/>
            </a:endParaRPr>
          </a:p>
          <a:p>
            <a:r>
              <a:rPr lang="en-US" sz="2400" u="sng">
                <a:highlight>
                  <a:srgbClr val="FFFFFF"/>
                </a:highlight>
                <a:latin typeface="BrowalliaUPC"/>
                <a:cs typeface="BrowalliaUPC"/>
              </a:rPr>
              <a:t>ปรับกระบวนการทำงานส่งเสริม กรณีเห็นควรไม่ชดเชย</a:t>
            </a:r>
          </a:p>
          <a:p>
            <a:pPr marL="342900" indent="-342900">
              <a:buFont typeface="Calibri"/>
              <a:buChar char="-"/>
            </a:pPr>
            <a:r>
              <a:rPr lang="en-US" sz="2400" b="0">
                <a:highlight>
                  <a:srgbClr val="FFFFFF"/>
                </a:highlight>
                <a:latin typeface="BrowalliaUPC"/>
                <a:cs typeface="BrowalliaUPC"/>
              </a:rPr>
              <a:t>ทั้งหน่วยงานส่งเสริม และ GM ส่งเสริม</a:t>
            </a:r>
            <a:endParaRPr lang="en-US" sz="2400">
              <a:highlight>
                <a:srgbClr val="FFFFFF"/>
              </a:highlight>
              <a:latin typeface="BrowalliaUPC"/>
              <a:cs typeface="BrowalliaUPC"/>
            </a:endParaRPr>
          </a:p>
          <a:p>
            <a:pPr marL="342900" indent="-342900">
              <a:buFont typeface="Calibri"/>
              <a:buChar char="-"/>
            </a:pPr>
            <a:endParaRPr lang="en-US" sz="2400" b="0">
              <a:latin typeface="BrowalliaUPC"/>
              <a:cs typeface="Segoe UI"/>
            </a:endParaRPr>
          </a:p>
        </p:txBody>
      </p:sp>
      <p:graphicFrame>
        <p:nvGraphicFramePr>
          <p:cNvPr id="6" name="ตาราง 5">
            <a:extLst>
              <a:ext uri="{FF2B5EF4-FFF2-40B4-BE49-F238E27FC236}">
                <a16:creationId xmlns:a16="http://schemas.microsoft.com/office/drawing/2014/main" id="{B7EC694C-D3A8-835B-673B-8F2943271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286915"/>
              </p:ext>
            </p:extLst>
          </p:nvPr>
        </p:nvGraphicFramePr>
        <p:xfrm>
          <a:off x="4067334" y="2551815"/>
          <a:ext cx="5541816" cy="323274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04108">
                  <a:extLst>
                    <a:ext uri="{9D8B030D-6E8A-4147-A177-3AD203B41FA5}">
                      <a16:colId xmlns:a16="http://schemas.microsoft.com/office/drawing/2014/main" val="1034471671"/>
                    </a:ext>
                  </a:extLst>
                </a:gridCol>
                <a:gridCol w="1233054">
                  <a:extLst>
                    <a:ext uri="{9D8B030D-6E8A-4147-A177-3AD203B41FA5}">
                      <a16:colId xmlns:a16="http://schemas.microsoft.com/office/drawing/2014/main" val="3084069297"/>
                    </a:ext>
                  </a:extLst>
                </a:gridCol>
                <a:gridCol w="2604654">
                  <a:extLst>
                    <a:ext uri="{9D8B030D-6E8A-4147-A177-3AD203B41FA5}">
                      <a16:colId xmlns:a16="http://schemas.microsoft.com/office/drawing/2014/main" val="1032395026"/>
                    </a:ext>
                  </a:extLst>
                </a:gridCol>
              </a:tblGrid>
              <a:tr h="374066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th-TH" dirty="0">
                        <a:effectLst/>
                        <a:latin typeface="BrowalliaUPC"/>
                        <a:cs typeface="BrowalliaUPC"/>
                      </a:endParaRPr>
                    </a:p>
                  </a:txBody>
                  <a:tcPr marL="62865" marR="62865" marT="31433" marB="3143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th-TH" dirty="0">
                        <a:effectLst/>
                        <a:latin typeface="BrowalliaUPC"/>
                        <a:cs typeface="BrowalliaUPC"/>
                      </a:endParaRPr>
                    </a:p>
                  </a:txBody>
                  <a:tcPr marL="62865" marR="62865" marT="31433" marB="3143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00"/>
                        </a:lnSpc>
                        <a:buNone/>
                      </a:pPr>
                      <a:r>
                        <a:rPr lang="th-TH" sz="1800" b="1">
                          <a:effectLst/>
                          <a:latin typeface="BrowalliaUPC"/>
                          <a:cs typeface="BrowalliaUPC"/>
                        </a:rPr>
                        <a:t>ตำแหน่ง</a:t>
                      </a:r>
                      <a:endParaRPr lang="th-TH">
                        <a:effectLst/>
                        <a:latin typeface="BrowalliaUPC"/>
                        <a:cs typeface="BrowalliaUPC"/>
                      </a:endParaRPr>
                    </a:p>
                  </a:txBody>
                  <a:tcPr marL="62865" marR="62865" marT="31433" marB="3143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787575"/>
                  </a:ext>
                </a:extLst>
              </a:tr>
              <a:tr h="374066">
                <a:tc>
                  <a:txBody>
                    <a:bodyPr/>
                    <a:lstStyle/>
                    <a:p>
                      <a:pPr rtl="0" fontAlgn="base">
                        <a:lnSpc>
                          <a:spcPts val="1500"/>
                        </a:lnSpc>
                        <a:buNone/>
                      </a:pPr>
                      <a:r>
                        <a:rPr lang="th-TH" sz="1800">
                          <a:effectLst/>
                          <a:latin typeface="BrowalliaUPC"/>
                          <a:cs typeface="BrowalliaUPC"/>
                        </a:rPr>
                        <a:t>กล่อง </a:t>
                      </a:r>
                      <a:r>
                        <a:rPr lang="af-ZA" sz="1800">
                          <a:effectLst/>
                          <a:latin typeface="BrowalliaUPC"/>
                          <a:cs typeface="BrowalliaUPC"/>
                        </a:rPr>
                        <a:t>AVP </a:t>
                      </a:r>
                      <a:r>
                        <a:rPr lang="th-TH" sz="1800">
                          <a:effectLst/>
                          <a:latin typeface="BrowalliaUPC"/>
                          <a:cs typeface="BrowalliaUPC"/>
                        </a:rPr>
                        <a:t>ส่งเสริม</a:t>
                      </a:r>
                      <a:endParaRPr lang="th-TH">
                        <a:effectLst/>
                        <a:latin typeface="BrowalliaUPC"/>
                        <a:cs typeface="BrowalliaUPC"/>
                      </a:endParaRPr>
                    </a:p>
                  </a:txBody>
                  <a:tcPr marL="62865" marR="62865" marT="31433" marB="3143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00"/>
                        </a:lnSpc>
                        <a:buNone/>
                      </a:pPr>
                      <a:r>
                        <a:rPr lang="af-ZA" sz="1800">
                          <a:effectLst/>
                          <a:latin typeface="BrowalliaUPC"/>
                          <a:cs typeface="BrowalliaUPC"/>
                        </a:rPr>
                        <a:t>AVP </a:t>
                      </a:r>
                      <a:r>
                        <a:rPr lang="th-TH" sz="1800">
                          <a:effectLst/>
                          <a:latin typeface="BrowalliaUPC"/>
                          <a:cs typeface="BrowalliaUPC"/>
                        </a:rPr>
                        <a:t>อนุมัติเงิน</a:t>
                      </a:r>
                      <a:endParaRPr lang="th-TH">
                        <a:effectLst/>
                        <a:latin typeface="BrowalliaUPC"/>
                        <a:cs typeface="BrowalliaUPC"/>
                      </a:endParaRPr>
                    </a:p>
                  </a:txBody>
                  <a:tcPr marL="62865" marR="62865" marT="31433" marB="3143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00"/>
                        </a:lnSpc>
                        <a:buNone/>
                      </a:pPr>
                      <a:r>
                        <a:rPr lang="th-TH" sz="1800">
                          <a:effectLst/>
                          <a:latin typeface="BrowalliaUPC"/>
                          <a:cs typeface="BrowalliaUPC"/>
                        </a:rPr>
                        <a:t>ผู้ช่วยกรรมการผู้จัดการ หรือเทียบเท่า</a:t>
                      </a:r>
                      <a:endParaRPr lang="th-TH">
                        <a:effectLst/>
                        <a:latin typeface="BrowalliaUPC"/>
                        <a:cs typeface="BrowalliaUPC"/>
                      </a:endParaRPr>
                    </a:p>
                  </a:txBody>
                  <a:tcPr marL="62865" marR="62865" marT="31433" marB="3143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776113"/>
                  </a:ext>
                </a:extLst>
              </a:tr>
              <a:tr h="374066">
                <a:tc rowSpan="3">
                  <a:txBody>
                    <a:bodyPr/>
                    <a:lstStyle/>
                    <a:p>
                      <a:pPr rtl="0" fontAlgn="base">
                        <a:lnSpc>
                          <a:spcPts val="1500"/>
                        </a:lnSpc>
                        <a:buNone/>
                      </a:pPr>
                      <a:r>
                        <a:rPr lang="th-TH" sz="1800">
                          <a:effectLst/>
                          <a:latin typeface="BrowalliaUPC"/>
                          <a:cs typeface="BrowalliaUPC"/>
                        </a:rPr>
                        <a:t>กล่อง </a:t>
                      </a:r>
                      <a:r>
                        <a:rPr lang="af-ZA" sz="1800">
                          <a:effectLst/>
                          <a:latin typeface="BrowalliaUPC"/>
                        </a:rPr>
                        <a:t>GM </a:t>
                      </a:r>
                      <a:r>
                        <a:rPr lang="th-TH" sz="1800">
                          <a:effectLst/>
                          <a:latin typeface="BrowalliaUPC"/>
                          <a:cs typeface="BrowalliaUPC"/>
                        </a:rPr>
                        <a:t>ส่งเสริม</a:t>
                      </a:r>
                      <a:endParaRPr lang="th-TH">
                        <a:effectLst/>
                        <a:latin typeface="BrowalliaUPC"/>
                        <a:cs typeface="BrowalliaUPC"/>
                      </a:endParaRPr>
                    </a:p>
                  </a:txBody>
                  <a:tcPr marL="62865" marR="62865" marT="31433" marB="3143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 rowSpan="3">
                  <a:txBody>
                    <a:bodyPr/>
                    <a:lstStyle/>
                    <a:p>
                      <a:pPr rtl="0" fontAlgn="base">
                        <a:lnSpc>
                          <a:spcPts val="1500"/>
                        </a:lnSpc>
                        <a:buNone/>
                      </a:pPr>
                      <a:r>
                        <a:rPr lang="af-ZA" sz="1800">
                          <a:effectLst/>
                          <a:latin typeface="BrowalliaUPC"/>
                        </a:rPr>
                        <a:t>GM </a:t>
                      </a:r>
                      <a:r>
                        <a:rPr lang="th-TH" sz="1800">
                          <a:effectLst/>
                          <a:latin typeface="BrowalliaUPC"/>
                          <a:cs typeface="BrowalliaUPC"/>
                        </a:rPr>
                        <a:t>อนุมัติเงิน</a:t>
                      </a:r>
                      <a:endParaRPr lang="th-TH">
                        <a:effectLst/>
                        <a:latin typeface="BrowalliaUPC"/>
                        <a:cs typeface="BrowalliaUPC"/>
                      </a:endParaRPr>
                    </a:p>
                  </a:txBody>
                  <a:tcPr marL="62865" marR="62865" marT="31433" marB="3143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00"/>
                        </a:lnSpc>
                        <a:buNone/>
                      </a:pPr>
                      <a:r>
                        <a:rPr lang="th-TH" sz="1800">
                          <a:effectLst/>
                          <a:latin typeface="BrowalliaUPC"/>
                          <a:cs typeface="BrowalliaUPC"/>
                        </a:rPr>
                        <a:t>ผู้จัดการทั่วไป</a:t>
                      </a:r>
                      <a:endParaRPr lang="th-TH">
                        <a:effectLst/>
                        <a:latin typeface="BrowalliaUPC"/>
                        <a:cs typeface="BrowalliaUPC"/>
                      </a:endParaRPr>
                    </a:p>
                  </a:txBody>
                  <a:tcPr marL="62865" marR="62865" marT="31433" marB="3143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450342"/>
                  </a:ext>
                </a:extLst>
              </a:tr>
              <a:tr h="374066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00"/>
                        </a:lnSpc>
                        <a:buNone/>
                      </a:pPr>
                      <a:r>
                        <a:rPr lang="th-TH" sz="1800">
                          <a:effectLst/>
                          <a:latin typeface="BrowalliaUPC"/>
                          <a:cs typeface="BrowalliaUPC"/>
                        </a:rPr>
                        <a:t>รองผู้จัดการทั่วไป</a:t>
                      </a:r>
                      <a:endParaRPr lang="th-TH">
                        <a:effectLst/>
                        <a:latin typeface="BrowalliaUPC"/>
                        <a:cs typeface="BrowalliaUPC"/>
                      </a:endParaRPr>
                    </a:p>
                  </a:txBody>
                  <a:tcPr marL="62865" marR="62865" marT="31433" marB="3143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205467"/>
                  </a:ext>
                </a:extLst>
              </a:tr>
              <a:tr h="374066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00"/>
                        </a:lnSpc>
                        <a:buNone/>
                      </a:pPr>
                      <a:r>
                        <a:rPr lang="th-TH" sz="1800">
                          <a:effectLst/>
                          <a:latin typeface="BrowalliaUPC"/>
                          <a:cs typeface="BrowalliaUPC"/>
                        </a:rPr>
                        <a:t>ผู้ช่วยผู้จัดการทั่วไป</a:t>
                      </a:r>
                      <a:endParaRPr lang="th-TH">
                        <a:effectLst/>
                        <a:latin typeface="BrowalliaUPC"/>
                        <a:cs typeface="BrowalliaUPC"/>
                      </a:endParaRPr>
                    </a:p>
                  </a:txBody>
                  <a:tcPr marL="62865" marR="62865" marT="31433" marB="3143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114654"/>
                  </a:ext>
                </a:extLst>
              </a:tr>
              <a:tr h="374066">
                <a:tc rowSpan="2">
                  <a:txBody>
                    <a:bodyPr/>
                    <a:lstStyle/>
                    <a:p>
                      <a:pPr rtl="0" fontAlgn="base">
                        <a:lnSpc>
                          <a:spcPts val="1500"/>
                        </a:lnSpc>
                        <a:buNone/>
                      </a:pPr>
                      <a:r>
                        <a:rPr lang="th-TH" sz="1800">
                          <a:effectLst/>
                          <a:latin typeface="BrowalliaUPC"/>
                          <a:cs typeface="BrowalliaUPC"/>
                        </a:rPr>
                        <a:t>กล่อง หน่วยงานส่งเสริม</a:t>
                      </a:r>
                      <a:endParaRPr lang="th-TH">
                        <a:effectLst/>
                        <a:latin typeface="BrowalliaUPC"/>
                        <a:cs typeface="BrowalliaUPC"/>
                      </a:endParaRPr>
                    </a:p>
                  </a:txBody>
                  <a:tcPr marL="62865" marR="62865" marT="31433" marB="3143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0" fontAlgn="base">
                        <a:lnSpc>
                          <a:spcPts val="1500"/>
                        </a:lnSpc>
                        <a:buNone/>
                      </a:pPr>
                      <a:r>
                        <a:rPr lang="th-TH" sz="1800">
                          <a:effectLst/>
                          <a:latin typeface="BrowalliaUPC"/>
                          <a:cs typeface="BrowalliaUPC"/>
                        </a:rPr>
                        <a:t>ฝ่าย กลั่นกรอง</a:t>
                      </a:r>
                      <a:endParaRPr lang="th-TH">
                        <a:effectLst/>
                        <a:latin typeface="BrowalliaUPC"/>
                        <a:cs typeface="BrowalliaUPC"/>
                      </a:endParaRPr>
                    </a:p>
                  </a:txBody>
                  <a:tcPr marL="62865" marR="62865" marT="31433" marB="3143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00"/>
                        </a:lnSpc>
                        <a:buNone/>
                      </a:pPr>
                      <a:r>
                        <a:rPr lang="th-TH" sz="1800">
                          <a:effectLst/>
                          <a:latin typeface="BrowalliaUPC"/>
                          <a:cs typeface="BrowalliaUPC"/>
                        </a:rPr>
                        <a:t>ผู้จัดการฝ่าย/ผู้เชี่ยวชาญ</a:t>
                      </a:r>
                      <a:endParaRPr lang="th-TH">
                        <a:effectLst/>
                        <a:latin typeface="BrowalliaUPC"/>
                        <a:cs typeface="BrowalliaUPC"/>
                      </a:endParaRPr>
                    </a:p>
                  </a:txBody>
                  <a:tcPr marL="62865" marR="62865" marT="31433" marB="3143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139148"/>
                  </a:ext>
                </a:extLst>
              </a:tr>
              <a:tr h="374066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00"/>
                        </a:lnSpc>
                        <a:buNone/>
                      </a:pPr>
                      <a:r>
                        <a:rPr lang="th-TH" sz="1800">
                          <a:effectLst/>
                          <a:latin typeface="BrowalliaUPC"/>
                          <a:cs typeface="BrowalliaUPC"/>
                        </a:rPr>
                        <a:t>เจ้าหน้าที่อาวุโส</a:t>
                      </a:r>
                      <a:endParaRPr lang="th-TH">
                        <a:effectLst/>
                        <a:latin typeface="BrowalliaUPC"/>
                        <a:cs typeface="BrowalliaUPC"/>
                      </a:endParaRPr>
                    </a:p>
                  </a:txBody>
                  <a:tcPr marL="62865" marR="62865" marT="31433" marB="3143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358902"/>
                  </a:ext>
                </a:extLst>
              </a:tr>
              <a:tr h="498763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th-TH" dirty="0">
                        <a:effectLst/>
                        <a:latin typeface="BrowalliaUPC"/>
                        <a:cs typeface="BrowalliaUPC"/>
                      </a:endParaRPr>
                    </a:p>
                  </a:txBody>
                  <a:tcPr marL="62865" marR="62865" marT="31433" marB="3143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th-TH" dirty="0">
                        <a:effectLst/>
                        <a:latin typeface="BrowalliaUPC"/>
                        <a:cs typeface="BrowalliaUPC"/>
                      </a:endParaRPr>
                    </a:p>
                  </a:txBody>
                  <a:tcPr marL="62865" marR="62865" marT="31433" marB="3143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00"/>
                        </a:lnSpc>
                        <a:buNone/>
                      </a:pPr>
                      <a:r>
                        <a:rPr lang="th-TH" sz="1800">
                          <a:effectLst/>
                          <a:latin typeface="BrowalliaUPC"/>
                          <a:cs typeface="BrowalliaUPC"/>
                        </a:rPr>
                        <a:t>เจ้าหน้าที่</a:t>
                      </a:r>
                      <a:endParaRPr lang="th-TH">
                        <a:effectLst/>
                        <a:latin typeface="BrowalliaUPC"/>
                        <a:cs typeface="BrowalliaUPC"/>
                      </a:endParaRPr>
                    </a:p>
                  </a:txBody>
                  <a:tcPr marL="62865" marR="62865" marT="31433" marB="31433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874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62650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A25B9-06D7-275B-D7C1-B8C6CD79A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7E06FA9-77F5-39F2-F23C-2C0F658F1218}"/>
              </a:ext>
            </a:extLst>
          </p:cNvPr>
          <p:cNvSpPr txBox="1">
            <a:spLocks/>
          </p:cNvSpPr>
          <p:nvPr/>
        </p:nvSpPr>
        <p:spPr bwMode="auto">
          <a:xfrm>
            <a:off x="621254" y="325158"/>
            <a:ext cx="7770392" cy="102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en-US" u="sng">
                <a:latin typeface="CordiaUPC"/>
                <a:ea typeface="Tahoma"/>
                <a:cs typeface="CordiaUPC"/>
              </a:rPr>
              <a:t>1.11 </a:t>
            </a:r>
            <a:r>
              <a:rPr lang="en-US" altLang="en-US" b="1" u="sng">
                <a:latin typeface="CordiaUPC"/>
                <a:ea typeface="Tahoma"/>
                <a:cs typeface="CordiaUPC"/>
              </a:rPr>
              <a:t>Business Requirement Summary</a:t>
            </a:r>
            <a:endParaRPr 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9BF4ED-75BF-CCF8-C53C-D57D16129975}"/>
              </a:ext>
            </a:extLst>
          </p:cNvPr>
          <p:cNvSpPr txBox="1"/>
          <p:nvPr/>
        </p:nvSpPr>
        <p:spPr>
          <a:xfrm>
            <a:off x="382361" y="693623"/>
            <a:ext cx="1142829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400" dirty="0">
              <a:highlight>
                <a:srgbClr val="C0C0C0"/>
              </a:highlight>
              <a:latin typeface="BrowalliaUPC"/>
              <a:cs typeface="BrowalliaUPC"/>
            </a:endParaRPr>
          </a:p>
          <a:p>
            <a:r>
              <a:rPr lang="th-TH" sz="2400" dirty="0">
                <a:highlight>
                  <a:srgbClr val="C0C0C0"/>
                </a:highlight>
                <a:latin typeface="BrowalliaUPC"/>
                <a:cs typeface="BrowalliaUPC"/>
              </a:rPr>
              <a:t>3. ปรับระบบยกเลิก Process บัญชี SBP ในการ Approve ค่าใช้จ่าย ในการชดเชยรายได</a:t>
            </a:r>
            <a:r>
              <a:rPr lang="th-TH" sz="2400">
                <a:latin typeface="BrowalliaUPC"/>
                <a:cs typeface="BrowalliaUPC"/>
              </a:rPr>
              <a:t>้</a:t>
            </a:r>
            <a:r>
              <a:rPr lang="th-TH" sz="2400" b="0" dirty="0">
                <a:solidFill>
                  <a:srgbClr val="FF0000"/>
                </a:solidFill>
                <a:latin typeface="BrowalliaUPC"/>
                <a:cs typeface="BrowalliaUPC"/>
              </a:rPr>
              <a:t> </a:t>
            </a:r>
            <a:r>
              <a:rPr lang="th-TH" sz="2400" b="0">
                <a:solidFill>
                  <a:srgbClr val="FF0000"/>
                </a:solidFill>
                <a:latin typeface="BrowalliaUPC"/>
                <a:cs typeface="BrowalliaUPC"/>
              </a:rPr>
              <a:t>(Pg. 58 – 61)</a:t>
            </a:r>
            <a:endParaRPr lang="en-US" sz="2400" b="0">
              <a:solidFill>
                <a:srgbClr val="FF0000"/>
              </a:solidFill>
              <a:latin typeface="BrowalliaUPC"/>
              <a:cs typeface="BrowalliaUPC"/>
            </a:endParaRPr>
          </a:p>
          <a:p>
            <a:pPr marL="342900" indent="-342900">
              <a:buFont typeface="Calibri"/>
              <a:buChar char="-"/>
            </a:pPr>
            <a:r>
              <a:rPr lang="en-US" sz="2400" b="0">
                <a:highlight>
                  <a:srgbClr val="FFFFFF"/>
                </a:highlight>
                <a:latin typeface="BrowalliaUPC"/>
                <a:cs typeface="BrowalliaUPC"/>
              </a:rPr>
              <a:t>ยกเลิก Precess บัญชี Approve ยอดชดเชยรายได้</a:t>
            </a:r>
          </a:p>
          <a:p>
            <a:pPr marL="342900" indent="-342900">
              <a:buFont typeface="Calibri"/>
              <a:buChar char="-"/>
            </a:pPr>
            <a:r>
              <a:rPr lang="en-US" sz="2400" b="0">
                <a:highlight>
                  <a:srgbClr val="FFFFFF"/>
                </a:highlight>
                <a:latin typeface="BrowalliaUPC"/>
                <a:cs typeface="BrowalliaUPC"/>
              </a:rPr>
              <a:t>สร้างหน้าจอ หรือตารางข้อมูลในระบบ SBP Mall เพื่อให้ทีมบัญชี สามารถดึงข้อมูลเพื่อไปใช้ต่อได้</a:t>
            </a:r>
            <a:endParaRPr lang="en-US" b="0">
              <a:highlight>
                <a:srgbClr val="FFFFFF"/>
              </a:highlight>
            </a:endParaRPr>
          </a:p>
          <a:p>
            <a:r>
              <a:rPr lang="en-US" sz="2400" b="0">
                <a:latin typeface="BrowalliaUPC"/>
                <a:cs typeface="Segoe UI"/>
              </a:rPr>
              <a:t>​</a:t>
            </a:r>
          </a:p>
          <a:p>
            <a:endParaRPr lang="en-US" sz="2400">
              <a:highlight>
                <a:srgbClr val="C0C0C0"/>
              </a:highlight>
              <a:latin typeface="BrowalliaUPC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1826661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791584" y="1121056"/>
            <a:ext cx="8229600" cy="703263"/>
          </a:xfrm>
        </p:spPr>
        <p:txBody>
          <a:bodyPr/>
          <a:lstStyle/>
          <a:p>
            <a:r>
              <a:rPr lang="en-US" altLang="th-TH" sz="2800">
                <a:latin typeface="CordiaUPC"/>
                <a:ea typeface="Tahoma"/>
                <a:cs typeface="CordiaUPC"/>
              </a:rPr>
              <a:t>Daily Operation Report</a:t>
            </a:r>
            <a:endParaRPr lang="en-US" altLang="th-TH" sz="280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r>
              <a:rPr lang="en-US" altLang="th-TH" sz="2800">
                <a:latin typeface="CordiaUPC"/>
                <a:ea typeface="Tahoma"/>
                <a:cs typeface="CordiaUPC"/>
              </a:rPr>
              <a:t>Reconcile Report</a:t>
            </a:r>
            <a:endParaRPr lang="en-US" altLang="th-TH" sz="280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r>
              <a:rPr lang="en-US" altLang="th-TH" sz="2800">
                <a:latin typeface="CordiaUPC"/>
                <a:ea typeface="Tahoma"/>
                <a:cs typeface="CordiaUPC"/>
              </a:rPr>
              <a:t>Analytic Report</a:t>
            </a:r>
            <a:endParaRPr lang="en-US" altLang="th-TH" sz="280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r>
              <a:rPr lang="en-US" altLang="th-TH" sz="2800">
                <a:latin typeface="CordiaUPC"/>
                <a:ea typeface="Tahoma"/>
                <a:cs typeface="CordiaUPC"/>
              </a:rPr>
              <a:t>Archiving Data</a:t>
            </a:r>
          </a:p>
          <a:p>
            <a:r>
              <a:rPr lang="en-US" altLang="th-TH" sz="2800">
                <a:solidFill>
                  <a:schemeClr val="tx2"/>
                </a:solidFill>
                <a:latin typeface="CordiaUPC"/>
                <a:ea typeface="Tahoma"/>
                <a:cs typeface="CordiaUPC"/>
              </a:rPr>
              <a:t>Any Data for Monitor &amp; Tracking </a:t>
            </a:r>
            <a:endParaRPr lang="en-US" altLang="th-TH" sz="2800">
              <a:solidFill>
                <a:schemeClr val="tx2"/>
              </a:solidFill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endParaRPr lang="en-US" altLang="th-TH" sz="280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>
              <a:buNone/>
            </a:pPr>
            <a:endParaRPr lang="th-TH" altLang="th-TH" sz="2000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1D9695D-85E0-4C85-9D5D-6DEC0645E072}"/>
              </a:ext>
            </a:extLst>
          </p:cNvPr>
          <p:cNvSpPr txBox="1">
            <a:spLocks/>
          </p:cNvSpPr>
          <p:nvPr/>
        </p:nvSpPr>
        <p:spPr bwMode="auto">
          <a:xfrm>
            <a:off x="640890" y="343181"/>
            <a:ext cx="416479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th-TH" u="sng">
                <a:latin typeface="CordiaUPC"/>
                <a:ea typeface="Tahoma"/>
                <a:cs typeface="CordiaUPC"/>
              </a:rPr>
              <a:t>1.12 </a:t>
            </a:r>
            <a:r>
              <a:rPr lang="en-US" altLang="th-TH" b="1" u="sng" err="1">
                <a:latin typeface="CordiaUPC"/>
                <a:ea typeface="Tahoma"/>
                <a:cs typeface="CordiaUPC"/>
              </a:rPr>
              <a:t>ข้อมูลและรายงาน</a:t>
            </a:r>
            <a:endParaRPr lang="th-TH" altLang="en-US" b="1" u="sng" err="1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328719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640890" y="1314096"/>
            <a:ext cx="10828044" cy="703263"/>
          </a:xfrm>
        </p:spPr>
        <p:txBody>
          <a:bodyPr/>
          <a:lstStyle/>
          <a:p>
            <a:r>
              <a:rPr lang="en-US" altLang="th-TH" sz="2800">
                <a:latin typeface="CordiaUPC" panose="020B0304020202020204" pitchFamily="34" charset="-34"/>
                <a:cs typeface="CordiaUPC" panose="020B0304020202020204" pitchFamily="34" charset="-34"/>
              </a:rPr>
              <a:t>Critical Scenario (Assumption)</a:t>
            </a:r>
            <a:endParaRPr lang="th-TH" altLang="th-TH" sz="280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>
              <a:buFont typeface="Wingdings" panose="05000000000000000000" pitchFamily="2" charset="2"/>
              <a:buNone/>
            </a:pPr>
            <a:endParaRPr lang="th-TH" altLang="th-TH" sz="2000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C05702C-E871-4CAA-84DC-F76AB0B7F911}"/>
              </a:ext>
            </a:extLst>
          </p:cNvPr>
          <p:cNvSpPr txBox="1">
            <a:spLocks/>
          </p:cNvSpPr>
          <p:nvPr/>
        </p:nvSpPr>
        <p:spPr bwMode="auto">
          <a:xfrm>
            <a:off x="640890" y="343181"/>
            <a:ext cx="930575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th-TH" u="sng">
                <a:latin typeface="CordiaUPC"/>
                <a:ea typeface="Tahoma"/>
                <a:cs typeface="CordiaUPC"/>
              </a:rPr>
              <a:t>1.13</a:t>
            </a:r>
            <a:r>
              <a:rPr lang="en-US" altLang="th-TH" b="1" u="sng">
                <a:latin typeface="CordiaUPC"/>
                <a:ea typeface="Tahoma"/>
                <a:cs typeface="CordiaUPC"/>
              </a:rPr>
              <a:t> Performance Requirement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6DC7B3-602E-4BAA-BCD8-25E7B7F330FA}"/>
              </a:ext>
            </a:extLst>
          </p:cNvPr>
          <p:cNvGraphicFramePr>
            <a:graphicFrameLocks noGrp="1"/>
          </p:cNvGraphicFramePr>
          <p:nvPr/>
        </p:nvGraphicFramePr>
        <p:xfrm>
          <a:off x="723066" y="1919934"/>
          <a:ext cx="10706934" cy="2225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53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858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No.</a:t>
                      </a:r>
                      <a:endParaRPr lang="th-TH" sz="28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L="68052" marR="68052" marT="34027" marB="340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th-TH" sz="2800"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Scenario </a:t>
                      </a:r>
                      <a:endParaRPr lang="th-TH" sz="28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L="68052" marR="68052" marT="34027" marB="340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85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endParaRPr lang="th-TH" sz="1800"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L="68052" marR="68052" marT="34027" marB="34027"/>
                </a:tc>
                <a:tc>
                  <a:txBody>
                    <a:bodyPr/>
                    <a:lstStyle/>
                    <a:p>
                      <a:endParaRPr lang="th-TH" sz="1800" b="1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 marL="68052" marR="68052" marT="34027" marB="340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1630">
                <a:tc>
                  <a:txBody>
                    <a:bodyPr/>
                    <a:lstStyle/>
                    <a:p>
                      <a:pPr algn="ctr"/>
                      <a:endParaRPr lang="th-TH" sz="1800" kern="1200">
                        <a:solidFill>
                          <a:schemeClr val="dk1"/>
                        </a:solidFill>
                        <a:latin typeface="CordiaUPC" panose="020B0304020202020204" pitchFamily="34" charset="-34"/>
                        <a:ea typeface="+mn-ea"/>
                        <a:cs typeface="CordiaUPC" panose="020B0304020202020204" pitchFamily="34" charset="-34"/>
                      </a:endParaRPr>
                    </a:p>
                  </a:txBody>
                  <a:tcPr marL="68052" marR="68052" marT="34027" marB="34027"/>
                </a:tc>
                <a:tc>
                  <a:txBody>
                    <a:bodyPr/>
                    <a:lstStyle/>
                    <a:p>
                      <a:endParaRPr lang="en-US" sz="1800" b="0" u="none" kern="1200">
                        <a:solidFill>
                          <a:schemeClr val="dk1"/>
                        </a:solidFill>
                        <a:latin typeface="CordiaUPC" panose="020B0304020202020204" pitchFamily="34" charset="-34"/>
                        <a:ea typeface="+mn-ea"/>
                        <a:cs typeface="CordiaUPC" panose="020B0304020202020204" pitchFamily="34" charset="-34"/>
                      </a:endParaRPr>
                    </a:p>
                  </a:txBody>
                  <a:tcPr marL="68052" marR="68052" marT="34027" marB="340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07214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2102224" y="1283616"/>
            <a:ext cx="8229600" cy="3966810"/>
          </a:xfrm>
        </p:spPr>
        <p:txBody>
          <a:bodyPr/>
          <a:lstStyle/>
          <a:p>
            <a:r>
              <a:rPr lang="en-US" altLang="th-TH" sz="2800">
                <a:latin typeface="CordiaUPC"/>
                <a:ea typeface="Tahoma"/>
                <a:cs typeface="CordiaUPC"/>
              </a:rPr>
              <a:t>Authentication</a:t>
            </a:r>
            <a:endParaRPr lang="th-TH"/>
          </a:p>
          <a:p>
            <a:r>
              <a:rPr lang="en-US" altLang="th-TH" sz="2800">
                <a:latin typeface="CordiaUPC"/>
                <a:ea typeface="Tahoma"/>
                <a:cs typeface="CordiaUPC"/>
              </a:rPr>
              <a:t>Authorization</a:t>
            </a:r>
          </a:p>
          <a:p>
            <a:r>
              <a:rPr lang="en-US" altLang="th-TH" sz="2800">
                <a:latin typeface="CordiaUPC"/>
                <a:ea typeface="Tahoma"/>
                <a:cs typeface="CordiaUPC"/>
              </a:rPr>
              <a:t>Backup</a:t>
            </a:r>
          </a:p>
          <a:p>
            <a:r>
              <a:rPr lang="en-US" altLang="th-TH" sz="2800">
                <a:latin typeface="CordiaUPC"/>
                <a:ea typeface="Tahoma"/>
                <a:cs typeface="CordiaUPC"/>
              </a:rPr>
              <a:t>Service Level </a:t>
            </a:r>
          </a:p>
          <a:p>
            <a:r>
              <a:rPr lang="en-US" altLang="th-TH" sz="2800">
                <a:latin typeface="CordiaUPC"/>
                <a:ea typeface="Tahoma"/>
                <a:cs typeface="CordiaUPC"/>
              </a:rPr>
              <a:t>Security</a:t>
            </a:r>
          </a:p>
          <a:p>
            <a:pPr lvl="1"/>
            <a:r>
              <a:rPr lang="en-US" sz="2800">
                <a:latin typeface="CordiaUPC"/>
                <a:ea typeface="Tahoma"/>
                <a:cs typeface="CordiaUPC"/>
              </a:rPr>
              <a:t>Penetration testing Required</a:t>
            </a:r>
          </a:p>
          <a:p>
            <a:r>
              <a:rPr lang="en-US" altLang="th-TH" sz="2800">
                <a:solidFill>
                  <a:schemeClr val="tx2"/>
                </a:solidFill>
                <a:latin typeface="CordiaUPC"/>
                <a:ea typeface="Tahoma"/>
                <a:cs typeface="CordiaUPC"/>
              </a:rPr>
              <a:t>Logging (Audit Trail)</a:t>
            </a:r>
          </a:p>
          <a:p>
            <a:r>
              <a:rPr lang="en-US" altLang="th-TH" sz="2800">
                <a:solidFill>
                  <a:schemeClr val="tx2"/>
                </a:solidFill>
                <a:latin typeface="CordiaUPC"/>
                <a:ea typeface="Tahoma"/>
                <a:cs typeface="CordiaUPC"/>
              </a:rPr>
              <a:t>Any data for Monitor &amp; Tracking</a:t>
            </a:r>
          </a:p>
          <a:p>
            <a:pPr marL="457200" lvl="1" indent="0">
              <a:buNone/>
            </a:pPr>
            <a:endParaRPr lang="en-US" altLang="th-TH" sz="2800">
              <a:latin typeface="CordiaUPC"/>
              <a:ea typeface="Tahoma"/>
              <a:cs typeface="CordiaUPC"/>
            </a:endParaRPr>
          </a:p>
          <a:p>
            <a:pPr lvl="1"/>
            <a:endParaRPr lang="en-US" sz="2800">
              <a:latin typeface="CordiaUPC"/>
              <a:ea typeface="Tahoma"/>
              <a:cs typeface="CordiaUPC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CC7FB0B-38B0-4781-B8C5-69862604175F}"/>
              </a:ext>
            </a:extLst>
          </p:cNvPr>
          <p:cNvSpPr txBox="1">
            <a:spLocks/>
          </p:cNvSpPr>
          <p:nvPr/>
        </p:nvSpPr>
        <p:spPr bwMode="auto">
          <a:xfrm>
            <a:off x="640890" y="343181"/>
            <a:ext cx="930575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th-TH" u="sng">
                <a:latin typeface="CordiaUPC"/>
                <a:ea typeface="Tahoma"/>
                <a:cs typeface="CordiaUPC"/>
              </a:rPr>
              <a:t>1.14</a:t>
            </a:r>
            <a:r>
              <a:rPr lang="en-US" altLang="th-TH" b="1" u="sng">
                <a:latin typeface="CordiaUPC"/>
                <a:ea typeface="Tahoma"/>
                <a:cs typeface="CordiaUPC"/>
              </a:rPr>
              <a:t> Non Functional Requirement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2531276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43125" y="2065604"/>
          <a:ext cx="9305750" cy="3207434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3221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2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2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394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Stage</a:t>
                      </a:r>
                      <a:endParaRPr lang="th-TH" sz="24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Average Respond</a:t>
                      </a:r>
                      <a:r>
                        <a:rPr lang="en-US" sz="2400" baseline="0">
                          <a:solidFill>
                            <a:schemeClr val="tx1"/>
                          </a:solidFill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 Time</a:t>
                      </a:r>
                      <a:endParaRPr lang="th-TH" sz="24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Maximum</a:t>
                      </a:r>
                      <a:r>
                        <a:rPr lang="en-US" sz="2400" baseline="0">
                          <a:solidFill>
                            <a:schemeClr val="tx1"/>
                          </a:solidFill>
                          <a:latin typeface="CordiaUPC" panose="020B0304020202020204" pitchFamily="34" charset="-34"/>
                          <a:cs typeface="CordiaUPC" panose="020B0304020202020204" pitchFamily="34" charset="-34"/>
                        </a:rPr>
                        <a:t> Respond Time</a:t>
                      </a:r>
                      <a:endParaRPr lang="th-TH" sz="24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endParaRPr lang="th-TH" sz="20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h-TH" sz="20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h-TH" sz="20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endParaRPr lang="th-TH" sz="20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20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h-TH" sz="20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endParaRPr lang="th-TH" sz="2000" i="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h-TH" sz="2000" i="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2000" i="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endParaRPr lang="th-TH" sz="20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h-TH" sz="2000" i="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2000" i="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endParaRPr lang="th-TH" sz="20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20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2000">
                        <a:solidFill>
                          <a:schemeClr val="tx1"/>
                        </a:solidFill>
                        <a:latin typeface="CordiaUPC" panose="020B0304020202020204" pitchFamily="34" charset="-34"/>
                        <a:cs typeface="CordiaUPC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40890" y="1356996"/>
            <a:ext cx="625042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th-TH" sz="2800" b="0">
                <a:latin typeface="CordiaUPC" panose="020B0304020202020204" pitchFamily="34" charset="-34"/>
                <a:cs typeface="CordiaUPC" panose="020B0304020202020204" pitchFamily="34" charset="-34"/>
              </a:rPr>
              <a:t>Response Time </a:t>
            </a:r>
            <a:r>
              <a:rPr lang="th-TH" altLang="th-TH" sz="2800" b="0">
                <a:latin typeface="CordiaUPC" panose="020B0304020202020204" pitchFamily="34" charset="-34"/>
                <a:cs typeface="CordiaUPC" panose="020B0304020202020204" pitchFamily="34" charset="-34"/>
              </a:rPr>
              <a:t>(วัดเวลา </a:t>
            </a:r>
            <a:r>
              <a:rPr lang="en-US" altLang="th-TH" sz="2800" b="0">
                <a:latin typeface="CordiaUPC" panose="020B0304020202020204" pitchFamily="34" charset="-34"/>
                <a:cs typeface="CordiaUPC" panose="020B0304020202020204" pitchFamily="34" charset="-34"/>
              </a:rPr>
              <a:t>End to end </a:t>
            </a:r>
            <a:r>
              <a:rPr lang="th-TH" altLang="th-TH" sz="2800" b="0">
                <a:latin typeface="CordiaUPC" panose="020B0304020202020204" pitchFamily="34" charset="-34"/>
                <a:cs typeface="CordiaUPC" panose="020B0304020202020204" pitchFamily="34" charset="-34"/>
              </a:rPr>
              <a:t>ในแต่ละ </a:t>
            </a:r>
            <a:r>
              <a:rPr lang="en-US" altLang="th-TH" sz="2800" b="0">
                <a:latin typeface="CordiaUPC" panose="020B0304020202020204" pitchFamily="34" charset="-34"/>
                <a:cs typeface="CordiaUPC" panose="020B0304020202020204" pitchFamily="34" charset="-34"/>
              </a:rPr>
              <a:t>Stage)</a:t>
            </a:r>
            <a:r>
              <a:rPr lang="th-TH" altLang="th-TH" sz="2800" b="0">
                <a:latin typeface="CordiaUPC" panose="020B0304020202020204" pitchFamily="34" charset="-34"/>
                <a:cs typeface="CordiaUPC" panose="020B0304020202020204" pitchFamily="34" charset="-34"/>
              </a:rPr>
              <a:t> </a:t>
            </a:r>
            <a:endParaRPr lang="en-US" altLang="th-TH" sz="2800" b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endParaRPr lang="th-TH" sz="2800" b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A543673-43B8-449E-B99E-AB4966A6FD4A}"/>
              </a:ext>
            </a:extLst>
          </p:cNvPr>
          <p:cNvSpPr txBox="1">
            <a:spLocks/>
          </p:cNvSpPr>
          <p:nvPr/>
        </p:nvSpPr>
        <p:spPr bwMode="auto">
          <a:xfrm>
            <a:off x="640890" y="343181"/>
            <a:ext cx="930575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itchFamily="34" charset="0"/>
                <a:ea typeface="MS PGothic" pitchFamily="34" charset="-128"/>
                <a:cs typeface="Tahoma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ngsana New" pitchFamily="-60" charset="0"/>
                <a:ea typeface="ＭＳ Ｐゴシック" pitchFamily="-60" charset="-128"/>
                <a:cs typeface="ＭＳ Ｐゴシック" pitchFamily="-60" charset="-128"/>
              </a:defRPr>
            </a:lvl9pPr>
          </a:lstStyle>
          <a:p>
            <a:pPr marL="342900" indent="-342900" algn="l">
              <a:lnSpc>
                <a:spcPct val="80000"/>
              </a:lnSpc>
              <a:spcBef>
                <a:spcPct val="20000"/>
              </a:spcBef>
            </a:pPr>
            <a:r>
              <a:rPr lang="en-US" altLang="th-TH" u="sng">
                <a:latin typeface="CordiaUPC"/>
                <a:ea typeface="Tahoma"/>
                <a:cs typeface="CordiaUPC"/>
              </a:rPr>
              <a:t>1.15</a:t>
            </a:r>
            <a:r>
              <a:rPr lang="en-US" altLang="th-TH" b="1" u="sng">
                <a:latin typeface="CordiaUPC"/>
                <a:ea typeface="Tahoma"/>
                <a:cs typeface="CordiaUPC"/>
              </a:rPr>
              <a:t> Performance Requirement</a:t>
            </a:r>
            <a:endParaRPr lang="th-TH" altLang="en-US" b="1" u="sng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946287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3"/>
          <p:cNvSpPr>
            <a:spLocks noGrp="1"/>
          </p:cNvSpPr>
          <p:nvPr>
            <p:ph type="ctrTitle"/>
          </p:nvPr>
        </p:nvSpPr>
        <p:spPr>
          <a:xfrm>
            <a:off x="914400" y="2413764"/>
            <a:ext cx="10363200" cy="1470025"/>
          </a:xfrm>
        </p:spPr>
        <p:txBody>
          <a:bodyPr/>
          <a:lstStyle/>
          <a:p>
            <a:r>
              <a:rPr lang="en-US" altLang="th-TH" sz="4800" b="1" u="sng">
                <a:latin typeface="Browallia New" panose="020B0604020202020204" pitchFamily="34" charset="-34"/>
                <a:cs typeface="Browallia New" panose="020B0604020202020204" pitchFamily="34" charset="-34"/>
              </a:rPr>
              <a:t>2. HIGH LEVEL SOLUTION DESIGN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28DD98-7637-4B52-A035-3EE7A291D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49C46D-26FA-4EDD-8516-CE6B1BB74FD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owallia New" panose="020B0604020202020204" pitchFamily="34" charset="-34"/>
                <a:ea typeface="+mn-ea"/>
                <a:cs typeface="Browallia New" panose="020B0604020202020204" pitchFamily="34" charset="-34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th-TH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053015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1750"/>
            <a:ext cx="10972800" cy="784225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2.1 Requirement Summary</a:t>
            </a:r>
            <a:endParaRPr lang="th-TH">
              <a:solidFill>
                <a:schemeClr val="bg1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97283-BA76-4B1E-BE1E-E76DDFA00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DA49FB-517C-4413-996D-64EE5079F14D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owallia New" panose="020B0604020202020204" pitchFamily="34" charset="-34"/>
                <a:ea typeface="+mn-ea"/>
                <a:cs typeface="Browallia New" panose="020B0604020202020204" pitchFamily="34" charset="-34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th-TH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8267116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600" y="31750"/>
            <a:ext cx="10972800" cy="784225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BrowalliaUPC" panose="020B0604020202020204" pitchFamily="34" charset="-34"/>
                <a:cs typeface="BrowalliaUPC" panose="020B0604020202020204" pitchFamily="34" charset="-34"/>
              </a:rPr>
              <a:t>2.2 Design Condition</a:t>
            </a:r>
            <a:endParaRPr lang="th-TH">
              <a:solidFill>
                <a:schemeClr val="bg1"/>
              </a:solidFill>
              <a:latin typeface="BrowalliaUPC" panose="020B0604020202020204" pitchFamily="34" charset="-34"/>
              <a:cs typeface="BrowalliaUPC" panose="020B0604020202020204" pitchFamily="34" charset="-3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75488A-F37D-479F-80FF-816765C11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DA49FB-517C-4413-996D-64EE5079F14D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owallia New" panose="020B0604020202020204" pitchFamily="34" charset="-34"/>
                <a:ea typeface="+mn-ea"/>
                <a:cs typeface="Browallia New" panose="020B0604020202020204" pitchFamily="34" charset="-34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th-TH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1747841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9EA01-E651-43A4-AC96-2F33E3B2F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750"/>
            <a:ext cx="10972800" cy="784225"/>
          </a:xfrm>
        </p:spPr>
        <p:txBody>
          <a:bodyPr/>
          <a:lstStyle/>
          <a:p>
            <a:r>
              <a:rPr lang="en-US" altLang="en-US" sz="4400">
                <a:solidFill>
                  <a:schemeClr val="bg1"/>
                </a:solidFill>
                <a:latin typeface="Browallia New" panose="020B0604020202020204" pitchFamily="34" charset="-34"/>
                <a:ea typeface="+mj-ea"/>
                <a:cs typeface="Browallia New" panose="020B0604020202020204" pitchFamily="34" charset="-34"/>
              </a:rPr>
              <a:t>2.3 Solution Proposed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1694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1750"/>
            <a:ext cx="10972800" cy="784225"/>
          </a:xfrm>
        </p:spPr>
        <p:txBody>
          <a:bodyPr/>
          <a:lstStyle/>
          <a:p>
            <a:pPr algn="l"/>
            <a:r>
              <a:rPr lang="en-US" altLang="en-US" kern="0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2.4 System Impact</a:t>
            </a:r>
            <a:endParaRPr lang="th-TH" sz="3200">
              <a:solidFill>
                <a:schemeClr val="bg1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351441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1750"/>
            <a:ext cx="10972800" cy="784225"/>
          </a:xfrm>
        </p:spPr>
        <p:txBody>
          <a:bodyPr/>
          <a:lstStyle/>
          <a:p>
            <a:pPr algn="l"/>
            <a:r>
              <a:rPr lang="en-US" altLang="en-US" kern="0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2.5 Related Systems</a:t>
            </a:r>
            <a:endParaRPr lang="th-TH" sz="3200">
              <a:solidFill>
                <a:schemeClr val="bg1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86021-2A19-4E92-9D53-B7EEE64DD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DA49FB-517C-4413-996D-64EE5079F14D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owallia New" panose="020B0604020202020204" pitchFamily="34" charset="-34"/>
                <a:ea typeface="+mn-ea"/>
                <a:cs typeface="Browallia New" panose="020B0604020202020204" pitchFamily="34" charset="-34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th-TH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2145754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z="4400" kern="0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2.6 System Interface – Integration</a:t>
            </a:r>
            <a:endParaRPr lang="th-TH" sz="3200">
              <a:solidFill>
                <a:schemeClr val="bg1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E88E31-717F-4735-9BC0-5B11F1804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DA49FB-517C-4413-996D-64EE5079F14D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owallia New" panose="020B0604020202020204" pitchFamily="34" charset="-34"/>
                <a:ea typeface="+mn-ea"/>
                <a:cs typeface="Browallia New" panose="020B0604020202020204" pitchFamily="34" charset="-34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th-TH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6908651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1750"/>
            <a:ext cx="10972800" cy="784225"/>
          </a:xfrm>
        </p:spPr>
        <p:txBody>
          <a:bodyPr/>
          <a:lstStyle/>
          <a:p>
            <a:pPr algn="l"/>
            <a:r>
              <a:rPr lang="en-US" altLang="en-US" sz="4400" kern="0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2.7 Non function Testing</a:t>
            </a:r>
            <a:endParaRPr lang="th-TH" sz="4400">
              <a:solidFill>
                <a:schemeClr val="bg1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3CD7A7-E292-47E1-B66B-E30F4D068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DA49FB-517C-4413-996D-64EE5079F14D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owallia New" panose="020B0604020202020204" pitchFamily="34" charset="-34"/>
                <a:ea typeface="+mn-ea"/>
                <a:cs typeface="Browallia New" panose="020B0604020202020204" pitchFamily="34" charset="-34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th-TH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6551509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1750"/>
            <a:ext cx="10972800" cy="784225"/>
          </a:xfrm>
        </p:spPr>
        <p:txBody>
          <a:bodyPr/>
          <a:lstStyle/>
          <a:p>
            <a:pPr algn="l"/>
            <a:r>
              <a:rPr lang="en-US" altLang="en-US" sz="4400" kern="0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2.8 Monitoring Forecast</a:t>
            </a:r>
            <a:endParaRPr lang="th-TH" sz="4000">
              <a:solidFill>
                <a:schemeClr val="bg1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17C61C-717E-496D-A4DB-CCF4D44A8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DA49FB-517C-4413-996D-64EE5079F14D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owallia New" panose="020B0604020202020204" pitchFamily="34" charset="-34"/>
                <a:ea typeface="+mn-ea"/>
                <a:cs typeface="Browallia New" panose="020B0604020202020204" pitchFamily="34" charset="-34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th-TH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0978896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1750"/>
            <a:ext cx="10972800" cy="784225"/>
          </a:xfrm>
        </p:spPr>
        <p:txBody>
          <a:bodyPr/>
          <a:lstStyle/>
          <a:p>
            <a:pPr algn="l"/>
            <a:r>
              <a:rPr lang="en-US" altLang="en-US" sz="4400" kern="0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2.9 Cloud Service Forecast</a:t>
            </a:r>
            <a:endParaRPr lang="th-TH" sz="4000">
              <a:solidFill>
                <a:schemeClr val="bg1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4298716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1750"/>
            <a:ext cx="10972800" cy="784225"/>
          </a:xfrm>
        </p:spPr>
        <p:txBody>
          <a:bodyPr/>
          <a:lstStyle/>
          <a:p>
            <a:pPr algn="l"/>
            <a:r>
              <a:rPr lang="en-US" altLang="en-US" sz="4400" kern="0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2.10 Hardware Forecast</a:t>
            </a:r>
            <a:endParaRPr lang="th-TH" sz="4000">
              <a:solidFill>
                <a:schemeClr val="bg1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ACB5E8-AD0F-41D7-BEFF-C86FBE135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DA49FB-517C-4413-996D-64EE5079F14D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owallia New" panose="020B0604020202020204" pitchFamily="34" charset="-34"/>
                <a:ea typeface="+mn-ea"/>
                <a:cs typeface="Browallia New" panose="020B0604020202020204" pitchFamily="34" charset="-34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th-TH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0669666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1750"/>
            <a:ext cx="10972800" cy="784225"/>
          </a:xfrm>
        </p:spPr>
        <p:txBody>
          <a:bodyPr/>
          <a:lstStyle/>
          <a:p>
            <a:pPr algn="l"/>
            <a:r>
              <a:rPr lang="en-US" sz="4400">
                <a:solidFill>
                  <a:schemeClr val="bg1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2.11 Remark from Solution Team</a:t>
            </a:r>
            <a:endParaRPr lang="th-TH" sz="4000">
              <a:solidFill>
                <a:schemeClr val="bg1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7058FF-492C-405E-A73F-992D55018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DA49FB-517C-4413-996D-64EE5079F14D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rowallia New" panose="020B0604020202020204" pitchFamily="34" charset="-34"/>
                <a:ea typeface="+mn-ea"/>
                <a:cs typeface="Browallia New" panose="020B0604020202020204" pitchFamily="34" charset="-34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th-TH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6512055"/>
      </p:ext>
    </p:extLst>
  </p:cSld>
  <p:clrMapOvr>
    <a:masterClrMapping/>
  </p:clrMapOvr>
</p:sld>
</file>

<file path=ppt/theme/theme1.xml><?xml version="1.0" encoding="utf-8"?>
<a:theme xmlns:a="http://schemas.openxmlformats.org/drawingml/2006/main" name="CPALL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ahoma1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Incidents-Weekly-21-27Feb 2022_R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99FF99"/>
        </a:solidFill>
        <a:ln>
          <a:noFill/>
        </a:ln>
      </a:spPr>
      <a:bodyPr rtlCol="0" anchor="ctr"/>
      <a:lstStyle>
        <a:defPPr algn="ctr">
          <a:defRPr>
            <a:latin typeface="Century Gothic" panose="020B0502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933b7be6-e97d-43ef-abd8-08ed99bc21b5">
      <UserInfo>
        <DisplayName/>
        <AccountId xsi:nil="true"/>
        <AccountType/>
      </UserInfo>
    </SharedWithUsers>
    <Description xmlns="9ffc25f6-4acb-4d8b-b73f-8fb378806e86" xsi:nil="true"/>
    <TaxCatchAll xmlns="933b7be6-e97d-43ef-abd8-08ed99bc21b5" xsi:nil="true"/>
    <lcf76f155ced4ddcb4097134ff3c332f xmlns="9ffc25f6-4acb-4d8b-b73f-8fb378806e8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667ED1CC12AE41AA1274E1ABAA72F3" ma:contentTypeVersion="20" ma:contentTypeDescription="Create a new document." ma:contentTypeScope="" ma:versionID="ce3c231559b608bbb3db98ad638b8341">
  <xsd:schema xmlns:xsd="http://www.w3.org/2001/XMLSchema" xmlns:xs="http://www.w3.org/2001/XMLSchema" xmlns:p="http://schemas.microsoft.com/office/2006/metadata/properties" xmlns:ns2="9ffc25f6-4acb-4d8b-b73f-8fb378806e86" xmlns:ns3="933b7be6-e97d-43ef-abd8-08ed99bc21b5" targetNamespace="http://schemas.microsoft.com/office/2006/metadata/properties" ma:root="true" ma:fieldsID="f6f5fcee82787a72908f04d41a82f8fb" ns2:_="" ns3:_="">
    <xsd:import namespace="9ffc25f6-4acb-4d8b-b73f-8fb378806e86"/>
    <xsd:import namespace="933b7be6-e97d-43ef-abd8-08ed99bc21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Descriptio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fc25f6-4acb-4d8b-b73f-8fb378806e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Description" ma:index="17" nillable="true" ma:displayName="Description" ma:format="Dropdown" ma:internalName="Description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7330478-6e4f-4e24-84b1-b2b7e0a418b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3b7be6-e97d-43ef-abd8-08ed99bc21b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1e799ea-d7ca-4f0a-a64d-b602f2852b54}" ma:internalName="TaxCatchAll" ma:showField="CatchAllData" ma:web="933b7be6-e97d-43ef-abd8-08ed99bc21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EAF01E-80E0-4974-AFA7-B743653F3865}">
  <ds:schemaRefs>
    <ds:schemaRef ds:uri="933b7be6-e97d-43ef-abd8-08ed99bc21b5"/>
    <ds:schemaRef ds:uri="9ffc25f6-4acb-4d8b-b73f-8fb378806e86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E2AA039E-520A-4D25-857A-BBC4BF67EA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2EA72-7CEF-487B-89DF-057C2EFA50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fc25f6-4acb-4d8b-b73f-8fb378806e86"/>
    <ds:schemaRef ds:uri="933b7be6-e97d-43ef-abd8-08ed99bc21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CPALL Presentation</Template>
  <Application>Microsoft Office PowerPoint</Application>
  <PresentationFormat>แบบจอกว้าง</PresentationFormat>
  <Slides>82</Slides>
  <Notes>73</Notes>
  <HiddenSlides>2</HiddenSlides>
  <ScaleCrop>false</ScaleCrop>
  <HeadingPairs>
    <vt:vector size="4" baseType="variant">
      <vt:variant>
        <vt:lpstr>ธีม</vt:lpstr>
      </vt:variant>
      <vt:variant>
        <vt:i4>2</vt:i4>
      </vt:variant>
      <vt:variant>
        <vt:lpstr>ชื่อเรื่องสไลด์</vt:lpstr>
      </vt:variant>
      <vt:variant>
        <vt:i4>82</vt:i4>
      </vt:variant>
    </vt:vector>
  </HeadingPairs>
  <TitlesOfParts>
    <vt:vector size="84" baseType="lpstr">
      <vt:lpstr>CPALL_Template</vt:lpstr>
      <vt:lpstr>2_Incidents-Weekly-21-27Feb 2022_R2</vt:lpstr>
      <vt:lpstr>งานนำเสนอ PowerPoint</vt:lpstr>
      <vt:lpstr>Activity Log</vt:lpstr>
      <vt:lpstr>1. Business Requirement</vt:lpstr>
      <vt:lpstr>1.1 Current Situation Analysis / Problem Statement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1.10 Personal Data (PDPA) Check List 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2. HIGH LEVEL SOLUTION DESIGN</vt:lpstr>
      <vt:lpstr>2.1 Requirement Summary</vt:lpstr>
      <vt:lpstr>2.2 Design Condition</vt:lpstr>
      <vt:lpstr>2.3 Solution Proposed </vt:lpstr>
      <vt:lpstr>2.4 System Impact</vt:lpstr>
      <vt:lpstr>2.5 Related Systems</vt:lpstr>
      <vt:lpstr>2.6 System Interface – Integration</vt:lpstr>
      <vt:lpstr>2.7 Non function Testing</vt:lpstr>
      <vt:lpstr>2.8 Monitoring Forecast</vt:lpstr>
      <vt:lpstr>2.9 Cloud Service Forecast</vt:lpstr>
      <vt:lpstr>2.10 Hardware Forecast</vt:lpstr>
      <vt:lpstr>2.11 Remark from Solution Team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Pasraporn Taveechai</dc:creator>
  <cp:revision>575</cp:revision>
  <dcterms:created xsi:type="dcterms:W3CDTF">2018-02-09T10:52:13Z</dcterms:created>
  <dcterms:modified xsi:type="dcterms:W3CDTF">2026-03-05T01:23:30Z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0x010100BF667ED1CC12AE41AA1274E1ABAA72F3</vt:lpwstr>
  </property>
  <property fmtid="{D5CDD505-2E9C-101B-9397-08002B2CF9AE}" pid="3" name="MediaServiceImageTags">
    <vt:lpwstr/>
  </property>
  <property fmtid="{D5CDD505-2E9C-101B-9397-08002B2CF9AE}" pid="4" name="Order">
    <vt:r8>84700</vt:r8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activity">
    <vt:lpwstr>{"FileActivityType":"9","FileActivityTimeStamp":"2567-09-26T07:43:24.050Z","FileActivityUsersOnPage":[{"DisplayName":"Kanyarat &lt;Poon&gt; Mangkhalasawat","Id":"kanyaratmangk@cpall.co.th"}],"FileActivityNavigationId":null}</vt:lpwstr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